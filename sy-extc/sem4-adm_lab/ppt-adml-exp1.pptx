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85" r:id="rId9"/>
    <p:sldId id="286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97" r:id="rId29"/>
    <p:sldId id="272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BFAB-8B3D-413C-A08A-8404329EA721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20254-43AE-4B6A-A11F-E597DFA79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77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BFAB-8B3D-413C-A08A-8404329EA721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20254-43AE-4B6A-A11F-E597DFA79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616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BFAB-8B3D-413C-A08A-8404329EA721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20254-43AE-4B6A-A11F-E597DFA79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521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BFAB-8B3D-413C-A08A-8404329EA721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20254-43AE-4B6A-A11F-E597DFA79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165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BFAB-8B3D-413C-A08A-8404329EA721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20254-43AE-4B6A-A11F-E597DFA79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252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BFAB-8B3D-413C-A08A-8404329EA721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20254-43AE-4B6A-A11F-E597DFA79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411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BFAB-8B3D-413C-A08A-8404329EA721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20254-43AE-4B6A-A11F-E597DFA79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106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BFAB-8B3D-413C-A08A-8404329EA721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20254-43AE-4B6A-A11F-E597DFA79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69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BFAB-8B3D-413C-A08A-8404329EA721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20254-43AE-4B6A-A11F-E597DFA79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075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BFAB-8B3D-413C-A08A-8404329EA721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20254-43AE-4B6A-A11F-E597DFA79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846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BFAB-8B3D-413C-A08A-8404329EA721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20254-43AE-4B6A-A11F-E597DFA79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339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A4BFAB-8B3D-413C-A08A-8404329EA721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20254-43AE-4B6A-A11F-E597DFA799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011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Exp-1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013893"/>
              </p:ext>
            </p:extLst>
          </p:nvPr>
        </p:nvGraphicFramePr>
        <p:xfrm>
          <a:off x="457200" y="3547713"/>
          <a:ext cx="8579296" cy="24990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79296"/>
              </a:tblGrid>
              <a:tr h="196951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3600" dirty="0">
                          <a:effectLst/>
                        </a:rPr>
                        <a:t>TITLE: </a:t>
                      </a:r>
                      <a:r>
                        <a:rPr lang="en-IN" sz="3600" dirty="0" smtClean="0">
                          <a:effectLst/>
                        </a:rPr>
                        <a:t>- </a:t>
                      </a:r>
                      <a:r>
                        <a:rPr lang="en-IN" sz="3600" dirty="0">
                          <a:effectLst/>
                        </a:rPr>
                        <a:t>Overview on  MSP430G2 Launchpad &amp; IDE 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AIM</a:t>
                      </a:r>
                      <a:r>
                        <a:rPr lang="en-IN" sz="2400" dirty="0">
                          <a:effectLst/>
                        </a:rPr>
                        <a:t>: </a:t>
                      </a:r>
                      <a:r>
                        <a:rPr lang="en-IN" sz="2400" dirty="0" smtClean="0">
                          <a:effectLst/>
                        </a:rPr>
                        <a:t>-1</a:t>
                      </a:r>
                      <a:r>
                        <a:rPr lang="en-IN" sz="2400" dirty="0">
                          <a:effectLst/>
                        </a:rPr>
                        <a:t>) To understand features and on chip peripherals MSP430 G2LP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0025" algn="l"/>
                          <a:tab pos="323850" algn="l"/>
                          <a:tab pos="561975" algn="l"/>
                        </a:tabLst>
                      </a:pPr>
                      <a:r>
                        <a:rPr lang="en-IN" sz="2400" dirty="0">
                          <a:effectLst/>
                        </a:rPr>
                        <a:t>           2) Understand tools of Code composer IDE</a:t>
                      </a:r>
                      <a:endParaRPr lang="en-IN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3648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5397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MSP430 LP</a:t>
            </a:r>
            <a:endParaRPr lang="en-IN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0826" y="1600200"/>
            <a:ext cx="3582347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3" y="193675"/>
            <a:ext cx="8040687" cy="6469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3477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MSP MCU’s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MSP microcontrollers (MCUs) from Texas Instruments (TI) are 16-bit and 32-bit RISC-based, </a:t>
            </a:r>
            <a:r>
              <a:rPr lang="en-US" dirty="0" smtClean="0"/>
              <a:t>mixed signal </a:t>
            </a:r>
            <a:r>
              <a:rPr lang="en-US" dirty="0" smtClean="0"/>
              <a:t>processors </a:t>
            </a:r>
            <a:r>
              <a:rPr lang="en-US" dirty="0"/>
              <a:t>designed for ultra-low power </a:t>
            </a:r>
            <a:r>
              <a:rPr lang="en-US" dirty="0" smtClean="0"/>
              <a:t>applications.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726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MSP430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MSP stands for:</a:t>
            </a:r>
            <a:r>
              <a:rPr lang="en-IN" dirty="0" smtClean="0"/>
              <a:t>-</a:t>
            </a:r>
            <a:r>
              <a:rPr lang="en-IN" b="1" dirty="0" smtClean="0"/>
              <a:t>Mixed-Signal Processor</a:t>
            </a:r>
            <a:endParaRPr lang="en-IN" dirty="0" smtClean="0"/>
          </a:p>
          <a:p>
            <a:endParaRPr lang="en-US" b="1" dirty="0" smtClean="0"/>
          </a:p>
          <a:p>
            <a:r>
              <a:rPr lang="en-US" b="1" dirty="0" smtClean="0"/>
              <a:t>MSP family – mixed-signal </a:t>
            </a:r>
            <a:r>
              <a:rPr lang="en-US" b="1" dirty="0" smtClean="0"/>
              <a:t>processor</a:t>
            </a:r>
            <a:r>
              <a:rPr lang="en-US" dirty="0" smtClean="0"/>
              <a:t>:-</a:t>
            </a:r>
            <a:r>
              <a:rPr lang="en-US" b="1" dirty="0" smtClean="0"/>
              <a:t>MSP microcontrollers can handle both digital signals and analog (real-world) signals on the same chip.</a:t>
            </a:r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200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MSP430 family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The </a:t>
            </a:r>
            <a:r>
              <a:rPr lang="en-US" dirty="0" smtClean="0"/>
              <a:t>MSP430 </a:t>
            </a:r>
            <a:r>
              <a:rPr lang="en-US" dirty="0"/>
              <a:t>device features a powerful 16-bit RISC CPU, 16-bit registers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IN" dirty="0"/>
              <a:t>The MSP430 </a:t>
            </a:r>
            <a:r>
              <a:rPr lang="en-IN" dirty="0" smtClean="0"/>
              <a:t>instruction </a:t>
            </a:r>
            <a:r>
              <a:rPr lang="en-US" dirty="0" smtClean="0"/>
              <a:t>set </a:t>
            </a:r>
            <a:r>
              <a:rPr lang="en-US" dirty="0"/>
              <a:t>consists of 27 core instructions that make it easy to program in assembler or in </a:t>
            </a:r>
            <a:r>
              <a:rPr lang="en-US" dirty="0" smtClean="0"/>
              <a:t>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0733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MSP applications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MSP ultra-low-power microcontrollers are ideal </a:t>
            </a:r>
            <a:r>
              <a:rPr lang="en-US" dirty="0" smtClean="0"/>
              <a:t>for applications </a:t>
            </a:r>
            <a:r>
              <a:rPr lang="en-US" dirty="0"/>
              <a:t>where the majority of the microcontroller life is spent in standby.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Typical </a:t>
            </a:r>
            <a:r>
              <a:rPr lang="en-US" dirty="0"/>
              <a:t>applications of </a:t>
            </a:r>
            <a:r>
              <a:rPr lang="en-US" dirty="0" smtClean="0"/>
              <a:t>these processors </a:t>
            </a:r>
            <a:r>
              <a:rPr lang="en-US" dirty="0"/>
              <a:t>include low-cost sensor </a:t>
            </a:r>
            <a:r>
              <a:rPr lang="en-US" dirty="0" smtClean="0"/>
              <a:t>systems, Digital watches, medical</a:t>
            </a:r>
            <a:r>
              <a:rPr lang="en-US" dirty="0" smtClean="0"/>
              <a:t> devices</a:t>
            </a:r>
            <a:r>
              <a:rPr lang="en-US" dirty="0" smtClean="0"/>
              <a:t>, battery </a:t>
            </a:r>
            <a:r>
              <a:rPr lang="en-US" dirty="0" err="1" smtClean="0"/>
              <a:t>opertaed</a:t>
            </a:r>
            <a:r>
              <a:rPr lang="en-US" dirty="0" smtClean="0"/>
              <a:t> IOT systems.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2563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MSP-EXP430G2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 smtClean="0"/>
              <a:t>MSP-EXP430G2</a:t>
            </a:r>
            <a:r>
              <a:rPr lang="en-US" dirty="0" smtClean="0"/>
              <a:t> is the </a:t>
            </a:r>
            <a:r>
              <a:rPr lang="en-US" b="1" dirty="0" err="1" smtClean="0"/>
              <a:t>LaunchPad</a:t>
            </a:r>
            <a:r>
              <a:rPr lang="en-US" b="1" dirty="0" smtClean="0"/>
              <a:t> development board</a:t>
            </a:r>
            <a:r>
              <a:rPr lang="en-US" dirty="0" smtClean="0"/>
              <a:t> for MSP430G2 series microcontrollers.</a:t>
            </a:r>
          </a:p>
          <a:p>
            <a:r>
              <a:rPr lang="en-US" b="1" dirty="0" smtClean="0"/>
              <a:t>it’s a small board</a:t>
            </a:r>
            <a:r>
              <a:rPr lang="en-US" dirty="0" smtClean="0"/>
              <a:t> that makes it easy to use the MSP430 without extra circuits.</a:t>
            </a:r>
          </a:p>
          <a:p>
            <a:pPr marL="0" indent="0">
              <a:buNone/>
            </a:pPr>
            <a:r>
              <a:rPr lang="en-US" dirty="0" smtClean="0"/>
              <a:t>It includes </a:t>
            </a:r>
            <a:r>
              <a:rPr lang="en-US" b="1" dirty="0" smtClean="0"/>
              <a:t>everything you need to start programming</a:t>
            </a:r>
            <a:r>
              <a:rPr lang="en-US" dirty="0" smtClean="0"/>
              <a:t>:-</a:t>
            </a:r>
            <a:endParaRPr lang="en-US" dirty="0" smtClean="0"/>
          </a:p>
          <a:p>
            <a:r>
              <a:rPr lang="en-US" b="1" dirty="0" smtClean="0"/>
              <a:t>MSP430G2553 chip</a:t>
            </a:r>
            <a:r>
              <a:rPr lang="en-US" dirty="0" smtClean="0"/>
              <a:t> (the main microcontroller)</a:t>
            </a:r>
          </a:p>
          <a:p>
            <a:r>
              <a:rPr lang="en-US" b="1" dirty="0" smtClean="0"/>
              <a:t>USB connector</a:t>
            </a:r>
            <a:r>
              <a:rPr lang="en-US" dirty="0" smtClean="0"/>
              <a:t> for power and programming</a:t>
            </a:r>
          </a:p>
          <a:p>
            <a:r>
              <a:rPr lang="en-US" b="1" dirty="0" smtClean="0"/>
              <a:t>Emulation circuit</a:t>
            </a:r>
            <a:r>
              <a:rPr lang="en-US" dirty="0" smtClean="0"/>
              <a:t> (program/debug the MSP430)</a:t>
            </a:r>
          </a:p>
          <a:p>
            <a:r>
              <a:rPr lang="en-US" b="1" dirty="0" smtClean="0"/>
              <a:t>LEDs and push buttons</a:t>
            </a:r>
            <a:r>
              <a:rPr lang="en-US" dirty="0" smtClean="0"/>
              <a:t> for testing</a:t>
            </a:r>
          </a:p>
          <a:p>
            <a:r>
              <a:rPr lang="en-US" b="1" dirty="0" smtClean="0"/>
              <a:t>Headers/pins</a:t>
            </a:r>
            <a:r>
              <a:rPr lang="en-US" dirty="0" smtClean="0"/>
              <a:t> to connect sensors and other devices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093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Purpose of MSP-EXP430G2</a:t>
            </a:r>
            <a:br>
              <a:rPr lang="en-US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Program the MSP430</a:t>
            </a:r>
            <a:r>
              <a:rPr lang="en-US" dirty="0" smtClean="0"/>
              <a:t> using a PC</a:t>
            </a:r>
          </a:p>
          <a:p>
            <a:r>
              <a:rPr lang="en-US" b="1" dirty="0" smtClean="0"/>
              <a:t>Test and debug code</a:t>
            </a:r>
            <a:r>
              <a:rPr lang="en-US" dirty="0" smtClean="0"/>
              <a:t> easily</a:t>
            </a:r>
          </a:p>
          <a:p>
            <a:r>
              <a:rPr lang="en-US" b="1" dirty="0" smtClean="0"/>
              <a:t>Learn and prototype projects</a:t>
            </a:r>
            <a:r>
              <a:rPr lang="en-US" dirty="0" smtClean="0"/>
              <a:t> with </a:t>
            </a:r>
            <a:r>
              <a:rPr lang="en-US" dirty="0" smtClean="0"/>
              <a:t>microcontrollers.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9112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MSP FEATURES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1. The CPU (the “brain”)</a:t>
            </a:r>
            <a:endParaRPr lang="en-IN" dirty="0"/>
          </a:p>
          <a:p>
            <a:pPr lvl="0"/>
            <a:r>
              <a:rPr lang="en-IN" sz="2800" dirty="0"/>
              <a:t>The </a:t>
            </a:r>
            <a:r>
              <a:rPr lang="en-IN" sz="2800" b="1" dirty="0"/>
              <a:t>MSP430G2553 has a 16-bit CPU</a:t>
            </a:r>
            <a:endParaRPr lang="en-IN" sz="2800" dirty="0"/>
          </a:p>
          <a:p>
            <a:pPr lvl="0"/>
            <a:r>
              <a:rPr lang="en-IN" sz="2800" dirty="0"/>
              <a:t>It is a </a:t>
            </a:r>
            <a:r>
              <a:rPr lang="en-IN" sz="2800" b="1" dirty="0"/>
              <a:t>RISC processor</a:t>
            </a:r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>👉 That means it uses </a:t>
            </a:r>
            <a:r>
              <a:rPr lang="en-IN" sz="2800" b="1" dirty="0"/>
              <a:t>simple instructions</a:t>
            </a:r>
            <a:r>
              <a:rPr lang="en-IN" sz="2800" dirty="0"/>
              <a:t> that run </a:t>
            </a:r>
            <a:r>
              <a:rPr lang="en-IN" sz="2800" b="1" dirty="0" smtClean="0"/>
              <a:t>fast.</a:t>
            </a:r>
            <a:endParaRPr lang="en-IN" sz="2800" dirty="0"/>
          </a:p>
          <a:p>
            <a:pPr lvl="0"/>
            <a:r>
              <a:rPr lang="en-IN" sz="2800" dirty="0"/>
              <a:t>It has </a:t>
            </a:r>
            <a:r>
              <a:rPr lang="en-IN" sz="2800" b="1" dirty="0"/>
              <a:t>16 registers</a:t>
            </a:r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>👉 Registers are </a:t>
            </a:r>
            <a:r>
              <a:rPr lang="en-IN" sz="2800" b="1" dirty="0"/>
              <a:t>very small, very fast memory locations</a:t>
            </a:r>
            <a:r>
              <a:rPr lang="en-IN" sz="2800" dirty="0"/>
              <a:t> inside the </a:t>
            </a:r>
            <a:r>
              <a:rPr lang="en-IN" sz="2800" dirty="0" smtClean="0"/>
              <a:t>CPU.</a:t>
            </a:r>
          </a:p>
          <a:p>
            <a:r>
              <a:rPr lang="en-IN" sz="2800" dirty="0"/>
              <a:t>Almost all instructions work </a:t>
            </a:r>
            <a:r>
              <a:rPr lang="en-IN" sz="2800" b="1" dirty="0"/>
              <a:t>only on </a:t>
            </a:r>
            <a:r>
              <a:rPr lang="en-IN" sz="2800" b="1" dirty="0" smtClean="0"/>
              <a:t>registers.</a:t>
            </a:r>
            <a:endParaRPr lang="en-IN" sz="2800" dirty="0"/>
          </a:p>
          <a:p>
            <a:pPr lvl="0"/>
            <a:endParaRPr lang="en-IN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2181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MSP FEATURES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 smtClean="0"/>
              <a:t>2. </a:t>
            </a:r>
            <a:r>
              <a:rPr lang="en-IN" b="1" dirty="0"/>
              <a:t>Memory types (two kinds of memory)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Program Memory (Flash / ROM)</a:t>
            </a:r>
            <a:endParaRPr lang="en-IN" dirty="0"/>
          </a:p>
          <a:p>
            <a:pPr lvl="0"/>
            <a:r>
              <a:rPr lang="en-IN" dirty="0"/>
              <a:t>Stores your </a:t>
            </a:r>
            <a:r>
              <a:rPr lang="en-IN" b="1" dirty="0"/>
              <a:t>program (code)</a:t>
            </a:r>
            <a:endParaRPr lang="en-IN" dirty="0"/>
          </a:p>
          <a:p>
            <a:pPr lvl="0"/>
            <a:r>
              <a:rPr lang="en-IN" dirty="0"/>
              <a:t>Code stays even when power is OFF</a:t>
            </a:r>
          </a:p>
          <a:p>
            <a:pPr marL="0" indent="0">
              <a:buNone/>
            </a:pPr>
            <a:r>
              <a:rPr lang="en-IN" b="1" dirty="0"/>
              <a:t>Data Memory (RAM)</a:t>
            </a:r>
            <a:endParaRPr lang="en-IN" dirty="0"/>
          </a:p>
          <a:p>
            <a:pPr lvl="0"/>
            <a:r>
              <a:rPr lang="en-IN" dirty="0"/>
              <a:t>Stores </a:t>
            </a:r>
            <a:r>
              <a:rPr lang="en-IN" b="1" dirty="0"/>
              <a:t>variables and temporary data</a:t>
            </a:r>
            <a:endParaRPr lang="en-IN" dirty="0"/>
          </a:p>
          <a:p>
            <a:pPr lvl="0"/>
            <a:r>
              <a:rPr lang="en-IN" dirty="0"/>
              <a:t>Data is lost when power is OFF</a:t>
            </a:r>
          </a:p>
          <a:p>
            <a:pPr marL="0" indent="0">
              <a:buNone/>
            </a:pPr>
            <a:r>
              <a:rPr lang="en-IN" dirty="0"/>
              <a:t>👉 This separation means the MSP430 uses a </a:t>
            </a:r>
            <a:r>
              <a:rPr lang="en-IN" b="1" dirty="0"/>
              <a:t>modified Harvard architecture</a:t>
            </a:r>
            <a:r>
              <a:rPr lang="en-IN" dirty="0" smtClean="0"/>
              <a:t>.</a:t>
            </a:r>
            <a:r>
              <a:rPr lang="en-IN" b="1" dirty="0"/>
              <a:t> </a:t>
            </a:r>
            <a:endParaRPr lang="en-IN" b="1" dirty="0" smtClean="0"/>
          </a:p>
          <a:p>
            <a:pPr marL="0" indent="0">
              <a:buNone/>
            </a:pPr>
            <a:r>
              <a:rPr lang="en-IN" b="1" dirty="0" smtClean="0"/>
              <a:t>MSP430G2553 </a:t>
            </a:r>
            <a:r>
              <a:rPr lang="en-IN" b="1" dirty="0"/>
              <a:t>(G2 </a:t>
            </a:r>
            <a:r>
              <a:rPr lang="en-IN" b="1" dirty="0" smtClean="0"/>
              <a:t>Series)</a:t>
            </a:r>
            <a:r>
              <a:rPr lang="en-IN" dirty="0" smtClean="0"/>
              <a:t>:-</a:t>
            </a:r>
            <a:r>
              <a:rPr lang="en-IN" b="1" dirty="0" smtClean="0"/>
              <a:t>Flash</a:t>
            </a:r>
            <a:r>
              <a:rPr lang="en-IN" b="1" dirty="0"/>
              <a:t>:</a:t>
            </a:r>
            <a:r>
              <a:rPr lang="en-IN" dirty="0"/>
              <a:t> up to </a:t>
            </a:r>
            <a:r>
              <a:rPr lang="en-IN" b="1" dirty="0"/>
              <a:t>16 KB</a:t>
            </a:r>
            <a:endParaRPr lang="en-IN" dirty="0"/>
          </a:p>
          <a:p>
            <a:pPr lvl="0"/>
            <a:r>
              <a:rPr lang="en-IN" b="1" dirty="0"/>
              <a:t>RAM:</a:t>
            </a:r>
            <a:r>
              <a:rPr lang="en-IN" dirty="0"/>
              <a:t> </a:t>
            </a:r>
            <a:r>
              <a:rPr lang="en-IN" b="1" dirty="0"/>
              <a:t>512 bytes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328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MSP FEATURES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3. </a:t>
            </a:r>
            <a:r>
              <a:rPr lang="en-IN" b="1" dirty="0"/>
              <a:t>Memory buses (how data moves)</a:t>
            </a:r>
            <a:endParaRPr lang="en-IN" dirty="0"/>
          </a:p>
          <a:p>
            <a:r>
              <a:rPr lang="en-IN" dirty="0"/>
              <a:t>Think of </a:t>
            </a:r>
            <a:r>
              <a:rPr lang="en-IN" b="1" dirty="0"/>
              <a:t>buses as roads</a:t>
            </a:r>
            <a:r>
              <a:rPr lang="en-IN" dirty="0"/>
              <a:t> inside the chip.</a:t>
            </a:r>
          </a:p>
          <a:p>
            <a:pPr lvl="0"/>
            <a:r>
              <a:rPr lang="en-IN" b="1" dirty="0"/>
              <a:t>MAB (Memory Address Bus)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→ Tells </a:t>
            </a:r>
            <a:r>
              <a:rPr lang="en-IN" i="1" dirty="0"/>
              <a:t>where</a:t>
            </a:r>
            <a:r>
              <a:rPr lang="en-IN" dirty="0"/>
              <a:t> to read or write</a:t>
            </a:r>
          </a:p>
          <a:p>
            <a:pPr lvl="0"/>
            <a:r>
              <a:rPr lang="en-IN" b="1" dirty="0"/>
              <a:t>MDB (Memory Data Bus)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→ Carries the </a:t>
            </a:r>
            <a:r>
              <a:rPr lang="en-IN" i="1" dirty="0"/>
              <a:t>actual data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7161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MSP FEATURES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smtClean="0"/>
              <a:t>4.Clock </a:t>
            </a:r>
            <a:r>
              <a:rPr lang="en-IN" b="1" dirty="0"/>
              <a:t>system (chip’s heartbeat)</a:t>
            </a:r>
            <a:endParaRPr lang="en-IN" sz="1800" dirty="0"/>
          </a:p>
          <a:p>
            <a:pPr lvl="0"/>
            <a:r>
              <a:rPr lang="en-IN" dirty="0"/>
              <a:t>Runs up to </a:t>
            </a:r>
            <a:r>
              <a:rPr lang="en-IN" b="1" dirty="0"/>
              <a:t>16 MHz</a:t>
            </a:r>
            <a:endParaRPr lang="en-IN" sz="2800" dirty="0"/>
          </a:p>
          <a:p>
            <a:pPr lvl="0"/>
            <a:r>
              <a:rPr lang="en-IN" dirty="0"/>
              <a:t>Has different clocks:</a:t>
            </a:r>
            <a:endParaRPr lang="en-IN" sz="2800" dirty="0"/>
          </a:p>
          <a:p>
            <a:pPr lvl="1"/>
            <a:r>
              <a:rPr lang="en-IN" b="1" dirty="0"/>
              <a:t>MCLK</a:t>
            </a:r>
            <a:r>
              <a:rPr lang="en-IN" dirty="0"/>
              <a:t> → CPU clock</a:t>
            </a:r>
            <a:endParaRPr lang="en-IN" sz="2400" dirty="0"/>
          </a:p>
          <a:p>
            <a:pPr lvl="1"/>
            <a:r>
              <a:rPr lang="en-IN" b="1" dirty="0"/>
              <a:t>SMCLK</a:t>
            </a:r>
            <a:r>
              <a:rPr lang="en-IN" dirty="0"/>
              <a:t> → peripherals</a:t>
            </a:r>
            <a:endParaRPr lang="en-IN" sz="2400" dirty="0"/>
          </a:p>
          <a:p>
            <a:pPr lvl="1"/>
            <a:r>
              <a:rPr lang="en-IN" b="1" dirty="0"/>
              <a:t>ACLK</a:t>
            </a:r>
            <a:r>
              <a:rPr lang="en-IN" dirty="0"/>
              <a:t> → low-power clock (32 kHz crystal)</a:t>
            </a:r>
            <a:endParaRPr lang="en-IN" sz="2400" dirty="0"/>
          </a:p>
          <a:p>
            <a:r>
              <a:rPr lang="en-IN" sz="2400" b="1" dirty="0"/>
              <a:t>Simple </a:t>
            </a:r>
            <a:r>
              <a:rPr lang="en-IN" sz="2400" b="1" dirty="0" smtClean="0"/>
              <a:t>idea:</a:t>
            </a:r>
            <a:r>
              <a:rPr lang="en-IN" sz="2400" dirty="0" smtClean="0"/>
              <a:t>-Clocks </a:t>
            </a:r>
            <a:r>
              <a:rPr lang="en-IN" sz="2400" dirty="0"/>
              <a:t>decide </a:t>
            </a:r>
            <a:r>
              <a:rPr lang="en-IN" sz="2400" b="1" dirty="0"/>
              <a:t>how fast things happen</a:t>
            </a:r>
            <a:r>
              <a:rPr lang="en-IN" sz="2400" dirty="0"/>
              <a:t> inside the chip</a:t>
            </a:r>
            <a:r>
              <a:rPr lang="en-IN" dirty="0"/>
              <a:t>.</a:t>
            </a:r>
            <a:endParaRPr lang="en-IN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5971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MSP FEATURES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5.Input </a:t>
            </a:r>
            <a:r>
              <a:rPr lang="en-IN" b="1" dirty="0"/>
              <a:t>/ Output Ports (pins)</a:t>
            </a:r>
            <a:endParaRPr lang="en-IN" dirty="0"/>
          </a:p>
          <a:p>
            <a:pPr lvl="0"/>
            <a:r>
              <a:rPr lang="en-IN" b="1" dirty="0"/>
              <a:t>Port P1:</a:t>
            </a:r>
            <a:r>
              <a:rPr lang="en-IN" dirty="0"/>
              <a:t> 8 pins</a:t>
            </a:r>
          </a:p>
          <a:p>
            <a:pPr lvl="0"/>
            <a:r>
              <a:rPr lang="en-IN" b="1" dirty="0"/>
              <a:t>Port P2:</a:t>
            </a:r>
            <a:r>
              <a:rPr lang="en-IN" dirty="0"/>
              <a:t> 8 pins</a:t>
            </a:r>
          </a:p>
          <a:p>
            <a:pPr lvl="0"/>
            <a:r>
              <a:rPr lang="en-IN" b="1" dirty="0"/>
              <a:t>Port P3:</a:t>
            </a:r>
            <a:r>
              <a:rPr lang="en-IN" dirty="0"/>
              <a:t> 8 pins (only on larger packages)</a:t>
            </a:r>
          </a:p>
          <a:p>
            <a:r>
              <a:rPr lang="en-IN" dirty="0"/>
              <a:t>Each pin </a:t>
            </a:r>
            <a:r>
              <a:rPr lang="en-IN" dirty="0" smtClean="0"/>
              <a:t>can:-Be </a:t>
            </a:r>
            <a:r>
              <a:rPr lang="en-IN" dirty="0"/>
              <a:t>input or output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155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MSP FEATURES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6. </a:t>
            </a:r>
            <a:r>
              <a:rPr lang="en-IN" b="1" dirty="0"/>
              <a:t>ADC (Analog-to-Digital Converter)</a:t>
            </a:r>
            <a:endParaRPr lang="en-IN" dirty="0"/>
          </a:p>
          <a:p>
            <a:pPr lvl="0"/>
            <a:r>
              <a:rPr lang="en-IN" b="1" dirty="0"/>
              <a:t>10-bit ADC</a:t>
            </a:r>
            <a:endParaRPr lang="en-IN" dirty="0"/>
          </a:p>
          <a:p>
            <a:pPr lvl="0"/>
            <a:r>
              <a:rPr lang="en-IN" b="1" dirty="0"/>
              <a:t>8 channels</a:t>
            </a:r>
            <a:endParaRPr lang="en-IN" dirty="0"/>
          </a:p>
          <a:p>
            <a:r>
              <a:rPr lang="en-IN" b="1" dirty="0"/>
              <a:t>Simple </a:t>
            </a:r>
            <a:r>
              <a:rPr lang="en-IN" b="1" dirty="0" smtClean="0"/>
              <a:t>idea:</a:t>
            </a:r>
            <a:r>
              <a:rPr lang="en-IN" dirty="0"/>
              <a:t>-</a:t>
            </a:r>
            <a:r>
              <a:rPr lang="en-IN" dirty="0" smtClean="0"/>
              <a:t>Converts </a:t>
            </a:r>
            <a:r>
              <a:rPr lang="en-IN" dirty="0"/>
              <a:t>real-world signals (like voltage, temperature) into numbers the CPU understands</a:t>
            </a:r>
          </a:p>
        </p:txBody>
      </p:sp>
    </p:spTree>
    <p:extLst>
      <p:ext uri="{BB962C8B-B14F-4D97-AF65-F5344CB8AC3E}">
        <p14:creationId xmlns:p14="http://schemas.microsoft.com/office/powerpoint/2010/main" val="1660971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MSP FEATURES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 smtClean="0"/>
              <a:t>7. Timers-</a:t>
            </a:r>
            <a:r>
              <a:rPr lang="en-US" dirty="0"/>
              <a:t>Two 16-Bit Timer_A With Three </a:t>
            </a:r>
            <a:r>
              <a:rPr lang="en-IN" dirty="0" smtClean="0"/>
              <a:t>Capture/Compare Registers.</a:t>
            </a:r>
            <a:endParaRPr lang="en-IN" dirty="0" smtClean="0"/>
          </a:p>
          <a:p>
            <a:pPr lvl="0"/>
            <a:r>
              <a:rPr lang="en-IN" b="1" dirty="0" smtClean="0"/>
              <a:t>Timer0_A</a:t>
            </a:r>
            <a:endParaRPr lang="en-IN" dirty="0"/>
          </a:p>
          <a:p>
            <a:pPr lvl="0"/>
            <a:r>
              <a:rPr lang="en-IN" b="1" dirty="0" smtClean="0"/>
              <a:t>Timer1_A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Each timer has:</a:t>
            </a:r>
          </a:p>
          <a:p>
            <a:pPr lvl="0"/>
            <a:r>
              <a:rPr lang="en-IN" dirty="0"/>
              <a:t>3 capture/compare registers</a:t>
            </a:r>
          </a:p>
          <a:p>
            <a:pPr marL="0" indent="0">
              <a:buNone/>
            </a:pPr>
            <a:r>
              <a:rPr lang="en-IN" b="1" dirty="0"/>
              <a:t>Used for:</a:t>
            </a:r>
            <a:endParaRPr lang="en-IN" dirty="0"/>
          </a:p>
          <a:p>
            <a:pPr lvl="0"/>
            <a:r>
              <a:rPr lang="en-IN" dirty="0"/>
              <a:t>Delays</a:t>
            </a:r>
          </a:p>
          <a:p>
            <a:pPr lvl="0"/>
            <a:r>
              <a:rPr lang="en-IN" dirty="0"/>
              <a:t>Counting</a:t>
            </a:r>
          </a:p>
          <a:p>
            <a:pPr lvl="0"/>
            <a:r>
              <a:rPr lang="en-IN" dirty="0"/>
              <a:t>PWM (motor speed, LED brightness)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9533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MSP Features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b="1" dirty="0" smtClean="0"/>
              <a:t>8.Communication </a:t>
            </a:r>
            <a:r>
              <a:rPr lang="en-IN" b="1" dirty="0"/>
              <a:t>(talking to other devices)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Built-in communication (USCI-Universal Serial Communication Interface)</a:t>
            </a:r>
          </a:p>
          <a:p>
            <a:r>
              <a:rPr lang="en-US" dirty="0"/>
              <a:t>Allows the microcontroller to </a:t>
            </a:r>
            <a:r>
              <a:rPr lang="en-US" b="1" dirty="0"/>
              <a:t>talk to other devices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Supports:</a:t>
            </a:r>
          </a:p>
          <a:p>
            <a:pPr lvl="1"/>
            <a:r>
              <a:rPr lang="en-US" dirty="0"/>
              <a:t>UART (serial communication)</a:t>
            </a:r>
          </a:p>
          <a:p>
            <a:pPr lvl="1"/>
            <a:r>
              <a:rPr lang="en-US" dirty="0"/>
              <a:t>SPI</a:t>
            </a:r>
          </a:p>
          <a:p>
            <a:pPr lvl="1"/>
            <a:r>
              <a:rPr lang="en-US" dirty="0"/>
              <a:t>I²C</a:t>
            </a:r>
          </a:p>
          <a:p>
            <a:r>
              <a:rPr lang="en-US" dirty="0"/>
              <a:t> Used to connect sensors, displays, PCs, or other controllers.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5587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9.Watchdog </a:t>
            </a:r>
            <a:r>
              <a:rPr lang="en-IN" b="1" dirty="0"/>
              <a:t>Timer (WDT+)</a:t>
            </a:r>
            <a:endParaRPr lang="en-IN" dirty="0"/>
          </a:p>
          <a:p>
            <a:pPr lvl="0"/>
            <a:r>
              <a:rPr lang="en-IN" dirty="0"/>
              <a:t>Automatically </a:t>
            </a:r>
            <a:r>
              <a:rPr lang="en-IN" b="1" dirty="0"/>
              <a:t>resets the chip</a:t>
            </a:r>
            <a:r>
              <a:rPr lang="en-IN" dirty="0"/>
              <a:t> if software gets stuck</a:t>
            </a:r>
          </a:p>
          <a:p>
            <a:pPr lvl="0"/>
            <a:r>
              <a:rPr lang="en-IN" dirty="0"/>
              <a:t>Can also generate </a:t>
            </a:r>
            <a:r>
              <a:rPr lang="en-IN" b="1" dirty="0"/>
              <a:t>timed interrupts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Simple idea:</a:t>
            </a:r>
            <a:endParaRPr lang="en-IN" dirty="0"/>
          </a:p>
          <a:p>
            <a:r>
              <a:rPr lang="en-IN" dirty="0"/>
              <a:t>A safety guard that restarts the system if something goes wrong</a:t>
            </a:r>
          </a:p>
        </p:txBody>
      </p:sp>
    </p:spTree>
    <p:extLst>
      <p:ext uri="{BB962C8B-B14F-4D97-AF65-F5344CB8AC3E}">
        <p14:creationId xmlns:p14="http://schemas.microsoft.com/office/powerpoint/2010/main" val="1267685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10. </a:t>
            </a:r>
            <a:r>
              <a:rPr lang="en-IN" b="1" dirty="0"/>
              <a:t>Brown-Out Protection</a:t>
            </a:r>
            <a:endParaRPr lang="en-IN" dirty="0"/>
          </a:p>
          <a:p>
            <a:pPr lvl="0"/>
            <a:r>
              <a:rPr lang="en-IN" dirty="0"/>
              <a:t>Detects </a:t>
            </a:r>
            <a:r>
              <a:rPr lang="en-IN" b="1" dirty="0"/>
              <a:t>low power voltage</a:t>
            </a:r>
            <a:endParaRPr lang="en-IN" dirty="0"/>
          </a:p>
          <a:p>
            <a:pPr lvl="0"/>
            <a:r>
              <a:rPr lang="en-IN" dirty="0"/>
              <a:t>Resets the chip to prevent wrong operation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7992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11.Emulation </a:t>
            </a:r>
            <a:r>
              <a:rPr lang="en-IN" b="1" dirty="0"/>
              <a:t>(Debugging)</a:t>
            </a:r>
            <a:endParaRPr lang="en-IN" sz="1800" dirty="0"/>
          </a:p>
          <a:p>
            <a:pPr lvl="0"/>
            <a:r>
              <a:rPr lang="en-IN" dirty="0"/>
              <a:t>Supports </a:t>
            </a:r>
            <a:r>
              <a:rPr lang="en-IN" b="1" dirty="0"/>
              <a:t>JTAG / Spy-Bi-Wire</a:t>
            </a:r>
            <a:endParaRPr lang="en-IN" sz="2800" dirty="0"/>
          </a:p>
          <a:p>
            <a:pPr lvl="0"/>
            <a:r>
              <a:rPr lang="en-IN" dirty="0"/>
              <a:t>Used to:</a:t>
            </a:r>
            <a:endParaRPr lang="en-IN" sz="2800" dirty="0"/>
          </a:p>
          <a:p>
            <a:pPr lvl="1"/>
            <a:r>
              <a:rPr lang="en-IN" dirty="0"/>
              <a:t>Load programs</a:t>
            </a:r>
            <a:endParaRPr lang="en-IN" sz="2400" dirty="0"/>
          </a:p>
          <a:p>
            <a:pPr lvl="1"/>
            <a:r>
              <a:rPr lang="en-IN" dirty="0"/>
              <a:t>Debug (run, stop, step)</a:t>
            </a: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463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MSP430G2553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Analog </a:t>
            </a:r>
            <a:r>
              <a:rPr lang="en-US" b="1" dirty="0" smtClean="0"/>
              <a:t>comparator</a:t>
            </a:r>
          </a:p>
          <a:p>
            <a:r>
              <a:rPr lang="en-US" dirty="0" smtClean="0"/>
              <a:t>Compares two voltages</a:t>
            </a:r>
          </a:p>
          <a:p>
            <a:r>
              <a:rPr lang="en-US" dirty="0" smtClean="0"/>
              <a:t>Decides which one is higher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2830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MSP430G2553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Built-in communication (USCI-Universal Serial Communication Interface)</a:t>
            </a:r>
          </a:p>
          <a:p>
            <a:r>
              <a:rPr lang="en-US" dirty="0" smtClean="0"/>
              <a:t>Allows the microcontroller to </a:t>
            </a:r>
            <a:r>
              <a:rPr lang="en-US" b="1" dirty="0" smtClean="0"/>
              <a:t>talk to other devices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Supports:</a:t>
            </a:r>
          </a:p>
          <a:p>
            <a:pPr lvl="1"/>
            <a:r>
              <a:rPr lang="en-US" dirty="0" smtClean="0"/>
              <a:t>UART (serial communication)</a:t>
            </a:r>
          </a:p>
          <a:p>
            <a:pPr lvl="1"/>
            <a:r>
              <a:rPr lang="en-US" dirty="0" smtClean="0"/>
              <a:t>SPI</a:t>
            </a:r>
          </a:p>
          <a:p>
            <a:pPr lvl="1"/>
            <a:r>
              <a:rPr lang="en-US" dirty="0" smtClean="0"/>
              <a:t>I²C</a:t>
            </a:r>
          </a:p>
          <a:p>
            <a:r>
              <a:rPr lang="en-US" dirty="0" smtClean="0"/>
              <a:t> Used to connect sensors, displays, PCs, or other controllers.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2632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MSP430G2553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I²C</a:t>
            </a:r>
            <a:r>
              <a:rPr lang="en-US" dirty="0" smtClean="0"/>
              <a:t> is a communication method that lets a microcontroller talk to other chips using just two wires.</a:t>
            </a:r>
          </a:p>
          <a:p>
            <a:r>
              <a:rPr lang="en-US" b="1" dirty="0" smtClean="0"/>
              <a:t>SPI -Serial Peripheral Interface</a:t>
            </a:r>
            <a:r>
              <a:rPr lang="en-US" dirty="0"/>
              <a:t> </a:t>
            </a:r>
            <a:r>
              <a:rPr lang="en-US" dirty="0" smtClean="0"/>
              <a:t>is a fast communication method that lets a microcontroller talk to other devices using multiple wires.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6453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MSP430G2553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UART is a communication method that sends and receives data one bit at a time without using a clock signal.</a:t>
            </a:r>
          </a:p>
          <a:p>
            <a:r>
              <a:rPr lang="en-US" dirty="0"/>
              <a:t>Supports up to two I2C, four SPI and two UART</a:t>
            </a:r>
          </a:p>
          <a:p>
            <a:pPr marL="0" indent="0">
              <a:buNone/>
            </a:pPr>
            <a:r>
              <a:rPr lang="en-IN" dirty="0" smtClean="0"/>
              <a:t>Interfaces.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66771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UART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</a:t>
            </a:r>
            <a:r>
              <a:rPr lang="en-US" b="1" dirty="0" smtClean="0"/>
              <a:t>X (Transmit)</a:t>
            </a:r>
            <a:r>
              <a:rPr lang="en-US" dirty="0" smtClean="0"/>
              <a:t> – sends data</a:t>
            </a:r>
            <a:br>
              <a:rPr lang="en-US" dirty="0" smtClean="0"/>
            </a:br>
            <a:r>
              <a:rPr lang="en-US" b="1" dirty="0" smtClean="0"/>
              <a:t>RX (Receive)</a:t>
            </a:r>
            <a:r>
              <a:rPr lang="en-US" dirty="0" smtClean="0"/>
              <a:t> – receives data</a:t>
            </a:r>
          </a:p>
          <a:p>
            <a:pPr marL="0" indent="0">
              <a:buNone/>
            </a:pPr>
            <a:r>
              <a:rPr lang="en-US" b="1" dirty="0" smtClean="0"/>
              <a:t>Asynchronous”?-</a:t>
            </a:r>
          </a:p>
          <a:p>
            <a:r>
              <a:rPr lang="en-US" dirty="0" smtClean="0"/>
              <a:t>No separate clock line</a:t>
            </a:r>
          </a:p>
          <a:p>
            <a:r>
              <a:rPr lang="en-US" dirty="0" smtClean="0"/>
              <a:t>Sender and receiver agree on a </a:t>
            </a:r>
            <a:r>
              <a:rPr lang="en-US" b="1" dirty="0" smtClean="0"/>
              <a:t>baud rate</a:t>
            </a:r>
            <a:r>
              <a:rPr lang="en-US" dirty="0" smtClean="0"/>
              <a:t> (speed) beforehand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1618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0700166"/>
              </p:ext>
            </p:extLst>
          </p:nvPr>
        </p:nvGraphicFramePr>
        <p:xfrm>
          <a:off x="611560" y="1484784"/>
          <a:ext cx="8229600" cy="14630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UART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I²C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2 wires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4 wires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 wires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No clock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Has clock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Has clock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Simple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Saves pins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1312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MSP430G2553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The microcontroller can adjust its internal working voltage using a built-in PWM system to save power or increase performance.</a:t>
            </a:r>
          </a:p>
          <a:p>
            <a:r>
              <a:rPr lang="en-IN" sz="2800" dirty="0"/>
              <a:t>16-bit </a:t>
            </a:r>
            <a:r>
              <a:rPr lang="en-IN" sz="2800" dirty="0" smtClean="0"/>
              <a:t>RISC Architecture</a:t>
            </a:r>
            <a:r>
              <a:rPr lang="en-IN" dirty="0" smtClean="0"/>
              <a:t>.</a:t>
            </a:r>
          </a:p>
          <a:p>
            <a:r>
              <a:rPr lang="en-US" dirty="0" smtClean="0"/>
              <a:t>ADDRESS BUS 16 BIT</a:t>
            </a:r>
            <a:endParaRPr lang="en-IN" dirty="0" smtClean="0"/>
          </a:p>
          <a:p>
            <a:endParaRPr lang="en-IN" dirty="0" smtClean="0"/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MSP430G2553 is available in a 20-pin DIP package as well as higher pin-count packages.</a:t>
            </a:r>
            <a:endParaRPr lang="en-I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63864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MSP-EXP430G2</a:t>
            </a:r>
            <a:endParaRPr lang="en-IN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08520" y="1268760"/>
            <a:ext cx="9217024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8524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 Composer Studio-IDE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Its an IDE.</a:t>
            </a:r>
          </a:p>
          <a:p>
            <a:r>
              <a:rPr lang="en-IN" b="1" dirty="0" smtClean="0"/>
              <a:t>IDE</a:t>
            </a:r>
            <a:r>
              <a:rPr lang="en-IN" dirty="0" smtClean="0"/>
              <a:t> </a:t>
            </a:r>
            <a:r>
              <a:rPr lang="en-IN" dirty="0"/>
              <a:t>stands for </a:t>
            </a:r>
            <a:r>
              <a:rPr lang="en-IN" b="1" dirty="0"/>
              <a:t>Integrated Development Environment</a:t>
            </a:r>
            <a:r>
              <a:rPr lang="en-IN" dirty="0"/>
              <a:t>.</a:t>
            </a:r>
          </a:p>
          <a:p>
            <a:r>
              <a:rPr lang="en-IN" b="1" dirty="0"/>
              <a:t>Simple </a:t>
            </a:r>
            <a:r>
              <a:rPr lang="en-IN" b="1" dirty="0" err="1" smtClean="0"/>
              <a:t>explanation:</a:t>
            </a:r>
            <a:r>
              <a:rPr lang="en-IN" dirty="0" err="1" smtClean="0"/>
              <a:t>It’s</a:t>
            </a:r>
            <a:r>
              <a:rPr lang="en-IN" dirty="0" smtClean="0"/>
              <a:t> </a:t>
            </a:r>
            <a:r>
              <a:rPr lang="en-IN" dirty="0"/>
              <a:t>a </a:t>
            </a:r>
            <a:r>
              <a:rPr lang="en-IN" b="1" dirty="0"/>
              <a:t>software tool</a:t>
            </a:r>
            <a:r>
              <a:rPr lang="en-IN" dirty="0"/>
              <a:t> where you can </a:t>
            </a:r>
            <a:r>
              <a:rPr lang="en-IN" b="1" dirty="0"/>
              <a:t>write, edit, compile, and debug</a:t>
            </a:r>
            <a:r>
              <a:rPr lang="en-IN" dirty="0"/>
              <a:t> programs all in </a:t>
            </a:r>
            <a:r>
              <a:rPr lang="en-IN" b="1" dirty="0"/>
              <a:t>one place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63851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en-IN" b="1" dirty="0"/>
              <a:t>Tools included:</a:t>
            </a:r>
            <a:r>
              <a:rPr lang="en-IN" dirty="0"/>
              <a:t> Compiler, Assembler, Linker, Debugger, BIOS, Simulator</a:t>
            </a:r>
          </a:p>
          <a:p>
            <a:r>
              <a:rPr lang="en-IN" b="1" dirty="0"/>
              <a:t>Functional parts:</a:t>
            </a:r>
            <a:endParaRPr lang="en-IN" dirty="0"/>
          </a:p>
          <a:p>
            <a:pPr lvl="0"/>
            <a:r>
              <a:rPr lang="en-IN" b="1" dirty="0"/>
              <a:t>Compiler:</a:t>
            </a:r>
            <a:r>
              <a:rPr lang="en-IN" dirty="0"/>
              <a:t> C → Assembly</a:t>
            </a:r>
          </a:p>
          <a:p>
            <a:pPr lvl="0"/>
            <a:r>
              <a:rPr lang="en-IN" b="1" dirty="0"/>
              <a:t>Assembler:</a:t>
            </a:r>
            <a:r>
              <a:rPr lang="en-IN" dirty="0"/>
              <a:t> Assembly → Machine code (object files)</a:t>
            </a:r>
          </a:p>
          <a:p>
            <a:pPr lvl="0"/>
            <a:r>
              <a:rPr lang="en-IN" b="1" dirty="0"/>
              <a:t>Libraries:</a:t>
            </a:r>
            <a:r>
              <a:rPr lang="en-IN" dirty="0"/>
              <a:t> ANSI functions, I/O, Floating-point, Utilities</a:t>
            </a:r>
          </a:p>
          <a:p>
            <a:pPr lvl="0"/>
            <a:r>
              <a:rPr lang="en-IN" b="1" dirty="0"/>
              <a:t>Linker:</a:t>
            </a:r>
            <a:r>
              <a:rPr lang="en-IN" dirty="0"/>
              <a:t> Combines object + library + BIOS → Executable (.out)</a:t>
            </a:r>
          </a:p>
          <a:p>
            <a:pPr lvl="0"/>
            <a:r>
              <a:rPr lang="en-IN" b="1" dirty="0"/>
              <a:t>Debugger</a:t>
            </a:r>
            <a:r>
              <a:rPr lang="en-IN" b="1" dirty="0" smtClean="0"/>
              <a:t>:-</a:t>
            </a:r>
            <a:r>
              <a:rPr lang="en-US" dirty="0"/>
              <a:t>Helps you </a:t>
            </a:r>
            <a:r>
              <a:rPr lang="en-US" b="1" dirty="0"/>
              <a:t>find and fix errors</a:t>
            </a:r>
            <a:r>
              <a:rPr lang="en-US" dirty="0"/>
              <a:t> in your program</a:t>
            </a:r>
            <a:r>
              <a:rPr lang="en-US" dirty="0" smtClean="0"/>
              <a:t>.</a:t>
            </a:r>
          </a:p>
          <a:p>
            <a:pPr lvl="0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70928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Edit perspective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2423"/>
            <a:ext cx="8229600" cy="4521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9416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014" y="1600200"/>
            <a:ext cx="784597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78158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457" y="1600200"/>
            <a:ext cx="50650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64564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i="1" dirty="0"/>
              <a:t>Project Creation and Build</a:t>
            </a:r>
            <a:br>
              <a:rPr lang="en-IN" b="1" i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A </a:t>
            </a:r>
            <a:r>
              <a:rPr lang="en-US" dirty="0"/>
              <a:t>project contains all the files you will need to develop an executable output file (.out) which can be run on</a:t>
            </a:r>
          </a:p>
          <a:p>
            <a:r>
              <a:rPr lang="en-US" dirty="0"/>
              <a:t>the MSP430 hardware. To create a new project:</a:t>
            </a:r>
          </a:p>
          <a:p>
            <a:r>
              <a:rPr lang="en-US" dirty="0"/>
              <a:t>1. Click </a:t>
            </a:r>
            <a:r>
              <a:rPr lang="en-US" b="1" dirty="0"/>
              <a:t>File New CCS Project</a:t>
            </a:r>
          </a:p>
          <a:p>
            <a:r>
              <a:rPr lang="en-US" dirty="0"/>
              <a:t>2. Type in your Project name and make the selections shown below (your dialog may look slightly different</a:t>
            </a:r>
          </a:p>
          <a:p>
            <a:r>
              <a:rPr lang="en-IN" dirty="0"/>
              <a:t>than this one).</a:t>
            </a:r>
          </a:p>
          <a:p>
            <a:r>
              <a:rPr lang="en-US" dirty="0"/>
              <a:t>3. If you are using the MSP430G2553, make the appropriate choices for that part. Make sure to click</a:t>
            </a:r>
          </a:p>
          <a:p>
            <a:r>
              <a:rPr lang="en-US" b="1" dirty="0"/>
              <a:t>Empty Project </a:t>
            </a:r>
            <a:r>
              <a:rPr lang="en-US" dirty="0"/>
              <a:t>(with </a:t>
            </a:r>
            <a:r>
              <a:rPr lang="en-US" dirty="0" err="1"/>
              <a:t>main.c</a:t>
            </a:r>
            <a:r>
              <a:rPr lang="en-US" dirty="0"/>
              <a:t>) and then click </a:t>
            </a:r>
            <a:r>
              <a:rPr lang="en-US" b="1" dirty="0"/>
              <a:t>Finish</a:t>
            </a:r>
            <a:r>
              <a:rPr lang="en-US" dirty="0"/>
              <a:t>.</a:t>
            </a:r>
          </a:p>
          <a:p>
            <a:r>
              <a:rPr lang="en-US" dirty="0"/>
              <a:t>4. If you are writing an Assembly Code, select Empty Assembly-only Project.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03759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9" y="260648"/>
            <a:ext cx="6480720" cy="6264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68362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7. Type in your program code in the </a:t>
            </a:r>
            <a:r>
              <a:rPr lang="en-US" dirty="0" err="1"/>
              <a:t>main.c</a:t>
            </a:r>
            <a:r>
              <a:rPr lang="en-US" dirty="0"/>
              <a:t> / main.asm file and save it.</a:t>
            </a:r>
          </a:p>
          <a:p>
            <a:r>
              <a:rPr lang="en-US" dirty="0"/>
              <a:t>8. CCS can automatically save modified source files, build the program, open the debug perspective view,</a:t>
            </a:r>
          </a:p>
          <a:p>
            <a:r>
              <a:rPr lang="en-US" dirty="0"/>
              <a:t>connect and download it to the target (flash device), and then run the program to the beginning of the main</a:t>
            </a:r>
          </a:p>
          <a:p>
            <a:r>
              <a:rPr lang="en-US" dirty="0"/>
              <a:t>function. To do this, click on the "Debug" button. .</a:t>
            </a:r>
          </a:p>
          <a:p>
            <a:r>
              <a:rPr lang="en-US" dirty="0"/>
              <a:t>9. When the Ultra-Low-Power Advisor (ULP Advisor) appears, click the Proceed button.</a:t>
            </a:r>
          </a:p>
          <a:p>
            <a:r>
              <a:rPr lang="en-US" dirty="0"/>
              <a:t>10. When the download completes, CCS is in the Debug perspective. Notice the Debug tab in the upper</a:t>
            </a:r>
          </a:p>
          <a:p>
            <a:r>
              <a:rPr lang="en-US" dirty="0"/>
              <a:t>right-hand corner indicating that we are now in the "CCS Debug" view.</a:t>
            </a:r>
          </a:p>
          <a:p>
            <a:r>
              <a:rPr lang="en-US" dirty="0"/>
              <a:t>11. Click and drag the perspective tabs to the left until you can see all of both tabs. You can observe that</a:t>
            </a:r>
          </a:p>
          <a:p>
            <a:r>
              <a:rPr lang="en-US" dirty="0"/>
              <a:t>the program has run through the C-environment initialization routine in the runtime support library and</a:t>
            </a:r>
          </a:p>
          <a:p>
            <a:r>
              <a:rPr lang="en-US" dirty="0"/>
              <a:t>stopped at main() in </a:t>
            </a:r>
            <a:r>
              <a:rPr lang="en-US" dirty="0" err="1"/>
              <a:t>main.c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95508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IN" b="1" dirty="0"/>
              <a:t>Debug Environment</a:t>
            </a:r>
          </a:p>
          <a:p>
            <a:r>
              <a:rPr lang="en-US" dirty="0"/>
              <a:t>After completion of target download, CCS enters the Debug perspective. Notice the Debug tab in the upper</a:t>
            </a:r>
          </a:p>
          <a:p>
            <a:r>
              <a:rPr lang="en-US" dirty="0"/>
              <a:t>right-hand corner indicating that we are now in the "CCS Debug" view (See </a:t>
            </a:r>
            <a:r>
              <a:rPr lang="en-US" b="1" dirty="0"/>
              <a:t>Figure 7</a:t>
            </a:r>
            <a:r>
              <a:rPr lang="en-US" dirty="0"/>
              <a:t>). Click and drag the</a:t>
            </a:r>
          </a:p>
          <a:p>
            <a:r>
              <a:rPr lang="en-US" dirty="0"/>
              <a:t>perspective tabs to the left until you can completely see both tabs.</a:t>
            </a:r>
          </a:p>
          <a:p>
            <a:r>
              <a:rPr lang="en-US" dirty="0"/>
              <a:t>The basic buttons that control the debug environment are located at the top of the Debug pane. If the pane</a:t>
            </a:r>
          </a:p>
          <a:p>
            <a:r>
              <a:rPr lang="en-US" dirty="0"/>
              <a:t>is closed accidentally, the Debug controls will disappear. To bring back the debug controls, click</a:t>
            </a:r>
          </a:p>
          <a:p>
            <a:r>
              <a:rPr lang="en-US" b="1" dirty="0"/>
              <a:t>View Debug </a:t>
            </a:r>
            <a:r>
              <a:rPr lang="en-US" dirty="0"/>
              <a:t>on the menu bar.</a:t>
            </a:r>
          </a:p>
          <a:p>
            <a:r>
              <a:rPr lang="en-IN" b="1" dirty="0"/>
              <a:t>Figure 11 Debug Environment</a:t>
            </a:r>
          </a:p>
          <a:p>
            <a:r>
              <a:rPr lang="en-US" dirty="0"/>
              <a:t>You can explore each button by clicking on it to see its function. At this point, your code should be at the</a:t>
            </a:r>
          </a:p>
          <a:p>
            <a:r>
              <a:rPr lang="en-US" dirty="0"/>
              <a:t>beginning of main (). Look for a small blue arrow left of the opening brace of main() in the middle window</a:t>
            </a:r>
          </a:p>
          <a:p>
            <a:r>
              <a:rPr lang="en-US" dirty="0"/>
              <a:t>as shown in </a:t>
            </a:r>
            <a:r>
              <a:rPr lang="en-US" b="1" dirty="0"/>
              <a:t>Figure 11</a:t>
            </a:r>
            <a:r>
              <a:rPr lang="en-US" dirty="0"/>
              <a:t>. The blue arrow indicates where the Program Counter (PC) is pointing to.</a:t>
            </a:r>
          </a:p>
          <a:p>
            <a:r>
              <a:rPr lang="en-US" dirty="0"/>
              <a:t>Click the </a:t>
            </a:r>
            <a:r>
              <a:rPr lang="en-US" b="1" dirty="0"/>
              <a:t>Resume </a:t>
            </a:r>
            <a:r>
              <a:rPr lang="en-US" dirty="0"/>
              <a:t>button to run the code.</a:t>
            </a:r>
          </a:p>
          <a:p>
            <a:r>
              <a:rPr lang="en-US" dirty="0"/>
              <a:t>Click </a:t>
            </a:r>
            <a:r>
              <a:rPr lang="en-US" b="1" dirty="0"/>
              <a:t>Suspend </a:t>
            </a:r>
            <a:r>
              <a:rPr lang="en-US" dirty="0"/>
              <a:t>to stop code execution in the middle of the program.</a:t>
            </a:r>
          </a:p>
          <a:p>
            <a:r>
              <a:rPr lang="en-US" dirty="0"/>
              <a:t>To single-step into the code, click </a:t>
            </a:r>
            <a:r>
              <a:rPr lang="en-US" b="1" dirty="0"/>
              <a:t>Step Into </a:t>
            </a:r>
            <a:r>
              <a:rPr lang="en-US" dirty="0"/>
              <a:t>to help in debugging the program and check if each line</a:t>
            </a:r>
          </a:p>
          <a:p>
            <a:r>
              <a:rPr lang="en-US" dirty="0"/>
              <a:t>of code is producing the desired result.</a:t>
            </a:r>
          </a:p>
          <a:p>
            <a:r>
              <a:rPr lang="en-US" dirty="0"/>
              <a:t>Click </a:t>
            </a:r>
            <a:r>
              <a:rPr lang="en-US" b="1" dirty="0"/>
              <a:t>Reset CPU </a:t>
            </a:r>
            <a:r>
              <a:rPr lang="en-US" dirty="0"/>
              <a:t>and you should be back at the beginning of main().</a:t>
            </a:r>
          </a:p>
          <a:p>
            <a:r>
              <a:rPr lang="en-US" dirty="0"/>
              <a:t>The </a:t>
            </a:r>
            <a:r>
              <a:rPr lang="en-US" b="1" dirty="0"/>
              <a:t>Terminate </a:t>
            </a:r>
            <a:r>
              <a:rPr lang="en-US" dirty="0"/>
              <a:t>button will terminate the active debug session, close the debugger and return CCS to</a:t>
            </a:r>
          </a:p>
          <a:p>
            <a:r>
              <a:rPr lang="en-US" dirty="0"/>
              <a:t>the "CCS Edit" perspective. It also sends a reset to the </a:t>
            </a:r>
            <a:r>
              <a:rPr lang="en-US" dirty="0" err="1"/>
              <a:t>LaunchPad</a:t>
            </a:r>
            <a:r>
              <a:rPr lang="en-US" dirty="0"/>
              <a:t> board.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96876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153" y="1876942"/>
            <a:ext cx="6039693" cy="3972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79766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980728"/>
            <a:ext cx="8424936" cy="447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8528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1517</Words>
  <Application>Microsoft Office PowerPoint</Application>
  <PresentationFormat>On-screen Show (4:3)</PresentationFormat>
  <Paragraphs>198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Exp-1</vt:lpstr>
      <vt:lpstr>PowerPoint Presentation</vt:lpstr>
      <vt:lpstr>MSP430 LP</vt:lpstr>
      <vt:lpstr>MSP MCU’s</vt:lpstr>
      <vt:lpstr>MSP430</vt:lpstr>
      <vt:lpstr>MSP430 family</vt:lpstr>
      <vt:lpstr>MSP applications</vt:lpstr>
      <vt:lpstr>MSP-EXP430G2</vt:lpstr>
      <vt:lpstr>Purpose of MSP-EXP430G2 </vt:lpstr>
      <vt:lpstr>MSP FEATURES</vt:lpstr>
      <vt:lpstr>MSP FEATURES</vt:lpstr>
      <vt:lpstr>MSP FEATURES</vt:lpstr>
      <vt:lpstr>MSP FEATURES</vt:lpstr>
      <vt:lpstr>MSP FEATURES</vt:lpstr>
      <vt:lpstr>MSP FEATURES</vt:lpstr>
      <vt:lpstr>MSP FEATURES</vt:lpstr>
      <vt:lpstr>MSP Features</vt:lpstr>
      <vt:lpstr>PowerPoint Presentation</vt:lpstr>
      <vt:lpstr>PowerPoint Presentation</vt:lpstr>
      <vt:lpstr>PowerPoint Presentation</vt:lpstr>
      <vt:lpstr>MSP430G2553</vt:lpstr>
      <vt:lpstr>MSP430G2553</vt:lpstr>
      <vt:lpstr>MSP430G2553</vt:lpstr>
      <vt:lpstr>MSP430G2553</vt:lpstr>
      <vt:lpstr>UART</vt:lpstr>
      <vt:lpstr>PowerPoint Presentation</vt:lpstr>
      <vt:lpstr>MSP430G2553</vt:lpstr>
      <vt:lpstr>MSP-EXP430G2</vt:lpstr>
      <vt:lpstr>Code Composer Studio-IDE</vt:lpstr>
      <vt:lpstr>PowerPoint Presentation</vt:lpstr>
      <vt:lpstr>Edit perspective</vt:lpstr>
      <vt:lpstr>PowerPoint Presentation</vt:lpstr>
      <vt:lpstr>PowerPoint Presentation</vt:lpstr>
      <vt:lpstr>Project Creation and Build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Exp-1</dc:title>
  <dc:creator>REHNA A SALAM</dc:creator>
  <cp:lastModifiedBy>REHNA A SALAM</cp:lastModifiedBy>
  <cp:revision>22</cp:revision>
  <dcterms:created xsi:type="dcterms:W3CDTF">2025-12-31T09:38:42Z</dcterms:created>
  <dcterms:modified xsi:type="dcterms:W3CDTF">2026-01-06T11:18:37Z</dcterms:modified>
</cp:coreProperties>
</file>