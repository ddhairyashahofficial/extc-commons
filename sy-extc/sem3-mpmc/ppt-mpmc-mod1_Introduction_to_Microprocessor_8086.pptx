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66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832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1-08-20T08:16:21.9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13390 9264 260,'0'0'51,"0"0"-51,0 0 1,0 0-1,0 0 3,0 0 12,0 0 43,0 0 19,0 0-49,0 0-9,0 0-4,0 0-4,11 0-9,9 0-2,9 0 4,13 0-3,10 0-1,8 0 0,10 10 0,10 0 0,-3-1-7,-3 0-328</inkml:trace>
  <inkml:trace contextRef="#ctx0" brushRef="#br0" timeOffset="4319.9279">22030 8652 637,'0'0'1,"0"0"4,0 0 36,0 0-19,0 0-7,0 0 3,43-3 8,-35 3-2,-1 0-5,-7 0-2,0 8-9,0 20-6,0 11 11,0 10 40,-15 1-13,1-1-14,1-6-4,3-7-4,6-6-10,2-5-4,2-7-1,0-6-1,0-9-1,0-1 0,0-2 2,0 0 0,0 0 10,0-2 0,0-15-13,0-8-7,2-3-32,2-4-61,6-2-17,-9 0-40,4 0 18,2 4-74,-3 2 183,6 4 30,-6 2 7,5 3 4,-3 3 15,4 2 33,-5-2 19,5 4-15,1 3-19,-8 0-12,1 5 12,-4 3 17,0 1-13,0 0-23,0 0-25,0 4-1,-18 13 1,0 9 3,-4 1 10,1 1 10,-1-3-3,5-1-6,1-5-2,3-5 1,3-4-10,8-7 2,0-3-2,2 0 0,0 0 12,0 0 15,18-3 20,11-13-43,6-2-7,1-6 2,3-4-1,-4-6-1,1 0 0,-7 3 2,0 6-2,-14 8 1,-2 8-1,-8 4 0,-3 5 0,-2 0 0,0 0-3,0 6-4,-7 14 7,-2 8-1,3 2 1,-3 2 0,9-1-1,0-6 0,0-2 1,0-9 0,0-6 2,0-4-2,0-2 0,0-2 0,0 0 4,0 0 0,-4 0 0,-21 0 4,-8 0-6,-10 0-2,-1 0 2,2 0-3,-1 0 3,3 2-2,2 4 0,2-5-34,5-1-276</inkml:trace>
  <inkml:trace contextRef="#ctx0" brushRef="#br0" timeOffset="15690.1397">11927 11323 454,'0'0'0,"0"0"-21,0 0-4,0 0 25,0 0 0,0 0 2,0 0 12,0 0-1,89-4 2,-66 3 0,-5 1-2,-1 0 5,4 0-10,-6 0 1,-1 0-6,1 0-3,3 0 1,0 0 4,5 0-3,5 0 3,1 0 2,2 0-3,-2 0-1,0 1-3,-2 1 3,-4 0-3,-8 0 3,-1 1-2,-6-3-1,3 2 3,-7 0 3,8-1 14,1 1-1,-1 0-6,-1-2-3,-6 0-3,8 0-2,-9 2-2,-4 1-3,2-3 0,-2 0 0,0 1 0,0 2-1,0 5-1,0-1 2,-6-4-58</inkml:trace>
  <inkml:trace contextRef="#ctx0" brushRef="#br0" timeOffset="16290.4265">13053 11333 494,'0'0'0,"0"0"-7,0 0 7,0 0 1,0 0-1,149-14 0,-106 9 0,1 1 1,-1-1-3,-5 1 1,-11 3-72,-5-2-128</inkml:trace>
  <inkml:trace contextRef="#ctx0" brushRef="#br0" timeOffset="16425.5259">13588 11296 48,'0'0'283,"0"0"-272,0 0-11,0 0 0,0 0-3,0 0-56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9ACD-DA47-4759-96EF-5EC42E4814BD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7197-07B0-4EEA-ADDE-20E60ED16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571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9ACD-DA47-4759-96EF-5EC42E4814BD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7197-07B0-4EEA-ADDE-20E60ED16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296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9ACD-DA47-4759-96EF-5EC42E4814BD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7197-07B0-4EEA-ADDE-20E60ED16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011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9ACD-DA47-4759-96EF-5EC42E4814BD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7197-07B0-4EEA-ADDE-20E60ED16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68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9ACD-DA47-4759-96EF-5EC42E4814BD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7197-07B0-4EEA-ADDE-20E60ED16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510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9ACD-DA47-4759-96EF-5EC42E4814BD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7197-07B0-4EEA-ADDE-20E60ED16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296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9ACD-DA47-4759-96EF-5EC42E4814BD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7197-07B0-4EEA-ADDE-20E60ED16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51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9ACD-DA47-4759-96EF-5EC42E4814BD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7197-07B0-4EEA-ADDE-20E60ED16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41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9ACD-DA47-4759-96EF-5EC42E4814BD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7197-07B0-4EEA-ADDE-20E60ED16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497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9ACD-DA47-4759-96EF-5EC42E4814BD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7197-07B0-4EEA-ADDE-20E60ED16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185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9ACD-DA47-4759-96EF-5EC42E4814BD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E7197-07B0-4EEA-ADDE-20E60ED16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723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                               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F9ACD-DA47-4759-96EF-5EC42E4814BD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E7197-07B0-4EEA-ADDE-20E60ED168B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C9DDECDA-AC01-47B8-B70B-458DA247878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219"/>
            <a:ext cx="2434302" cy="811434"/>
          </a:xfrm>
          <a:prstGeom prst="rect">
            <a:avLst/>
          </a:prstGeom>
        </p:spPr>
      </p:pic>
      <p:pic>
        <p:nvPicPr>
          <p:cNvPr id="8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347" y="332681"/>
            <a:ext cx="726409" cy="721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4204042" y="1938902"/>
            <a:ext cx="702416" cy="91774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5540361" y="2572804"/>
            <a:ext cx="207493" cy="699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6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b="1" u="sng" dirty="0" smtClean="0"/>
              <a:t>Introduction to Microprocessor 8086</a:t>
            </a:r>
            <a:endParaRPr lang="en-IN" sz="48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 smtClean="0"/>
              <a:t>Savita</a:t>
            </a:r>
            <a:r>
              <a:rPr lang="en-IN" dirty="0" smtClean="0"/>
              <a:t> C. </a:t>
            </a:r>
            <a:r>
              <a:rPr lang="en-IN" dirty="0" err="1" smtClean="0"/>
              <a:t>Raut</a:t>
            </a:r>
            <a:endParaRPr lang="en-IN" dirty="0" smtClean="0"/>
          </a:p>
          <a:p>
            <a:r>
              <a:rPr lang="en-IN" dirty="0" smtClean="0"/>
              <a:t>EXTC Department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329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61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</p:spPr>
        <p:txBody>
          <a:bodyPr>
            <a:normAutofit/>
          </a:bodyPr>
          <a:lstStyle/>
          <a:p>
            <a:r>
              <a:rPr lang="en-IN" b="1" dirty="0" smtClean="0"/>
              <a:t>Contents :</a:t>
            </a:r>
            <a:endParaRPr lang="en-IN" b="1" dirty="0"/>
          </a:p>
          <a:p>
            <a:r>
              <a:rPr lang="en-IN" dirty="0" smtClean="0"/>
              <a:t> </a:t>
            </a:r>
            <a:r>
              <a:rPr lang="en-IN" dirty="0"/>
              <a:t>Architecture of 8086 microprocessor</a:t>
            </a:r>
          </a:p>
          <a:p>
            <a:r>
              <a:rPr lang="en-IN" dirty="0" smtClean="0"/>
              <a:t> </a:t>
            </a:r>
            <a:r>
              <a:rPr lang="en-IN" dirty="0"/>
              <a:t>Register organization</a:t>
            </a:r>
          </a:p>
          <a:p>
            <a:r>
              <a:rPr lang="en-IN" dirty="0" smtClean="0"/>
              <a:t>8086 </a:t>
            </a:r>
            <a:r>
              <a:rPr lang="en-IN" dirty="0"/>
              <a:t>flag register and its functions</a:t>
            </a:r>
          </a:p>
          <a:p>
            <a:r>
              <a:rPr lang="en-IN" dirty="0" smtClean="0"/>
              <a:t>Addressing </a:t>
            </a:r>
            <a:r>
              <a:rPr lang="en-IN" dirty="0"/>
              <a:t>modes of 8086</a:t>
            </a:r>
          </a:p>
          <a:p>
            <a:r>
              <a:rPr lang="en-IN" dirty="0" smtClean="0"/>
              <a:t>Pin </a:t>
            </a:r>
            <a:r>
              <a:rPr lang="en-IN" dirty="0"/>
              <a:t>diagram of 8086</a:t>
            </a:r>
          </a:p>
          <a:p>
            <a:r>
              <a:rPr lang="fr-FR" dirty="0" smtClean="0"/>
              <a:t>Minimum </a:t>
            </a:r>
            <a:r>
              <a:rPr lang="fr-FR" dirty="0"/>
              <a:t>mode &amp; Maximum mode system </a:t>
            </a:r>
          </a:p>
          <a:p>
            <a:r>
              <a:rPr lang="en-IN" dirty="0" smtClean="0"/>
              <a:t>Timing </a:t>
            </a:r>
            <a:r>
              <a:rPr lang="en-IN" dirty="0"/>
              <a:t>diagrams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9788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31626"/>
          </a:xfrm>
        </p:spPr>
        <p:txBody>
          <a:bodyPr/>
          <a:lstStyle/>
          <a:p>
            <a:r>
              <a:rPr lang="en-IN" b="1" dirty="0" smtClean="0"/>
              <a:t>                </a:t>
            </a:r>
            <a:r>
              <a:rPr lang="en-IN" b="1" u="sng" dirty="0" smtClean="0"/>
              <a:t>8086 </a:t>
            </a:r>
            <a:r>
              <a:rPr lang="en-IN" b="1" u="sng" dirty="0"/>
              <a:t>Microprocessor </a:t>
            </a:r>
            <a:r>
              <a:rPr lang="en-IN" b="1" u="sng" dirty="0" smtClean="0"/>
              <a:t>features</a:t>
            </a:r>
            <a:endParaRPr lang="en-IN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1124744"/>
                <a:ext cx="8640960" cy="5400600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r>
                  <a:rPr lang="en-IN" dirty="0" smtClean="0"/>
                  <a:t>1</a:t>
                </a:r>
                <a:r>
                  <a:rPr lang="en-IN" dirty="0"/>
                  <a:t>. It is 16-bit microprocessor</a:t>
                </a:r>
              </a:p>
              <a:p>
                <a:pPr marL="0" indent="0">
                  <a:buNone/>
                </a:pPr>
                <a:r>
                  <a:rPr lang="en-IN" dirty="0"/>
                  <a:t>2. It has a 16-bit data bus, so it can read data from or write data to memory and ports either 16-bit or 8-bit at</a:t>
                </a:r>
              </a:p>
              <a:p>
                <a:pPr marL="0" indent="0">
                  <a:buNone/>
                </a:pPr>
                <a:r>
                  <a:rPr lang="en-IN" dirty="0"/>
                  <a:t>a time.</a:t>
                </a:r>
              </a:p>
              <a:p>
                <a:pPr marL="0" indent="0">
                  <a:buNone/>
                </a:pPr>
                <a:r>
                  <a:rPr lang="en-IN" dirty="0"/>
                  <a:t>3. It has 20 bit address bus and can access up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340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sz="3400" b="0" i="1" dirty="0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sz="3400" b="0" i="1" dirty="0" smtClean="0">
                            <a:latin typeface="Cambria Math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IN" dirty="0"/>
                  <a:t>memory locations (1 MB).</a:t>
                </a:r>
              </a:p>
              <a:p>
                <a:pPr marL="0" indent="0">
                  <a:buNone/>
                </a:pPr>
                <a:r>
                  <a:rPr lang="en-IN" dirty="0"/>
                  <a:t>4. It can support up to 64K I/O ports</a:t>
                </a:r>
              </a:p>
              <a:p>
                <a:pPr marL="0" indent="0">
                  <a:buNone/>
                </a:pPr>
                <a:r>
                  <a:rPr lang="en-IN" dirty="0"/>
                  <a:t>5. It provides 14, 16-bit registers</a:t>
                </a:r>
              </a:p>
              <a:p>
                <a:pPr marL="0" indent="0">
                  <a:buNone/>
                </a:pPr>
                <a:r>
                  <a:rPr lang="en-IN" dirty="0"/>
                  <a:t>6. It has multiplexed address and data bus AD0-AD15 &amp; A16-A19</a:t>
                </a:r>
              </a:p>
              <a:p>
                <a:pPr marL="0" indent="0">
                  <a:buNone/>
                </a:pPr>
                <a:r>
                  <a:rPr lang="en-IN" dirty="0"/>
                  <a:t>7. It requires single phase clock with 33% duty cycle to provide internal timing.</a:t>
                </a:r>
              </a:p>
              <a:p>
                <a:pPr marL="0" indent="0">
                  <a:buNone/>
                </a:pPr>
                <a:r>
                  <a:rPr lang="en-IN" dirty="0"/>
                  <a:t>8. </a:t>
                </a:r>
                <a:r>
                  <a:rPr lang="en-IN" dirty="0" smtClean="0"/>
                  <a:t>Pre-fetches </a:t>
                </a:r>
                <a:r>
                  <a:rPr lang="en-IN" dirty="0"/>
                  <a:t>up to 6 instruction bytes from memory and queues them in order to speed up the processing.</a:t>
                </a:r>
              </a:p>
              <a:p>
                <a:pPr marL="0" indent="0">
                  <a:buNone/>
                </a:pPr>
                <a:r>
                  <a:rPr lang="en-IN" dirty="0"/>
                  <a:t>9. 8086 supports 2 modes of operation</a:t>
                </a:r>
              </a:p>
              <a:p>
                <a:pPr marL="514350" indent="-514350">
                  <a:buAutoNum type="alphaLcPeriod"/>
                </a:pPr>
                <a:r>
                  <a:rPr lang="en-IN" dirty="0" smtClean="0"/>
                  <a:t>Minimum mode</a:t>
                </a:r>
              </a:p>
              <a:p>
                <a:pPr marL="514350" indent="-514350">
                  <a:buAutoNum type="alphaLcPeriod"/>
                </a:pPr>
                <a:r>
                  <a:rPr lang="en-IN" dirty="0" smtClean="0"/>
                  <a:t>Maximum mode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124744"/>
                <a:ext cx="8640960" cy="5400600"/>
              </a:xfrm>
              <a:blipFill rotWithShape="1">
                <a:blip r:embed="rId2"/>
                <a:stretch>
                  <a:fillRect l="-7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10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864095"/>
          </a:xfrm>
        </p:spPr>
        <p:txBody>
          <a:bodyPr/>
          <a:lstStyle/>
          <a:p>
            <a:pPr algn="ctr"/>
            <a:r>
              <a:rPr lang="en-IN" sz="3600" b="1" u="sng" dirty="0">
                <a:solidFill>
                  <a:srgbClr val="C00000"/>
                </a:solidFill>
              </a:rPr>
              <a:t>Architecture of 8086 microprocessor</a:t>
            </a:r>
            <a:r>
              <a:rPr lang="en-IN" b="1" u="sng" dirty="0">
                <a:solidFill>
                  <a:srgbClr val="C00000"/>
                </a:solidFill>
              </a:rPr>
              <a:t>:</a:t>
            </a:r>
            <a:endParaRPr lang="en-IN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8191822" cy="4692179"/>
          </a:xfrm>
        </p:spPr>
        <p:txBody>
          <a:bodyPr/>
          <a:lstStyle/>
          <a:p>
            <a:r>
              <a:rPr lang="en-IN" dirty="0"/>
              <a:t>As shown in the below figure, the 8086 CPU is divided into two independent functional parts</a:t>
            </a:r>
          </a:p>
          <a:p>
            <a:r>
              <a:rPr lang="en-IN" dirty="0"/>
              <a:t>o </a:t>
            </a:r>
            <a:r>
              <a:rPr lang="en-IN" b="1" dirty="0"/>
              <a:t>Bus Interface Unit(BIU)</a:t>
            </a:r>
          </a:p>
          <a:p>
            <a:r>
              <a:rPr lang="en-IN" dirty="0"/>
              <a:t>o </a:t>
            </a:r>
            <a:r>
              <a:rPr lang="en-IN" b="1" dirty="0"/>
              <a:t>Execution Unit(EU)</a:t>
            </a:r>
          </a:p>
          <a:p>
            <a:r>
              <a:rPr lang="en-IN" dirty="0" smtClean="0"/>
              <a:t>Dividing </a:t>
            </a:r>
            <a:r>
              <a:rPr lang="en-IN" dirty="0"/>
              <a:t>the work between these two units’ speeds up processing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99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098" y="733346"/>
            <a:ext cx="7707333" cy="5949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607554" y="364014"/>
            <a:ext cx="36568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u="sng" dirty="0" smtClean="0">
                <a:solidFill>
                  <a:srgbClr val="C00000"/>
                </a:solidFill>
              </a:rPr>
              <a:t>Architecture </a:t>
            </a:r>
            <a:r>
              <a:rPr lang="en-IN" b="1" u="sng" dirty="0">
                <a:solidFill>
                  <a:srgbClr val="C00000"/>
                </a:solidFill>
              </a:rPr>
              <a:t>of 8086 microprocessor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453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610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solidFill>
                  <a:srgbClr val="0070C0"/>
                </a:solidFill>
              </a:rPr>
              <a:t>The execution </a:t>
            </a:r>
            <a:r>
              <a:rPr lang="en-IN" sz="3600" b="1" u="sng" dirty="0" smtClean="0">
                <a:solidFill>
                  <a:srgbClr val="0070C0"/>
                </a:solidFill>
              </a:rPr>
              <a:t>unit (EU)</a:t>
            </a:r>
            <a:endParaRPr lang="en-IN" sz="3600" b="1" u="sng" dirty="0">
              <a:solidFill>
                <a:srgbClr val="0070C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8650" y="1196752"/>
            <a:ext cx="7886700" cy="5040560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The execution unit of the 8086 tells the BIU where to fetch instructions or data from, decodes </a:t>
            </a:r>
            <a:r>
              <a:rPr lang="en-IN" dirty="0" err="1" smtClean="0"/>
              <a:t>instructions,and</a:t>
            </a:r>
            <a:r>
              <a:rPr lang="en-IN" dirty="0" smtClean="0"/>
              <a:t> </a:t>
            </a:r>
            <a:r>
              <a:rPr lang="en-IN" dirty="0"/>
              <a:t>executes instructions.</a:t>
            </a:r>
          </a:p>
          <a:p>
            <a:r>
              <a:rPr lang="en-IN" dirty="0" smtClean="0"/>
              <a:t> </a:t>
            </a:r>
            <a:r>
              <a:rPr lang="en-IN" dirty="0"/>
              <a:t>The EU contains </a:t>
            </a:r>
            <a:r>
              <a:rPr lang="en-IN" b="1" dirty="0"/>
              <a:t>control circuitry, </a:t>
            </a:r>
            <a:r>
              <a:rPr lang="en-IN" dirty="0"/>
              <a:t>which directs internal operations.</a:t>
            </a:r>
          </a:p>
          <a:p>
            <a:r>
              <a:rPr lang="en-IN" dirty="0" smtClean="0"/>
              <a:t> </a:t>
            </a:r>
            <a:r>
              <a:rPr lang="en-IN" dirty="0"/>
              <a:t>A decoder in the EU translates instructions fetched from memory into a series of actions, which the EU </a:t>
            </a:r>
            <a:r>
              <a:rPr lang="en-IN" dirty="0" smtClean="0"/>
              <a:t>carries out</a:t>
            </a:r>
            <a:r>
              <a:rPr lang="en-IN" dirty="0"/>
              <a:t>.</a:t>
            </a:r>
          </a:p>
          <a:p>
            <a:r>
              <a:rPr lang="en-IN" dirty="0" smtClean="0"/>
              <a:t>The </a:t>
            </a:r>
            <a:r>
              <a:rPr lang="en-IN" dirty="0"/>
              <a:t>EU has a 16-bit </a:t>
            </a:r>
            <a:r>
              <a:rPr lang="en-IN" b="1" dirty="0"/>
              <a:t>arithmetic logic unit </a:t>
            </a:r>
            <a:r>
              <a:rPr lang="en-IN" dirty="0"/>
              <a:t>(ALU) which can add, subtract, AND, OR, XOR, increment, </a:t>
            </a:r>
            <a:r>
              <a:rPr lang="en-IN" dirty="0" err="1" smtClean="0"/>
              <a:t>decrement,complement</a:t>
            </a:r>
            <a:r>
              <a:rPr lang="en-IN" dirty="0" smtClean="0"/>
              <a:t> </a:t>
            </a:r>
            <a:r>
              <a:rPr lang="en-IN" dirty="0"/>
              <a:t>or shift binary numbers.</a:t>
            </a:r>
          </a:p>
          <a:p>
            <a:r>
              <a:rPr lang="en-IN" dirty="0" smtClean="0"/>
              <a:t> </a:t>
            </a:r>
            <a:r>
              <a:rPr lang="en-IN" b="1" dirty="0" smtClean="0"/>
              <a:t>The </a:t>
            </a:r>
            <a:r>
              <a:rPr lang="en-IN" b="1" dirty="0"/>
              <a:t>main functions of EU </a:t>
            </a:r>
            <a:r>
              <a:rPr lang="en-IN" b="1" dirty="0" smtClean="0"/>
              <a:t>are:</a:t>
            </a:r>
          </a:p>
          <a:p>
            <a:pPr marL="0" indent="0">
              <a:buNone/>
            </a:pPr>
            <a:r>
              <a:rPr lang="en-IN" sz="2200" dirty="0" smtClean="0"/>
              <a:t>Decoding of Instructions</a:t>
            </a:r>
          </a:p>
          <a:p>
            <a:pPr marL="0" indent="0">
              <a:buNone/>
            </a:pPr>
            <a:r>
              <a:rPr lang="en-IN" sz="2200" dirty="0" smtClean="0"/>
              <a:t>Execution of instructions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898651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610"/>
          </a:xfrm>
        </p:spPr>
        <p:txBody>
          <a:bodyPr/>
          <a:lstStyle/>
          <a:p>
            <a:pPr algn="ctr"/>
            <a:r>
              <a:rPr lang="en-IN" b="1" dirty="0" err="1" smtClean="0"/>
              <a:t>Cntd</a:t>
            </a:r>
            <a:r>
              <a:rPr lang="en-IN" b="1" dirty="0" smtClean="0"/>
              <a:t>..EU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96752"/>
            <a:ext cx="7886700" cy="49802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The main functions of EU are:</a:t>
            </a:r>
          </a:p>
          <a:p>
            <a:pPr marL="0" indent="0">
              <a:buNone/>
            </a:pPr>
            <a:r>
              <a:rPr lang="en-IN" dirty="0">
                <a:latin typeface="Courier New"/>
              </a:rPr>
              <a:t>o </a:t>
            </a:r>
            <a:r>
              <a:rPr lang="en-IN" dirty="0"/>
              <a:t>Decoding of Instructions</a:t>
            </a:r>
          </a:p>
          <a:p>
            <a:pPr marL="0" indent="0">
              <a:buNone/>
            </a:pPr>
            <a:r>
              <a:rPr lang="en-IN" dirty="0">
                <a:latin typeface="Courier New"/>
              </a:rPr>
              <a:t>o </a:t>
            </a:r>
            <a:r>
              <a:rPr lang="en-IN" dirty="0"/>
              <a:t>Execution of </a:t>
            </a:r>
            <a:r>
              <a:rPr lang="en-IN" dirty="0" smtClean="0"/>
              <a:t>instructions</a:t>
            </a:r>
          </a:p>
          <a:p>
            <a:pPr marL="0" indent="0">
              <a:buNone/>
            </a:pPr>
            <a:r>
              <a:rPr lang="en-IN" dirty="0" smtClean="0">
                <a:latin typeface="Wingdings"/>
              </a:rPr>
              <a:t> </a:t>
            </a:r>
            <a:r>
              <a:rPr lang="en-IN" dirty="0"/>
              <a:t>Steps</a:t>
            </a:r>
          </a:p>
          <a:p>
            <a:pPr marL="0" indent="0">
              <a:buNone/>
            </a:pPr>
            <a:r>
              <a:rPr lang="en-IN" dirty="0">
                <a:latin typeface="Wingdings"/>
              </a:rPr>
              <a:t> </a:t>
            </a:r>
            <a:r>
              <a:rPr lang="en-IN" dirty="0"/>
              <a:t>EU extracts instructions from </a:t>
            </a:r>
            <a:r>
              <a:rPr lang="en-IN" dirty="0" smtClean="0"/>
              <a:t>the queue </a:t>
            </a:r>
            <a:r>
              <a:rPr lang="en-IN" dirty="0"/>
              <a:t>in BIU</a:t>
            </a:r>
          </a:p>
          <a:p>
            <a:pPr marL="0" indent="0">
              <a:buNone/>
            </a:pPr>
            <a:r>
              <a:rPr lang="en-IN" dirty="0">
                <a:latin typeface="Wingdings"/>
              </a:rPr>
              <a:t> </a:t>
            </a:r>
            <a:r>
              <a:rPr lang="en-IN" dirty="0"/>
              <a:t>Decode the instructions</a:t>
            </a:r>
          </a:p>
          <a:p>
            <a:pPr marL="0" indent="0">
              <a:buNone/>
            </a:pPr>
            <a:r>
              <a:rPr lang="en-IN" dirty="0">
                <a:latin typeface="Wingdings"/>
              </a:rPr>
              <a:t> </a:t>
            </a:r>
            <a:r>
              <a:rPr lang="en-IN" dirty="0"/>
              <a:t>Generates operands if necessary</a:t>
            </a:r>
          </a:p>
          <a:p>
            <a:pPr marL="0" indent="0">
              <a:buNone/>
            </a:pPr>
            <a:r>
              <a:rPr lang="en-IN" dirty="0">
                <a:latin typeface="Wingdings"/>
              </a:rPr>
              <a:t> </a:t>
            </a:r>
            <a:r>
              <a:rPr lang="en-IN" dirty="0"/>
              <a:t>Passes operands to BIU &amp; requests it to perform read or write bus cycles to memory or I/O</a:t>
            </a:r>
          </a:p>
          <a:p>
            <a:pPr marL="0" indent="0">
              <a:buNone/>
            </a:pPr>
            <a:r>
              <a:rPr lang="en-IN" dirty="0">
                <a:latin typeface="Wingdings"/>
              </a:rPr>
              <a:t> </a:t>
            </a:r>
            <a:r>
              <a:rPr lang="en-IN" dirty="0"/>
              <a:t>Perform the operation specified by the instruction on operands</a:t>
            </a:r>
          </a:p>
        </p:txBody>
      </p:sp>
    </p:spTree>
    <p:extLst>
      <p:ext uri="{BB962C8B-B14F-4D97-AF65-F5344CB8AC3E}">
        <p14:creationId xmlns:p14="http://schemas.microsoft.com/office/powerpoint/2010/main" val="194109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92695"/>
            <a:ext cx="7886700" cy="576065"/>
          </a:xfrm>
        </p:spPr>
        <p:txBody>
          <a:bodyPr/>
          <a:lstStyle/>
          <a:p>
            <a:pPr algn="ctr"/>
            <a:r>
              <a:rPr lang="en-IN" dirty="0"/>
              <a:t>Bus Interface Unit (BIU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68760"/>
            <a:ext cx="8424936" cy="5112568"/>
          </a:xfrm>
        </p:spPr>
        <p:txBody>
          <a:bodyPr/>
          <a:lstStyle/>
          <a:p>
            <a:r>
              <a:rPr lang="en-IN" dirty="0" smtClean="0"/>
              <a:t>The </a:t>
            </a:r>
            <a:r>
              <a:rPr lang="en-IN" dirty="0"/>
              <a:t>BIU sends out addresses, fetches instructions from memory, reads data from ports and memory, </a:t>
            </a:r>
            <a:r>
              <a:rPr lang="en-IN" dirty="0" smtClean="0"/>
              <a:t>and writes </a:t>
            </a:r>
            <a:r>
              <a:rPr lang="en-IN" dirty="0"/>
              <a:t>data to ports and </a:t>
            </a:r>
            <a:r>
              <a:rPr lang="en-IN" dirty="0" smtClean="0"/>
              <a:t>memory.</a:t>
            </a:r>
          </a:p>
          <a:p>
            <a:r>
              <a:rPr lang="en-IN"/>
              <a:t>In simple words, the BIU handles all transfers of data and addresses on the buses for the execution unit.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98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5696" y="116632"/>
            <a:ext cx="6336704" cy="79208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8086 HAS PIPELINING ARCHITECTURE: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886700" cy="5196235"/>
          </a:xfrm>
        </p:spPr>
        <p:txBody>
          <a:bodyPr>
            <a:normAutofit fontScale="85000" lnSpcReduction="20000"/>
          </a:bodyPr>
          <a:lstStyle/>
          <a:p>
            <a:r>
              <a:rPr lang="en-IN" dirty="0" smtClean="0"/>
              <a:t>While </a:t>
            </a:r>
            <a:r>
              <a:rPr lang="en-IN" dirty="0"/>
              <a:t>the EU is decoding an instruction or executing an instruction, which does not require use of the </a:t>
            </a:r>
            <a:r>
              <a:rPr lang="en-IN" dirty="0" err="1" smtClean="0"/>
              <a:t>buses,the</a:t>
            </a:r>
            <a:r>
              <a:rPr lang="en-IN" dirty="0" smtClean="0"/>
              <a:t> </a:t>
            </a:r>
            <a:r>
              <a:rPr lang="en-IN" dirty="0"/>
              <a:t>BIU fetches up to six instruction bytes for the following instructions.</a:t>
            </a:r>
          </a:p>
          <a:p>
            <a:r>
              <a:rPr lang="en-IN" dirty="0" smtClean="0"/>
              <a:t>The </a:t>
            </a:r>
            <a:r>
              <a:rPr lang="en-IN" dirty="0"/>
              <a:t>BIU stores these pre-fetched bytes in a first-in-first-out register set called a </a:t>
            </a:r>
            <a:r>
              <a:rPr lang="en-IN" i="1" dirty="0"/>
              <a:t>queue.</a:t>
            </a:r>
          </a:p>
          <a:p>
            <a:r>
              <a:rPr lang="en-IN" dirty="0" smtClean="0"/>
              <a:t>When </a:t>
            </a:r>
            <a:r>
              <a:rPr lang="en-IN" dirty="0"/>
              <a:t>the EU is ready for its next instruction from the queue in the BIU. This is much faster than sending </a:t>
            </a:r>
            <a:r>
              <a:rPr lang="en-IN" dirty="0" smtClean="0"/>
              <a:t>out an </a:t>
            </a:r>
            <a:r>
              <a:rPr lang="en-IN" dirty="0"/>
              <a:t>address to the system memory and waiting for memory to send back the next instruction byte or bytes.</a:t>
            </a:r>
          </a:p>
          <a:p>
            <a:r>
              <a:rPr lang="en-IN" dirty="0" smtClean="0"/>
              <a:t>Except </a:t>
            </a:r>
            <a:r>
              <a:rPr lang="en-IN" dirty="0"/>
              <a:t>in the case of JMP and CALL instructions, where the queue must be dumped and then reloaded </a:t>
            </a:r>
            <a:r>
              <a:rPr lang="en-IN" dirty="0" smtClean="0"/>
              <a:t>starting from </a:t>
            </a:r>
            <a:r>
              <a:rPr lang="en-IN" dirty="0"/>
              <a:t>a new address, this pre-fetch and queue scheme greatly speeds up processing.</a:t>
            </a:r>
          </a:p>
          <a:p>
            <a:r>
              <a:rPr lang="en-IN" dirty="0" smtClean="0"/>
              <a:t>Fetching </a:t>
            </a:r>
            <a:r>
              <a:rPr lang="en-IN" dirty="0"/>
              <a:t>the next instruction while the current instruction executes is called </a:t>
            </a:r>
            <a:r>
              <a:rPr lang="en-IN" b="1" dirty="0"/>
              <a:t>pipelining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267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744" y="365127"/>
            <a:ext cx="6247606" cy="687610"/>
          </a:xfrm>
        </p:spPr>
        <p:txBody>
          <a:bodyPr/>
          <a:lstStyle/>
          <a:p>
            <a:r>
              <a:rPr lang="en-IN" b="1" dirty="0"/>
              <a:t>Register organization: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08720"/>
            <a:ext cx="8191822" cy="5268243"/>
          </a:xfrm>
        </p:spPr>
        <p:txBody>
          <a:bodyPr>
            <a:normAutofit fontScale="70000" lnSpcReduction="20000"/>
          </a:bodyPr>
          <a:lstStyle/>
          <a:p>
            <a:r>
              <a:rPr lang="en-IN" dirty="0" smtClean="0"/>
              <a:t> </a:t>
            </a:r>
            <a:r>
              <a:rPr lang="en-IN" dirty="0"/>
              <a:t>8086 has a powerful set of registers known as </a:t>
            </a:r>
            <a:r>
              <a:rPr lang="en-IN" i="1" dirty="0"/>
              <a:t>general purpose registers </a:t>
            </a:r>
            <a:r>
              <a:rPr lang="en-IN" dirty="0"/>
              <a:t>and </a:t>
            </a:r>
            <a:r>
              <a:rPr lang="en-IN" i="1" dirty="0"/>
              <a:t>special purpose registers.</a:t>
            </a:r>
          </a:p>
          <a:p>
            <a:r>
              <a:rPr lang="en-IN" dirty="0" smtClean="0"/>
              <a:t>All </a:t>
            </a:r>
            <a:r>
              <a:rPr lang="en-IN" dirty="0"/>
              <a:t>of them are 16-bit registers.</a:t>
            </a:r>
          </a:p>
          <a:p>
            <a:r>
              <a:rPr lang="en-IN" dirty="0" smtClean="0"/>
              <a:t> </a:t>
            </a:r>
            <a:r>
              <a:rPr lang="en-IN" b="1" i="1" dirty="0"/>
              <a:t>General purpose registers:</a:t>
            </a:r>
          </a:p>
          <a:p>
            <a:pPr marL="0" indent="0">
              <a:buNone/>
            </a:pPr>
            <a:r>
              <a:rPr lang="en-IN" dirty="0" smtClean="0"/>
              <a:t>       </a:t>
            </a:r>
            <a:r>
              <a:rPr lang="en-IN" dirty="0" smtClean="0"/>
              <a:t>These </a:t>
            </a:r>
            <a:r>
              <a:rPr lang="en-IN" dirty="0"/>
              <a:t>registers can be used as either 8-bit registers or 16-bit </a:t>
            </a:r>
            <a:r>
              <a:rPr lang="en-IN" dirty="0" smtClean="0"/>
              <a:t>registers.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</a:t>
            </a:r>
            <a:r>
              <a:rPr lang="en-IN" dirty="0" smtClean="0"/>
              <a:t>They </a:t>
            </a:r>
            <a:r>
              <a:rPr lang="en-IN" dirty="0"/>
              <a:t>may be either used for holding data, variables and intermediate results </a:t>
            </a:r>
            <a:r>
              <a:rPr lang="en-IN" dirty="0" smtClean="0"/>
              <a:t>    temporarily </a:t>
            </a:r>
            <a:r>
              <a:rPr lang="en-IN" dirty="0"/>
              <a:t>or for </a:t>
            </a:r>
            <a:r>
              <a:rPr lang="en-IN" dirty="0" smtClean="0"/>
              <a:t>other purposes </a:t>
            </a:r>
            <a:r>
              <a:rPr lang="en-IN" dirty="0"/>
              <a:t>like a counter or for storing offset address for some particular addressing modes etc.</a:t>
            </a:r>
          </a:p>
          <a:p>
            <a:r>
              <a:rPr lang="en-IN" b="1" i="1" dirty="0" smtClean="0"/>
              <a:t>Special </a:t>
            </a:r>
            <a:r>
              <a:rPr lang="en-IN" b="1" i="1" dirty="0"/>
              <a:t>purpose registers:</a:t>
            </a:r>
          </a:p>
          <a:p>
            <a:pPr marL="0" indent="0">
              <a:buNone/>
            </a:pPr>
            <a:r>
              <a:rPr lang="en-IN" dirty="0" smtClean="0"/>
              <a:t>These </a:t>
            </a:r>
            <a:r>
              <a:rPr lang="en-IN" dirty="0"/>
              <a:t>registers are used as segment registers, pointers, index registers or as offset storage </a:t>
            </a:r>
            <a:r>
              <a:rPr lang="en-IN" dirty="0" smtClean="0"/>
              <a:t>registers for </a:t>
            </a:r>
            <a:r>
              <a:rPr lang="en-IN" dirty="0"/>
              <a:t>particular addressing modes.</a:t>
            </a:r>
          </a:p>
          <a:p>
            <a:r>
              <a:rPr lang="en-IN" b="1" dirty="0" smtClean="0"/>
              <a:t>The </a:t>
            </a:r>
            <a:r>
              <a:rPr lang="en-IN" b="1" dirty="0"/>
              <a:t>8086 registers are classified into the following types:</a:t>
            </a:r>
          </a:p>
          <a:p>
            <a:r>
              <a:rPr lang="en-IN" dirty="0" smtClean="0"/>
              <a:t> </a:t>
            </a:r>
            <a:r>
              <a:rPr lang="en-IN" dirty="0"/>
              <a:t>General Data Registers</a:t>
            </a:r>
          </a:p>
          <a:p>
            <a:r>
              <a:rPr lang="en-IN" dirty="0" smtClean="0"/>
              <a:t>Segment </a:t>
            </a:r>
            <a:r>
              <a:rPr lang="en-IN" dirty="0"/>
              <a:t>Registers</a:t>
            </a:r>
          </a:p>
          <a:p>
            <a:r>
              <a:rPr lang="en-IN" dirty="0" smtClean="0"/>
              <a:t>Pointers </a:t>
            </a:r>
            <a:r>
              <a:rPr lang="en-IN" dirty="0"/>
              <a:t>and Index Registers</a:t>
            </a:r>
          </a:p>
          <a:p>
            <a:r>
              <a:rPr lang="en-IN" dirty="0" smtClean="0"/>
              <a:t>Flag </a:t>
            </a:r>
            <a:r>
              <a:rPr lang="en-IN" dirty="0" smtClean="0"/>
              <a:t>Register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08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1560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352928" cy="468052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40768"/>
            <a:ext cx="8064896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5838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188641"/>
            <a:ext cx="6607646" cy="720080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General </a:t>
            </a:r>
            <a:r>
              <a:rPr lang="en-IN" b="1" dirty="0"/>
              <a:t>Data Registers: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96752"/>
            <a:ext cx="7886700" cy="4980211"/>
          </a:xfrm>
        </p:spPr>
        <p:txBody>
          <a:bodyPr>
            <a:normAutofit fontScale="85000" lnSpcReduction="20000"/>
          </a:bodyPr>
          <a:lstStyle/>
          <a:p>
            <a:r>
              <a:rPr lang="en-IN" dirty="0" smtClean="0"/>
              <a:t>The </a:t>
            </a:r>
            <a:r>
              <a:rPr lang="en-IN" dirty="0"/>
              <a:t>registers </a:t>
            </a:r>
            <a:r>
              <a:rPr lang="en-IN" i="1" dirty="0"/>
              <a:t>AX, BX, CX </a:t>
            </a:r>
            <a:r>
              <a:rPr lang="en-IN" dirty="0"/>
              <a:t>and </a:t>
            </a:r>
            <a:r>
              <a:rPr lang="en-IN" i="1" dirty="0"/>
              <a:t>DX </a:t>
            </a:r>
            <a:r>
              <a:rPr lang="en-IN" dirty="0"/>
              <a:t>are the general purpose 16-bit registers.</a:t>
            </a:r>
          </a:p>
          <a:p>
            <a:r>
              <a:rPr lang="en-IN" i="1" dirty="0" smtClean="0"/>
              <a:t>AX </a:t>
            </a:r>
            <a:r>
              <a:rPr lang="en-IN" dirty="0"/>
              <a:t>is used as 16-bit accumulator. The lower 8-bit is designated as </a:t>
            </a:r>
            <a:r>
              <a:rPr lang="en-IN" i="1" dirty="0"/>
              <a:t>AL </a:t>
            </a:r>
            <a:r>
              <a:rPr lang="en-IN" dirty="0"/>
              <a:t>and higher 8-bit is designated as </a:t>
            </a:r>
            <a:r>
              <a:rPr lang="en-IN" i="1" dirty="0"/>
              <a:t>AH</a:t>
            </a:r>
            <a:r>
              <a:rPr lang="en-IN" dirty="0"/>
              <a:t>. </a:t>
            </a:r>
            <a:r>
              <a:rPr lang="en-IN" i="1" dirty="0" err="1" smtClean="0"/>
              <a:t>AL</a:t>
            </a:r>
            <a:r>
              <a:rPr lang="en-IN" dirty="0" err="1" smtClean="0"/>
              <a:t>can</a:t>
            </a:r>
            <a:r>
              <a:rPr lang="en-IN" dirty="0" smtClean="0"/>
              <a:t> </a:t>
            </a:r>
            <a:r>
              <a:rPr lang="en-IN" dirty="0"/>
              <a:t>be used as an 8-bit accumulator for 8-bit operation.</a:t>
            </a:r>
          </a:p>
          <a:p>
            <a:r>
              <a:rPr lang="en-IN" dirty="0" smtClean="0"/>
              <a:t>All </a:t>
            </a:r>
            <a:r>
              <a:rPr lang="en-IN" dirty="0"/>
              <a:t>data register can be used as either 16 bit or 8 bit. </a:t>
            </a:r>
            <a:r>
              <a:rPr lang="en-IN" i="1" dirty="0"/>
              <a:t>BX </a:t>
            </a:r>
            <a:r>
              <a:rPr lang="en-IN" dirty="0"/>
              <a:t>is a 16 bit register, but </a:t>
            </a:r>
            <a:r>
              <a:rPr lang="en-IN" i="1" dirty="0"/>
              <a:t>BL </a:t>
            </a:r>
            <a:r>
              <a:rPr lang="en-IN" dirty="0"/>
              <a:t>indicates the lower 8-bit </a:t>
            </a:r>
            <a:r>
              <a:rPr lang="en-IN" dirty="0" smtClean="0"/>
              <a:t>of </a:t>
            </a:r>
            <a:r>
              <a:rPr lang="en-IN" i="1" dirty="0" smtClean="0"/>
              <a:t>BX </a:t>
            </a:r>
            <a:r>
              <a:rPr lang="en-IN" dirty="0"/>
              <a:t>and </a:t>
            </a:r>
            <a:r>
              <a:rPr lang="en-IN" i="1" dirty="0"/>
              <a:t>BH </a:t>
            </a:r>
            <a:r>
              <a:rPr lang="en-IN" dirty="0"/>
              <a:t>indicates the higher 8-bit of </a:t>
            </a:r>
            <a:r>
              <a:rPr lang="en-IN" i="1" dirty="0"/>
              <a:t>BX</a:t>
            </a:r>
            <a:r>
              <a:rPr lang="en-IN" dirty="0"/>
              <a:t>.</a:t>
            </a:r>
          </a:p>
          <a:p>
            <a:r>
              <a:rPr lang="en-IN" dirty="0" smtClean="0"/>
              <a:t>The </a:t>
            </a:r>
            <a:r>
              <a:rPr lang="en-IN" dirty="0"/>
              <a:t>register </a:t>
            </a:r>
            <a:r>
              <a:rPr lang="en-IN" i="1" dirty="0"/>
              <a:t>BX </a:t>
            </a:r>
            <a:r>
              <a:rPr lang="en-IN" dirty="0"/>
              <a:t>is used as offset storage for forming physical address in case of certain addressing modes.</a:t>
            </a:r>
          </a:p>
          <a:p>
            <a:r>
              <a:rPr lang="en-IN" dirty="0" smtClean="0"/>
              <a:t> </a:t>
            </a:r>
            <a:r>
              <a:rPr lang="en-IN" dirty="0"/>
              <a:t>The register </a:t>
            </a:r>
            <a:r>
              <a:rPr lang="en-IN" i="1" dirty="0"/>
              <a:t>CX </a:t>
            </a:r>
            <a:r>
              <a:rPr lang="en-IN" dirty="0"/>
              <a:t>is used default counter in case of string and loop instructions.</a:t>
            </a:r>
          </a:p>
          <a:p>
            <a:r>
              <a:rPr lang="en-IN" dirty="0" smtClean="0"/>
              <a:t> </a:t>
            </a:r>
            <a:r>
              <a:rPr lang="en-IN" i="1" dirty="0"/>
              <a:t>DX </a:t>
            </a:r>
            <a:r>
              <a:rPr lang="en-IN" dirty="0"/>
              <a:t>register is a general purpose register which may be used as an implicit operand or destination in case of </a:t>
            </a:r>
            <a:r>
              <a:rPr lang="en-IN" dirty="0" smtClean="0"/>
              <a:t>a </a:t>
            </a:r>
            <a:r>
              <a:rPr lang="en-IN" dirty="0"/>
              <a:t>few instructions</a:t>
            </a:r>
          </a:p>
        </p:txBody>
      </p:sp>
    </p:spTree>
    <p:extLst>
      <p:ext uri="{BB962C8B-B14F-4D97-AF65-F5344CB8AC3E}">
        <p14:creationId xmlns:p14="http://schemas.microsoft.com/office/powerpoint/2010/main" val="1107152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736" y="116633"/>
            <a:ext cx="6192688" cy="720080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Segment </a:t>
            </a:r>
            <a:r>
              <a:rPr lang="en-IN" b="1" dirty="0"/>
              <a:t>Registers: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568952" cy="5472608"/>
          </a:xfrm>
        </p:spPr>
        <p:txBody>
          <a:bodyPr>
            <a:normAutofit fontScale="77500" lnSpcReduction="20000"/>
          </a:bodyPr>
          <a:lstStyle/>
          <a:p>
            <a:r>
              <a:rPr lang="en-IN" b="1" u="sng" dirty="0" smtClean="0"/>
              <a:t>There </a:t>
            </a:r>
            <a:r>
              <a:rPr lang="en-IN" b="1" u="sng" dirty="0"/>
              <a:t>are 4 segment </a:t>
            </a:r>
            <a:r>
              <a:rPr lang="en-IN" b="1" u="sng" dirty="0" smtClean="0"/>
              <a:t>registers: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o </a:t>
            </a:r>
            <a:r>
              <a:rPr lang="en-IN" sz="3400" b="1" dirty="0" smtClean="0"/>
              <a:t>Code </a:t>
            </a:r>
            <a:r>
              <a:rPr lang="en-IN" sz="3400" b="1" dirty="0"/>
              <a:t>Segment Register(CS)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400" b="1" dirty="0"/>
              <a:t>o Data Segment Register(DS)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400" b="1" dirty="0"/>
              <a:t>o Extra Segment Register(ES)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400" b="1" dirty="0"/>
              <a:t>o Stack Segment Register(SS</a:t>
            </a:r>
            <a:r>
              <a:rPr lang="en-IN" sz="3400" dirty="0"/>
              <a:t>)</a:t>
            </a:r>
          </a:p>
          <a:p>
            <a:r>
              <a:rPr lang="en-IN" sz="3400" dirty="0" smtClean="0"/>
              <a:t> </a:t>
            </a:r>
            <a:r>
              <a:rPr lang="en-IN" sz="3400" dirty="0"/>
              <a:t>The 8086 architecture uses the concept of </a:t>
            </a:r>
            <a:r>
              <a:rPr lang="en-IN" sz="3400" b="1" dirty="0"/>
              <a:t>segmented memory</a:t>
            </a:r>
            <a:r>
              <a:rPr lang="en-IN" sz="3400" dirty="0"/>
              <a:t>. 8086 able to address a memory capacity of </a:t>
            </a:r>
            <a:r>
              <a:rPr lang="en-IN" sz="3400" dirty="0" smtClean="0"/>
              <a:t>1 Megabyte </a:t>
            </a:r>
            <a:r>
              <a:rPr lang="en-IN" sz="3400" dirty="0"/>
              <a:t>and it is byte organized. This 1 megabyte memory is divided into 16 logical segments. Each </a:t>
            </a:r>
            <a:r>
              <a:rPr lang="en-IN" sz="3400" dirty="0" smtClean="0"/>
              <a:t>segment contains </a:t>
            </a:r>
            <a:r>
              <a:rPr lang="en-IN" sz="3400" dirty="0"/>
              <a:t>64 </a:t>
            </a:r>
            <a:r>
              <a:rPr lang="en-IN" sz="3400" dirty="0" smtClean="0"/>
              <a:t>k bytes </a:t>
            </a:r>
            <a:r>
              <a:rPr lang="en-IN" sz="3400" dirty="0"/>
              <a:t>of memory.</a:t>
            </a:r>
          </a:p>
          <a:p>
            <a:r>
              <a:rPr lang="en-IN" sz="3400" dirty="0" smtClean="0"/>
              <a:t> </a:t>
            </a:r>
            <a:r>
              <a:rPr lang="en-IN" sz="3400" b="1" dirty="0"/>
              <a:t>Code segment register (CS): </a:t>
            </a:r>
            <a:r>
              <a:rPr lang="en-IN" sz="3400" dirty="0"/>
              <a:t>is used for addressing memory location in the code segment of the </a:t>
            </a:r>
            <a:r>
              <a:rPr lang="en-IN" sz="3400" dirty="0" smtClean="0"/>
              <a:t>memory</a:t>
            </a:r>
            <a:r>
              <a:rPr lang="en-IN" sz="3400" dirty="0" smtClean="0"/>
              <a:t>, where </a:t>
            </a:r>
            <a:r>
              <a:rPr lang="en-IN" sz="3400" dirty="0"/>
              <a:t>the executable program is stored.</a:t>
            </a:r>
          </a:p>
          <a:p>
            <a:r>
              <a:rPr lang="en-IN" sz="3400" b="1" dirty="0" smtClean="0"/>
              <a:t>Data </a:t>
            </a:r>
            <a:r>
              <a:rPr lang="en-IN" sz="3400" b="1" dirty="0"/>
              <a:t>segment register (DS): </a:t>
            </a:r>
            <a:r>
              <a:rPr lang="en-IN" sz="3400" dirty="0"/>
              <a:t>points to the data segment of the memory where the data is stored.</a:t>
            </a:r>
          </a:p>
          <a:p>
            <a:pPr marL="0" indent="0">
              <a:buNone/>
            </a:pPr>
            <a:endParaRPr lang="en-IN" sz="3400" dirty="0"/>
          </a:p>
        </p:txBody>
      </p:sp>
    </p:spTree>
    <p:extLst>
      <p:ext uri="{BB962C8B-B14F-4D97-AF65-F5344CB8AC3E}">
        <p14:creationId xmlns:p14="http://schemas.microsoft.com/office/powerpoint/2010/main" val="3619440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0649"/>
            <a:ext cx="7886700" cy="36004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Segment </a:t>
            </a:r>
            <a:r>
              <a:rPr lang="en-IN" b="1" dirty="0"/>
              <a:t>Registers: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64704"/>
            <a:ext cx="8119814" cy="5412259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Extra Segment Register </a:t>
            </a:r>
            <a:r>
              <a:rPr lang="en-IN" dirty="0"/>
              <a:t>(ES) : also refers to a segment in the memory which is another data segment in </a:t>
            </a:r>
            <a:r>
              <a:rPr lang="en-IN" dirty="0" smtClean="0"/>
              <a:t>the memory</a:t>
            </a:r>
            <a:r>
              <a:rPr lang="en-IN" dirty="0"/>
              <a:t>.</a:t>
            </a:r>
          </a:p>
          <a:p>
            <a:r>
              <a:rPr lang="en-IN" dirty="0" smtClean="0"/>
              <a:t> </a:t>
            </a:r>
            <a:r>
              <a:rPr lang="en-IN" b="1" dirty="0"/>
              <a:t>Stack Segment Register (SS</a:t>
            </a:r>
            <a:r>
              <a:rPr lang="en-IN" dirty="0"/>
              <a:t>): is used for addressing stack segment of the memory. The stack segment is </a:t>
            </a:r>
            <a:r>
              <a:rPr lang="en-IN" dirty="0" smtClean="0"/>
              <a:t>that segment </a:t>
            </a:r>
            <a:r>
              <a:rPr lang="en-IN" dirty="0"/>
              <a:t>of memory which is used to store stack data.</a:t>
            </a:r>
          </a:p>
          <a:p>
            <a:r>
              <a:rPr lang="en-IN" dirty="0" smtClean="0"/>
              <a:t>While </a:t>
            </a:r>
            <a:r>
              <a:rPr lang="en-IN" dirty="0"/>
              <a:t>addressing any location in the memory bank, the </a:t>
            </a:r>
            <a:r>
              <a:rPr lang="en-IN" b="1" dirty="0"/>
              <a:t>physical address </a:t>
            </a:r>
            <a:r>
              <a:rPr lang="en-IN" dirty="0"/>
              <a:t>is calculated from two parts:</a:t>
            </a:r>
          </a:p>
          <a:p>
            <a:pPr marL="0" indent="0">
              <a:buNone/>
            </a:pPr>
            <a:r>
              <a:rPr lang="en-IN" i="1" dirty="0" smtClean="0"/>
              <a:t>        Physical </a:t>
            </a:r>
            <a:r>
              <a:rPr lang="en-IN" i="1" dirty="0"/>
              <a:t>address= segment address + offset address</a:t>
            </a:r>
          </a:p>
          <a:p>
            <a:r>
              <a:rPr lang="en-IN" dirty="0" smtClean="0"/>
              <a:t> </a:t>
            </a:r>
            <a:r>
              <a:rPr lang="en-IN" dirty="0"/>
              <a:t>The first is segment address, the segment registers contain 16-bit segment base addresses, related to </a:t>
            </a:r>
            <a:r>
              <a:rPr lang="en-IN" dirty="0" smtClean="0"/>
              <a:t>different segment</a:t>
            </a:r>
            <a:r>
              <a:rPr lang="en-IN" dirty="0"/>
              <a:t>.</a:t>
            </a:r>
          </a:p>
          <a:p>
            <a:r>
              <a:rPr lang="en-IN" dirty="0" smtClean="0"/>
              <a:t> </a:t>
            </a:r>
            <a:r>
              <a:rPr lang="en-IN" dirty="0"/>
              <a:t>The second part is the offset value in that segment.</a:t>
            </a:r>
          </a:p>
        </p:txBody>
      </p:sp>
    </p:spTree>
    <p:extLst>
      <p:ext uri="{BB962C8B-B14F-4D97-AF65-F5344CB8AC3E}">
        <p14:creationId xmlns:p14="http://schemas.microsoft.com/office/powerpoint/2010/main" val="298704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365127"/>
            <a:ext cx="6751662" cy="615602"/>
          </a:xfrm>
        </p:spPr>
        <p:txBody>
          <a:bodyPr/>
          <a:lstStyle/>
          <a:p>
            <a:r>
              <a:rPr lang="en-IN" b="1" dirty="0"/>
              <a:t>Pointers and Index Registers: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191822" cy="5124227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 smtClean="0"/>
              <a:t>The </a:t>
            </a:r>
            <a:r>
              <a:rPr lang="en-IN" b="1" dirty="0"/>
              <a:t>index and pointer registers are given below:</a:t>
            </a:r>
          </a:p>
          <a:p>
            <a:pPr marL="0" indent="0">
              <a:buNone/>
            </a:pPr>
            <a:r>
              <a:rPr lang="en-IN" dirty="0"/>
              <a:t>o IP—Instruction pointer-store memory location of next instruction to be executed</a:t>
            </a:r>
          </a:p>
          <a:p>
            <a:pPr marL="0" indent="0">
              <a:buNone/>
            </a:pPr>
            <a:r>
              <a:rPr lang="en-IN" dirty="0"/>
              <a:t>o BP—Base pointer</a:t>
            </a:r>
          </a:p>
          <a:p>
            <a:pPr marL="0" indent="0">
              <a:buNone/>
            </a:pPr>
            <a:r>
              <a:rPr lang="en-IN" dirty="0"/>
              <a:t>o SP—Stack </a:t>
            </a:r>
            <a:r>
              <a:rPr lang="en-IN" dirty="0" smtClean="0"/>
              <a:t>pointer</a:t>
            </a:r>
          </a:p>
          <a:p>
            <a:pPr marL="0" indent="0">
              <a:buNone/>
            </a:pPr>
            <a:r>
              <a:rPr lang="en-IN"/>
              <a:t>o </a:t>
            </a:r>
            <a:r>
              <a:rPr lang="en-IN" smtClean="0"/>
              <a:t>IP—Instruction pointer</a:t>
            </a:r>
            <a:endParaRPr lang="en-IN"/>
          </a:p>
          <a:p>
            <a:pPr marL="0" indent="0">
              <a:buNone/>
            </a:pPr>
            <a:r>
              <a:rPr lang="en-IN" dirty="0" smtClean="0"/>
              <a:t>o </a:t>
            </a:r>
            <a:r>
              <a:rPr lang="en-IN" dirty="0"/>
              <a:t>SI—Source index</a:t>
            </a:r>
          </a:p>
          <a:p>
            <a:pPr marL="0" indent="0">
              <a:buNone/>
            </a:pPr>
            <a:r>
              <a:rPr lang="en-IN" dirty="0"/>
              <a:t>o DI—Destination </a:t>
            </a:r>
            <a:r>
              <a:rPr lang="en-IN" dirty="0" smtClean="0"/>
              <a:t>index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 smtClean="0"/>
              <a:t>The </a:t>
            </a:r>
            <a:r>
              <a:rPr lang="en-IN" dirty="0"/>
              <a:t>pointers registers contain offset within the particular segments.</a:t>
            </a:r>
          </a:p>
          <a:p>
            <a:r>
              <a:rPr lang="en-IN" dirty="0" smtClean="0"/>
              <a:t>The </a:t>
            </a:r>
            <a:r>
              <a:rPr lang="en-IN" dirty="0"/>
              <a:t>pointer register </a:t>
            </a:r>
            <a:r>
              <a:rPr lang="en-IN" i="1" dirty="0"/>
              <a:t>IP </a:t>
            </a:r>
            <a:r>
              <a:rPr lang="en-IN" dirty="0"/>
              <a:t>contains offset within the code segment.</a:t>
            </a:r>
          </a:p>
          <a:p>
            <a:r>
              <a:rPr lang="en-IN" dirty="0" smtClean="0"/>
              <a:t>The </a:t>
            </a:r>
            <a:r>
              <a:rPr lang="en-IN" dirty="0"/>
              <a:t>pointer register </a:t>
            </a:r>
            <a:r>
              <a:rPr lang="en-IN" dirty="0" smtClean="0"/>
              <a:t>BP and </a:t>
            </a:r>
            <a:r>
              <a:rPr lang="en-IN" i="1" dirty="0" smtClean="0"/>
              <a:t>SP </a:t>
            </a:r>
            <a:r>
              <a:rPr lang="en-IN" dirty="0"/>
              <a:t>contains offset within the stack segment</a:t>
            </a:r>
            <a:r>
              <a:rPr lang="en-IN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416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5696" y="365127"/>
            <a:ext cx="6679654" cy="543594"/>
          </a:xfrm>
        </p:spPr>
        <p:txBody>
          <a:bodyPr/>
          <a:lstStyle/>
          <a:p>
            <a:r>
              <a:rPr lang="en-IN" b="1" dirty="0"/>
              <a:t>Pointers and Index </a:t>
            </a:r>
            <a:r>
              <a:rPr lang="en-IN" b="1" dirty="0" smtClean="0"/>
              <a:t>Registers…</a:t>
            </a:r>
            <a:r>
              <a:rPr lang="en-IN" b="1" dirty="0" err="1" smtClean="0"/>
              <a:t>cntd</a:t>
            </a:r>
            <a:r>
              <a:rPr lang="en-IN" b="1" dirty="0" smtClean="0"/>
              <a:t>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24744"/>
            <a:ext cx="8424936" cy="5052219"/>
          </a:xfrm>
        </p:spPr>
        <p:txBody>
          <a:bodyPr/>
          <a:lstStyle/>
          <a:p>
            <a:r>
              <a:rPr lang="en-IN" dirty="0" smtClean="0"/>
              <a:t> </a:t>
            </a:r>
            <a:r>
              <a:rPr lang="en-IN" dirty="0"/>
              <a:t>The index registers are used as general purpose registers as well as for offset storage in case of indexed, </a:t>
            </a:r>
            <a:r>
              <a:rPr lang="en-IN" dirty="0" smtClean="0"/>
              <a:t>base indexed </a:t>
            </a:r>
            <a:r>
              <a:rPr lang="en-IN" dirty="0"/>
              <a:t>and relative base indexed addressing modes.</a:t>
            </a:r>
          </a:p>
          <a:p>
            <a:r>
              <a:rPr lang="en-IN" dirty="0" smtClean="0"/>
              <a:t>The </a:t>
            </a:r>
            <a:r>
              <a:rPr lang="en-IN" dirty="0"/>
              <a:t>register </a:t>
            </a:r>
            <a:r>
              <a:rPr lang="en-IN" i="1" dirty="0"/>
              <a:t>SI </a:t>
            </a:r>
            <a:r>
              <a:rPr lang="en-IN" dirty="0"/>
              <a:t>is used to store the offset of source data in data segment.</a:t>
            </a:r>
          </a:p>
          <a:p>
            <a:r>
              <a:rPr lang="en-IN" dirty="0" smtClean="0"/>
              <a:t> </a:t>
            </a:r>
            <a:r>
              <a:rPr lang="en-IN" dirty="0"/>
              <a:t>The register </a:t>
            </a:r>
            <a:r>
              <a:rPr lang="en-IN" i="1" dirty="0"/>
              <a:t>DI </a:t>
            </a:r>
            <a:r>
              <a:rPr lang="en-IN" dirty="0"/>
              <a:t>is used to store the offset of destination in data or extra segment.</a:t>
            </a:r>
          </a:p>
          <a:p>
            <a:r>
              <a:rPr lang="en-IN" dirty="0" smtClean="0"/>
              <a:t>The </a:t>
            </a:r>
            <a:r>
              <a:rPr lang="en-IN" dirty="0"/>
              <a:t>index registers are particularly useful for string manipulation.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17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9752" y="332657"/>
            <a:ext cx="5461223" cy="720080"/>
          </a:xfrm>
        </p:spPr>
        <p:txBody>
          <a:bodyPr/>
          <a:lstStyle/>
          <a:p>
            <a:r>
              <a:rPr lang="en-IN" b="1" dirty="0" smtClean="0"/>
              <a:t>Flag </a:t>
            </a:r>
            <a:r>
              <a:rPr lang="en-IN" b="1" smtClean="0"/>
              <a:t>registor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24744"/>
            <a:ext cx="7886700" cy="505221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80728"/>
            <a:ext cx="7992888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704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736" y="365127"/>
            <a:ext cx="6319614" cy="687610"/>
          </a:xfrm>
        </p:spPr>
        <p:txBody>
          <a:bodyPr/>
          <a:lstStyle/>
          <a:p>
            <a:r>
              <a:rPr lang="en-IN" b="1" dirty="0" smtClean="0"/>
              <a:t>flag </a:t>
            </a:r>
            <a:r>
              <a:rPr lang="en-IN" b="1" dirty="0"/>
              <a:t>register and its functions: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8191822" cy="5052219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The 8086 flag register contents indicate the results of computation in the </a:t>
            </a:r>
            <a:r>
              <a:rPr lang="en-IN" i="1" dirty="0"/>
              <a:t>ALU</a:t>
            </a:r>
            <a:r>
              <a:rPr lang="en-IN" dirty="0"/>
              <a:t>. It also contains some flag </a:t>
            </a:r>
            <a:r>
              <a:rPr lang="en-IN" dirty="0" smtClean="0"/>
              <a:t>bits to </a:t>
            </a:r>
            <a:r>
              <a:rPr lang="en-IN" dirty="0"/>
              <a:t>control the </a:t>
            </a:r>
            <a:r>
              <a:rPr lang="en-IN" i="1" dirty="0"/>
              <a:t>CPU </a:t>
            </a:r>
            <a:r>
              <a:rPr lang="en-IN" dirty="0"/>
              <a:t>operations.</a:t>
            </a:r>
          </a:p>
          <a:p>
            <a:r>
              <a:rPr lang="en-IN" dirty="0" smtClean="0"/>
              <a:t> </a:t>
            </a:r>
            <a:r>
              <a:rPr lang="en-IN" dirty="0"/>
              <a:t>A 16 bit flag register is used in 8086. It is divided into two parts .</a:t>
            </a:r>
          </a:p>
          <a:p>
            <a:pPr marL="0" indent="0">
              <a:buNone/>
            </a:pPr>
            <a:r>
              <a:rPr lang="en-IN" dirty="0" smtClean="0"/>
              <a:t>	o </a:t>
            </a:r>
            <a:r>
              <a:rPr lang="en-IN" dirty="0"/>
              <a:t>Condition code or status flags</a:t>
            </a:r>
          </a:p>
          <a:p>
            <a:pPr marL="0" indent="0">
              <a:buNone/>
            </a:pPr>
            <a:r>
              <a:rPr lang="en-IN" dirty="0" smtClean="0"/>
              <a:t>	o </a:t>
            </a:r>
            <a:r>
              <a:rPr lang="en-IN" dirty="0"/>
              <a:t>Machine control flags</a:t>
            </a:r>
          </a:p>
          <a:p>
            <a:r>
              <a:rPr lang="en-IN" dirty="0" smtClean="0"/>
              <a:t> </a:t>
            </a:r>
            <a:r>
              <a:rPr lang="en-IN" dirty="0"/>
              <a:t>The </a:t>
            </a:r>
            <a:r>
              <a:rPr lang="en-IN" b="1" dirty="0"/>
              <a:t>condition code flag register </a:t>
            </a:r>
            <a:r>
              <a:rPr lang="en-IN" dirty="0"/>
              <a:t>is the lower byte of the 16-bit flag register. The condition code flag register </a:t>
            </a:r>
            <a:r>
              <a:rPr lang="en-IN" dirty="0" smtClean="0"/>
              <a:t>is identical </a:t>
            </a:r>
            <a:r>
              <a:rPr lang="en-IN" dirty="0"/>
              <a:t>to 8085 flag register, with an additional overflow flag</a:t>
            </a:r>
            <a:r>
              <a:rPr lang="en-IN" dirty="0" smtClean="0"/>
              <a:t>.</a:t>
            </a:r>
          </a:p>
          <a:p>
            <a:r>
              <a:rPr lang="en-IN" dirty="0"/>
              <a:t>The </a:t>
            </a:r>
            <a:r>
              <a:rPr lang="en-IN" b="1" dirty="0"/>
              <a:t>control flag register </a:t>
            </a:r>
            <a:r>
              <a:rPr lang="en-IN" dirty="0"/>
              <a:t>is the higher byte of the flag register. It contains three flags namely direction flag (</a:t>
            </a:r>
            <a:r>
              <a:rPr lang="en-IN" i="1" dirty="0" smtClean="0"/>
              <a:t>DF</a:t>
            </a:r>
            <a:r>
              <a:rPr lang="en-IN" dirty="0" smtClean="0"/>
              <a:t>),interrupt  flag </a:t>
            </a:r>
            <a:r>
              <a:rPr lang="en-IN" dirty="0"/>
              <a:t>(</a:t>
            </a:r>
            <a:r>
              <a:rPr lang="en-IN" i="1" dirty="0" smtClean="0"/>
              <a:t>IF</a:t>
            </a:r>
            <a:r>
              <a:rPr lang="en-IN" dirty="0" smtClean="0"/>
              <a:t>) </a:t>
            </a:r>
            <a:r>
              <a:rPr lang="en-IN" dirty="0"/>
              <a:t>and trap flag (</a:t>
            </a:r>
            <a:r>
              <a:rPr lang="en-IN" i="1" dirty="0" smtClean="0"/>
              <a:t>TF</a:t>
            </a:r>
            <a:r>
              <a:rPr lang="en-IN" dirty="0" smtClean="0"/>
              <a:t>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448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720" y="365127"/>
            <a:ext cx="6463630" cy="759618"/>
          </a:xfrm>
        </p:spPr>
        <p:txBody>
          <a:bodyPr/>
          <a:lstStyle/>
          <a:p>
            <a:r>
              <a:rPr lang="en-IN" dirty="0" err="1" smtClean="0"/>
              <a:t>Cntd</a:t>
            </a:r>
            <a:r>
              <a:rPr lang="en-IN" dirty="0" smtClean="0"/>
              <a:t>.. Flag register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340768"/>
            <a:ext cx="8191822" cy="5112568"/>
          </a:xfrm>
        </p:spPr>
        <p:txBody>
          <a:bodyPr>
            <a:normAutofit fontScale="92500" lnSpcReduction="10000"/>
          </a:bodyPr>
          <a:lstStyle/>
          <a:p>
            <a:r>
              <a:rPr lang="en-IN" b="1" i="1" dirty="0"/>
              <a:t>SF</a:t>
            </a:r>
            <a:r>
              <a:rPr lang="en-IN" b="1" dirty="0"/>
              <a:t>- Sign Flag: </a:t>
            </a:r>
            <a:r>
              <a:rPr lang="en-IN" dirty="0"/>
              <a:t>This flag is set, when the result of any computation is negative. For signed computations the sign </a:t>
            </a:r>
            <a:r>
              <a:rPr lang="en-IN" dirty="0" smtClean="0"/>
              <a:t>flag equals </a:t>
            </a:r>
            <a:r>
              <a:rPr lang="en-IN" dirty="0"/>
              <a:t>the MSB of the result.</a:t>
            </a:r>
          </a:p>
          <a:p>
            <a:r>
              <a:rPr lang="en-IN" b="1" i="1" dirty="0"/>
              <a:t>ZF</a:t>
            </a:r>
            <a:r>
              <a:rPr lang="en-IN" b="1" dirty="0"/>
              <a:t>- Zero Flag: </a:t>
            </a:r>
            <a:r>
              <a:rPr lang="en-IN" dirty="0"/>
              <a:t>This flag is set, if the result of the computation or comparison performed by the previous instruction </a:t>
            </a:r>
            <a:r>
              <a:rPr lang="en-IN" dirty="0" smtClean="0"/>
              <a:t>is zero</a:t>
            </a:r>
            <a:r>
              <a:rPr lang="en-IN" dirty="0"/>
              <a:t>.</a:t>
            </a:r>
          </a:p>
          <a:p>
            <a:r>
              <a:rPr lang="en-IN" b="1" i="1" dirty="0"/>
              <a:t>PF</a:t>
            </a:r>
            <a:r>
              <a:rPr lang="en-IN" b="1" dirty="0"/>
              <a:t>- Parity Flag: </a:t>
            </a:r>
            <a:r>
              <a:rPr lang="en-IN" dirty="0"/>
              <a:t>This flag is set to 1, if the lower byte of the result contains even number of 1’s.</a:t>
            </a:r>
          </a:p>
          <a:p>
            <a:r>
              <a:rPr lang="en-IN" b="1" i="1" dirty="0"/>
              <a:t>CF</a:t>
            </a:r>
            <a:r>
              <a:rPr lang="en-IN" b="1" dirty="0"/>
              <a:t>- Carry Flag: </a:t>
            </a:r>
            <a:r>
              <a:rPr lang="en-IN" dirty="0"/>
              <a:t>This flag is set, when there is a carry out of MSB in case of addition or a borrow in case of subtraction.</a:t>
            </a:r>
          </a:p>
          <a:p>
            <a:r>
              <a:rPr lang="en-IN" b="1" i="1" dirty="0"/>
              <a:t>AF</a:t>
            </a:r>
            <a:r>
              <a:rPr lang="en-IN" b="1" dirty="0"/>
              <a:t>-</a:t>
            </a:r>
            <a:r>
              <a:rPr lang="en-IN" b="1" dirty="0" err="1"/>
              <a:t>Auxilary</a:t>
            </a:r>
            <a:r>
              <a:rPr lang="en-IN" b="1" dirty="0"/>
              <a:t> Carry Flag: </a:t>
            </a:r>
            <a:r>
              <a:rPr lang="en-IN" dirty="0"/>
              <a:t>This is set, if there is a carry from the lowest nibble, </a:t>
            </a:r>
            <a:r>
              <a:rPr lang="en-IN" dirty="0" err="1"/>
              <a:t>i.e</a:t>
            </a:r>
            <a:r>
              <a:rPr lang="en-IN" dirty="0"/>
              <a:t>, bit three during addition, or borrow </a:t>
            </a:r>
            <a:r>
              <a:rPr lang="en-IN" dirty="0" smtClean="0"/>
              <a:t>for the </a:t>
            </a:r>
            <a:r>
              <a:rPr lang="en-IN" dirty="0"/>
              <a:t>lowest nibble, </a:t>
            </a:r>
            <a:r>
              <a:rPr lang="en-IN" dirty="0" err="1"/>
              <a:t>i.e</a:t>
            </a:r>
            <a:r>
              <a:rPr lang="en-IN" dirty="0"/>
              <a:t>, bit three, during subtraction</a:t>
            </a:r>
            <a:r>
              <a:rPr lang="en-IN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198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80" y="365127"/>
            <a:ext cx="6823670" cy="83162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8191822" cy="5040560"/>
          </a:xfrm>
        </p:spPr>
        <p:txBody>
          <a:bodyPr>
            <a:normAutofit/>
          </a:bodyPr>
          <a:lstStyle/>
          <a:p>
            <a:r>
              <a:rPr lang="en-IN" b="1" i="1" dirty="0"/>
              <a:t>OF</a:t>
            </a:r>
            <a:r>
              <a:rPr lang="en-IN" b="1" dirty="0"/>
              <a:t>- Over flow Flag: </a:t>
            </a:r>
            <a:r>
              <a:rPr lang="en-IN" dirty="0"/>
              <a:t>This flag is set, if an overflow occurs, </a:t>
            </a:r>
            <a:r>
              <a:rPr lang="en-IN" dirty="0" err="1"/>
              <a:t>i.e</a:t>
            </a:r>
            <a:r>
              <a:rPr lang="en-IN" dirty="0"/>
              <a:t>, if the result of a signed operation is large enough </a:t>
            </a:r>
            <a:r>
              <a:rPr lang="en-IN" dirty="0" smtClean="0"/>
              <a:t>to accommodate </a:t>
            </a:r>
            <a:r>
              <a:rPr lang="en-IN" dirty="0"/>
              <a:t>in a destination register. The result is of more than 7-bits in size in case of 8-bit signed operation </a:t>
            </a:r>
            <a:r>
              <a:rPr lang="en-IN" dirty="0" smtClean="0"/>
              <a:t>and more </a:t>
            </a:r>
            <a:r>
              <a:rPr lang="en-IN" dirty="0"/>
              <a:t>than 15-bits in size in case of 16-bit sign operations, and then the overflow will be set.</a:t>
            </a:r>
          </a:p>
          <a:p>
            <a:r>
              <a:rPr lang="en-IN" b="1" i="1"/>
              <a:t>TF</a:t>
            </a:r>
            <a:r>
              <a:rPr lang="en-IN" b="1"/>
              <a:t>- </a:t>
            </a:r>
            <a:r>
              <a:rPr lang="en-IN" b="1" smtClean="0"/>
              <a:t>Trap </a:t>
            </a:r>
            <a:r>
              <a:rPr lang="en-IN" b="1" dirty="0"/>
              <a:t>Flag: </a:t>
            </a:r>
            <a:r>
              <a:rPr lang="en-IN" dirty="0"/>
              <a:t>If this flag is set, the processor enters the single step execution mode. The processor executes </a:t>
            </a:r>
            <a:r>
              <a:rPr lang="en-IN" dirty="0" smtClean="0"/>
              <a:t>the current </a:t>
            </a:r>
            <a:r>
              <a:rPr lang="en-IN" dirty="0"/>
              <a:t>instruction and the control is transferred to the Trap interrupt service routine.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34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365127"/>
            <a:ext cx="6751662" cy="759618"/>
          </a:xfrm>
        </p:spPr>
        <p:txBody>
          <a:bodyPr/>
          <a:lstStyle/>
          <a:p>
            <a:r>
              <a:rPr lang="en-IN" dirty="0" err="1" smtClean="0"/>
              <a:t>Cntd</a:t>
            </a:r>
            <a:r>
              <a:rPr lang="en-IN" dirty="0" smtClean="0"/>
              <a:t>.. Flag register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191822" cy="4908203"/>
          </a:xfrm>
        </p:spPr>
        <p:txBody>
          <a:bodyPr/>
          <a:lstStyle/>
          <a:p>
            <a:r>
              <a:rPr lang="en-IN" b="1" i="1" dirty="0"/>
              <a:t>IF</a:t>
            </a:r>
            <a:r>
              <a:rPr lang="en-IN" b="1" dirty="0"/>
              <a:t>- Interrupt Flag: </a:t>
            </a:r>
            <a:r>
              <a:rPr lang="en-IN" dirty="0"/>
              <a:t>If this flag is set, the mask able interrupts are recognized by the CPU, otherwise they are ignored.</a:t>
            </a:r>
          </a:p>
          <a:p>
            <a:r>
              <a:rPr lang="en-IN" b="1" i="1" dirty="0"/>
              <a:t>D</a:t>
            </a:r>
            <a:r>
              <a:rPr lang="en-IN" b="1" dirty="0"/>
              <a:t>- Direction Flag: </a:t>
            </a:r>
            <a:r>
              <a:rPr lang="en-IN" dirty="0"/>
              <a:t>This is used by string manipulation instructions. If this flag bit is ‘0’, the string is processed </a:t>
            </a:r>
            <a:r>
              <a:rPr lang="en-IN" dirty="0" smtClean="0"/>
              <a:t>beginning from </a:t>
            </a:r>
            <a:r>
              <a:rPr lang="en-IN" dirty="0"/>
              <a:t>the lowest address to the highest address, i.e., auto incrementing mode. Otherwise, the string is processed </a:t>
            </a:r>
            <a:r>
              <a:rPr lang="en-IN" dirty="0" smtClean="0"/>
              <a:t>from the </a:t>
            </a:r>
            <a:r>
              <a:rPr lang="en-IN" dirty="0"/>
              <a:t>highest address towards the lowest address, i.e., auto decrementing mode.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293720" y="3090240"/>
              <a:ext cx="3732840" cy="1001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88320" y="3081240"/>
                <a:ext cx="3747240" cy="101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652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720" y="365127"/>
            <a:ext cx="6463630" cy="615601"/>
          </a:xfrm>
        </p:spPr>
        <p:txBody>
          <a:bodyPr/>
          <a:lstStyle/>
          <a:p>
            <a:r>
              <a:rPr lang="en-IN" b="1" dirty="0"/>
              <a:t>Memory Segmentation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052736"/>
            <a:ext cx="8119814" cy="5124227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The memory in an 8086 based system is organized as segmented memory.</a:t>
            </a:r>
          </a:p>
          <a:p>
            <a:r>
              <a:rPr lang="en-IN" dirty="0" smtClean="0"/>
              <a:t> </a:t>
            </a:r>
            <a:r>
              <a:rPr lang="en-IN" dirty="0"/>
              <a:t>The CPU 8086 is able to access 1MB of physical memory. The complete 1MB of memory can be divided into </a:t>
            </a:r>
            <a:r>
              <a:rPr lang="en-IN" dirty="0" smtClean="0"/>
              <a:t>16 segments</a:t>
            </a:r>
            <a:r>
              <a:rPr lang="en-IN" dirty="0"/>
              <a:t>, each of 64KB size and is addressed by one of the segment register.</a:t>
            </a:r>
          </a:p>
          <a:p>
            <a:r>
              <a:rPr lang="en-IN" dirty="0" smtClean="0"/>
              <a:t> </a:t>
            </a:r>
            <a:r>
              <a:rPr lang="en-IN" dirty="0"/>
              <a:t>The 16-bit contents of the segment register actually point to the starting location of a particular segment. </a:t>
            </a:r>
            <a:r>
              <a:rPr lang="en-IN" dirty="0" smtClean="0"/>
              <a:t>The address </a:t>
            </a:r>
            <a:r>
              <a:rPr lang="en-IN" dirty="0"/>
              <a:t>of the segments may be assigned as 0000H to F000h respectively.</a:t>
            </a:r>
          </a:p>
          <a:p>
            <a:r>
              <a:rPr lang="en-IN" dirty="0" smtClean="0"/>
              <a:t>To </a:t>
            </a:r>
            <a:r>
              <a:rPr lang="en-IN" dirty="0"/>
              <a:t>address a specific memory location within a segment, we need an offset address. The offset address </a:t>
            </a:r>
            <a:r>
              <a:rPr lang="en-IN" dirty="0" smtClean="0"/>
              <a:t>values are </a:t>
            </a:r>
            <a:r>
              <a:rPr lang="en-IN" dirty="0"/>
              <a:t>from 0000H to FFFFH so that the physical addresses range from 00000H to FFFFFH.</a:t>
            </a:r>
          </a:p>
        </p:txBody>
      </p:sp>
    </p:spTree>
    <p:extLst>
      <p:ext uri="{BB962C8B-B14F-4D97-AF65-F5344CB8AC3E}">
        <p14:creationId xmlns:p14="http://schemas.microsoft.com/office/powerpoint/2010/main" val="71874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7544" y="1556792"/>
            <a:ext cx="82089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/>
              <a:t>Physical address is calculated as below:</a:t>
            </a:r>
          </a:p>
          <a:p>
            <a:r>
              <a:rPr lang="en-IN" sz="2400" dirty="0"/>
              <a:t>Ex: Segment address </a:t>
            </a:r>
            <a:r>
              <a:rPr lang="en-IN" sz="2400" dirty="0" smtClean="0"/>
              <a:t>------- </a:t>
            </a:r>
            <a:r>
              <a:rPr lang="en-IN" sz="2400" dirty="0"/>
              <a:t>1005H</a:t>
            </a:r>
          </a:p>
          <a:p>
            <a:r>
              <a:rPr lang="en-IN" sz="2400" dirty="0"/>
              <a:t>Offset address </a:t>
            </a:r>
            <a:r>
              <a:rPr lang="en-IN" sz="2400" dirty="0" smtClean="0"/>
              <a:t>----------5555H</a:t>
            </a:r>
            <a:endParaRPr lang="en-IN" sz="2400" dirty="0"/>
          </a:p>
          <a:p>
            <a:r>
              <a:rPr lang="en-IN" sz="2400" dirty="0"/>
              <a:t>Segment address </a:t>
            </a:r>
            <a:r>
              <a:rPr lang="en-IN" sz="2400" dirty="0" smtClean="0"/>
              <a:t>-------1005H </a:t>
            </a:r>
            <a:r>
              <a:rPr lang="en-IN" sz="2400" dirty="0"/>
              <a:t>----- 0001 0000 0000 0101</a:t>
            </a:r>
          </a:p>
          <a:p>
            <a:r>
              <a:rPr lang="en-IN" sz="2400" dirty="0"/>
              <a:t>Shifted left by 4 Positions------ 0001 0000 0000 0101 0000</a:t>
            </a:r>
          </a:p>
          <a:p>
            <a:r>
              <a:rPr lang="en-IN" sz="2400" dirty="0"/>
              <a:t>+</a:t>
            </a:r>
          </a:p>
          <a:p>
            <a:r>
              <a:rPr lang="en-IN" sz="2400" dirty="0"/>
              <a:t>Offset address --- 5555H ------ 0101 0101 0101 0101</a:t>
            </a:r>
          </a:p>
          <a:p>
            <a:r>
              <a:rPr lang="en-IN" sz="2400" dirty="0"/>
              <a:t>Physical address -------155A5H 0001 0101 0101 1010 0101</a:t>
            </a:r>
          </a:p>
          <a:p>
            <a:r>
              <a:rPr lang="en-IN" sz="2400" b="1" dirty="0"/>
              <a:t>Physical address = Segment address * 10H + Offset address.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734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365127"/>
            <a:ext cx="6391622" cy="61560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24744"/>
            <a:ext cx="8119814" cy="505221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The main advantages of the segmented memory scheme are as follows:</a:t>
            </a:r>
          </a:p>
          <a:p>
            <a:pPr marL="0" indent="0">
              <a:buNone/>
            </a:pPr>
            <a:r>
              <a:rPr lang="en-IN" dirty="0"/>
              <a:t>1. Allows the memory capacity to be 1MB although the actual addresses to be handled are of 16-bit size.</a:t>
            </a:r>
          </a:p>
          <a:p>
            <a:pPr marL="0" indent="0">
              <a:buNone/>
            </a:pPr>
            <a:r>
              <a:rPr lang="en-IN" dirty="0"/>
              <a:t>2. Allows the placing of code, data and stack portions of the same program in different parts (segments) </a:t>
            </a:r>
            <a:r>
              <a:rPr lang="en-IN" dirty="0" smtClean="0"/>
              <a:t>of memory</a:t>
            </a:r>
            <a:r>
              <a:rPr lang="en-IN" dirty="0"/>
              <a:t>, for data and code </a:t>
            </a:r>
            <a:r>
              <a:rPr lang="en-IN" dirty="0" smtClean="0"/>
              <a:t>protection.</a:t>
            </a:r>
          </a:p>
          <a:p>
            <a:pPr marL="0" indent="0">
              <a:buNone/>
            </a:pPr>
            <a:r>
              <a:rPr lang="en-IN" dirty="0" smtClean="0"/>
              <a:t>3</a:t>
            </a:r>
            <a:r>
              <a:rPr lang="en-IN" dirty="0"/>
              <a:t>. Permits a program and/or its data to be put into different areas of memory each time the program </a:t>
            </a:r>
            <a:r>
              <a:rPr lang="en-IN" dirty="0" smtClean="0"/>
              <a:t>is</a:t>
            </a:r>
          </a:p>
          <a:p>
            <a:pPr marL="0" indent="0">
              <a:buNone/>
            </a:pPr>
            <a:r>
              <a:rPr lang="en-IN" dirty="0" smtClean="0"/>
              <a:t>executed</a:t>
            </a:r>
            <a:r>
              <a:rPr lang="en-IN" dirty="0"/>
              <a:t>, i.e., provision for relocation is done.</a:t>
            </a:r>
          </a:p>
        </p:txBody>
      </p:sp>
    </p:spTree>
    <p:extLst>
      <p:ext uri="{BB962C8B-B14F-4D97-AF65-F5344CB8AC3E}">
        <p14:creationId xmlns:p14="http://schemas.microsoft.com/office/powerpoint/2010/main" val="227705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3728" y="365126"/>
            <a:ext cx="6391622" cy="687609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Overlapping and Non-Overlapping Segments</a:t>
            </a:r>
            <a:endParaRPr lang="en-IN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66" y="1524000"/>
            <a:ext cx="8166159" cy="3993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1222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3594"/>
          </a:xfrm>
        </p:spPr>
        <p:txBody>
          <a:bodyPr>
            <a:normAutofit/>
          </a:bodyPr>
          <a:lstStyle/>
          <a:p>
            <a:pPr algn="ctr"/>
            <a:r>
              <a:rPr lang="en-IN" sz="2000" b="1" u="sng" dirty="0" smtClean="0"/>
              <a:t>Segment register-Offset register pairs</a:t>
            </a:r>
            <a:endParaRPr lang="en-IN" sz="2000" b="1" u="sn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43" y="908720"/>
            <a:ext cx="8162925" cy="580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0788707"/>
      </p:ext>
    </p:extLst>
  </p:cSld>
  <p:clrMapOvr>
    <a:masterClrMapping/>
  </p:clrMapOvr>
</p:sld>
</file>

<file path=ppt/theme/theme1.xml><?xml version="1.0" encoding="utf-8"?>
<a:theme xmlns:a="http://schemas.openxmlformats.org/drawingml/2006/main" name="SVU_KJSCE THEME TEMPLATE FOR PPT_WIDE SCREE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SVU_KJSCE THEME TEMPLATE FOR PPT_WIDE SCREEN</Template>
  <TotalTime>1050</TotalTime>
  <Words>1965</Words>
  <Application>Microsoft Office PowerPoint</Application>
  <PresentationFormat>On-screen Show (4:3)</PresentationFormat>
  <Paragraphs>155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SVU_KJSCE THEME TEMPLATE FOR PPT_WIDE SCREEN</vt:lpstr>
      <vt:lpstr>Introduction to Microprocessor 8086</vt:lpstr>
      <vt:lpstr>PowerPoint Presentation</vt:lpstr>
      <vt:lpstr>                8086 Microprocessor features</vt:lpstr>
      <vt:lpstr>Architecture of 8086 microprocessor:</vt:lpstr>
      <vt:lpstr>PowerPoint Presentation</vt:lpstr>
      <vt:lpstr>The execution unit (EU)</vt:lpstr>
      <vt:lpstr>Cntd..EU</vt:lpstr>
      <vt:lpstr>Bus Interface Unit (BIU)</vt:lpstr>
      <vt:lpstr>8086 HAS PIPELINING ARCHITECTURE: </vt:lpstr>
      <vt:lpstr>Register organization:</vt:lpstr>
      <vt:lpstr>PowerPoint Presentation</vt:lpstr>
      <vt:lpstr> General Data Registers: </vt:lpstr>
      <vt:lpstr> Segment Registers: </vt:lpstr>
      <vt:lpstr> Segment Registers: </vt:lpstr>
      <vt:lpstr>Pointers and Index Registers:</vt:lpstr>
      <vt:lpstr>Pointers and Index Registers…cntd..</vt:lpstr>
      <vt:lpstr>Flag registor</vt:lpstr>
      <vt:lpstr>flag register and its functions:</vt:lpstr>
      <vt:lpstr>Cntd.. Flag register</vt:lpstr>
      <vt:lpstr>PowerPoint Presentation</vt:lpstr>
      <vt:lpstr>Cntd.. Flag register</vt:lpstr>
      <vt:lpstr>Memory Segmentation</vt:lpstr>
      <vt:lpstr>PowerPoint Presentation</vt:lpstr>
      <vt:lpstr>PowerPoint Presentation</vt:lpstr>
      <vt:lpstr>Overlapping and Non-Overlapping Segments</vt:lpstr>
      <vt:lpstr>Segment register-Offset register pairs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Microprocessor 8086</dc:title>
  <dc:creator>Admin</dc:creator>
  <cp:lastModifiedBy>Admin</cp:lastModifiedBy>
  <cp:revision>64</cp:revision>
  <dcterms:created xsi:type="dcterms:W3CDTF">2020-08-04T20:47:30Z</dcterms:created>
  <dcterms:modified xsi:type="dcterms:W3CDTF">2025-07-22T06:26:21Z</dcterms:modified>
</cp:coreProperties>
</file>