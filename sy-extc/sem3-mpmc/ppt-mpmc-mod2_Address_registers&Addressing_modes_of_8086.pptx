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57" r:id="rId3"/>
    <p:sldId id="258" r:id="rId4"/>
    <p:sldId id="260" r:id="rId5"/>
    <p:sldId id="256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71" r:id="rId14"/>
    <p:sldId id="272" r:id="rId15"/>
    <p:sldId id="268" r:id="rId16"/>
    <p:sldId id="267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62" autoAdjust="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94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90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49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1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8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47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163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46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211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178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767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4ADAA-D9CD-484A-82C5-9BE1E72EBFF3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B57AE-8D65-4AAE-BCB2-F2B5F92DB05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C9DDECDA-AC01-47B8-B70B-458DA247878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45" y="93609"/>
            <a:ext cx="2837329" cy="863652"/>
          </a:xfrm>
          <a:prstGeom prst="rect">
            <a:avLst/>
          </a:prstGeom>
        </p:spPr>
      </p:pic>
      <p:pic>
        <p:nvPicPr>
          <p:cNvPr id="8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102" y="93609"/>
            <a:ext cx="985130" cy="721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4204042" y="1938902"/>
            <a:ext cx="702416" cy="91774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5540361" y="2572804"/>
            <a:ext cx="207493" cy="699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9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5856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70C0"/>
                </a:solidFill>
                <a:latin typeface="Arial Black" pitchFamily="34" charset="0"/>
              </a:rPr>
              <a:t>Addressing modes of 8086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 smtClean="0"/>
              <a:t>Compiled by</a:t>
            </a:r>
          </a:p>
          <a:p>
            <a:r>
              <a:rPr lang="en-IN" b="1" dirty="0" err="1" smtClean="0"/>
              <a:t>Mrs.</a:t>
            </a:r>
            <a:r>
              <a:rPr lang="en-IN" b="1" dirty="0" smtClean="0"/>
              <a:t> </a:t>
            </a:r>
            <a:r>
              <a:rPr lang="en-IN" b="1" dirty="0" err="1" smtClean="0"/>
              <a:t>Savita</a:t>
            </a:r>
            <a:r>
              <a:rPr lang="en-IN" b="1" dirty="0" smtClean="0"/>
              <a:t> C. </a:t>
            </a:r>
            <a:r>
              <a:rPr lang="en-IN" b="1" dirty="0" err="1" smtClean="0"/>
              <a:t>Raut</a:t>
            </a:r>
            <a:endParaRPr lang="en-IN" b="1" dirty="0" smtClean="0"/>
          </a:p>
          <a:p>
            <a:r>
              <a:rPr lang="en-IN" b="1" dirty="0" smtClean="0"/>
              <a:t>EXTC </a:t>
            </a:r>
            <a:r>
              <a:rPr lang="en-IN" b="1" dirty="0" err="1" smtClean="0"/>
              <a:t>Dept</a:t>
            </a:r>
            <a:r>
              <a:rPr lang="en-IN" b="1" dirty="0" smtClean="0"/>
              <a:t> ,KJSCE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27162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808" y="116633"/>
            <a:ext cx="4824536" cy="792088"/>
          </a:xfrm>
        </p:spPr>
        <p:txBody>
          <a:bodyPr>
            <a:normAutofit/>
          </a:bodyPr>
          <a:lstStyle/>
          <a:p>
            <a:r>
              <a:rPr lang="en-IN" sz="3600" b="1" u="sng" dirty="0" smtClean="0"/>
              <a:t>Address registers</a:t>
            </a:r>
            <a:endParaRPr lang="en-IN"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052736"/>
            <a:ext cx="8352928" cy="5256584"/>
          </a:xfrm>
        </p:spPr>
        <p:txBody>
          <a:bodyPr/>
          <a:lstStyle/>
          <a:p>
            <a:r>
              <a:rPr lang="en-IN" dirty="0" smtClean="0"/>
              <a:t>The segment address is stored in the segment registers; CS,DS, ES ,SS registers.</a:t>
            </a:r>
          </a:p>
          <a:p>
            <a:r>
              <a:rPr lang="en-IN" dirty="0" smtClean="0"/>
              <a:t>The Offset address is stored in  IP,SP , BP, SI, DI ,BX register.</a:t>
            </a:r>
          </a:p>
          <a:p>
            <a:r>
              <a:rPr lang="en-IN" dirty="0" smtClean="0"/>
              <a:t>The CS: IP pair gives the address of the next instruction to be executed in the program sequence</a:t>
            </a:r>
          </a:p>
          <a:p>
            <a:r>
              <a:rPr lang="en-IN" dirty="0" smtClean="0"/>
              <a:t>The SS:SP pair gives the address of the top of the stack (a temporary storage memory locations used by processor)</a:t>
            </a:r>
          </a:p>
          <a:p>
            <a:r>
              <a:rPr lang="en-IN" dirty="0"/>
              <a:t>The </a:t>
            </a:r>
            <a:r>
              <a:rPr lang="en-IN" dirty="0" smtClean="0"/>
              <a:t>SS:BP </a:t>
            </a:r>
            <a:r>
              <a:rPr lang="en-IN" dirty="0"/>
              <a:t>pair </a:t>
            </a:r>
            <a:r>
              <a:rPr lang="en-IN" dirty="0" smtClean="0"/>
              <a:t>is used as a pointer into the </a:t>
            </a:r>
            <a:r>
              <a:rPr lang="en-IN" dirty="0" err="1" smtClean="0"/>
              <a:t>stack,for</a:t>
            </a:r>
            <a:r>
              <a:rPr lang="en-IN" dirty="0" smtClean="0"/>
              <a:t> random access of the stack.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003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784" y="188641"/>
            <a:ext cx="5472608" cy="720079"/>
          </a:xfrm>
        </p:spPr>
        <p:txBody>
          <a:bodyPr/>
          <a:lstStyle/>
          <a:p>
            <a:pPr algn="ctr"/>
            <a:r>
              <a:rPr lang="en-IN" b="1" u="sng" dirty="0"/>
              <a:t>Address registers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496944" cy="4764187"/>
          </a:xfrm>
        </p:spPr>
        <p:txBody>
          <a:bodyPr/>
          <a:lstStyle/>
          <a:p>
            <a:r>
              <a:rPr lang="en-IN" dirty="0" smtClean="0"/>
              <a:t>The </a:t>
            </a:r>
            <a:r>
              <a:rPr lang="en-IN" b="1" dirty="0" smtClean="0"/>
              <a:t>DS:SI</a:t>
            </a:r>
            <a:r>
              <a:rPr lang="en-IN" dirty="0" smtClean="0"/>
              <a:t> pair is used to access the memory locations in the data segment. Also register </a:t>
            </a:r>
            <a:r>
              <a:rPr lang="en-IN" b="1" dirty="0" smtClean="0"/>
              <a:t>BX</a:t>
            </a:r>
            <a:r>
              <a:rPr lang="en-IN" dirty="0" smtClean="0"/>
              <a:t> is used as memory pointer in the data segment  with DS register(</a:t>
            </a:r>
            <a:r>
              <a:rPr lang="en-IN" dirty="0" err="1"/>
              <a:t>i</a:t>
            </a:r>
            <a:r>
              <a:rPr lang="en-IN" dirty="0" err="1" smtClean="0"/>
              <a:t>,e.</a:t>
            </a:r>
            <a:r>
              <a:rPr lang="en-IN" b="1" dirty="0" err="1" smtClean="0"/>
              <a:t>DS:BX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b="1" dirty="0" smtClean="0"/>
              <a:t>DS: SI </a:t>
            </a:r>
            <a:r>
              <a:rPr lang="en-IN" dirty="0" smtClean="0"/>
              <a:t>is used as a </a:t>
            </a:r>
            <a:r>
              <a:rPr lang="en-IN" b="1" dirty="0" smtClean="0"/>
              <a:t>source pointer</a:t>
            </a:r>
            <a:r>
              <a:rPr lang="en-IN" dirty="0" smtClean="0"/>
              <a:t> and </a:t>
            </a:r>
            <a:r>
              <a:rPr lang="en-IN" b="1" dirty="0" smtClean="0"/>
              <a:t>ES: DI </a:t>
            </a:r>
            <a:r>
              <a:rPr lang="en-IN" dirty="0" smtClean="0"/>
              <a:t>is used as </a:t>
            </a:r>
            <a:r>
              <a:rPr lang="en-IN" b="1" dirty="0" smtClean="0"/>
              <a:t>destination pointer</a:t>
            </a:r>
            <a:r>
              <a:rPr lang="en-IN" dirty="0" smtClean="0"/>
              <a:t> for string instructions . For all other instructions </a:t>
            </a:r>
            <a:r>
              <a:rPr lang="en-IN" b="1" dirty="0" smtClean="0"/>
              <a:t>DI register is used with DS</a:t>
            </a:r>
            <a:r>
              <a:rPr lang="en-IN" dirty="0" smtClean="0"/>
              <a:t> register.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72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776" y="116632"/>
            <a:ext cx="5400600" cy="100811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/>
              <a:t>Default Segment Register and Offset pointer pairs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40768"/>
            <a:ext cx="7886700" cy="483619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21123"/>
            <a:ext cx="7344816" cy="533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888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71800" y="188640"/>
            <a:ext cx="5112568" cy="1080119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Arial Black" pitchFamily="34" charset="0"/>
              </a:rPr>
              <a:t>Addressing modes of 8086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23528" y="1124744"/>
            <a:ext cx="8568952" cy="5184576"/>
          </a:xfrm>
        </p:spPr>
        <p:txBody>
          <a:bodyPr/>
          <a:lstStyle/>
          <a:p>
            <a:r>
              <a:rPr lang="en-IN" dirty="0" smtClean="0"/>
              <a:t>When 8086 executes an instruction , it performs specific operation/function on </a:t>
            </a:r>
            <a:r>
              <a:rPr lang="en-IN" dirty="0" err="1" smtClean="0"/>
              <a:t>data.The</a:t>
            </a:r>
            <a:r>
              <a:rPr lang="en-IN" dirty="0" smtClean="0"/>
              <a:t> data is referred to as </a:t>
            </a:r>
            <a:r>
              <a:rPr lang="en-IN" b="1" dirty="0" smtClean="0"/>
              <a:t>Operands.</a:t>
            </a:r>
          </a:p>
          <a:p>
            <a:pPr marL="0" indent="0">
              <a:buNone/>
            </a:pPr>
            <a:endParaRPr lang="en-IN" b="1" dirty="0" smtClean="0"/>
          </a:p>
          <a:p>
            <a:r>
              <a:rPr lang="en-IN" dirty="0" smtClean="0"/>
              <a:t>Operands may be present in the registers or within the instruction itself or in  memory or I/O ports.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/>
              <a:t>The different methods of accessing (selecting) the Operands is referred to as  </a:t>
            </a:r>
            <a:r>
              <a:rPr lang="en-IN" b="1" dirty="0" smtClean="0"/>
              <a:t>Addressing modes 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2398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800" y="1"/>
            <a:ext cx="5544616" cy="908720"/>
          </a:xfrm>
        </p:spPr>
        <p:txBody>
          <a:bodyPr>
            <a:normAutofit/>
          </a:bodyPr>
          <a:lstStyle/>
          <a:p>
            <a:r>
              <a:rPr lang="en-IN" sz="2800" b="1" u="sng" dirty="0">
                <a:latin typeface="Arial Black" pitchFamily="34" charset="0"/>
              </a:rPr>
              <a:t>Addressing modes of </a:t>
            </a:r>
            <a:r>
              <a:rPr lang="en-IN" sz="2800" b="1" u="sng" dirty="0" smtClean="0">
                <a:latin typeface="Arial Black" pitchFamily="34" charset="0"/>
              </a:rPr>
              <a:t>8086….</a:t>
            </a:r>
            <a:r>
              <a:rPr lang="en-IN" sz="2800" b="1" u="sng" dirty="0" err="1" smtClean="0">
                <a:latin typeface="Arial Black" pitchFamily="34" charset="0"/>
              </a:rPr>
              <a:t>cntd</a:t>
            </a:r>
            <a:endParaRPr lang="en-IN" sz="28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191822" cy="5124227"/>
          </a:xfrm>
        </p:spPr>
        <p:txBody>
          <a:bodyPr>
            <a:normAutofit lnSpcReduction="10000"/>
          </a:bodyPr>
          <a:lstStyle/>
          <a:p>
            <a:r>
              <a:rPr lang="en-IN" b="1" dirty="0" smtClean="0"/>
              <a:t>The Addressing Modes can be categorized 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 smtClean="0"/>
              <a:t>Register </a:t>
            </a:r>
            <a:r>
              <a:rPr lang="en-IN" b="1" dirty="0"/>
              <a:t>Addressing Mode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 smtClean="0"/>
              <a:t>Immediate </a:t>
            </a:r>
            <a:r>
              <a:rPr lang="en-IN" b="1" dirty="0"/>
              <a:t>Addressing </a:t>
            </a:r>
            <a:r>
              <a:rPr lang="en-IN" b="1" dirty="0" smtClean="0"/>
              <a:t>Mode</a:t>
            </a:r>
            <a:endParaRPr lang="en-IN" b="1" dirty="0"/>
          </a:p>
          <a:p>
            <a:pPr marL="914400" lvl="1" indent="-457200">
              <a:buFont typeface="+mj-lt"/>
              <a:buAutoNum type="arabicPeriod"/>
            </a:pPr>
            <a:r>
              <a:rPr lang="en-IN" b="1" dirty="0" smtClean="0"/>
              <a:t>Memory Addressing Mode: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IN" b="1" dirty="0" smtClean="0"/>
              <a:t>Direct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IN" b="1" dirty="0" smtClean="0"/>
              <a:t>Indirect:</a:t>
            </a:r>
          </a:p>
          <a:p>
            <a:pPr marL="2286000" lvl="4" indent="-457200">
              <a:buFont typeface="+mj-lt"/>
              <a:buAutoNum type="alphaLcPeriod"/>
            </a:pPr>
            <a:r>
              <a:rPr lang="en-IN" dirty="0" smtClean="0">
                <a:solidFill>
                  <a:srgbClr val="C00000"/>
                </a:solidFill>
              </a:rPr>
              <a:t>Register indirect</a:t>
            </a:r>
          </a:p>
          <a:p>
            <a:pPr marL="2286000" lvl="4" indent="-457200">
              <a:buFont typeface="+mj-lt"/>
              <a:buAutoNum type="alphaLcPeriod"/>
            </a:pPr>
            <a:r>
              <a:rPr lang="en-IN" dirty="0" smtClean="0">
                <a:solidFill>
                  <a:srgbClr val="C00000"/>
                </a:solidFill>
              </a:rPr>
              <a:t>Based Indexed</a:t>
            </a:r>
          </a:p>
          <a:p>
            <a:pPr marL="2286000" lvl="4" indent="-457200">
              <a:buFont typeface="+mj-lt"/>
              <a:buAutoNum type="alphaLcPeriod"/>
            </a:pPr>
            <a:r>
              <a:rPr lang="en-IN" dirty="0" smtClean="0">
                <a:solidFill>
                  <a:srgbClr val="C00000"/>
                </a:solidFill>
              </a:rPr>
              <a:t>Register Relative</a:t>
            </a:r>
          </a:p>
          <a:p>
            <a:pPr marL="2286000" lvl="4" indent="-457200">
              <a:buFont typeface="+mj-lt"/>
              <a:buAutoNum type="alphaLcPeriod"/>
            </a:pPr>
            <a:r>
              <a:rPr lang="en-IN" dirty="0" smtClean="0">
                <a:solidFill>
                  <a:srgbClr val="C00000"/>
                </a:solidFill>
              </a:rPr>
              <a:t>Relative Based Indexed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 smtClean="0"/>
              <a:t>String </a:t>
            </a:r>
            <a:r>
              <a:rPr lang="en-IN" b="1" dirty="0"/>
              <a:t>Addressing Mode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 smtClean="0"/>
              <a:t>I/O </a:t>
            </a:r>
            <a:r>
              <a:rPr lang="en-IN" b="1" dirty="0"/>
              <a:t>Addressing </a:t>
            </a:r>
            <a:r>
              <a:rPr lang="en-IN" b="1" dirty="0" smtClean="0"/>
              <a:t>Mode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 smtClean="0"/>
              <a:t>Direct Port Addressing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 smtClean="0"/>
              <a:t>Indirect Port Addressing</a:t>
            </a:r>
            <a:endParaRPr lang="en-IN" dirty="0"/>
          </a:p>
          <a:p>
            <a:pPr marL="914400" lvl="1" indent="-457200">
              <a:buFont typeface="+mj-lt"/>
              <a:buAutoNum type="arabicPeriod"/>
            </a:pPr>
            <a:r>
              <a:rPr lang="en-IN" b="1" dirty="0" smtClean="0"/>
              <a:t>Implied </a:t>
            </a:r>
            <a:r>
              <a:rPr lang="en-IN" b="1" dirty="0"/>
              <a:t>Addressing Mode</a:t>
            </a:r>
          </a:p>
          <a:p>
            <a:pPr marL="914400" lvl="1" indent="-457200">
              <a:buFont typeface="+mj-lt"/>
              <a:buAutoNum type="arabicPeriod"/>
            </a:pPr>
            <a:endParaRPr lang="en-IN" dirty="0" smtClean="0"/>
          </a:p>
          <a:p>
            <a:pPr lvl="1">
              <a:buFont typeface="Wingdings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84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800" y="365127"/>
            <a:ext cx="574355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u="sng" dirty="0">
                <a:latin typeface="Arial Black" pitchFamily="34" charset="0"/>
              </a:rPr>
              <a:t>Addressing modes of 8086….</a:t>
            </a:r>
            <a:r>
              <a:rPr lang="en-IN" sz="3200" b="1" u="sng" dirty="0" err="1">
                <a:latin typeface="Arial Black" pitchFamily="34" charset="0"/>
              </a:rPr>
              <a:t>cntd</a:t>
            </a:r>
            <a:endParaRPr lang="en-IN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80728"/>
            <a:ext cx="8407846" cy="5196235"/>
          </a:xfrm>
        </p:spPr>
        <p:txBody>
          <a:bodyPr/>
          <a:lstStyle/>
          <a:p>
            <a:pPr marL="0" lvl="1" indent="0">
              <a:spcBef>
                <a:spcPts val="1000"/>
              </a:spcBef>
              <a:buNone/>
            </a:pPr>
            <a:r>
              <a:rPr lang="en-IN" sz="2800" b="1" dirty="0" smtClean="0"/>
              <a:t>1.Register </a:t>
            </a:r>
            <a:r>
              <a:rPr lang="en-IN" sz="2800" b="1" dirty="0"/>
              <a:t>Addressing Mode</a:t>
            </a:r>
          </a:p>
          <a:p>
            <a:r>
              <a:rPr lang="en-IN" dirty="0" smtClean="0"/>
              <a:t>In </a:t>
            </a:r>
            <a:r>
              <a:rPr lang="en-IN" dirty="0"/>
              <a:t>register addressing mode, the data is stored in a register </a:t>
            </a:r>
            <a:r>
              <a:rPr lang="en-IN" dirty="0" smtClean="0"/>
              <a:t>.</a:t>
            </a:r>
          </a:p>
          <a:p>
            <a:r>
              <a:rPr lang="en-IN" dirty="0" smtClean="0"/>
              <a:t>All </a:t>
            </a:r>
            <a:r>
              <a:rPr lang="en-IN" dirty="0"/>
              <a:t>the registers, </a:t>
            </a:r>
            <a:r>
              <a:rPr lang="en-IN" b="1" dirty="0"/>
              <a:t>except IP</a:t>
            </a:r>
            <a:r>
              <a:rPr lang="en-IN" dirty="0"/>
              <a:t>, may be used in this mode</a:t>
            </a:r>
            <a:r>
              <a:rPr lang="en-IN" dirty="0" smtClean="0"/>
              <a:t>.</a:t>
            </a:r>
          </a:p>
          <a:p>
            <a:r>
              <a:rPr lang="en-IN" dirty="0"/>
              <a:t>The registers may be 8 /16 </a:t>
            </a:r>
            <a:r>
              <a:rPr lang="en-IN" dirty="0" smtClean="0"/>
              <a:t>bits</a:t>
            </a:r>
          </a:p>
          <a:p>
            <a:pPr marL="0" indent="0">
              <a:buNone/>
            </a:pPr>
            <a:r>
              <a:rPr lang="en-IN" dirty="0" smtClean="0"/>
              <a:t>			</a:t>
            </a:r>
          </a:p>
          <a:p>
            <a:pPr marL="0" indent="0" algn="ctr">
              <a:buNone/>
            </a:pPr>
            <a:r>
              <a:rPr lang="en-IN" b="1" dirty="0" smtClean="0"/>
              <a:t>Ex</a:t>
            </a:r>
            <a:r>
              <a:rPr lang="en-IN" b="1" dirty="0"/>
              <a:t>: MOV BX, </a:t>
            </a:r>
            <a:r>
              <a:rPr lang="en-IN" b="1" dirty="0" smtClean="0"/>
              <a:t>AX</a:t>
            </a:r>
          </a:p>
          <a:p>
            <a:pPr marL="0" indent="0" algn="ctr">
              <a:buNone/>
            </a:pPr>
            <a:r>
              <a:rPr lang="en-IN" b="1" dirty="0" smtClean="0"/>
              <a:t>    ADD BX,CX</a:t>
            </a: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1257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784" y="116632"/>
            <a:ext cx="5400600" cy="864097"/>
          </a:xfrm>
        </p:spPr>
        <p:txBody>
          <a:bodyPr>
            <a:noAutofit/>
          </a:bodyPr>
          <a:lstStyle/>
          <a:p>
            <a:pPr algn="ctr"/>
            <a:r>
              <a:rPr lang="en-IN" sz="2800" b="1" u="sng" dirty="0">
                <a:latin typeface="Arial Black" pitchFamily="34" charset="0"/>
              </a:rPr>
              <a:t>Addressing modes of 8086….</a:t>
            </a:r>
            <a:r>
              <a:rPr lang="en-IN" sz="2800" b="1" u="sng" dirty="0" err="1">
                <a:latin typeface="Arial Black" pitchFamily="34" charset="0"/>
              </a:rPr>
              <a:t>cntd</a:t>
            </a:r>
            <a:endParaRPr lang="en-IN" sz="2800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191822" cy="5328592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2. </a:t>
            </a:r>
            <a:r>
              <a:rPr lang="en-IN" b="1" dirty="0"/>
              <a:t>Immediate Addressing </a:t>
            </a:r>
            <a:r>
              <a:rPr lang="en-IN" b="1" dirty="0" smtClean="0"/>
              <a:t>Mode</a:t>
            </a:r>
          </a:p>
          <a:p>
            <a:r>
              <a:rPr lang="en-IN" dirty="0"/>
              <a:t>In this type of addressing</a:t>
            </a:r>
            <a:r>
              <a:rPr lang="en-IN" dirty="0" smtClean="0"/>
              <a:t>, source operand is a part of instruction and is known as  </a:t>
            </a:r>
            <a:r>
              <a:rPr lang="en-IN" b="1" dirty="0"/>
              <a:t>immediate data</a:t>
            </a:r>
            <a:r>
              <a:rPr lang="en-IN" dirty="0"/>
              <a:t> </a:t>
            </a:r>
            <a:r>
              <a:rPr lang="en-IN" dirty="0" smtClean="0"/>
              <a:t>and </a:t>
            </a:r>
            <a:r>
              <a:rPr lang="en-IN" dirty="0"/>
              <a:t>appears in the form of </a:t>
            </a:r>
            <a:r>
              <a:rPr lang="en-IN" dirty="0" smtClean="0"/>
              <a:t>successive byte </a:t>
            </a:r>
            <a:r>
              <a:rPr lang="en-IN" dirty="0"/>
              <a:t>or bytes</a:t>
            </a:r>
            <a:r>
              <a:rPr lang="en-IN" dirty="0" smtClean="0"/>
              <a:t>.</a:t>
            </a:r>
          </a:p>
          <a:p>
            <a:r>
              <a:rPr lang="en-IN" dirty="0" smtClean="0"/>
              <a:t>Immediate data can only be used as source operand.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		</a:t>
            </a:r>
          </a:p>
          <a:p>
            <a:pPr marL="0" indent="0" algn="ctr">
              <a:buNone/>
            </a:pPr>
            <a:r>
              <a:rPr lang="en-IN" dirty="0" smtClean="0"/>
              <a:t>Ex</a:t>
            </a:r>
            <a:r>
              <a:rPr lang="en-IN" dirty="0"/>
              <a:t>: MOV AX, </a:t>
            </a:r>
            <a:r>
              <a:rPr lang="en-IN" dirty="0" smtClean="0"/>
              <a:t>2345H</a:t>
            </a:r>
          </a:p>
          <a:p>
            <a:pPr marL="0" indent="0" algn="ctr">
              <a:buNone/>
            </a:pPr>
            <a:r>
              <a:rPr lang="en-IN" dirty="0" smtClean="0"/>
              <a:t>   MOV CH,4A H</a:t>
            </a:r>
            <a:endParaRPr lang="en-IN" dirty="0"/>
          </a:p>
          <a:p>
            <a:r>
              <a:rPr lang="en-IN" dirty="0"/>
              <a:t>In the above example, </a:t>
            </a:r>
            <a:r>
              <a:rPr lang="en-IN" dirty="0" smtClean="0"/>
              <a:t>2345H </a:t>
            </a:r>
            <a:r>
              <a:rPr lang="en-IN" dirty="0"/>
              <a:t>is the immediate data. The immediate </a:t>
            </a:r>
            <a:r>
              <a:rPr lang="en-IN" dirty="0" smtClean="0"/>
              <a:t>data </a:t>
            </a:r>
            <a:r>
              <a:rPr lang="en-IN" dirty="0"/>
              <a:t>may be 8-bit or 16-bit in size.</a:t>
            </a:r>
          </a:p>
        </p:txBody>
      </p:sp>
    </p:spTree>
    <p:extLst>
      <p:ext uri="{BB962C8B-B14F-4D97-AF65-F5344CB8AC3E}">
        <p14:creationId xmlns:p14="http://schemas.microsoft.com/office/powerpoint/2010/main" val="228586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784" y="365127"/>
            <a:ext cx="5887566" cy="68761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u="sng" dirty="0">
                <a:latin typeface="Arial Black" pitchFamily="34" charset="0"/>
              </a:rPr>
              <a:t>Addressing modes of 8086….</a:t>
            </a:r>
            <a:r>
              <a:rPr lang="en-IN" sz="3200" b="1" u="sng" dirty="0" err="1">
                <a:latin typeface="Arial Black" pitchFamily="34" charset="0"/>
              </a:rPr>
              <a:t>cntd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640960" cy="5400600"/>
          </a:xfrm>
        </p:spPr>
        <p:txBody>
          <a:bodyPr>
            <a:normAutofit fontScale="92500" lnSpcReduction="10000"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Memory Addressing Mode: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IN" b="1" dirty="0"/>
              <a:t>Direct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IN" b="1" dirty="0"/>
              <a:t>Indirect:</a:t>
            </a:r>
          </a:p>
          <a:p>
            <a:pPr marL="2286000" lvl="4" indent="-457200">
              <a:buFont typeface="+mj-lt"/>
              <a:buAutoNum type="alphaLcPeriod"/>
            </a:pPr>
            <a:r>
              <a:rPr lang="en-IN" dirty="0">
                <a:solidFill>
                  <a:srgbClr val="C00000"/>
                </a:solidFill>
              </a:rPr>
              <a:t>Register indirect</a:t>
            </a:r>
          </a:p>
          <a:p>
            <a:pPr marL="2286000" lvl="4" indent="-457200">
              <a:buFont typeface="+mj-lt"/>
              <a:buAutoNum type="alphaLcPeriod"/>
            </a:pPr>
            <a:r>
              <a:rPr lang="en-IN" dirty="0">
                <a:solidFill>
                  <a:srgbClr val="C00000"/>
                </a:solidFill>
              </a:rPr>
              <a:t>Based Indexed</a:t>
            </a:r>
          </a:p>
          <a:p>
            <a:pPr marL="2286000" lvl="4" indent="-457200">
              <a:buFont typeface="+mj-lt"/>
              <a:buAutoNum type="alphaLcPeriod"/>
            </a:pPr>
            <a:r>
              <a:rPr lang="en-IN" dirty="0">
                <a:solidFill>
                  <a:srgbClr val="C00000"/>
                </a:solidFill>
              </a:rPr>
              <a:t>Register Relative</a:t>
            </a:r>
          </a:p>
          <a:p>
            <a:pPr marL="2286000" lvl="4" indent="-457200">
              <a:buFont typeface="+mj-lt"/>
              <a:buAutoNum type="alphaLcPeriod"/>
            </a:pPr>
            <a:r>
              <a:rPr lang="en-IN" dirty="0">
                <a:solidFill>
                  <a:srgbClr val="C00000"/>
                </a:solidFill>
              </a:rPr>
              <a:t>Relative Based Indexed</a:t>
            </a:r>
          </a:p>
          <a:p>
            <a:pPr marL="0" indent="0">
              <a:buNone/>
            </a:pPr>
            <a:r>
              <a:rPr lang="en-IN" b="1" u="sng" dirty="0" err="1" smtClean="0"/>
              <a:t>I.Direct</a:t>
            </a:r>
            <a:r>
              <a:rPr lang="en-IN" b="1" u="sng" dirty="0" smtClean="0"/>
              <a:t> Memory Addressing Mode: </a:t>
            </a:r>
          </a:p>
          <a:p>
            <a:r>
              <a:rPr lang="en-IN" dirty="0" smtClean="0"/>
              <a:t>In this mode ,the 16 bit </a:t>
            </a:r>
            <a:r>
              <a:rPr lang="en-IN" b="1" dirty="0" smtClean="0"/>
              <a:t>Effective (Offset )</a:t>
            </a:r>
            <a:r>
              <a:rPr lang="en-IN" dirty="0" smtClean="0"/>
              <a:t>address is  </a:t>
            </a:r>
            <a:r>
              <a:rPr lang="en-IN" dirty="0"/>
              <a:t>directly specified in the instruction as </a:t>
            </a:r>
            <a:r>
              <a:rPr lang="en-IN" dirty="0" smtClean="0"/>
              <a:t>a part </a:t>
            </a:r>
            <a:r>
              <a:rPr lang="en-IN" dirty="0"/>
              <a:t>of it</a:t>
            </a:r>
            <a:r>
              <a:rPr lang="en-IN" dirty="0" smtClean="0"/>
              <a:t>. </a:t>
            </a:r>
          </a:p>
          <a:p>
            <a:r>
              <a:rPr lang="en-IN" b="1" dirty="0" smtClean="0"/>
              <a:t>DS register </a:t>
            </a:r>
            <a:r>
              <a:rPr lang="en-IN" dirty="0" smtClean="0"/>
              <a:t>is </a:t>
            </a:r>
            <a:r>
              <a:rPr lang="en-IN" b="1" dirty="0" smtClean="0"/>
              <a:t>default segment </a:t>
            </a:r>
            <a:r>
              <a:rPr lang="en-IN" dirty="0" smtClean="0"/>
              <a:t>register for Direct addressing mode.</a:t>
            </a:r>
          </a:p>
          <a:p>
            <a:pPr marL="0" indent="0" algn="ctr">
              <a:buNone/>
            </a:pPr>
            <a:r>
              <a:rPr lang="en-IN" dirty="0" smtClean="0"/>
              <a:t>Ex</a:t>
            </a:r>
            <a:r>
              <a:rPr lang="en-IN" dirty="0"/>
              <a:t>: MOV AX, </a:t>
            </a:r>
            <a:r>
              <a:rPr lang="en-IN" dirty="0" smtClean="0"/>
              <a:t>[2100H</a:t>
            </a:r>
            <a:r>
              <a:rPr lang="en-IN" dirty="0"/>
              <a:t>]</a:t>
            </a:r>
          </a:p>
          <a:p>
            <a:pPr marL="0" indent="0">
              <a:buNone/>
            </a:pPr>
            <a:r>
              <a:rPr lang="en-IN" dirty="0" smtClean="0"/>
              <a:t>(The contents of memory location with physical address = DS*10 H + 2100 are copied to register AX)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79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560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Direct Memory addressing mode-</a:t>
            </a:r>
          </a:p>
          <a:p>
            <a:pPr marL="0" indent="0" algn="ctr">
              <a:buNone/>
            </a:pPr>
            <a:r>
              <a:rPr lang="en-IN" dirty="0" smtClean="0"/>
              <a:t>Ex: MOV  AX, CS</a:t>
            </a:r>
            <a:r>
              <a:rPr lang="en-IN" dirty="0"/>
              <a:t> </a:t>
            </a:r>
            <a:r>
              <a:rPr lang="en-IN" dirty="0" smtClean="0"/>
              <a:t>:[2100]</a:t>
            </a:r>
          </a:p>
          <a:p>
            <a:pPr marL="0" indent="0" algn="ctr">
              <a:buNone/>
            </a:pPr>
            <a:r>
              <a:rPr lang="en-IN" dirty="0" smtClean="0"/>
              <a:t>(</a:t>
            </a:r>
            <a:r>
              <a:rPr lang="en-IN" dirty="0"/>
              <a:t>The contents of memory location with physical address = </a:t>
            </a:r>
            <a:r>
              <a:rPr lang="en-IN" dirty="0" smtClean="0"/>
              <a:t>CS*10 </a:t>
            </a:r>
            <a:r>
              <a:rPr lang="en-IN" dirty="0"/>
              <a:t>H + 2100 are copied to register AX</a:t>
            </a:r>
            <a:r>
              <a:rPr lang="en-IN" dirty="0" smtClean="0"/>
              <a:t>)</a:t>
            </a:r>
          </a:p>
          <a:p>
            <a:pPr marL="0" indent="0" 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35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9792" y="188641"/>
            <a:ext cx="5400600" cy="79208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1600" b="1" u="sng" dirty="0">
                <a:latin typeface="Arial Black" pitchFamily="34" charset="0"/>
              </a:rPr>
              <a:t>Addressing modes of 8086….</a:t>
            </a:r>
            <a:r>
              <a:rPr lang="en-IN" sz="1600" b="1" u="sng" dirty="0" err="1" smtClean="0">
                <a:latin typeface="Arial Black" pitchFamily="34" charset="0"/>
              </a:rPr>
              <a:t>cntd</a:t>
            </a:r>
            <a:r>
              <a:rPr lang="en-IN" sz="1600" b="1" u="sng" dirty="0" smtClean="0">
                <a:latin typeface="Arial Black" pitchFamily="34" charset="0"/>
              </a:rPr>
              <a:t/>
            </a:r>
            <a:br>
              <a:rPr lang="en-IN" sz="1600" b="1" u="sng" dirty="0" smtClean="0">
                <a:latin typeface="Arial Black" pitchFamily="34" charset="0"/>
              </a:rPr>
            </a:br>
            <a:r>
              <a:rPr lang="en-IN" sz="2400" b="1" u="sng" dirty="0"/>
              <a:t>Indirect Memory Addressing Mode</a:t>
            </a:r>
            <a:br>
              <a:rPr lang="en-IN" sz="2400" b="1" u="sng" dirty="0"/>
            </a:b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256584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lphaLcPeriod"/>
            </a:pPr>
            <a:r>
              <a:rPr lang="en-IN" b="1" dirty="0" smtClean="0"/>
              <a:t>Register </a:t>
            </a:r>
            <a:r>
              <a:rPr lang="en-IN" b="1" dirty="0"/>
              <a:t>Indirect: </a:t>
            </a:r>
            <a:endParaRPr lang="en-IN" b="1" dirty="0" smtClean="0"/>
          </a:p>
          <a:p>
            <a:r>
              <a:rPr lang="en-IN" dirty="0" smtClean="0"/>
              <a:t>The </a:t>
            </a:r>
            <a:r>
              <a:rPr lang="en-IN" dirty="0"/>
              <a:t>address of the memory location, which contains data or operand, is determined </a:t>
            </a:r>
            <a:r>
              <a:rPr lang="en-IN" dirty="0" smtClean="0"/>
              <a:t>in an </a:t>
            </a:r>
            <a:r>
              <a:rPr lang="en-IN" dirty="0"/>
              <a:t>indirect way, using the offset register. This mode of addressing is known as register indirect mode. </a:t>
            </a:r>
            <a:endParaRPr lang="en-IN" dirty="0" smtClean="0"/>
          </a:p>
          <a:p>
            <a:r>
              <a:rPr lang="en-IN" dirty="0" smtClean="0"/>
              <a:t>If registers  </a:t>
            </a:r>
            <a:r>
              <a:rPr lang="en-IN" b="1" dirty="0"/>
              <a:t>BX or SI or </a:t>
            </a:r>
            <a:r>
              <a:rPr lang="en-IN" b="1" dirty="0" smtClean="0"/>
              <a:t>DI  </a:t>
            </a:r>
            <a:r>
              <a:rPr lang="en-IN" dirty="0" smtClean="0"/>
              <a:t>are used as Effective Address register then the </a:t>
            </a:r>
            <a:r>
              <a:rPr lang="en-IN" dirty="0"/>
              <a:t>default segment </a:t>
            </a:r>
            <a:r>
              <a:rPr lang="en-IN" dirty="0" smtClean="0"/>
              <a:t>register is </a:t>
            </a:r>
            <a:r>
              <a:rPr lang="en-IN" b="1" dirty="0" smtClean="0"/>
              <a:t>DS .</a:t>
            </a:r>
          </a:p>
          <a:p>
            <a:r>
              <a:rPr lang="en-IN" b="1" dirty="0" smtClean="0"/>
              <a:t>If BP </a:t>
            </a:r>
            <a:r>
              <a:rPr lang="en-IN" dirty="0" smtClean="0"/>
              <a:t>is used ,then </a:t>
            </a:r>
            <a:r>
              <a:rPr lang="en-IN" b="1" dirty="0" smtClean="0"/>
              <a:t>SS </a:t>
            </a:r>
            <a:r>
              <a:rPr lang="en-IN" dirty="0" smtClean="0"/>
              <a:t>is default segment register. </a:t>
            </a:r>
          </a:p>
          <a:p>
            <a:r>
              <a:rPr lang="en-IN" dirty="0" smtClean="0"/>
              <a:t>Programmer can use Segment override prefix to change the default segment register.</a:t>
            </a:r>
          </a:p>
          <a:p>
            <a:pPr marL="0" indent="0" algn="ctr">
              <a:buNone/>
            </a:pPr>
            <a:r>
              <a:rPr lang="en-IN" sz="2400" dirty="0" smtClean="0"/>
              <a:t>Ex</a:t>
            </a:r>
            <a:r>
              <a:rPr lang="en-IN" sz="2400" dirty="0"/>
              <a:t>: MOV AX, [BX</a:t>
            </a:r>
            <a:r>
              <a:rPr lang="en-IN" sz="2400" dirty="0" smtClean="0"/>
              <a:t>]</a:t>
            </a:r>
          </a:p>
          <a:p>
            <a:pPr marL="0" indent="0" algn="ctr">
              <a:buNone/>
            </a:pPr>
            <a:r>
              <a:rPr lang="en-IN" sz="2400" dirty="0" smtClean="0"/>
              <a:t>MOV CX, [SI]</a:t>
            </a:r>
          </a:p>
          <a:p>
            <a:pPr marL="0" indent="0" algn="ctr">
              <a:buNone/>
            </a:pPr>
            <a:r>
              <a:rPr lang="en-IN" sz="2400" dirty="0" smtClean="0"/>
              <a:t>MOV BL,[DI]</a:t>
            </a:r>
          </a:p>
          <a:p>
            <a:pPr marL="0" indent="0" algn="ctr">
              <a:buNone/>
            </a:pPr>
            <a:r>
              <a:rPr lang="en-IN" sz="2400" dirty="0" smtClean="0"/>
              <a:t>MOV CL, ES: [SI]  </a:t>
            </a:r>
          </a:p>
          <a:p>
            <a:pPr marL="0" indent="0" algn="ctr">
              <a:buNone/>
            </a:pPr>
            <a:r>
              <a:rPr lang="en-IN" sz="2400" dirty="0" smtClean="0"/>
              <a:t>(here ES is Segment override prefix)</a:t>
            </a:r>
          </a:p>
          <a:p>
            <a:pPr marL="0" indent="0">
              <a:buNone/>
            </a:pP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566155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776" y="116633"/>
            <a:ext cx="5688632" cy="86409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1800" b="1" u="sng" dirty="0">
                <a:latin typeface="Arial Black" pitchFamily="34" charset="0"/>
              </a:rPr>
              <a:t>Addressing modes of 8086….</a:t>
            </a:r>
            <a:r>
              <a:rPr lang="en-IN" sz="1800" b="1" u="sng" dirty="0" err="1" smtClean="0">
                <a:latin typeface="Arial Black" pitchFamily="34" charset="0"/>
              </a:rPr>
              <a:t>cntd</a:t>
            </a:r>
            <a:r>
              <a:rPr lang="en-IN" sz="1800" b="1" u="sng" dirty="0" smtClean="0">
                <a:latin typeface="Arial Black" pitchFamily="34" charset="0"/>
              </a:rPr>
              <a:t/>
            </a:r>
            <a:br>
              <a:rPr lang="en-IN" sz="1800" b="1" u="sng" dirty="0" smtClean="0">
                <a:latin typeface="Arial Black" pitchFamily="34" charset="0"/>
              </a:rPr>
            </a:br>
            <a:r>
              <a:rPr lang="en-IN" sz="3100" b="1" u="sng" dirty="0"/>
              <a:t>Indirect Memory Addressing Mode</a:t>
            </a:r>
            <a:br>
              <a:rPr lang="en-IN" sz="3100" b="1" u="sng" dirty="0"/>
            </a:br>
            <a:endParaRPr lang="en-IN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335838" cy="5268243"/>
          </a:xfrm>
        </p:spPr>
        <p:txBody>
          <a:bodyPr/>
          <a:lstStyle/>
          <a:p>
            <a:pPr marL="0" indent="0">
              <a:buNone/>
            </a:pPr>
            <a:r>
              <a:rPr lang="en-IN" b="1" dirty="0" err="1" smtClean="0"/>
              <a:t>b.Based</a:t>
            </a:r>
            <a:r>
              <a:rPr lang="en-IN" b="1" dirty="0" smtClean="0"/>
              <a:t> Indexed</a:t>
            </a:r>
            <a:r>
              <a:rPr lang="en-IN" b="1" dirty="0"/>
              <a:t>: </a:t>
            </a:r>
            <a:endParaRPr lang="en-IN" b="1" dirty="0" smtClean="0"/>
          </a:p>
          <a:p>
            <a:pPr marL="0" indent="0">
              <a:buNone/>
            </a:pPr>
            <a:r>
              <a:rPr lang="en-IN" dirty="0" smtClean="0"/>
              <a:t>The </a:t>
            </a:r>
            <a:r>
              <a:rPr lang="en-IN" dirty="0"/>
              <a:t>effective address of data is formed, in this addressing mode, by adding content of a </a:t>
            </a:r>
            <a:r>
              <a:rPr lang="en-IN" dirty="0" smtClean="0"/>
              <a:t>base register </a:t>
            </a:r>
            <a:r>
              <a:rPr lang="en-IN" dirty="0"/>
              <a:t>(any one of BX or BP) to the content of an index register (any one of SI or DI). The default segment </a:t>
            </a:r>
            <a:r>
              <a:rPr lang="en-IN" dirty="0" smtClean="0"/>
              <a:t>register may </a:t>
            </a:r>
            <a:r>
              <a:rPr lang="en-IN" dirty="0"/>
              <a:t>be </a:t>
            </a:r>
            <a:r>
              <a:rPr lang="en-IN" dirty="0" smtClean="0"/>
              <a:t>DS </a:t>
            </a:r>
            <a:r>
              <a:rPr lang="en-IN" dirty="0"/>
              <a:t>or </a:t>
            </a:r>
            <a:r>
              <a:rPr lang="en-IN" dirty="0" smtClean="0"/>
              <a:t>ES</a:t>
            </a:r>
            <a:r>
              <a:rPr lang="en-IN" dirty="0"/>
              <a:t>.</a:t>
            </a:r>
          </a:p>
          <a:p>
            <a:pPr marL="0" indent="0" algn="ctr">
              <a:buNone/>
            </a:pPr>
            <a:r>
              <a:rPr lang="en-IN" dirty="0" smtClean="0"/>
              <a:t>Ex1: </a:t>
            </a:r>
            <a:r>
              <a:rPr lang="en-IN" dirty="0"/>
              <a:t>MOV AX, [BX][SI]</a:t>
            </a:r>
          </a:p>
          <a:p>
            <a:pPr marL="0" indent="0">
              <a:buNone/>
            </a:pPr>
            <a:r>
              <a:rPr lang="en-IN" sz="2000" dirty="0" smtClean="0"/>
              <a:t>(Here</a:t>
            </a:r>
            <a:r>
              <a:rPr lang="en-IN" sz="2000" dirty="0"/>
              <a:t>, BX is the base register and SI is the index register the effective address is computed as 10H * DS + [BX] + [SI</a:t>
            </a:r>
            <a:r>
              <a:rPr lang="en-IN" sz="2000" dirty="0" smtClean="0"/>
              <a:t>])</a:t>
            </a:r>
          </a:p>
          <a:p>
            <a:pPr marL="0" indent="0" algn="ctr">
              <a:buNone/>
            </a:pPr>
            <a:r>
              <a:rPr lang="en-IN" sz="2000" dirty="0" smtClean="0"/>
              <a:t>EX2:  </a:t>
            </a:r>
            <a:r>
              <a:rPr lang="en-IN" sz="2000" dirty="0" err="1" smtClean="0"/>
              <a:t>Mov</a:t>
            </a:r>
            <a:r>
              <a:rPr lang="en-IN" sz="2000" dirty="0" smtClean="0"/>
              <a:t>  [BP] [SI],AL</a:t>
            </a:r>
          </a:p>
          <a:p>
            <a:pPr marL="0" indent="0" algn="ctr">
              <a:buNone/>
            </a:pPr>
            <a:r>
              <a:rPr lang="en-IN" sz="2000" dirty="0" smtClean="0"/>
              <a:t>EX3:  MOV CL, CS:[BX][DI]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25723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1760" y="188641"/>
            <a:ext cx="6103590" cy="864095"/>
          </a:xfrm>
        </p:spPr>
        <p:txBody>
          <a:bodyPr>
            <a:noAutofit/>
          </a:bodyPr>
          <a:lstStyle/>
          <a:p>
            <a:r>
              <a:rPr lang="en-IN" sz="2000" b="1" u="sng" dirty="0">
                <a:latin typeface="Arial Black" pitchFamily="34" charset="0"/>
              </a:rPr>
              <a:t>Addressing modes of 8086….</a:t>
            </a:r>
            <a:r>
              <a:rPr lang="en-IN" sz="2000" b="1" u="sng" dirty="0" err="1">
                <a:latin typeface="Arial Black" pitchFamily="34" charset="0"/>
              </a:rPr>
              <a:t>cntd</a:t>
            </a:r>
            <a:r>
              <a:rPr lang="en-IN" sz="2000" b="1" u="sng" dirty="0">
                <a:latin typeface="Arial Black" pitchFamily="34" charset="0"/>
              </a:rPr>
              <a:t/>
            </a:r>
            <a:br>
              <a:rPr lang="en-IN" sz="2000" b="1" u="sng" dirty="0">
                <a:latin typeface="Arial Black" pitchFamily="34" charset="0"/>
              </a:rPr>
            </a:br>
            <a:r>
              <a:rPr lang="en-IN" sz="2000" b="1" u="sng" dirty="0"/>
              <a:t>Indirect Memory Addressing Mode</a:t>
            </a:r>
            <a:br>
              <a:rPr lang="en-IN" sz="2000" b="1" u="sng" dirty="0"/>
            </a:b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196235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c. </a:t>
            </a:r>
            <a:r>
              <a:rPr lang="en-IN" b="1" u="sng" dirty="0" smtClean="0"/>
              <a:t>Register </a:t>
            </a:r>
            <a:r>
              <a:rPr lang="en-IN" b="1" u="sng" dirty="0"/>
              <a:t>Relative</a:t>
            </a:r>
            <a:r>
              <a:rPr lang="en-IN" b="1" dirty="0"/>
              <a:t>: </a:t>
            </a:r>
            <a:endParaRPr lang="en-IN" b="1" dirty="0" smtClean="0"/>
          </a:p>
          <a:p>
            <a:r>
              <a:rPr lang="en-IN" dirty="0" smtClean="0"/>
              <a:t>In </a:t>
            </a:r>
            <a:r>
              <a:rPr lang="en-IN" dirty="0"/>
              <a:t>this addressing mode, the data is available at an effective address formed by adding an </a:t>
            </a:r>
            <a:r>
              <a:rPr lang="en-IN" b="1" dirty="0"/>
              <a:t>8-bit </a:t>
            </a:r>
            <a:r>
              <a:rPr lang="en-IN" b="1" dirty="0" smtClean="0"/>
              <a:t>or 16-bit </a:t>
            </a:r>
            <a:r>
              <a:rPr lang="en-IN" dirty="0"/>
              <a:t>displacement with the content of any one of the registers </a:t>
            </a:r>
            <a:r>
              <a:rPr lang="en-IN" b="1" dirty="0"/>
              <a:t>BX, BP, SI and DI </a:t>
            </a:r>
            <a:r>
              <a:rPr lang="en-IN" dirty="0"/>
              <a:t>in the default </a:t>
            </a:r>
            <a:r>
              <a:rPr lang="en-IN" dirty="0" smtClean="0"/>
              <a:t>segment </a:t>
            </a:r>
            <a:r>
              <a:rPr lang="en-IN" b="1" dirty="0" smtClean="0"/>
              <a:t>DS</a:t>
            </a:r>
            <a:r>
              <a:rPr lang="en-IN" dirty="0" smtClean="0"/>
              <a:t> (or ES) segment</a:t>
            </a:r>
            <a:r>
              <a:rPr lang="en-IN" dirty="0"/>
              <a:t>.</a:t>
            </a:r>
          </a:p>
          <a:p>
            <a:pPr marL="0" indent="0" algn="ctr">
              <a:buNone/>
            </a:pPr>
            <a:r>
              <a:rPr lang="en-IN" dirty="0"/>
              <a:t>Ex: MOV AX, </a:t>
            </a:r>
            <a:r>
              <a:rPr lang="en-IN" dirty="0" smtClean="0"/>
              <a:t>[BX+12H]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(Here</a:t>
            </a:r>
            <a:r>
              <a:rPr lang="en-IN" dirty="0"/>
              <a:t>, the </a:t>
            </a:r>
            <a:r>
              <a:rPr lang="en-IN" dirty="0" smtClean="0"/>
              <a:t>physical </a:t>
            </a:r>
            <a:r>
              <a:rPr lang="en-IN" dirty="0"/>
              <a:t>address is given as 10H *</a:t>
            </a:r>
            <a:r>
              <a:rPr lang="en-IN" dirty="0" smtClean="0"/>
              <a:t>DS+BX+12H)</a:t>
            </a:r>
          </a:p>
          <a:p>
            <a:pPr marL="0" indent="0" algn="ctr">
              <a:buNone/>
            </a:pPr>
            <a:r>
              <a:rPr lang="en-IN" dirty="0" smtClean="0"/>
              <a:t>EX2: MOV AL, CS:[BP+23H]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48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3768" y="116632"/>
            <a:ext cx="5616624" cy="1080121"/>
          </a:xfrm>
        </p:spPr>
        <p:txBody>
          <a:bodyPr>
            <a:normAutofit/>
          </a:bodyPr>
          <a:lstStyle/>
          <a:p>
            <a:pPr algn="ctr"/>
            <a:r>
              <a:rPr lang="en-IN" sz="2400" b="1" u="sng" dirty="0">
                <a:latin typeface="Arial Black" pitchFamily="34" charset="0"/>
              </a:rPr>
              <a:t>Addressing modes of 8086….</a:t>
            </a:r>
            <a:r>
              <a:rPr lang="en-IN" sz="2400" b="1" u="sng" dirty="0" err="1">
                <a:latin typeface="Arial Black" pitchFamily="34" charset="0"/>
              </a:rPr>
              <a:t>cntd</a:t>
            </a:r>
            <a:r>
              <a:rPr lang="en-IN" sz="2400" b="1" u="sng" dirty="0">
                <a:latin typeface="Arial Black" pitchFamily="34" charset="0"/>
              </a:rPr>
              <a:t/>
            </a:r>
            <a:br>
              <a:rPr lang="en-IN" sz="2400" b="1" u="sng" dirty="0">
                <a:latin typeface="Arial Black" pitchFamily="34" charset="0"/>
              </a:rPr>
            </a:br>
            <a:r>
              <a:rPr lang="en-IN" sz="2400" b="1" u="sng" dirty="0"/>
              <a:t>Indirect Memory Addressing Mode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191822" cy="49082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/>
              <a:t>d. </a:t>
            </a:r>
            <a:r>
              <a:rPr lang="en-IN" b="1" dirty="0"/>
              <a:t>Relative Based Indexed: </a:t>
            </a:r>
            <a:endParaRPr lang="en-IN" b="1" dirty="0" smtClean="0"/>
          </a:p>
          <a:p>
            <a:pPr marL="0" indent="0">
              <a:buNone/>
            </a:pPr>
            <a:r>
              <a:rPr lang="en-IN" dirty="0" smtClean="0"/>
              <a:t>The </a:t>
            </a:r>
            <a:r>
              <a:rPr lang="en-IN" dirty="0"/>
              <a:t>effective address is formed by adding an 8 or 16-bit displacement with the sum of </a:t>
            </a:r>
            <a:r>
              <a:rPr lang="en-IN" dirty="0" smtClean="0"/>
              <a:t>the contents </a:t>
            </a:r>
            <a:r>
              <a:rPr lang="en-IN" dirty="0"/>
              <a:t>of any one of the base register (BX or BP) and any one of the index register, in a default segment.</a:t>
            </a:r>
          </a:p>
          <a:p>
            <a:pPr marL="0" indent="0" algn="ctr">
              <a:buNone/>
            </a:pPr>
            <a:r>
              <a:rPr lang="pt-BR" dirty="0"/>
              <a:t>Ex: MOV AX, </a:t>
            </a:r>
            <a:r>
              <a:rPr lang="pt-BR" dirty="0" smtClean="0"/>
              <a:t>[BX+SI + 50H]</a:t>
            </a:r>
            <a:endParaRPr lang="pt-BR" dirty="0"/>
          </a:p>
          <a:p>
            <a:pPr marL="0" indent="0">
              <a:buNone/>
            </a:pPr>
            <a:r>
              <a:rPr lang="en-IN" dirty="0" smtClean="0"/>
              <a:t>(Here</a:t>
            </a:r>
            <a:r>
              <a:rPr lang="en-IN" dirty="0"/>
              <a:t>, 50H is an immediate displacement, BX is base register and SI is an index register the </a:t>
            </a:r>
            <a:r>
              <a:rPr lang="en-IN" dirty="0" smtClean="0"/>
              <a:t>physical  </a:t>
            </a:r>
            <a:r>
              <a:rPr lang="en-IN" dirty="0"/>
              <a:t>address of data </a:t>
            </a:r>
            <a:r>
              <a:rPr lang="en-IN" dirty="0" smtClean="0"/>
              <a:t>is computed as: </a:t>
            </a:r>
            <a:r>
              <a:rPr lang="pt-BR" dirty="0" smtClean="0"/>
              <a:t>10H </a:t>
            </a:r>
            <a:r>
              <a:rPr lang="pt-BR" dirty="0"/>
              <a:t>* DS + [</a:t>
            </a:r>
            <a:r>
              <a:rPr lang="pt-BR" dirty="0" smtClean="0"/>
              <a:t>BX </a:t>
            </a:r>
            <a:r>
              <a:rPr lang="pt-BR" dirty="0"/>
              <a:t>+ </a:t>
            </a:r>
            <a:r>
              <a:rPr lang="pt-BR" dirty="0" smtClean="0"/>
              <a:t>SI+ 50H]</a:t>
            </a:r>
          </a:p>
          <a:p>
            <a:pPr marL="0" indent="0" algn="ctr">
              <a:buNone/>
            </a:pPr>
            <a:r>
              <a:rPr lang="pt-BR" dirty="0" smtClean="0"/>
              <a:t>EX2:</a:t>
            </a:r>
            <a:r>
              <a:rPr lang="pt-BR" dirty="0"/>
              <a:t>MOV AX, </a:t>
            </a:r>
            <a:r>
              <a:rPr lang="pt-BR" dirty="0" smtClean="0"/>
              <a:t>CS:[BX+SI </a:t>
            </a:r>
            <a:r>
              <a:rPr lang="pt-BR" dirty="0"/>
              <a:t>+ 50H</a:t>
            </a:r>
            <a:r>
              <a:rPr lang="pt-BR" dirty="0" smtClean="0"/>
              <a:t>]</a:t>
            </a:r>
          </a:p>
          <a:p>
            <a:pPr marL="0" indent="0" algn="ctr">
              <a:buNone/>
            </a:pPr>
            <a:r>
              <a:rPr lang="pt-BR" dirty="0" smtClean="0"/>
              <a:t>(Segment override prefix)</a:t>
            </a:r>
            <a:endParaRPr lang="pt-BR" dirty="0"/>
          </a:p>
          <a:p>
            <a:pPr marL="0" indent="0" 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197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3768" y="1"/>
            <a:ext cx="5616624" cy="908720"/>
          </a:xfrm>
        </p:spPr>
        <p:txBody>
          <a:bodyPr>
            <a:noAutofit/>
          </a:bodyPr>
          <a:lstStyle/>
          <a:p>
            <a:pPr algn="ctr"/>
            <a:r>
              <a:rPr lang="en-IN" sz="2800" b="1" u="sng" dirty="0">
                <a:latin typeface="Arial Black" pitchFamily="34" charset="0"/>
              </a:rPr>
              <a:t>Addressing modes of 8086….</a:t>
            </a:r>
            <a:r>
              <a:rPr lang="en-IN" sz="2800" b="1" u="sng" dirty="0" err="1">
                <a:latin typeface="Arial Black" pitchFamily="34" charset="0"/>
              </a:rPr>
              <a:t>cntd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263830" cy="5196235"/>
          </a:xfrm>
        </p:spPr>
        <p:txBody>
          <a:bodyPr/>
          <a:lstStyle/>
          <a:p>
            <a:pPr marL="0" lvl="1" indent="0">
              <a:spcBef>
                <a:spcPts val="1000"/>
              </a:spcBef>
              <a:buNone/>
            </a:pPr>
            <a:r>
              <a:rPr lang="en-IN" b="1" dirty="0" smtClean="0"/>
              <a:t>4.String </a:t>
            </a:r>
            <a:r>
              <a:rPr lang="en-IN" b="1" dirty="0"/>
              <a:t>Addressing </a:t>
            </a:r>
            <a:r>
              <a:rPr lang="en-IN" b="1" dirty="0" smtClean="0"/>
              <a:t>Mode</a:t>
            </a:r>
          </a:p>
          <a:p>
            <a:pPr marL="342900" lvl="1" indent="-342900">
              <a:spcBef>
                <a:spcPts val="1000"/>
              </a:spcBef>
            </a:pPr>
            <a:r>
              <a:rPr lang="en-IN" dirty="0" smtClean="0"/>
              <a:t>When a string instruction is executed:</a:t>
            </a:r>
          </a:p>
          <a:p>
            <a:pPr marL="1257300" lvl="3" indent="-342900">
              <a:spcBef>
                <a:spcPts val="1000"/>
              </a:spcBef>
              <a:buFont typeface="Wingdings" pitchFamily="2" charset="2"/>
              <a:buChar char="Ø"/>
            </a:pPr>
            <a:r>
              <a:rPr lang="en-IN" b="1" dirty="0"/>
              <a:t>SI is assumed to point to the 1</a:t>
            </a:r>
            <a:r>
              <a:rPr lang="en-IN" b="1" baseline="30000" dirty="0"/>
              <a:t>st</a:t>
            </a:r>
            <a:r>
              <a:rPr lang="en-IN" b="1" dirty="0"/>
              <a:t> byte or word of source </a:t>
            </a:r>
            <a:r>
              <a:rPr lang="en-IN" b="1" dirty="0" smtClean="0"/>
              <a:t>string </a:t>
            </a:r>
            <a:r>
              <a:rPr lang="en-IN" b="1" dirty="0"/>
              <a:t>and DS is default segment </a:t>
            </a:r>
            <a:r>
              <a:rPr lang="en-IN" b="1" dirty="0" smtClean="0"/>
              <a:t>register.</a:t>
            </a:r>
          </a:p>
          <a:p>
            <a:pPr marL="1257300" lvl="3" indent="-342900">
              <a:spcBef>
                <a:spcPts val="1000"/>
              </a:spcBef>
              <a:buFont typeface="Wingdings" pitchFamily="2" charset="2"/>
              <a:buChar char="Ø"/>
            </a:pPr>
            <a:r>
              <a:rPr lang="en-IN" b="1" dirty="0" smtClean="0"/>
              <a:t>DI </a:t>
            </a:r>
            <a:r>
              <a:rPr lang="en-IN" b="1" dirty="0"/>
              <a:t>is assumed to point to the 1</a:t>
            </a:r>
            <a:r>
              <a:rPr lang="en-IN" b="1" baseline="30000" dirty="0"/>
              <a:t>st</a:t>
            </a:r>
            <a:r>
              <a:rPr lang="en-IN" b="1" dirty="0"/>
              <a:t> byte or word of </a:t>
            </a:r>
            <a:r>
              <a:rPr lang="en-IN" b="1" dirty="0" smtClean="0"/>
              <a:t>destination string </a:t>
            </a:r>
            <a:r>
              <a:rPr lang="en-IN" b="1" dirty="0"/>
              <a:t>and </a:t>
            </a:r>
            <a:r>
              <a:rPr lang="en-IN" b="1" dirty="0" smtClean="0"/>
              <a:t>ES </a:t>
            </a:r>
            <a:r>
              <a:rPr lang="en-IN" b="1" dirty="0"/>
              <a:t>is default segment </a:t>
            </a:r>
            <a:r>
              <a:rPr lang="en-IN" b="1" dirty="0" smtClean="0"/>
              <a:t>register.</a:t>
            </a:r>
          </a:p>
          <a:p>
            <a:pPr marL="1714500" lvl="4" indent="-342900">
              <a:spcBef>
                <a:spcPts val="1000"/>
              </a:spcBef>
              <a:buFont typeface="Wingdings" pitchFamily="2" charset="2"/>
              <a:buChar char="Ø"/>
            </a:pPr>
            <a:endParaRPr lang="en-IN" dirty="0" smtClean="0"/>
          </a:p>
          <a:p>
            <a:pPr marL="342900" lvl="1" indent="-342900">
              <a:spcBef>
                <a:spcPts val="1000"/>
              </a:spcBef>
            </a:pPr>
            <a:r>
              <a:rPr lang="en-IN" dirty="0" smtClean="0"/>
              <a:t>In a repeated string operation , the processor automatically increments or decrements SI and DI to obtain subsequent byte or word (with the help of Direction Flag)	</a:t>
            </a:r>
          </a:p>
          <a:p>
            <a:pPr marL="0" lvl="1" indent="0" algn="ctr">
              <a:spcBef>
                <a:spcPts val="1000"/>
              </a:spcBef>
              <a:buNone/>
            </a:pPr>
            <a:r>
              <a:rPr lang="en-IN" dirty="0" smtClean="0"/>
              <a:t>Ex : MOVSB </a:t>
            </a:r>
          </a:p>
          <a:p>
            <a:pPr marL="0" lvl="1" indent="0" algn="ctr">
              <a:spcBef>
                <a:spcPts val="1000"/>
              </a:spcBef>
              <a:buNone/>
            </a:pPr>
            <a:r>
              <a:rPr lang="en-IN" dirty="0" smtClean="0"/>
              <a:t>MOVSW</a:t>
            </a:r>
          </a:p>
          <a:p>
            <a:pPr marL="342900" lvl="1" indent="-342900">
              <a:spcBef>
                <a:spcPts val="1000"/>
              </a:spcBef>
            </a:pPr>
            <a:r>
              <a:rPr lang="en-IN" dirty="0" smtClean="0"/>
              <a:t>	</a:t>
            </a:r>
          </a:p>
          <a:p>
            <a:pPr marL="342900" lvl="1" indent="-342900">
              <a:spcBef>
                <a:spcPts val="1000"/>
              </a:spcBef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91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9792" y="116633"/>
            <a:ext cx="5328592" cy="86409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u="sng" dirty="0">
                <a:latin typeface="Arial Black" pitchFamily="34" charset="0"/>
              </a:rPr>
              <a:t>Addressing modes of 8086….</a:t>
            </a:r>
            <a:r>
              <a:rPr lang="en-IN" sz="3200" b="1" u="sng" dirty="0" err="1">
                <a:latin typeface="Arial Black" pitchFamily="34" charset="0"/>
              </a:rPr>
              <a:t>cntd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052736"/>
            <a:ext cx="8280920" cy="5400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/>
              <a:t>5. </a:t>
            </a:r>
            <a:r>
              <a:rPr lang="en-IN" b="1" u="sng" dirty="0" smtClean="0"/>
              <a:t>I/O Addressing Mode:</a:t>
            </a:r>
          </a:p>
          <a:p>
            <a:pPr marL="0" indent="0">
              <a:buNone/>
            </a:pPr>
            <a:r>
              <a:rPr lang="en-IN" sz="2400" b="1" dirty="0" err="1" smtClean="0"/>
              <a:t>i.Direct</a:t>
            </a:r>
            <a:r>
              <a:rPr lang="en-IN" sz="2400" b="1" dirty="0" smtClean="0"/>
              <a:t> port addressing (Fixed port): </a:t>
            </a:r>
          </a:p>
          <a:p>
            <a:r>
              <a:rPr lang="en-IN" sz="2400" dirty="0" smtClean="0"/>
              <a:t>8-bit port address is specified in the instruction .</a:t>
            </a:r>
          </a:p>
          <a:p>
            <a:r>
              <a:rPr lang="en-IN" sz="2400" dirty="0" smtClean="0"/>
              <a:t>Allows access to port no. 0 to FF (256 ports only)</a:t>
            </a:r>
          </a:p>
          <a:p>
            <a:pPr marL="0" indent="0" algn="ctr">
              <a:buNone/>
            </a:pPr>
            <a:r>
              <a:rPr lang="en-IN" sz="2400" dirty="0" smtClean="0"/>
              <a:t>Ex1 : OUT  4B H ,AL   or   OUT 4B H , AX</a:t>
            </a:r>
          </a:p>
          <a:p>
            <a:pPr marL="0" indent="0" algn="ctr">
              <a:buNone/>
            </a:pPr>
            <a:r>
              <a:rPr lang="en-IN" sz="2400" dirty="0" smtClean="0"/>
              <a:t>EX2: IN AL , 4B H   or   IN AX , 4B H </a:t>
            </a:r>
          </a:p>
          <a:p>
            <a:pPr marL="0" indent="0">
              <a:buNone/>
            </a:pPr>
            <a:r>
              <a:rPr lang="en-IN" sz="2400" b="1" dirty="0" smtClean="0"/>
              <a:t>ii. Indirect Port Addressing (variable ):</a:t>
            </a:r>
          </a:p>
          <a:p>
            <a:r>
              <a:rPr lang="en-IN" sz="2400" dirty="0" smtClean="0"/>
              <a:t>It is similar to register indirect addressing.</a:t>
            </a:r>
          </a:p>
          <a:p>
            <a:r>
              <a:rPr lang="en-IN" sz="2400" dirty="0" smtClean="0"/>
              <a:t>The port number (address)is specified in register </a:t>
            </a:r>
            <a:r>
              <a:rPr lang="en-IN" sz="2400" dirty="0" err="1" smtClean="0"/>
              <a:t>Dx</a:t>
            </a:r>
            <a:r>
              <a:rPr lang="en-IN" sz="2400" dirty="0" smtClean="0"/>
              <a:t>.</a:t>
            </a:r>
          </a:p>
          <a:p>
            <a:r>
              <a:rPr lang="en-IN" sz="2400" dirty="0" smtClean="0"/>
              <a:t>The addresses may range from 0000 to FFFF H.</a:t>
            </a:r>
          </a:p>
          <a:p>
            <a:pPr marL="0" indent="0" algn="ctr">
              <a:buNone/>
            </a:pPr>
            <a:r>
              <a:rPr lang="en-IN" sz="2400" dirty="0" smtClean="0"/>
              <a:t>EX 1 : OUT DX, AL  or OUT DX, AX</a:t>
            </a:r>
          </a:p>
          <a:p>
            <a:pPr marL="0" indent="0" algn="ctr">
              <a:buNone/>
            </a:pPr>
            <a:r>
              <a:rPr lang="en-IN" sz="2400" dirty="0" smtClean="0"/>
              <a:t>EX2: IN AL, DX</a:t>
            </a:r>
          </a:p>
          <a:p>
            <a:pPr marL="0" indent="0" algn="ctr">
              <a:buNone/>
            </a:pPr>
            <a:r>
              <a:rPr lang="en-IN" sz="2400" dirty="0" smtClean="0"/>
              <a:t>IN AX, DX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53114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3768" y="188641"/>
            <a:ext cx="6031582" cy="1008112"/>
          </a:xfrm>
        </p:spPr>
        <p:txBody>
          <a:bodyPr>
            <a:normAutofit/>
          </a:bodyPr>
          <a:lstStyle/>
          <a:p>
            <a:r>
              <a:rPr lang="en-IN" sz="2800" b="1" u="sng" dirty="0">
                <a:latin typeface="Arial Black" pitchFamily="34" charset="0"/>
              </a:rPr>
              <a:t>Addressing modes of 8086….</a:t>
            </a:r>
            <a:r>
              <a:rPr lang="en-IN" sz="2800" b="1" u="sng" dirty="0" err="1">
                <a:latin typeface="Arial Black" pitchFamily="34" charset="0"/>
              </a:rPr>
              <a:t>cntd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340768"/>
            <a:ext cx="8119814" cy="4836195"/>
          </a:xfrm>
        </p:spPr>
        <p:txBody>
          <a:bodyPr/>
          <a:lstStyle/>
          <a:p>
            <a:pPr marL="0" lvl="1" indent="0">
              <a:spcBef>
                <a:spcPts val="1000"/>
              </a:spcBef>
              <a:buNone/>
            </a:pPr>
            <a:r>
              <a:rPr lang="en-IN" b="1" dirty="0" smtClean="0"/>
              <a:t>6. </a:t>
            </a:r>
            <a:r>
              <a:rPr lang="en-IN" b="1" u="sng" dirty="0" smtClean="0"/>
              <a:t>Implied </a:t>
            </a:r>
            <a:r>
              <a:rPr lang="en-IN" b="1" u="sng" dirty="0"/>
              <a:t>Addressing </a:t>
            </a:r>
            <a:r>
              <a:rPr lang="en-IN" b="1" u="sng" dirty="0" smtClean="0"/>
              <a:t>Mode</a:t>
            </a:r>
          </a:p>
          <a:p>
            <a:pPr marL="342900" lvl="1" indent="-342900">
              <a:spcBef>
                <a:spcPts val="1000"/>
              </a:spcBef>
            </a:pPr>
            <a:r>
              <a:rPr lang="en-IN" dirty="0" smtClean="0"/>
              <a:t>In this addressing mode ,the instructions do not have operands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dirty="0" smtClean="0"/>
              <a:t>EX : CMC   (compliment carry flag)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dirty="0"/>
              <a:t> </a:t>
            </a:r>
            <a:r>
              <a:rPr lang="en-IN" dirty="0" smtClean="0"/>
              <a:t>        STC     (Set carry Flag)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dirty="0"/>
              <a:t> </a:t>
            </a:r>
            <a:r>
              <a:rPr lang="en-IN" dirty="0" smtClean="0"/>
              <a:t>         CLD (Clear direction flag)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dirty="0"/>
              <a:t> </a:t>
            </a:r>
            <a:r>
              <a:rPr lang="en-IN" dirty="0" smtClean="0"/>
              <a:t>          CBW   (Convert Byte </a:t>
            </a:r>
            <a:r>
              <a:rPr lang="en-IN" smtClean="0"/>
              <a:t>to word)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530766"/>
      </p:ext>
    </p:extLst>
  </p:cSld>
  <p:clrMapOvr>
    <a:masterClrMapping/>
  </p:clrMapOvr>
</p:sld>
</file>

<file path=ppt/theme/theme1.xml><?xml version="1.0" encoding="utf-8"?>
<a:theme xmlns:a="http://schemas.openxmlformats.org/drawingml/2006/main" name="SVU_KJSCE THEME TEMPLATE FOR PPT_Standard Scree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1234</Words>
  <Application>Microsoft Office PowerPoint</Application>
  <PresentationFormat>On-screen Show (4:3)</PresentationFormat>
  <Paragraphs>132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SVU_KJSCE THEME TEMPLATE FOR PPT_Standard Screen</vt:lpstr>
      <vt:lpstr>Addressing modes of 8086</vt:lpstr>
      <vt:lpstr>Address registers</vt:lpstr>
      <vt:lpstr>Address registers</vt:lpstr>
      <vt:lpstr>Default Segment Register and Offset pointer pairs</vt:lpstr>
      <vt:lpstr>Addressing modes of 8086</vt:lpstr>
      <vt:lpstr>Addressing modes of 8086….cntd</vt:lpstr>
      <vt:lpstr>Addressing modes of 8086….cntd</vt:lpstr>
      <vt:lpstr>Addressing modes of 8086….cntd</vt:lpstr>
      <vt:lpstr>Addressing modes of 8086….cntd</vt:lpstr>
      <vt:lpstr>PowerPoint Presentation</vt:lpstr>
      <vt:lpstr>Addressing modes of 8086….cntd Indirect Memory Addressing Mode </vt:lpstr>
      <vt:lpstr>Addressing modes of 8086….cntd Indirect Memory Addressing Mode </vt:lpstr>
      <vt:lpstr>Addressing modes of 8086….cntd Indirect Memory Addressing Mode </vt:lpstr>
      <vt:lpstr>Addressing modes of 8086….cntd Indirect Memory Addressing Mode</vt:lpstr>
      <vt:lpstr>Addressing modes of 8086….cntd</vt:lpstr>
      <vt:lpstr>Addressing modes of 8086….cntd</vt:lpstr>
      <vt:lpstr>Addressing modes of 8086….cntd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 registers</dc:title>
  <dc:creator>Admin</dc:creator>
  <cp:lastModifiedBy>Admin</cp:lastModifiedBy>
  <cp:revision>44</cp:revision>
  <dcterms:created xsi:type="dcterms:W3CDTF">2020-08-25T18:12:15Z</dcterms:created>
  <dcterms:modified xsi:type="dcterms:W3CDTF">2024-08-07T05:50:57Z</dcterms:modified>
</cp:coreProperties>
</file>