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3"/>
  </p:notesMasterIdLst>
  <p:sldIdLst>
    <p:sldId id="256" r:id="rId2"/>
    <p:sldId id="611" r:id="rId3"/>
    <p:sldId id="701" r:id="rId4"/>
    <p:sldId id="612" r:id="rId5"/>
    <p:sldId id="613" r:id="rId6"/>
    <p:sldId id="614" r:id="rId7"/>
    <p:sldId id="615" r:id="rId8"/>
    <p:sldId id="616" r:id="rId9"/>
    <p:sldId id="617" r:id="rId10"/>
    <p:sldId id="618" r:id="rId11"/>
    <p:sldId id="619" r:id="rId12"/>
    <p:sldId id="703" r:id="rId13"/>
    <p:sldId id="706" r:id="rId14"/>
    <p:sldId id="620" r:id="rId15"/>
    <p:sldId id="621" r:id="rId16"/>
    <p:sldId id="622" r:id="rId17"/>
    <p:sldId id="623" r:id="rId18"/>
    <p:sldId id="702" r:id="rId19"/>
    <p:sldId id="624" r:id="rId20"/>
    <p:sldId id="625" r:id="rId21"/>
    <p:sldId id="626" r:id="rId22"/>
    <p:sldId id="627" r:id="rId23"/>
    <p:sldId id="630" r:id="rId24"/>
    <p:sldId id="631" r:id="rId25"/>
    <p:sldId id="632" r:id="rId26"/>
    <p:sldId id="633" r:id="rId27"/>
    <p:sldId id="634" r:id="rId28"/>
    <p:sldId id="719" r:id="rId29"/>
    <p:sldId id="635" r:id="rId30"/>
    <p:sldId id="704" r:id="rId31"/>
    <p:sldId id="636" r:id="rId32"/>
    <p:sldId id="637" r:id="rId33"/>
    <p:sldId id="715" r:id="rId34"/>
    <p:sldId id="716" r:id="rId35"/>
    <p:sldId id="717" r:id="rId36"/>
    <p:sldId id="718" r:id="rId37"/>
    <p:sldId id="638" r:id="rId38"/>
    <p:sldId id="708" r:id="rId39"/>
    <p:sldId id="707" r:id="rId40"/>
    <p:sldId id="639" r:id="rId41"/>
    <p:sldId id="640" r:id="rId42"/>
    <p:sldId id="641" r:id="rId43"/>
    <p:sldId id="642" r:id="rId44"/>
    <p:sldId id="644" r:id="rId45"/>
    <p:sldId id="645" r:id="rId46"/>
    <p:sldId id="761" r:id="rId47"/>
    <p:sldId id="762" r:id="rId48"/>
    <p:sldId id="763" r:id="rId49"/>
    <p:sldId id="646" r:id="rId50"/>
    <p:sldId id="647" r:id="rId51"/>
    <p:sldId id="709" r:id="rId52"/>
    <p:sldId id="648" r:id="rId53"/>
    <p:sldId id="745" r:id="rId54"/>
    <p:sldId id="746" r:id="rId55"/>
    <p:sldId id="760" r:id="rId56"/>
    <p:sldId id="747" r:id="rId57"/>
    <p:sldId id="748" r:id="rId58"/>
    <p:sldId id="749" r:id="rId59"/>
    <p:sldId id="750" r:id="rId60"/>
    <p:sldId id="751" r:id="rId61"/>
    <p:sldId id="752" r:id="rId62"/>
    <p:sldId id="753" r:id="rId63"/>
    <p:sldId id="754" r:id="rId64"/>
    <p:sldId id="755" r:id="rId65"/>
    <p:sldId id="756" r:id="rId66"/>
    <p:sldId id="757" r:id="rId67"/>
    <p:sldId id="758" r:id="rId68"/>
    <p:sldId id="759" r:id="rId69"/>
    <p:sldId id="723" r:id="rId70"/>
    <p:sldId id="649" r:id="rId71"/>
    <p:sldId id="724" r:id="rId72"/>
    <p:sldId id="740" r:id="rId73"/>
    <p:sldId id="725" r:id="rId74"/>
    <p:sldId id="726" r:id="rId75"/>
    <p:sldId id="741" r:id="rId76"/>
    <p:sldId id="742" r:id="rId77"/>
    <p:sldId id="743" r:id="rId78"/>
    <p:sldId id="727" r:id="rId79"/>
    <p:sldId id="729" r:id="rId80"/>
    <p:sldId id="744" r:id="rId81"/>
    <p:sldId id="730" r:id="rId82"/>
    <p:sldId id="731" r:id="rId83"/>
    <p:sldId id="732" r:id="rId84"/>
    <p:sldId id="733" r:id="rId85"/>
    <p:sldId id="734" r:id="rId86"/>
    <p:sldId id="735" r:id="rId87"/>
    <p:sldId id="736" r:id="rId88"/>
    <p:sldId id="737" r:id="rId89"/>
    <p:sldId id="738" r:id="rId90"/>
    <p:sldId id="739" r:id="rId91"/>
    <p:sldId id="650" r:id="rId92"/>
    <p:sldId id="651" r:id="rId93"/>
    <p:sldId id="652" r:id="rId94"/>
    <p:sldId id="653" r:id="rId95"/>
    <p:sldId id="654" r:id="rId96"/>
    <p:sldId id="655" r:id="rId97"/>
    <p:sldId id="656" r:id="rId98"/>
    <p:sldId id="657" r:id="rId99"/>
    <p:sldId id="658" r:id="rId100"/>
    <p:sldId id="659" r:id="rId101"/>
    <p:sldId id="660" r:id="rId102"/>
    <p:sldId id="661" r:id="rId103"/>
    <p:sldId id="662" r:id="rId104"/>
    <p:sldId id="663" r:id="rId105"/>
    <p:sldId id="710" r:id="rId106"/>
    <p:sldId id="664" r:id="rId107"/>
    <p:sldId id="665" r:id="rId108"/>
    <p:sldId id="666" r:id="rId109"/>
    <p:sldId id="711" r:id="rId110"/>
    <p:sldId id="712" r:id="rId111"/>
    <p:sldId id="667" r:id="rId112"/>
    <p:sldId id="668" r:id="rId113"/>
    <p:sldId id="669" r:id="rId114"/>
    <p:sldId id="670" r:id="rId115"/>
    <p:sldId id="671" r:id="rId116"/>
    <p:sldId id="672" r:id="rId117"/>
    <p:sldId id="673" r:id="rId118"/>
    <p:sldId id="674" r:id="rId119"/>
    <p:sldId id="675" r:id="rId120"/>
    <p:sldId id="676" r:id="rId121"/>
    <p:sldId id="677" r:id="rId1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50" autoAdjust="0"/>
    <p:restoredTop sz="89295" autoAdjust="0"/>
  </p:normalViewPr>
  <p:slideViewPr>
    <p:cSldViewPr>
      <p:cViewPr>
        <p:scale>
          <a:sx n="70" d="100"/>
          <a:sy n="70" d="100"/>
        </p:scale>
        <p:origin x="-940" y="-48"/>
      </p:cViewPr>
      <p:guideLst>
        <p:guide orient="horz" pos="2160"/>
        <p:guide pos="2880"/>
      </p:guideLst>
    </p:cSldViewPr>
  </p:slideViewPr>
  <p:notesTextViewPr>
    <p:cViewPr>
      <p:scale>
        <a:sx n="1" d="1"/>
        <a:sy n="1" d="1"/>
      </p:scale>
      <p:origin x="0" y="0"/>
    </p:cViewPr>
  </p:notesTextViewPr>
  <p:sorterViewPr>
    <p:cViewPr>
      <p:scale>
        <a:sx n="100" d="100"/>
        <a:sy n="100" d="100"/>
      </p:scale>
      <p:origin x="0" y="198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04-15T08:15:33.468"/>
    </inkml:context>
    <inkml:brush xml:id="br0">
      <inkml:brushProperty name="width" value="0.05292" units="cm"/>
      <inkml:brushProperty name="height" value="0.05292" units="cm"/>
      <inkml:brushProperty name="color" value="#FF0000"/>
    </inkml:brush>
  </inkml:definitions>
  <inkml:trace contextRef="#ctx0" brushRef="#br0">6555 2764 460,'0'0'2,"0"0"19,0 0 50,0 0-57,0 0-1,0 0-7,0 0 2,-92-12 8,71 19 7,-4 3-1,0 2-5,3 3-2,0-1-4,4 6-2,0-1-2,3 0-6,8-2 1,7-2 1,0 2-2,2-3 1,27-1 1,9-1 3,2-3 0,1 1-5,-10 0 1,-10 1-2,-7-1 2,-7 0 0,-7 2 4,0 2 11,-13-1 10,-16 4 1,-14-2 0,-3-6-2,-2 1-12,11-3-6,3-4-5,12-1-1,6-2-2,7 0-8,9 0-54,0 0-43,23-5-136</inkml:trace>
  <inkml:trace contextRef="#ctx0" brushRef="#br0" timeOffset="772.3854">6620 3018 577,'0'0'17,"0"0"110,0 0-108,0 0-19,0 0-1,0 0-1,105-30 1,-68 17 2,-1 0 2,-9-3-1,-7 0 3,-8-5 5,-6 3 2,-6 2 10,0 3-3,0 2-5,0 5 4,-9 3-17,-9 3-1,-2 0-5,-5 0-3,-2 0 6,6 13 1,-5 3 1,7 4 1,4 3-1,3-2 1,3 6-1,7-4 0,2-1 2,0 3 0,13-5 0,14-3-2,2-2 4,4-7 0,-4-4-3,0-4-1,-6 0 2,-3 0-2,2-6-1,0-12 1,5-4-2,2-5-2,0 1 2,-3 3 1,-8 0 1,3 7 0,-15 8 0,1 4 3,-5 2 1,-2 2 4,0 0-8,0 0-4,0 6-12,0 13 16,0 2 0,0 1 3,0 1-2,3-5 0,0-2-1,7-5 2,0-2 3,0-8-1,8-1 4,4 0 0,8-15-1,7-9-5,-4-2 3,-2 1-1,-8 6-4,-7 2 1,-12 10 0,5 4 10,-9 2 8,2 1-6,-2 0-11,2 0-2,0 0-8,10 5 8,1 8 1,3 1 2,-1-1-3,1 1 2,4 1-2,0-3-43,9-3-75,0-2-73,7-7-297</inkml:trace>
  <inkml:trace contextRef="#ctx0" brushRef="#br0" timeOffset="2023.1226">7777 2951 325,'0'0'125,"0"0"-40,0 0-23,0 0-14,0 0-13,0 0-26,-27-56 6,13 54 4,-1 2-10,1 0-9,-13 0 6,-3 12 3,1 9 2,-3-1 7,6 1-11,1 1-2,17 1-5,0-1 1,8-1 1,0-9-1,10 1-1,8-9-1,12-4 1,-1 0 1,5-3 1,-3-16-2,-2-8-2,-4-1 1,-5-5-6,-3-6-1,-1-1-3,-6 2 7,3 0 3,-11 3 1,-2 6 1,0 0 3,0 8 0,-2 5 6,-8 4 6,7 6-2,2 3-2,1 3-5,0 0-4,0 0-3,0 0-5,0 0 1,0 0-8,1 14 7,14 10 4,-2 3 1,0 1 0,3 0 0,-3 0 0,1 0 0,-3 0 0,-2 2 0,4 1 0,-4-3 4,-3-1-4,6-2 0,-10-5 0,9-4 0,-8-6 2,8-4 0,0-3 0,5-3 3,3 0 1,5-2-3,4-13-1,1-3-1,0-2 1,0-5-2,0-1-4,0 1-6,-2-1 1,-8 3 5,3 2 4,-10 2 0,-5 5 0,-6 2 4,-1 2-3,0 4 2,0 2 2,0-3-5,0 4-1,-13 1-3,-2 0 2,1 2-1,-5 0 2,1 4-1,-4 10 2,4 2-1,2 6-1,0 1 2,5 2 3,2 3-3,7-1 0,2-3 0,0-2 2,0 0-1,0-3 0,2 1 1,18-1 0,2-5 1,6-2-1,10-2 3,-1-4 0,12-4-3,0-2 2,1 0-1,-2-5 1,-3-8-4,-5-9 1,-7-1 1,-4-4-1,-5-4-1,-8-1-1,-4 2 0,-8 0-1,-4 6 0,0 6 2,-8 2-2,-13 4 2,8 4 5,3 2-3,4 2 5,6 4 1,0 0-2,0 0-6,0 0-1,11 0-20,18 0 13,10 0 8,-6 13-3,-4-1-1,-12 8-3,-5-3 2,-10 4-1,-2 0 3,0 2-2,0-4 5,-7 3 1,-2 0 0,3-4 2,6-1-2,0-4 2,0-1 2,6-1 0,21-2 2,4-2-2,14 3 0,8-4-5,-4-3-1,5-3-1,-12 0-124,-13-9-466</inkml:trace>
  <inkml:trace contextRef="#ctx0" brushRef="#br0" timeOffset="11213.1424">4239 3633 377,'0'0'5,"0"0"26,0 0 30,0 0-19,0 0-12,0 0 0,0 0 3,-29-64-29,5 64 8,-4 14 4,-9 18-14,-12 8 13,2 11-6,-5 0 5,13 6-2,5-3-10,14-4-2,11-4 0,9-6-2,0-10-9,14-5 11,22-8 4,6-9 3,11-4 8,12-4-6,-3 0 4,2-5-10,-7-12 0,-11-3 1,-7-3-3,-10-4 6,-8-2-2,-7-4 2,-5 1-5,-5-2-1,-4 3 4,0-1-2,0-2-3,0 6 0,-4 5-3,-3 4 0,5 9 3,0 4 6,2 5-1,-3-2-5,3 3-3,0 0-8,0 0-1,0 8-15,0 16 21,0 9 6,0 1 4,0 2 4,0-1-1,0-2 1,0-3-4,0-2 1,7-6-1,4-4-3,1-7-1,1 2 3,1-6 0,-6-2-2,1 0 3,-5-5 4,-2 0-7,-2 0 4,0 0-1,0 0-4,0 0-1,0 0-4,0 0 4,0 0 1,0 0-2,8 0-13,4 0-67,2 0-60,-5-10-342</inkml:trace>
  <inkml:trace contextRef="#ctx0" brushRef="#br0" timeOffset="11530.2163">4573 3742 170,'0'0'72,"0"0"-52,0 0 36,0 0-3,0 0-8,0 0 0,25-3 6,-25 3-25,2 7-11,0 6 13,3 6-10,1 1-14,4-2 4,-2 0-6,3-1 1,-4 0 2,2-3-5,-7-1-31,6-4-30,3-4-92,-7-5-32</inkml:trace>
  <inkml:trace contextRef="#ctx0" brushRef="#br0" timeOffset="11724.5458">4752 3645 163,'0'0'403,"0"0"-395,0 0 48,0 0 1,0 0-42,0 0-15,-50-99-17,48 99-95,-9 3-109</inkml:trace>
  <inkml:trace contextRef="#ctx0" brushRef="#br0" timeOffset="12587.095">4752 3645 617,'27'80'0,"-19"-80"-40,19 0 40,13 0 11,7 0-11,-3-1-1,-5-6-9,-14 2 7,-10-6-4,-9-1 7,-6 0 7,0-2 6,0 4 0,0 2-9,-13 6 21,-1 2-13,-3 0-8,-9 2 4,5 23-1,-6 3 2,2 5 0,10 2-2,3-1-5,11 0 0,1-5-2,0 0-1,7-3 1,14-9 4,6-4 4,12-6-5,7-7 5,8 0-3,-3-5 6,-9-15-7,-4-1-1,-18-4 2,-1 1-4,-13 4 7,-4 4-3,-2 6-3,0 6 4,0 4-2,0 0 8,0 0-12,0 0-5,0 14-2,0 5 6,0 1 1,0 1-4,0-5 1,2-4 4,9-3-1,-1-9 0,3 0 5,7 0-1,4-12 10,6-13-2,-4-1-7,-6 6-3,-9 6-1,-9 6 1,-1 4 0,-1 4-2,0 0-13,0 0-16,0 22 29,4 4 0,7 0 1,4-3 2,6-6-2,1-8 0,9-3 5,6-6-2,3 0 3,2-20 0,-7-12-5,-6-7 7,-12-9-9,-3-7 2,-7-4-2,-5-5-2,-2 6 2,0 15 6,0 13-4,0 18 21,0 10 20,0 2-43,0 9-1,0 23-17,0 14 18,0 5 2,4 2-2,10-2 2,6-1-1,-4-4 0,-1 0-1,-9-9-29,0-7-68,-6-16-81</inkml:trace>
  <inkml:trace contextRef="#ctx0" brushRef="#br0" timeOffset="12739.015">5619 3778 753,'0'0'8,"0"0"11,0 0 2,129-77-21,-34 69-1,22 3-8,6 1-83,-1-9-275</inkml:trace>
  <inkml:trace contextRef="#ctx0" brushRef="#br0" timeOffset="13927.5343">17900 3465 350,'0'0'0,"0"0"35,0 0-5,0 0-9,-119 40-21,119-18 0,0 0 0,0 4 4,16-2 24,11 4-10,-3-2-6,-2 2-5,3-1 0,-5-1-4,-5-3 3,-5-2-1,-1-3 3,-9-4-1,0-2-3,-9 0 0,-18 0 29,-9 0 9,-13-2-4,2 0-16,5-4-6,13-1-9,8-2 4,11 0 4,8-3-3,2 0-5,0 0 1,4 0-8,25-17-8,13-3-86,3 2-102</inkml:trace>
  <inkml:trace contextRef="#ctx0" brushRef="#br0" timeOffset="14544.3258">18138 3831 480,'0'0'18,"0"0"31,0 0-22,0 0-14,0 0-13,0 0 2,125-93 2,-106 79 3,-5-2 6,0-1 5,-14 3 13,0 3 4,0 2-21,0 2-9,-18 5-4,-7 2 11,-4 0-3,-2 0-7,-3 2 2,2 18-1,4 1 0,9 4 0,3 2-2,7 1-1,9 3-6,0-5 6,15-3 5,22 0 0,9-5-2,12-6 9,2-4 1,0-6-12,-9-2 1,-8 0 3,-10-14 3,-8-11 1,-10-7-4,-5-6-5,-10-1-4,0-3-3,-8 6 0,-5 1 4,5 11 3,0 7 14,5 4-9,3 9-5,0 4-11,0 0-9,17 0 18,10 0 1,2 18 1,2 7-1,-4 4-2,-5 3 2,-4 3-2,-8 1-1,-7-1 0,-3-6-5,0-3 7,0-4 2,0-2 16,0-4-4,0 0-6,0-2-5,0 2-1,16 0-4,15-3-18,9-2-89,5-7-127</inkml:trace>
  <inkml:trace contextRef="#ctx0" brushRef="#br0" timeOffset="14896.4954">18967 3720 467,'0'0'18,"0"0"104,0 0-106,0 0-16,0 0-13,0 0 13,16 27 1,-14-3 18,2 1 1,1 1 8,-3-2-9,-2-4-1,2-2-1,0-4-12,6-3 2,-6-6 4,0-3-9,-2-2 4,3 0 22,6 0 52,6-7 2,0-16-55,10-12-11,-5 0-3,4-1-7,-6 3-5,2 6-1,2 5 0,-4 4-7,7 5-27,-6 8-51,8 5-82,2 0-84</inkml:trace>
  <inkml:trace contextRef="#ctx0" brushRef="#br0" timeOffset="15571.891">19396 3805 78,'0'0'364,"0"0"-318,0 0 13,0 0-53,0 0-3,115-59 6,-93 47-1,-3-5 25,-14 1 2,0 0 10,-5 1-23,0-2-18,0 3-2,0 4-2,0 2 0,0 4-3,-2 4 3,-4 0 0,-10 0 3,-6 8 0,3 10-3,4 6-6,0 2 4,3 8-3,10 1 5,2 3 3,0-1 1,2-6 0,16-7 0,6-7 3,2-5 0,-5-7 7,8-5-1,2 0 0,-4-2 2,-2-18 2,0-6-3,-10-4-7,-1-1-7,-10-1-4,5 3 4,-7 3 0,2 2-2,8 3 2,3 7-16,3 2 1,6 3 2,-6 9-7,7 0 10,-11 0 6,-1 0 0,-9 12-1,-4 7-3,0 3-3,0 5-9,-9 2 20,-9 4 9,3-3 5,-1 2-1,5-2-3,9 2 3,-1 0-1,3 0-4,0-4-2,0-2 7,14-1-5,2-6 2,-3-2-4,1-3-1,1-2 1,-2-1 0,7-1-3,3 1-3,-3-4-9,2 0-92,-6-7-59,-10 0-275</inkml:trace>
  <inkml:trace contextRef="#ctx0" brushRef="#br0" timeOffset="37609.2625">10923 6604 226,'0'0'11,"0"0"12,0 0 11,0 0-3,0 0-5,0 0 24,0 0 5,0 0-3,10-19-12,-7 17-13,-3 0-3,0 2-2,0-3-6,0 3-2,0-3-6,0 3-8,0-2-1,-8-5-6,-7 4 6,-12-3-1,-4 0 2,-4 1 1,-7 2 5,-1-1-6,-1 4-2,-5 0 2,8 0 3,3 0-2,0 0-1,3 4 1,3 6-1,8 2 0,-1 1 0,-2 1-2,1 5 1,-3 1 2,-2-1-2,-2 4 2,-2-1-1,4 3 0,2 0-1,0 0 1,8 1-2,-2 0 2,5 4-4,5 1 4,2 4 0,-3 0-1,10 4-1,-5 0 2,0 0 3,1 1-2,3 0-1,-2-3 0,7-2 5,0 0-10,0-3 5,0 0 0,23 0 1,3 1 1,10 2 2,6 1 2,2 0-4,10 3 4,-7-4-3,7 4-2,-8-3 3,-1-4-3,-1-3 0,-6-3 2,3-6-2,-1 1 0,2-5 0,5-2 0,11-4 0,9-4-1,6-2 1,6-4 1,5 0-2,-6 0 1,-4-16 1,-10-6-2,3-4 1,-7-1 0,-5-2 1,0-1 0,-7 0-2,-5 0 2,-3-2 2,-7-5 1,-4 2-1,-2-4-3,-4 4 13,-6 0-5,-1 5-7,-1 3 10,-3 3-2,-1 3 3,-5 1-3,4-2-1,-10-4 5,0-2 5,0-8-8,-23-7-5,-8 0-2,-2-2-2,-8 7 7,1 4-4,0 4-2,3 6 3,0 1-4,-3 8-2,5 1-2,-8 4-1,1 3-3,-1 2 6,2-2-14,13 4-43,-1-2-58,12 2-54,1-4-187</inkml:trace>
  <inkml:trace contextRef="#ctx0" brushRef="#br0" timeOffset="38711.435">11484 5569 389,'0'0'24,"0"0"94,0 0-67,0 0-41,0 0 1,145-44 6,-108 33-3,-5-4-2,-5-2 5,-10-7 6,1-8 6,-7-6-10,1-8-14,-10 0-4,-2 6-2,0 8-1,-2 14 1,-8 8-4,8 8 5,-4 2-7,-9 0-3,-9 19 10,-4 17 0,-1 17 0,2 13 0,7 10 2,0 5 9,6 4 8,10-4-9,-7-5-2,7-8 4,-10-8-10,-1-4 3,-10-5-3,5-5 0,-5-4-2,8-10-55,5-9-81,6-16-129</inkml:trace>
  <inkml:trace contextRef="#ctx0" brushRef="#br0" timeOffset="38877.7913">11617 5897 468,'0'0'10,"0"0"50,0 0 3,125-90-50,-80 70-12,11 0-1,-1-2-2,1-2-14,-3-6-41,-5-4-94,-13-3-50</inkml:trace>
  <inkml:trace contextRef="#ctx0" brushRef="#br0" timeOffset="39109.6408">12144 5414 19,'0'0'99,"0"0"40,0 0-68,0-125 25,0 110 1,0 5-56,0 5 26,0 5-24,0 0-16,0 0-19,0 0-8,0 16-20,-14 21 20,-4 11 13,-6 13-2,8 2 15,1 3-10,1 1-5,1-6-4,7-1-6,-6-2 6,3-12-3,9-2-4,0-9-45,0-9-71,25-14-163</inkml:trace>
  <inkml:trace contextRef="#ctx0" brushRef="#br0" timeOffset="40301.854">12574 5618 210,'0'0'116,"0"0"-34,0 0-57,0 0 8,0 0-6,0 0-2,38-102-2,-40 97-16,-21-2 3,-5 7 8,-2 0-12,-1 0 1,-8 4 3,7 16 4,-6 6-4,7 4-4,4 1 7,9 0 0,4-2-10,8-4 1,6-1-4,0-5-2,6-4 2,19-3 0,9-7 33,10-3-7,6-2-16,-3 0-3,1-16-2,3-10 0,-6-6-2,-1-8-2,-5-1-2,-12 3-4,-10 4-13,-11 9 11,4 6 7,-10 9 10,0 8-6,0 2 1,0 0-5,0 0-5,0 0-14,0 0-3,0 5 22,0 7 0,2-1 0,5 4 0,3-4 0,13 0 0,6-1 0,9-5 11,8-1-3,1-1-1,5-3-1,-5 0-4,-9-5 2,-5-9-2,-13-3 6,-7-3-8,-6 3-1,-7 3-6,0 4 7,-11 2-16,-18 2 12,-4 3 4,-5 0 0,-1 3 0,6 0-1,4 6-1,4 8 1,5 2-1,3 0-1,4 2 2,2-2-2,11-4 1,0 0-1,0-3-3,17-6 6,10-1 7,6-2 7,5 0-5,0-5-3,-2-14 0,2-3-2,-9-4 1,-3-2-3,-6 0-2,-6 0-4,-1 5 4,-10 2 10,4 8-3,-5 6-3,-1 5 7,-1 2-7,0 0-4,0 0-17,0 12-9,-11 19 15,-8 18 11,-6 11 5,9 10 2,3 5 2,4 0-3,4 3 1,-1-8-2,-3-1-1,-4-10-3,-3-9 0,-7-10 2,4-11-2,-6-6-1,7-8-3,1-12 3,0-3 3,7 0 2,-2-3 15,8-16-4,2-8-14,2-2 0,0-10-2,6-2 0,21-5-8,6-7 1,17 5 7,-1 0 0,6 8 4,-1 4-2,-7 2 8,-5 5-5,-9 4 5,3 0 5,-11 10 4,-5 1 0,-7 2-3,-6 4-8,0 3-6,-5 3-2,-2 2-24,0 0-79,-4 7-47,-25 10-11,-12 5-243</inkml:trace>
  <inkml:trace contextRef="#ctx0" brushRef="#br0" timeOffset="41501.9512">10869 6515 179,'0'0'25,"0"0"9,0 0 13,0 0-44,0 0 4,0 0 7,0 0 10,0 0 3,0 0 3,0 0-5,0 0-12,0 0-11,0 0-2,2 0-3,10 5 3,7 4 34,7 3 10,3 0-22,0 1-9,6 4-5,-7 1-4,-4 0 4,3-1-7,-3 2 10,-4-1-4,0-4 1,-1-4 5,-6 1 0,-1-4 2,1 2 2,1-4 0,1 1 1,0-1-4,-6-3 1,1 1-12,-7-1 2,2-2-3,-5 0-2,0 0 2,0 0-4,0 5-16,0-3-84,0-2-144</inkml:trace>
  <inkml:trace contextRef="#ctx0" brushRef="#br0" timeOffset="56022.185">6611 7640 36,'0'0'13,"0"0"-11,0 0 0,0 0 8,0 0 20,0 0-11,0 0 7,0 0 18,0 0-14,37-15 2,-31 14 11,0-1-12,-4 0 3,0 0 4,3-1-25,-1 2 1,-1-2 4,4 3-7,1-1-5,1 1 4,5-2 0,1 0-4,1-2 2,1-1 4,-2 4-7,6-1-2,-5-2 0,-3 1-1,-6 3 0,0-1-2,-3 1-1,-2 0 1,0 0-26,-2 0-40,0 0-28,0 1-27,0 8-45</inkml:trace>
  <inkml:trace contextRef="#ctx0" brushRef="#br0" timeOffset="56404.0551">6573 7715 50,'0'0'16,"0"0"2,0 0 36,0 0-12,0 0 2,0 0-16,87 0 1,-62 0-8,2-1-4,-6-5 15,3 1-19,-4-2 4,1 1 0,-5 2-1,-3 0-1,-6 0-4,4 3-9,-7-2-2,1 3 1,-2-3 1,-3 3-2,0-1 0,3 1-12,-3 0-71,0 0-120</inkml:trace>
  <inkml:trace contextRef="#ctx0" brushRef="#br0" timeOffset="70811.5809">4567 8700 230,'0'0'14,"0"0"-11,0 0 25,0 0-22,0 0-5,0 0 0,0 0 21,0 0 5,0-5 18,0 5 2,0 0-13,0-2-14,0 2-20,0 0-11,1-3-17,4 3 19,9 0 9,10 0 7,14 0 9,9 0-8,9 0-4,1 0 6,2 0-9,-3 0 1,4 5-2,2-2 5,2-1-3,1 1-2,6-3-3,1 0 2,8 0 2,4 0-1,0 0 4,-5 0-2,-7 0-2,-12 0 0,-6 0 1,-10 0-3,-6 0 4,-8 0-2,0-3 4,-5 1-3,-5 0 4,5-1-2,-6-1 3,2 0-1,-6 0 1,-3-1 6,-6 4-2,-4-1-2,0 0-4,-2 2 4,0-3-3,0 1 2,0 2 0,0 0 8,0-2 3,0 2 4,0 0 1,0 0-22,0 0-1,0 0 0,0 0-4,0 0 4,0 0 0,-2 0 0,2 0-26,-8 0-28,-11 0-58,-5-1-141</inkml:trace>
  <inkml:trace contextRef="#ctx0" brushRef="#br0" timeOffset="71987.3634">4508 8536 289,'0'0'0,"0"0"-88,0 0 88,0 0 12,0 0-2,0 0 2,81-2 2,-57 2 5,3 0 2,6 0 4,15 0-11,5 0 10,5 0-4,13 0-5,0 0-7,1 0-2,-9 0 2,-13 0-1,-13 0-2,-16 0-3,-7 0 1,-12 0-3,-2 0 7,0 0 2,0 0-2,0 0-7,0 0-19,0 0-5,0 0-7,0 4-40,0-2-30</inkml:trace>
  <inkml:trace contextRef="#ctx0" brushRef="#br0" timeOffset="72695.2774">7055 8546 236,'0'0'3,"0"0"8,0 0 25,0 0-35,0 0-1,0 0 0,0 0-5,0 0 3,0 0 2,0 0-33,0 0-102</inkml:trace>
  <inkml:trace contextRef="#ctx0" brushRef="#br0" timeOffset="74037.7037">8035 8494 62,'0'0'0,"0"0"0,0 0-6,0 0-15,0 0 21,0 0-1,16-4 1,-15 4-6,5 0 3,-4 0-18</inkml:trace>
  <inkml:trace contextRef="#ctx0" brushRef="#br0" timeOffset="74268.3015">8035 8494 24,'29'-4'18,"-27"4"6,-2-2-6,5 0 10,-3 1-2,-2-2-5,0 3 11,0 0-1,0 0-4,0 0-15,0 0-12,0 0-6,0 0-16,0 0-8,0 0-3,0 0 10,0 0 15,2 0 4,-2 0-3,0 0-4,0 0-24,0 0-12</inkml:trace>
  <inkml:trace contextRef="#ctx0" brushRef="#br0" timeOffset="133549.9229">16825 8849 73,'0'0'68,"0"0"-9,0 0-8,0 0-40,0 0-10,0 0 2,0 0 1,0 0 1,0 0-1,0-2-2,0 2 3,0 0-3,0 0 4,0 0-1,0 0-5,0 0 0,0 0 3,0 0 3,1 0 0,11 0-2,4 0 8,6 0-6,-2 4-2,7-4 0,-7 2-2,2 0 1,3 0-1,-8-2-2,2 0 6,5 0-3,-8 0 0,3 0 0,0 0 0,-2 0 2,1 3 0,5-3-3,-6 5-1,-1-1-1,9 1 1,-6 2-1,8-2 0,0 4 0,-9-1-1,7-2 1,-6 3-1,4-2 1,-5 0 2,4-4-2,-2 3 0,-5-3 2,3 0 1,-2-1-1,-4 0 0,2 0 0,-2 0-2,3 0 1,-1 2 0,1-1 0,5 0 2,-4-1-1,0 0 0,2 0 4,-5-2 1,0 3 0,-1-3 4,-4 0-3,1 0 2,-4 0-3,4 0 1,-7 0-4,7 0-3,-5 0-1,0 0 1,6 0-1,-7 0 0,5 0 0,-4 0 0,2 0-1,2 0 0,5 0 1,-7 0 1,8 0 0,-3 0-1,3 0 0,-1 0 0,3 0 1,-3 0-1,1 0 0,6 0 0,4 2-1,-4-1 0,4 3 1,5 1 0,0-1 0,7-3 0,-2 1 0,-3-2 0,-2 0 0,-5 0 1,-3 0 0,-1 0-2,-12 0 2,1 0 2,-3 0-2,6 0-1,-1 0 1,3 0-1,1 0-2,-1 0 0,3 0 2,6 0 0,-5 0 0,-1-2 2,1-1-2,1-2 1,-2 1 0,-2 1-1,1-4 0,-4 3 1,3-2-1,-2 4 0,3 0 0,-1 0-1,3 2 1,3 0-2,-4 0 2,8-2 0,-7 2 0,-1 0-2,-1-2 4,-1-2 0,-4 1-2,3 3 2,-4-5-2,3 1 0,-3 1-1,1 1 1,5 2 0,-3 0-1,8 0 0,-5 0 0,-1 0-1,-2 0 1,0 0 1,1 0-3,2 0 3,-3 0-2,-2 0 2,2 0 0,3 0 2,-3 0-2,1 0 0,-3 0 0,2 0 0,1 0 0,-3 0 0,-3 0 0,4 0 0,-1 0 0,0 0 0,-4 0 0,6 0 0,1 0 0,-1 0 0,1 0 1,1 0-1,-2 0 0,1 0 0,1 0-1,-1 0 1,1 0 0,1 0 0,1 0-2,3 0 2,-3 0 0,-2 0 0,-9 0 0,4 0 0,-10 0 2,0 0-1,0 0 0,0 0-1,0 0 0,0 0-2,0 0-1,0 0 3,0 0 0,0 0 0,0 0 0,0 0 1,0 0 1,0 0-2,0 0 0,0 0 2,2 0-2,-2 0 2,0 0 3,0 0-1,0 0 2,0 0 1,0 0 0,0 0-5,0 0-1,0 0-1,0 0-2,0 0 2,0 0-1,0 0-1,0 0-9,0 0-12,0 0-19,0 0-11,0 0 4,0 0 5,0 0 8,-2 2-33,-8-2-50</inkml:trace>
  <inkml:trace contextRef="#ctx0" brushRef="#br0" timeOffset="174390.5086">17455 10367 29,'0'0'31,"0"0"-12,0 0-19,-117-41-47</inkml:trace>
  <inkml:trace contextRef="#ctx0" brushRef="#br0" timeOffset="186304.3529">15563 9499 7,'0'0'0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04-15T08:27:22.298"/>
    </inkml:context>
    <inkml:brush xml:id="br0">
      <inkml:brushProperty name="width" value="0.05292" units="cm"/>
      <inkml:brushProperty name="height" value="0.05292" units="cm"/>
      <inkml:brushProperty name="color" value="#FF0000"/>
    </inkml:brush>
  </inkml:definitions>
  <inkml:trace contextRef="#ctx0" brushRef="#br0">7547 6067 3,'0'0'0,"214"-51"3,-104 20-3,-8 1 0,3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C563F6-A97A-412B-B277-8DD16C8D3505}" type="datetimeFigureOut">
              <a:rPr lang="en-US" smtClean="0"/>
              <a:t>11/3/2025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D003B8-2CCA-447A-9B40-6FB815425F0D}" type="slidenum">
              <a:rPr lang="en-US" smtClean="0"/>
              <a:t>‹#›</a:t>
            </a:fld>
            <a:endParaRPr lang="en-US"/>
          </a:p>
        </p:txBody>
      </p:sp>
    </p:spTree>
    <p:extLst>
      <p:ext uri="{BB962C8B-B14F-4D97-AF65-F5344CB8AC3E}">
        <p14:creationId xmlns:p14="http://schemas.microsoft.com/office/powerpoint/2010/main" val="15084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Push (PSH) –</a:t>
            </a:r>
            <a:r>
              <a:rPr lang="en-US" sz="1200" b="0" i="0" kern="1200" dirty="0" smtClean="0">
                <a:solidFill>
                  <a:schemeClr val="tx1"/>
                </a:solidFill>
                <a:effectLst/>
                <a:latin typeface="+mn-lt"/>
                <a:ea typeface="+mn-ea"/>
                <a:cs typeface="+mn-cs"/>
              </a:rPr>
              <a:t> Transport layer by default waits for some time for application layer to send enough data equal to maximum segment size so that the number of packets transmitted on network minimizes which is not desirable by some application like interactive applications(chatting). Similarly transport layer at receiver end buffers packets and transmit to application layer if it meets certain criteria. This problem is solved by using PSH. Transport layer sets PSH = 1 and immediately sends the segment to network layer as soon as it receives signal from application layer. Receiver transport layer, on seeing PSH = 1 immediately forwards the data to application layer.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In general, it tells the receiver to process these packets as they are received instead of buffering them.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pPr fontAlgn="base"/>
            <a:r>
              <a:rPr lang="en-US" sz="1200" b="1" i="0" kern="1200" dirty="0" smtClean="0">
                <a:solidFill>
                  <a:schemeClr val="tx1"/>
                </a:solidFill>
                <a:effectLst/>
                <a:latin typeface="+mn-lt"/>
                <a:ea typeface="+mn-ea"/>
                <a:cs typeface="+mn-cs"/>
              </a:rPr>
              <a:t>Urgent (URG) –</a:t>
            </a:r>
            <a:r>
              <a:rPr lang="en-US" sz="1200" b="0" i="0" kern="1200" dirty="0" smtClean="0">
                <a:solidFill>
                  <a:schemeClr val="tx1"/>
                </a:solidFill>
                <a:effectLst/>
                <a:latin typeface="+mn-lt"/>
                <a:ea typeface="+mn-ea"/>
                <a:cs typeface="+mn-cs"/>
              </a:rPr>
              <a:t>Data inside a segment with URG = 1 flag is forwarded to application layer immediately even if there are more data to be given to application layer. It is used to notify the receiver to process the urgent packets before processing all other packets. The receiver will be notified when all known urgent data has been received.</a:t>
            </a:r>
          </a:p>
          <a:p>
            <a:endParaRPr lang="en-IN" dirty="0"/>
          </a:p>
        </p:txBody>
      </p:sp>
      <p:sp>
        <p:nvSpPr>
          <p:cNvPr id="4" name="Slide Number Placeholder 3"/>
          <p:cNvSpPr>
            <a:spLocks noGrp="1"/>
          </p:cNvSpPr>
          <p:nvPr>
            <p:ph type="sldNum" sz="quarter" idx="10"/>
          </p:nvPr>
        </p:nvSpPr>
        <p:spPr/>
        <p:txBody>
          <a:bodyPr/>
          <a:lstStyle/>
          <a:p>
            <a:fld id="{2DD003B8-2CCA-447A-9B40-6FB815425F0D}" type="slidenum">
              <a:rPr lang="en-US" smtClean="0"/>
              <a:t>47</a:t>
            </a:fld>
            <a:endParaRPr lang="en-US"/>
          </a:p>
        </p:txBody>
      </p:sp>
    </p:spTree>
    <p:extLst>
      <p:ext uri="{BB962C8B-B14F-4D97-AF65-F5344CB8AC3E}">
        <p14:creationId xmlns:p14="http://schemas.microsoft.com/office/powerpoint/2010/main" val="25295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The key to Go-back-</a:t>
            </a:r>
            <a:r>
              <a:rPr lang="en-IN" sz="1200" b="0" i="1" u="none" strike="noStrike" kern="1200" baseline="0" dirty="0" smtClean="0">
                <a:solidFill>
                  <a:schemeClr val="tx1"/>
                </a:solidFill>
                <a:latin typeface="+mn-lt"/>
                <a:ea typeface="+mn-ea"/>
                <a:cs typeface="+mn-cs"/>
              </a:rPr>
              <a:t>N </a:t>
            </a:r>
            <a:r>
              <a:rPr lang="en-IN" sz="1200" b="0" i="0" u="none" strike="noStrike" kern="1200" baseline="0" dirty="0" smtClean="0">
                <a:solidFill>
                  <a:schemeClr val="tx1"/>
                </a:solidFill>
                <a:latin typeface="+mn-lt"/>
                <a:ea typeface="+mn-ea"/>
                <a:cs typeface="+mn-cs"/>
              </a:rPr>
              <a:t>is that we can send several packets before receiving acknowledgments, but the receiver can only buffer one packet. We keep a copy of the sent packets until the acknowledgments arrive. Acknowledgment number in this protocol is cumulative and defines the sequence number</a:t>
            </a:r>
          </a:p>
          <a:p>
            <a:r>
              <a:rPr lang="en-IN" sz="1200" b="0" i="0" u="none" strike="noStrike" kern="1200" baseline="0" dirty="0" smtClean="0">
                <a:solidFill>
                  <a:schemeClr val="tx1"/>
                </a:solidFill>
                <a:latin typeface="+mn-lt"/>
                <a:ea typeface="+mn-ea"/>
                <a:cs typeface="+mn-cs"/>
              </a:rPr>
              <a:t>of the next packet expected. For example, if the acknowledgment number (</a:t>
            </a:r>
            <a:r>
              <a:rPr lang="en-IN" sz="1200" b="0" i="0" u="none" strike="noStrike" kern="1200" baseline="0" dirty="0" err="1" smtClean="0">
                <a:solidFill>
                  <a:schemeClr val="tx1"/>
                </a:solidFill>
                <a:latin typeface="+mn-lt"/>
                <a:ea typeface="+mn-ea"/>
                <a:cs typeface="+mn-cs"/>
              </a:rPr>
              <a:t>ackNo</a:t>
            </a:r>
            <a:r>
              <a:rPr lang="en-IN" sz="1200" b="0" i="0" u="none" strike="noStrike" kern="1200" baseline="0" dirty="0" smtClean="0">
                <a:solidFill>
                  <a:schemeClr val="tx1"/>
                </a:solidFill>
                <a:latin typeface="+mn-lt"/>
                <a:ea typeface="+mn-ea"/>
                <a:cs typeface="+mn-cs"/>
              </a:rPr>
              <a:t>) is 7, it means all packets with sequence number up to 6 have arrived, safe and sound, and the receiver is expecting the packet with sequence number 7.</a:t>
            </a:r>
            <a:endParaRPr lang="en-IN" dirty="0" smtClean="0"/>
          </a:p>
          <a:p>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79</a:t>
            </a:fld>
            <a:endParaRPr lang="en-IN"/>
          </a:p>
        </p:txBody>
      </p:sp>
    </p:spTree>
    <p:extLst>
      <p:ext uri="{BB962C8B-B14F-4D97-AF65-F5344CB8AC3E}">
        <p14:creationId xmlns:p14="http://schemas.microsoft.com/office/powerpoint/2010/main" val="3460219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The send window at any time divides the possible sequence numbers into four regions. The first region, left of the window, defines the sequence numbers belonging to packets that are already acknowledged. The sender does not worry about these packets and keeps no copies of them. The second region, </a:t>
            </a:r>
            <a:r>
              <a:rPr lang="en-IN" sz="1200" b="0" i="0" u="none" strike="noStrike" kern="1200" baseline="0" dirty="0" err="1" smtClean="0">
                <a:solidFill>
                  <a:schemeClr val="tx1"/>
                </a:solidFill>
                <a:latin typeface="+mn-lt"/>
                <a:ea typeface="+mn-ea"/>
                <a:cs typeface="+mn-cs"/>
              </a:rPr>
              <a:t>colored</a:t>
            </a:r>
            <a:r>
              <a:rPr lang="en-IN" sz="1200" b="0" i="0" u="none" strike="noStrike" kern="1200" baseline="0" dirty="0" smtClean="0">
                <a:solidFill>
                  <a:schemeClr val="tx1"/>
                </a:solidFill>
                <a:latin typeface="+mn-lt"/>
                <a:ea typeface="+mn-ea"/>
                <a:cs typeface="+mn-cs"/>
              </a:rPr>
              <a:t>, defines the range of sequence numbers belonging to the packets that are sent, but have an unknown status. The sender needs to wait to find out if these packets have been received or were lost. We call these </a:t>
            </a:r>
            <a:r>
              <a:rPr lang="en-IN" sz="1200" b="0" i="1" u="none" strike="noStrike" kern="1200" baseline="0" dirty="0" smtClean="0">
                <a:solidFill>
                  <a:schemeClr val="tx1"/>
                </a:solidFill>
                <a:latin typeface="+mn-lt"/>
                <a:ea typeface="+mn-ea"/>
                <a:cs typeface="+mn-cs"/>
              </a:rPr>
              <a:t>outstanding </a:t>
            </a:r>
            <a:r>
              <a:rPr lang="en-IN" sz="1200" b="0" i="0" u="none" strike="noStrike" kern="1200" baseline="0" dirty="0" smtClean="0">
                <a:solidFill>
                  <a:schemeClr val="tx1"/>
                </a:solidFill>
                <a:latin typeface="+mn-lt"/>
                <a:ea typeface="+mn-ea"/>
                <a:cs typeface="+mn-cs"/>
              </a:rPr>
              <a:t>packets. The third range, white in the figure, defines the range of sequence</a:t>
            </a:r>
          </a:p>
          <a:p>
            <a:r>
              <a:rPr lang="en-IN" sz="1200" b="0" i="0" u="none" strike="noStrike" kern="1200" baseline="0" dirty="0" smtClean="0">
                <a:solidFill>
                  <a:schemeClr val="tx1"/>
                </a:solidFill>
                <a:latin typeface="+mn-lt"/>
                <a:ea typeface="+mn-ea"/>
                <a:cs typeface="+mn-cs"/>
              </a:rPr>
              <a:t>numbers for packets that can be sent; however, the corresponding data have not yet been received from the application layer. Finally, the fourth region, right of the window, defines sequence numbers that cannot be used until the window slides. </a:t>
            </a:r>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81</a:t>
            </a:fld>
            <a:endParaRPr lang="en-IN"/>
          </a:p>
        </p:txBody>
      </p:sp>
    </p:spTree>
    <p:extLst>
      <p:ext uri="{BB962C8B-B14F-4D97-AF65-F5344CB8AC3E}">
        <p14:creationId xmlns:p14="http://schemas.microsoft.com/office/powerpoint/2010/main" val="467264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The receive window makes sure that the correct data packets are received and that the correct acknowledgments are sent. In Go-back-</a:t>
            </a:r>
            <a:r>
              <a:rPr lang="en-IN" sz="1200" b="0" i="1" u="none" strike="noStrike" kern="1200" baseline="0" dirty="0" smtClean="0">
                <a:solidFill>
                  <a:schemeClr val="tx1"/>
                </a:solidFill>
                <a:latin typeface="+mn-lt"/>
                <a:ea typeface="+mn-ea"/>
                <a:cs typeface="+mn-cs"/>
              </a:rPr>
              <a:t>N</a:t>
            </a:r>
            <a:r>
              <a:rPr lang="en-IN" sz="1200" b="0" i="0" u="none" strike="noStrike" kern="1200" baseline="0" dirty="0" smtClean="0">
                <a:solidFill>
                  <a:schemeClr val="tx1"/>
                </a:solidFill>
                <a:latin typeface="+mn-lt"/>
                <a:ea typeface="+mn-ea"/>
                <a:cs typeface="+mn-cs"/>
              </a:rPr>
              <a:t>, the size of the receive window is always 1. The receiver is always looking for the arrival of a specific packet. Any packet arriving out of order is discarded and needs to be resent. The sequence numbers to the left of the window belong to the packets already received and acknowledged; the sequence numbers to the right of this window define the packets that cannot be received. Any received packet with a sequence number in these two regions is discarded. Only a packet with a sequence number matching the value of </a:t>
            </a:r>
            <a:r>
              <a:rPr lang="en-IN" sz="1200" b="0" i="1" u="none" strike="noStrike" kern="1200" baseline="0" dirty="0" err="1" smtClean="0">
                <a:solidFill>
                  <a:schemeClr val="tx1"/>
                </a:solidFill>
                <a:latin typeface="+mn-lt"/>
                <a:ea typeface="+mn-ea"/>
                <a:cs typeface="+mn-cs"/>
              </a:rPr>
              <a:t>Rn</a:t>
            </a:r>
            <a:r>
              <a:rPr lang="en-IN" sz="1200" b="0" i="1" u="none" strike="noStrike" kern="1200" baseline="0" dirty="0" smtClean="0">
                <a:solidFill>
                  <a:schemeClr val="tx1"/>
                </a:solidFill>
                <a:latin typeface="+mn-lt"/>
                <a:ea typeface="+mn-ea"/>
                <a:cs typeface="+mn-cs"/>
              </a:rPr>
              <a:t> </a:t>
            </a:r>
            <a:r>
              <a:rPr lang="en-IN" sz="1200" b="0" i="0" u="none" strike="noStrike" kern="1200" baseline="0" dirty="0" smtClean="0">
                <a:solidFill>
                  <a:schemeClr val="tx1"/>
                </a:solidFill>
                <a:latin typeface="+mn-lt"/>
                <a:ea typeface="+mn-ea"/>
                <a:cs typeface="+mn-cs"/>
              </a:rPr>
              <a:t>is accepted and acknowledged. The receive window also slides, but only one slot at a time.</a:t>
            </a:r>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83</a:t>
            </a:fld>
            <a:endParaRPr lang="en-IN"/>
          </a:p>
        </p:txBody>
      </p:sp>
    </p:spTree>
    <p:extLst>
      <p:ext uri="{BB962C8B-B14F-4D97-AF65-F5344CB8AC3E}">
        <p14:creationId xmlns:p14="http://schemas.microsoft.com/office/powerpoint/2010/main" val="1574390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This is an example of a case where the forward channel is reliable, but the reverse is not. No data packets are lost, but some ACKs are delayed</a:t>
            </a:r>
          </a:p>
          <a:p>
            <a:r>
              <a:rPr lang="en-IN" sz="1200" b="0" i="0" u="none" strike="noStrike" kern="1200" baseline="0" dirty="0" smtClean="0">
                <a:solidFill>
                  <a:schemeClr val="tx1"/>
                </a:solidFill>
                <a:latin typeface="+mn-lt"/>
                <a:ea typeface="+mn-ea"/>
                <a:cs typeface="+mn-cs"/>
              </a:rPr>
              <a:t>and one is lost. The example also shows how cumulative acknowledgments can help if acknowledgments are delayed or lost. After initialization, there are some sender events. Request events are triggered by message chunks from the application layer; arrival events are triggered by ACK received from the network layer. There is no time-out event here because all outstanding packets are acknowledged before the timer expires. Note that although ACK 2 is lost, ACK 3 is cumulative and serves as both ACK 2 and ACK 3. There are four events at the receiver site.</a:t>
            </a:r>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85</a:t>
            </a:fld>
            <a:endParaRPr lang="en-IN"/>
          </a:p>
        </p:txBody>
      </p:sp>
    </p:spTree>
    <p:extLst>
      <p:ext uri="{BB962C8B-B14F-4D97-AF65-F5344CB8AC3E}">
        <p14:creationId xmlns:p14="http://schemas.microsoft.com/office/powerpoint/2010/main" val="1044550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Packets 0, 1, 2, and 3 are sent. However, packet 1 is lost. The receiver receives packets 2 and 3, but they are discarded because they are received out of order (packet 1 is expected). When the receiver receives packets 2 and 3, it sends ACK1 to show that it expects to receive packet 1. However, these ACKs are not useful for the sender because the </a:t>
            </a:r>
            <a:r>
              <a:rPr lang="en-IN" sz="1200" b="0" i="0" u="none" strike="noStrike" kern="1200" baseline="0" dirty="0" err="1" smtClean="0">
                <a:solidFill>
                  <a:schemeClr val="tx1"/>
                </a:solidFill>
                <a:latin typeface="+mn-lt"/>
                <a:ea typeface="+mn-ea"/>
                <a:cs typeface="+mn-cs"/>
              </a:rPr>
              <a:t>ackNo</a:t>
            </a:r>
            <a:r>
              <a:rPr lang="en-IN" sz="1200" b="0" i="0" u="none" strike="noStrike" kern="1200" baseline="0" dirty="0" smtClean="0">
                <a:solidFill>
                  <a:schemeClr val="tx1"/>
                </a:solidFill>
                <a:latin typeface="+mn-lt"/>
                <a:ea typeface="+mn-ea"/>
                <a:cs typeface="+mn-cs"/>
              </a:rPr>
              <a:t> is equal </a:t>
            </a:r>
            <a:r>
              <a:rPr lang="en-IN" sz="1200" b="0" i="1" u="none" strike="noStrike" kern="1200" baseline="0" dirty="0" err="1" smtClean="0">
                <a:solidFill>
                  <a:schemeClr val="tx1"/>
                </a:solidFill>
                <a:latin typeface="+mn-lt"/>
                <a:ea typeface="+mn-ea"/>
                <a:cs typeface="+mn-cs"/>
              </a:rPr>
              <a:t>Sf</a:t>
            </a:r>
            <a:r>
              <a:rPr lang="en-IN" sz="1200" b="0" i="0" u="none" strike="noStrike" kern="1200" baseline="0" dirty="0" smtClean="0">
                <a:solidFill>
                  <a:schemeClr val="tx1"/>
                </a:solidFill>
                <a:latin typeface="+mn-lt"/>
                <a:ea typeface="+mn-ea"/>
                <a:cs typeface="+mn-cs"/>
              </a:rPr>
              <a:t>, not greater that </a:t>
            </a:r>
            <a:r>
              <a:rPr lang="en-IN" sz="1200" b="0" i="1" u="none" strike="noStrike" kern="1200" baseline="0" dirty="0" smtClean="0">
                <a:solidFill>
                  <a:schemeClr val="tx1"/>
                </a:solidFill>
                <a:latin typeface="+mn-lt"/>
                <a:ea typeface="+mn-ea"/>
                <a:cs typeface="+mn-cs"/>
              </a:rPr>
              <a:t>Sf</a:t>
            </a:r>
            <a:r>
              <a:rPr lang="en-IN" sz="1200" b="0" i="0" u="none" strike="noStrike" kern="1200" baseline="0" dirty="0" smtClean="0">
                <a:solidFill>
                  <a:schemeClr val="tx1"/>
                </a:solidFill>
                <a:latin typeface="+mn-lt"/>
                <a:ea typeface="+mn-ea"/>
                <a:cs typeface="+mn-cs"/>
              </a:rPr>
              <a:t>. So the sender discards them. When the time-out occurs, the sender resends packets 1, 2, and 3, which are acknowledged.</a:t>
            </a:r>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86</a:t>
            </a:fld>
            <a:endParaRPr lang="en-IN"/>
          </a:p>
        </p:txBody>
      </p:sp>
    </p:spTree>
    <p:extLst>
      <p:ext uri="{BB962C8B-B14F-4D97-AF65-F5344CB8AC3E}">
        <p14:creationId xmlns:p14="http://schemas.microsoft.com/office/powerpoint/2010/main" val="3553770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The Go-Back-</a:t>
            </a:r>
            <a:r>
              <a:rPr lang="en-IN" sz="1200" b="0" i="1" u="none" strike="noStrike" kern="1200" baseline="0" dirty="0" smtClean="0">
                <a:solidFill>
                  <a:schemeClr val="tx1"/>
                </a:solidFill>
                <a:latin typeface="+mn-lt"/>
                <a:ea typeface="+mn-ea"/>
                <a:cs typeface="+mn-cs"/>
              </a:rPr>
              <a:t>N </a:t>
            </a:r>
            <a:r>
              <a:rPr lang="en-IN" sz="1200" b="0" i="0" u="none" strike="noStrike" kern="1200" baseline="0" dirty="0" smtClean="0">
                <a:solidFill>
                  <a:schemeClr val="tx1"/>
                </a:solidFill>
                <a:latin typeface="+mn-lt"/>
                <a:ea typeface="+mn-ea"/>
                <a:cs typeface="+mn-cs"/>
              </a:rPr>
              <a:t>protocol simplifies the process at the receiver. The receiver keeps track of only one variable, and there is no need to buffer out-of-order packets; they are simply discarded. However, this protocol is inefficient if the underlying network protocol loses a lot of packets. Each time a single packet is lost or corrupted, the sender resends all outstanding packets although some of these packets may have been received safe and sound, but out of order. If the network layer is losing many packets because of congestion in the network, the resending of all of these outstanding packets makes the congestion</a:t>
            </a:r>
          </a:p>
          <a:p>
            <a:r>
              <a:rPr lang="en-IN" sz="1200" b="0" i="0" u="none" strike="noStrike" kern="1200" baseline="0" dirty="0" smtClean="0">
                <a:solidFill>
                  <a:schemeClr val="tx1"/>
                </a:solidFill>
                <a:latin typeface="+mn-lt"/>
                <a:ea typeface="+mn-ea"/>
                <a:cs typeface="+mn-cs"/>
              </a:rPr>
              <a:t>worse, and eventually more packets are lost. This has an avalanche effect that may result in the total collapse of the network.</a:t>
            </a:r>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87</a:t>
            </a:fld>
            <a:endParaRPr lang="en-IN"/>
          </a:p>
        </p:txBody>
      </p:sp>
    </p:spTree>
    <p:extLst>
      <p:ext uri="{BB962C8B-B14F-4D97-AF65-F5344CB8AC3E}">
        <p14:creationId xmlns:p14="http://schemas.microsoft.com/office/powerpoint/2010/main" val="336165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25D59B7-0D99-4083-A455-1DF9EDA4AA81}" type="slidenum">
              <a:rPr lang="en-IN" smtClean="0"/>
              <a:t>88</a:t>
            </a:fld>
            <a:endParaRPr lang="en-IN"/>
          </a:p>
        </p:txBody>
      </p:sp>
    </p:spTree>
    <p:extLst>
      <p:ext uri="{BB962C8B-B14F-4D97-AF65-F5344CB8AC3E}">
        <p14:creationId xmlns:p14="http://schemas.microsoft.com/office/powerpoint/2010/main" val="3670678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p:spPr>
        <p:txBody>
          <a:bodyPr/>
          <a:lstStyle/>
          <a:p>
            <a:r>
              <a:rPr lang="en-IN" altLang="en-US" dirty="0" smtClean="0"/>
              <a:t>TCP/IP </a:t>
            </a:r>
            <a:r>
              <a:rPr lang="en-IN" altLang="en-US" dirty="0" err="1" smtClean="0"/>
              <a:t>Forousan</a:t>
            </a:r>
            <a:r>
              <a:rPr lang="en-IN" altLang="en-US" dirty="0" smtClean="0"/>
              <a:t> 4</a:t>
            </a:r>
            <a:r>
              <a:rPr lang="en-IN" altLang="en-US" baseline="30000" dirty="0" smtClean="0"/>
              <a:t>th</a:t>
            </a:r>
            <a:r>
              <a:rPr lang="en-IN" altLang="en-US" dirty="0" smtClean="0"/>
              <a:t> edition</a:t>
            </a:r>
          </a:p>
        </p:txBody>
      </p:sp>
      <p:sp>
        <p:nvSpPr>
          <p:cNvPr id="114692" name="Slide Number Placeholder 3"/>
          <p:cNvSpPr>
            <a:spLocks noGrp="1"/>
          </p:cNvSpPr>
          <p:nvPr>
            <p:ph type="sldNum" sz="quarter" idx="5"/>
          </p:nvPr>
        </p:nvSpPr>
        <p:spPr>
          <a:noFill/>
        </p:spPr>
        <p:txBody>
          <a:bodyP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fld id="{36E26986-7286-4D45-BA2D-4BC64FF66BE6}" type="slidenum">
              <a:rPr lang="en-US" altLang="en-US" b="0" smtClean="0">
                <a:latin typeface="Times New Roman" pitchFamily="18" charset="0"/>
              </a:rPr>
              <a:pPr/>
              <a:t>90</a:t>
            </a:fld>
            <a:endParaRPr lang="en-US" altLang="en-US" b="0"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F69F5B0-199C-4A79-BD6C-9AEADBC7187B}" type="datetime1">
              <a:rPr lang="en-US" smtClean="0"/>
              <a:t>11/3/2025</a:t>
            </a:fld>
            <a:endParaRPr lang="en-US"/>
          </a:p>
        </p:txBody>
      </p:sp>
      <p:sp>
        <p:nvSpPr>
          <p:cNvPr id="5" name="Footer Placeholder 4"/>
          <p:cNvSpPr>
            <a:spLocks noGrp="1"/>
          </p:cNvSpPr>
          <p:nvPr>
            <p:ph type="ftr" sz="quarter" idx="11"/>
          </p:nvPr>
        </p:nvSpPr>
        <p:spPr/>
        <p:txBody>
          <a:bodyPr/>
          <a:lstStyle/>
          <a:p>
            <a:r>
              <a:rPr lang="en-US" smtClean="0"/>
              <a:t>SCR</a:t>
            </a:r>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8610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FA3752-C808-4576-A10B-DB3F127F52D9}" type="datetime1">
              <a:rPr lang="en-US" smtClean="0"/>
              <a:t>11/3/2025</a:t>
            </a:fld>
            <a:endParaRPr lang="en-US"/>
          </a:p>
        </p:txBody>
      </p:sp>
      <p:sp>
        <p:nvSpPr>
          <p:cNvPr id="5" name="Footer Placeholder 4"/>
          <p:cNvSpPr>
            <a:spLocks noGrp="1"/>
          </p:cNvSpPr>
          <p:nvPr>
            <p:ph type="ftr" sz="quarter" idx="11"/>
          </p:nvPr>
        </p:nvSpPr>
        <p:spPr/>
        <p:txBody>
          <a:bodyPr/>
          <a:lstStyle/>
          <a:p>
            <a:r>
              <a:rPr lang="en-US" smtClean="0"/>
              <a:t>SCR</a:t>
            </a:r>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1065299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21021F-93D6-49E9-8651-063E6ED7A4AC}" type="datetime1">
              <a:rPr lang="en-US" smtClean="0"/>
              <a:t>11/3/2025</a:t>
            </a:fld>
            <a:endParaRPr lang="en-US"/>
          </a:p>
        </p:txBody>
      </p:sp>
      <p:sp>
        <p:nvSpPr>
          <p:cNvPr id="5" name="Footer Placeholder 4"/>
          <p:cNvSpPr>
            <a:spLocks noGrp="1"/>
          </p:cNvSpPr>
          <p:nvPr>
            <p:ph type="ftr" sz="quarter" idx="11"/>
          </p:nvPr>
        </p:nvSpPr>
        <p:spPr/>
        <p:txBody>
          <a:bodyPr/>
          <a:lstStyle/>
          <a:p>
            <a:r>
              <a:rPr lang="en-US" smtClean="0"/>
              <a:t>SCR</a:t>
            </a:r>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50877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C44B68B-9520-4DF2-B49D-EDDBEE96119E}" type="datetime1">
              <a:rPr lang="en-US" smtClean="0"/>
              <a:t>11/3/2025</a:t>
            </a:fld>
            <a:endParaRPr lang="en-US"/>
          </a:p>
        </p:txBody>
      </p:sp>
      <p:sp>
        <p:nvSpPr>
          <p:cNvPr id="6" name="Footer Placeholder 5"/>
          <p:cNvSpPr>
            <a:spLocks noGrp="1"/>
          </p:cNvSpPr>
          <p:nvPr>
            <p:ph type="ftr" sz="quarter" idx="11"/>
          </p:nvPr>
        </p:nvSpPr>
        <p:spPr/>
        <p:txBody>
          <a:bodyPr/>
          <a:lstStyle/>
          <a:p>
            <a:r>
              <a:rPr lang="en-US" smtClean="0"/>
              <a:t>SCR</a:t>
            </a:r>
            <a:endParaRPr lang="en-US"/>
          </a:p>
        </p:txBody>
      </p:sp>
      <p:sp>
        <p:nvSpPr>
          <p:cNvPr id="7" name="Slide Number Placeholder 6"/>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2779521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E33A399-2F05-404A-9138-C3C9499D9A10}" type="datetime1">
              <a:rPr lang="en-US" smtClean="0"/>
              <a:t>11/3/2025</a:t>
            </a:fld>
            <a:endParaRPr lang="en-US"/>
          </a:p>
        </p:txBody>
      </p:sp>
      <p:sp>
        <p:nvSpPr>
          <p:cNvPr id="8" name="Footer Placeholder 7"/>
          <p:cNvSpPr>
            <a:spLocks noGrp="1"/>
          </p:cNvSpPr>
          <p:nvPr>
            <p:ph type="ftr" sz="quarter" idx="11"/>
          </p:nvPr>
        </p:nvSpPr>
        <p:spPr/>
        <p:txBody>
          <a:bodyPr/>
          <a:lstStyle/>
          <a:p>
            <a:r>
              <a:rPr lang="en-US" smtClean="0"/>
              <a:t>SCR</a:t>
            </a:r>
            <a:endParaRPr lang="en-US"/>
          </a:p>
        </p:txBody>
      </p:sp>
      <p:sp>
        <p:nvSpPr>
          <p:cNvPr id="9" name="Slide Number Placeholder 8"/>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099601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6B58AD4-40EE-4553-9E65-D99CF7E7D40E}" type="datetime1">
              <a:rPr lang="en-US" smtClean="0"/>
              <a:t>11/3/2025</a:t>
            </a:fld>
            <a:endParaRPr lang="en-US"/>
          </a:p>
        </p:txBody>
      </p:sp>
      <p:sp>
        <p:nvSpPr>
          <p:cNvPr id="4" name="Footer Placeholder 3"/>
          <p:cNvSpPr>
            <a:spLocks noGrp="1"/>
          </p:cNvSpPr>
          <p:nvPr>
            <p:ph type="ftr" sz="quarter" idx="11"/>
          </p:nvPr>
        </p:nvSpPr>
        <p:spPr/>
        <p:txBody>
          <a:bodyPr/>
          <a:lstStyle/>
          <a:p>
            <a:r>
              <a:rPr lang="en-US" smtClean="0"/>
              <a:t>SCR</a:t>
            </a:r>
            <a:endParaRPr lang="en-US"/>
          </a:p>
        </p:txBody>
      </p:sp>
      <p:sp>
        <p:nvSpPr>
          <p:cNvPr id="5" name="Slide Number Placeholder 4"/>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1590821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4044CD-D9B3-48FC-834A-42AFAA8B404C}" type="datetime1">
              <a:rPr lang="en-US" smtClean="0"/>
              <a:t>11/3/2025</a:t>
            </a:fld>
            <a:endParaRPr lang="en-US"/>
          </a:p>
        </p:txBody>
      </p:sp>
      <p:sp>
        <p:nvSpPr>
          <p:cNvPr id="3" name="Footer Placeholder 2"/>
          <p:cNvSpPr>
            <a:spLocks noGrp="1"/>
          </p:cNvSpPr>
          <p:nvPr>
            <p:ph type="ftr" sz="quarter" idx="11"/>
          </p:nvPr>
        </p:nvSpPr>
        <p:spPr/>
        <p:txBody>
          <a:bodyPr/>
          <a:lstStyle/>
          <a:p>
            <a:r>
              <a:rPr lang="en-US" smtClean="0"/>
              <a:t>SCR</a:t>
            </a:r>
            <a:endParaRPr lang="en-US"/>
          </a:p>
        </p:txBody>
      </p:sp>
      <p:sp>
        <p:nvSpPr>
          <p:cNvPr id="4" name="Slide Number Placeholder 3"/>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227616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4079F8-3D3E-48D1-BC79-26A9D4600E71}" type="datetime1">
              <a:rPr lang="en-US" smtClean="0"/>
              <a:t>11/3/2025</a:t>
            </a:fld>
            <a:endParaRPr lang="en-US"/>
          </a:p>
        </p:txBody>
      </p:sp>
      <p:sp>
        <p:nvSpPr>
          <p:cNvPr id="6" name="Footer Placeholder 5"/>
          <p:cNvSpPr>
            <a:spLocks noGrp="1"/>
          </p:cNvSpPr>
          <p:nvPr>
            <p:ph type="ftr" sz="quarter" idx="11"/>
          </p:nvPr>
        </p:nvSpPr>
        <p:spPr/>
        <p:txBody>
          <a:bodyPr/>
          <a:lstStyle/>
          <a:p>
            <a:r>
              <a:rPr lang="en-US" smtClean="0"/>
              <a:t>SCR</a:t>
            </a:r>
            <a:endParaRPr lang="en-US"/>
          </a:p>
        </p:txBody>
      </p:sp>
      <p:sp>
        <p:nvSpPr>
          <p:cNvPr id="7" name="Slide Number Placeholder 6"/>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460771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071A90-0D75-446F-B2BE-9B7A555EAA20}" type="datetime1">
              <a:rPr lang="en-US" smtClean="0"/>
              <a:t>11/3/2025</a:t>
            </a:fld>
            <a:endParaRPr lang="en-US"/>
          </a:p>
        </p:txBody>
      </p:sp>
      <p:sp>
        <p:nvSpPr>
          <p:cNvPr id="6" name="Footer Placeholder 5"/>
          <p:cNvSpPr>
            <a:spLocks noGrp="1"/>
          </p:cNvSpPr>
          <p:nvPr>
            <p:ph type="ftr" sz="quarter" idx="11"/>
          </p:nvPr>
        </p:nvSpPr>
        <p:spPr/>
        <p:txBody>
          <a:bodyPr/>
          <a:lstStyle/>
          <a:p>
            <a:r>
              <a:rPr lang="en-US" smtClean="0"/>
              <a:t>SCR</a:t>
            </a:r>
            <a:endParaRPr lang="en-US"/>
          </a:p>
        </p:txBody>
      </p:sp>
      <p:sp>
        <p:nvSpPr>
          <p:cNvPr id="7" name="Slide Number Placeholder 6"/>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20614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65A1E72-9B53-4111-8FE9-6F14C889F165}" type="datetime1">
              <a:rPr lang="en-US" smtClean="0"/>
              <a:t>11/3/2025</a:t>
            </a:fld>
            <a:endParaRPr lang="en-US"/>
          </a:p>
        </p:txBody>
      </p:sp>
      <p:sp>
        <p:nvSpPr>
          <p:cNvPr id="5" name="Footer Placeholder 4"/>
          <p:cNvSpPr>
            <a:spLocks noGrp="1"/>
          </p:cNvSpPr>
          <p:nvPr>
            <p:ph type="ftr" sz="quarter" idx="11"/>
          </p:nvPr>
        </p:nvSpPr>
        <p:spPr/>
        <p:txBody>
          <a:bodyPr/>
          <a:lstStyle/>
          <a:p>
            <a:r>
              <a:rPr lang="en-US" smtClean="0"/>
              <a:t>SCR</a:t>
            </a:r>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1489349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7EF1DD-6F73-4823-9CA7-0C38CCC899F9}" type="datetime1">
              <a:rPr lang="en-US" smtClean="0"/>
              <a:t>11/3/2025</a:t>
            </a:fld>
            <a:endParaRPr lang="en-US"/>
          </a:p>
        </p:txBody>
      </p:sp>
      <p:sp>
        <p:nvSpPr>
          <p:cNvPr id="5" name="Footer Placeholder 4"/>
          <p:cNvSpPr>
            <a:spLocks noGrp="1"/>
          </p:cNvSpPr>
          <p:nvPr>
            <p:ph type="ftr" sz="quarter" idx="11"/>
          </p:nvPr>
        </p:nvSpPr>
        <p:spPr/>
        <p:txBody>
          <a:bodyPr/>
          <a:lstStyle/>
          <a:p>
            <a:r>
              <a:rPr lang="en-US" smtClean="0"/>
              <a:t>SCR</a:t>
            </a:r>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2949914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C9D6EB-E388-4044-BCED-4C9063C27CA7}" type="datetime1">
              <a:rPr lang="en-US" smtClean="0"/>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SCR</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91E8B-05E8-4600-AE73-551FAB7BECFD}" type="slidenum">
              <a:rPr lang="en-US" smtClean="0"/>
              <a:t>‹#›</a:t>
            </a:fld>
            <a:endParaRPr lang="en-US"/>
          </a:p>
        </p:txBody>
      </p:sp>
    </p:spTree>
    <p:extLst>
      <p:ext uri="{BB962C8B-B14F-4D97-AF65-F5344CB8AC3E}">
        <p14:creationId xmlns:p14="http://schemas.microsoft.com/office/powerpoint/2010/main" val="19884723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www.geeksforgeeks.org/computer-network-tcp-connection-establishment/"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Go%20back%20N.mp4"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80.xml.rels><?xml version="1.0" encoding="UTF-8" standalone="yes"?>
<Relationships xmlns="http://schemas.openxmlformats.org/package/2006/relationships"><Relationship Id="rId3" Type="http://schemas.openxmlformats.org/officeDocument/2006/relationships/hyperlink" Target="Go%20back%20N.mp4"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Selective%20Repeat.mp4"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1470025"/>
          </a:xfrm>
        </p:spPr>
        <p:txBody>
          <a:bodyPr/>
          <a:lstStyle/>
          <a:p>
            <a:r>
              <a:rPr lang="en-US" dirty="0" smtClean="0"/>
              <a:t>CHAPTER NO. 4</a:t>
            </a:r>
            <a:endParaRPr lang="en-US" dirty="0"/>
          </a:p>
        </p:txBody>
      </p:sp>
      <p:sp>
        <p:nvSpPr>
          <p:cNvPr id="3" name="Subtitle 2"/>
          <p:cNvSpPr>
            <a:spLocks noGrp="1"/>
          </p:cNvSpPr>
          <p:nvPr>
            <p:ph type="subTitle" idx="1"/>
          </p:nvPr>
        </p:nvSpPr>
        <p:spPr>
          <a:xfrm>
            <a:off x="1371600" y="2209800"/>
            <a:ext cx="6400800" cy="1143000"/>
          </a:xfrm>
        </p:spPr>
        <p:txBody>
          <a:bodyPr>
            <a:noAutofit/>
          </a:bodyPr>
          <a:lstStyle/>
          <a:p>
            <a:r>
              <a:rPr lang="en-US" sz="6000" dirty="0" smtClean="0">
                <a:solidFill>
                  <a:schemeClr val="tx1"/>
                </a:solidFill>
              </a:rPr>
              <a:t>TRANSPORT  LAYER.</a:t>
            </a:r>
          </a:p>
          <a:p>
            <a:r>
              <a:rPr lang="en-US" dirty="0" smtClean="0">
                <a:solidFill>
                  <a:schemeClr val="tx1"/>
                </a:solidFill>
              </a:rPr>
              <a:t>Compiled by: Savita </a:t>
            </a:r>
            <a:r>
              <a:rPr lang="en-US" dirty="0" err="1" smtClean="0">
                <a:solidFill>
                  <a:schemeClr val="tx1"/>
                </a:solidFill>
              </a:rPr>
              <a:t>C.Raut</a:t>
            </a:r>
            <a:endParaRPr lang="en-US" dirty="0" smtClean="0">
              <a:solidFill>
                <a:schemeClr val="tx1"/>
              </a:solidFill>
            </a:endParaRPr>
          </a:p>
        </p:txBody>
      </p:sp>
      <p:sp>
        <p:nvSpPr>
          <p:cNvPr id="4" name="Footer Placeholder 3"/>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28320940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78894"/>
            <a:ext cx="8458200" cy="554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718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4" name="Footer Placeholder 3"/>
          <p:cNvSpPr>
            <a:spLocks noGrp="1"/>
          </p:cNvSpPr>
          <p:nvPr>
            <p:ph type="ftr" sz="quarter" idx="11"/>
          </p:nvPr>
        </p:nvSpPr>
        <p:spPr/>
        <p:txBody>
          <a:bodyPr/>
          <a:lstStyle/>
          <a:p>
            <a:r>
              <a:rPr lang="en-US" smtClean="0"/>
              <a:t>SCR</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8" y="790575"/>
            <a:ext cx="9039225" cy="527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470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b="1" dirty="0">
                <a:solidFill>
                  <a:schemeClr val="tx1"/>
                </a:solidFill>
              </a:rPr>
              <a:t>Packetizing</a:t>
            </a:r>
            <a:r>
              <a:rPr lang="en-US" dirty="0">
                <a:solidFill>
                  <a:schemeClr val="tx1"/>
                </a:solidFill>
              </a:rPr>
              <a:t>:</a:t>
            </a:r>
          </a:p>
          <a:p>
            <a:pPr algn="l"/>
            <a:r>
              <a:rPr lang="en-US" dirty="0">
                <a:solidFill>
                  <a:schemeClr val="tx1"/>
                </a:solidFill>
              </a:rPr>
              <a:t>It creates packets out of message received from the application layer.  </a:t>
            </a:r>
            <a:endParaRPr lang="en-US" dirty="0" smtClean="0">
              <a:solidFill>
                <a:schemeClr val="tx1"/>
              </a:solidFill>
            </a:endParaRPr>
          </a:p>
          <a:p>
            <a:pPr algn="l"/>
            <a:r>
              <a:rPr lang="en-US" dirty="0" smtClean="0">
                <a:solidFill>
                  <a:schemeClr val="tx1"/>
                </a:solidFill>
              </a:rPr>
              <a:t>It </a:t>
            </a:r>
            <a:r>
              <a:rPr lang="en-US" dirty="0">
                <a:solidFill>
                  <a:schemeClr val="tx1"/>
                </a:solidFill>
              </a:rPr>
              <a:t>divides long messages into smaller ones; </a:t>
            </a:r>
            <a:r>
              <a:rPr lang="en-US" dirty="0" smtClean="0">
                <a:solidFill>
                  <a:schemeClr val="tx1"/>
                </a:solidFill>
              </a:rPr>
              <a:t> these </a:t>
            </a:r>
            <a:r>
              <a:rPr lang="en-US" dirty="0">
                <a:solidFill>
                  <a:schemeClr val="tx1"/>
                </a:solidFill>
              </a:rPr>
              <a:t>smaller units are encapsulated into the data field of the transport-layer packet and headers are added.  </a:t>
            </a:r>
          </a:p>
          <a:p>
            <a:pPr algn="l"/>
            <a:r>
              <a:rPr lang="en-US" b="1" dirty="0">
                <a:solidFill>
                  <a:schemeClr val="tx1"/>
                </a:solidFill>
              </a:rPr>
              <a:t>DIVIDING LARGE MESSAGES</a:t>
            </a:r>
            <a:r>
              <a:rPr lang="en-US" dirty="0">
                <a:solidFill>
                  <a:schemeClr val="tx1"/>
                </a:solidFill>
              </a:rPr>
              <a:t>:</a:t>
            </a:r>
          </a:p>
          <a:p>
            <a:pPr algn="l"/>
            <a:r>
              <a:rPr lang="en-US" dirty="0">
                <a:solidFill>
                  <a:schemeClr val="tx1"/>
                </a:solidFill>
              </a:rPr>
              <a:t>The message an application program sends can vary in length.  </a:t>
            </a:r>
            <a:endParaRPr lang="en-US" dirty="0" smtClean="0">
              <a:solidFill>
                <a:schemeClr val="tx1"/>
              </a:solidFill>
            </a:endParaRPr>
          </a:p>
          <a:p>
            <a:pPr algn="l"/>
            <a:r>
              <a:rPr lang="en-US" dirty="0" err="1" smtClean="0">
                <a:solidFill>
                  <a:schemeClr val="tx1"/>
                </a:solidFill>
              </a:rPr>
              <a:t>Eg</a:t>
            </a:r>
            <a:r>
              <a:rPr lang="en-US" dirty="0">
                <a:solidFill>
                  <a:schemeClr val="tx1"/>
                </a:solidFill>
              </a:rPr>
              <a:t>. A SMTP client (email protocol) may send a short message or a long message with several attachments and multimedia documents.  </a:t>
            </a:r>
            <a:endParaRPr lang="en-US" dirty="0" smtClean="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ADDING A HEADER</a:t>
            </a:r>
            <a:r>
              <a:rPr lang="en-US" dirty="0">
                <a:solidFill>
                  <a:schemeClr val="tx1"/>
                </a:solidFill>
              </a:rPr>
              <a:t>:</a:t>
            </a:r>
          </a:p>
          <a:p>
            <a:pPr algn="l"/>
            <a:r>
              <a:rPr lang="en-US" dirty="0">
                <a:solidFill>
                  <a:schemeClr val="tx1"/>
                </a:solidFill>
              </a:rPr>
              <a:t>Even if the message arriving from the application layer is small enough to be handled by the network layer, the transport layer still inserts (encapsulates) the data into a transport-layer packet.  </a:t>
            </a:r>
            <a:endParaRPr lang="en-US" dirty="0" smtClean="0">
              <a:solidFill>
                <a:schemeClr val="tx1"/>
              </a:solidFill>
            </a:endParaRPr>
          </a:p>
          <a:p>
            <a:pPr algn="l"/>
            <a:r>
              <a:rPr lang="en-US" dirty="0" smtClean="0">
                <a:solidFill>
                  <a:schemeClr val="tx1"/>
                </a:solidFill>
              </a:rPr>
              <a:t>A </a:t>
            </a:r>
            <a:r>
              <a:rPr lang="en-US" dirty="0">
                <a:solidFill>
                  <a:schemeClr val="tx1"/>
                </a:solidFill>
              </a:rPr>
              <a:t>header is added to allow the transport layer to perform its other functions.</a:t>
            </a:r>
          </a:p>
          <a:p>
            <a:pPr algn="l"/>
            <a:r>
              <a:rPr lang="en-US" b="1" dirty="0">
                <a:solidFill>
                  <a:schemeClr val="tx1"/>
                </a:solidFill>
              </a:rPr>
              <a:t>CONNECTION CONTROL:</a:t>
            </a:r>
          </a:p>
          <a:p>
            <a:pPr algn="l"/>
            <a:r>
              <a:rPr lang="en-US" dirty="0">
                <a:solidFill>
                  <a:schemeClr val="tx1"/>
                </a:solidFill>
              </a:rPr>
              <a:t>It is divided into two categories : </a:t>
            </a:r>
            <a:endParaRPr lang="en-US" dirty="0" smtClean="0">
              <a:solidFill>
                <a:schemeClr val="tx1"/>
              </a:solidFill>
            </a:endParaRPr>
          </a:p>
          <a:p>
            <a:pPr algn="l"/>
            <a:r>
              <a:rPr lang="en-US" b="1" i="1" dirty="0" smtClean="0">
                <a:solidFill>
                  <a:schemeClr val="tx1"/>
                </a:solidFill>
              </a:rPr>
              <a:t>Connection-oriented </a:t>
            </a:r>
            <a:r>
              <a:rPr lang="en-US" b="1" i="1" dirty="0">
                <a:solidFill>
                  <a:schemeClr val="tx1"/>
                </a:solidFill>
              </a:rPr>
              <a:t>and Connection less.</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Connection –Oriented delivery </a:t>
            </a:r>
            <a:r>
              <a:rPr lang="en-US" dirty="0">
                <a:solidFill>
                  <a:schemeClr val="tx1"/>
                </a:solidFill>
              </a:rPr>
              <a:t>:</a:t>
            </a:r>
          </a:p>
          <a:p>
            <a:pPr algn="l"/>
            <a:r>
              <a:rPr lang="en-US" dirty="0">
                <a:solidFill>
                  <a:schemeClr val="tx1"/>
                </a:solidFill>
              </a:rPr>
              <a:t>A connection oriented transport layer protocol first </a:t>
            </a:r>
            <a:r>
              <a:rPr lang="en-US" dirty="0" smtClean="0">
                <a:solidFill>
                  <a:schemeClr val="tx1"/>
                </a:solidFill>
              </a:rPr>
              <a:t>establishes </a:t>
            </a:r>
            <a:r>
              <a:rPr lang="en-US" dirty="0">
                <a:solidFill>
                  <a:schemeClr val="tx1"/>
                </a:solidFill>
              </a:rPr>
              <a:t>a connection (a virtual path ) between the sender and receiver.  </a:t>
            </a:r>
            <a:endParaRPr lang="en-US" dirty="0" smtClean="0">
              <a:solidFill>
                <a:schemeClr val="tx1"/>
              </a:solidFill>
            </a:endParaRPr>
          </a:p>
          <a:p>
            <a:pPr algn="l"/>
            <a:r>
              <a:rPr lang="en-US" dirty="0" smtClean="0">
                <a:solidFill>
                  <a:schemeClr val="tx1"/>
                </a:solidFill>
              </a:rPr>
              <a:t>The </a:t>
            </a:r>
            <a:r>
              <a:rPr lang="en-US" dirty="0">
                <a:solidFill>
                  <a:schemeClr val="tx1"/>
                </a:solidFill>
              </a:rPr>
              <a:t>connection is virtual; that is, the application layer perceives that a single path has been created; in reality, the packets may travel through different physical paths.  </a:t>
            </a:r>
            <a:endParaRPr lang="en-US" dirty="0" smtClean="0">
              <a:solidFill>
                <a:schemeClr val="tx1"/>
              </a:solidFill>
            </a:endParaRPr>
          </a:p>
          <a:p>
            <a:pPr algn="l"/>
            <a:r>
              <a:rPr lang="en-US" dirty="0" smtClean="0">
                <a:solidFill>
                  <a:schemeClr val="tx1"/>
                </a:solidFill>
              </a:rPr>
              <a:t>A </a:t>
            </a:r>
            <a:r>
              <a:rPr lang="en-US" dirty="0">
                <a:solidFill>
                  <a:schemeClr val="tx1"/>
                </a:solidFill>
              </a:rPr>
              <a:t>session exists between the sender and the receiver.  </a:t>
            </a:r>
            <a:endParaRPr lang="en-US" dirty="0" smtClean="0">
              <a:solidFill>
                <a:schemeClr val="tx1"/>
              </a:solidFill>
            </a:endParaRPr>
          </a:p>
          <a:p>
            <a:pPr algn="l"/>
            <a:r>
              <a:rPr lang="en-US" dirty="0" smtClean="0">
                <a:solidFill>
                  <a:schemeClr val="tx1"/>
                </a:solidFill>
              </a:rPr>
              <a:t>The </a:t>
            </a:r>
            <a:r>
              <a:rPr lang="en-US" dirty="0">
                <a:solidFill>
                  <a:schemeClr val="tx1"/>
                </a:solidFill>
              </a:rPr>
              <a:t>session remains intact until it is broken by one of the parties.  </a:t>
            </a:r>
            <a:endParaRPr lang="en-US" dirty="0" smtClean="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In the meantime, the two parties can send multiple packets related to each other, traveling one after another through the virtual path.  </a:t>
            </a:r>
          </a:p>
          <a:p>
            <a:pPr algn="l"/>
            <a:r>
              <a:rPr lang="en-US" dirty="0">
                <a:solidFill>
                  <a:schemeClr val="tx1"/>
                </a:solidFill>
              </a:rPr>
              <a:t>Of course the packet may travel out of order, but the transport layer ensures that this is transparent to the application program.</a:t>
            </a:r>
          </a:p>
          <a:p>
            <a:pPr algn="l"/>
            <a:r>
              <a:rPr lang="en-US" dirty="0">
                <a:solidFill>
                  <a:schemeClr val="tx1"/>
                </a:solidFill>
              </a:rPr>
              <a:t>The packets are numbered consecutively and communication can take place in both directions.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20000"/>
          </a:bodyPr>
          <a:lstStyle/>
          <a:p>
            <a:pPr algn="l"/>
            <a:r>
              <a:rPr lang="en-US" sz="3300" b="1" dirty="0">
                <a:solidFill>
                  <a:schemeClr val="tx1"/>
                </a:solidFill>
              </a:rPr>
              <a:t>CONNECTIONLESS DELIVERY </a:t>
            </a:r>
            <a:r>
              <a:rPr lang="en-US" dirty="0">
                <a:solidFill>
                  <a:schemeClr val="tx1"/>
                </a:solidFill>
              </a:rPr>
              <a:t>:</a:t>
            </a:r>
          </a:p>
          <a:p>
            <a:pPr algn="l"/>
            <a:r>
              <a:rPr lang="en-US" dirty="0">
                <a:solidFill>
                  <a:schemeClr val="tx1"/>
                </a:solidFill>
              </a:rPr>
              <a:t>It treats each packet independently without any connection between them.</a:t>
            </a:r>
          </a:p>
          <a:p>
            <a:pPr algn="l"/>
            <a:endParaRPr lang="en-US" dirty="0">
              <a:solidFill>
                <a:schemeClr val="tx1"/>
              </a:solidFill>
            </a:endParaRPr>
          </a:p>
          <a:p>
            <a:pPr algn="l"/>
            <a:r>
              <a:rPr lang="en-US" b="1" i="1" dirty="0">
                <a:solidFill>
                  <a:schemeClr val="tx1"/>
                </a:solidFill>
              </a:rPr>
              <a:t>ADDRESSING</a:t>
            </a:r>
            <a:r>
              <a:rPr lang="en-US" dirty="0">
                <a:solidFill>
                  <a:schemeClr val="tx1"/>
                </a:solidFill>
              </a:rPr>
              <a:t> :</a:t>
            </a:r>
          </a:p>
          <a:p>
            <a:pPr algn="l"/>
            <a:r>
              <a:rPr lang="en-US" dirty="0">
                <a:solidFill>
                  <a:schemeClr val="tx1"/>
                </a:solidFill>
              </a:rPr>
              <a:t>A server machine provides the service of HTTP, SMTP, POP and TELNET.</a:t>
            </a:r>
          </a:p>
          <a:p>
            <a:pPr algn="l"/>
            <a:r>
              <a:rPr lang="en-US" dirty="0">
                <a:solidFill>
                  <a:schemeClr val="tx1"/>
                </a:solidFill>
              </a:rPr>
              <a:t>When the request arrives from the client to the remote server for HTTP, the computer must deliver the request to the HTTP server program, and not to any other server program.   </a:t>
            </a:r>
            <a:endParaRPr lang="en-US" dirty="0" smtClean="0">
              <a:solidFill>
                <a:schemeClr val="tx1"/>
              </a:solidFill>
            </a:endParaRPr>
          </a:p>
          <a:p>
            <a:pPr algn="l"/>
            <a:r>
              <a:rPr lang="en-US" dirty="0" smtClean="0">
                <a:solidFill>
                  <a:schemeClr val="tx1"/>
                </a:solidFill>
              </a:rPr>
              <a:t>In </a:t>
            </a:r>
            <a:r>
              <a:rPr lang="en-US" dirty="0">
                <a:solidFill>
                  <a:schemeClr val="tx1"/>
                </a:solidFill>
              </a:rPr>
              <a:t>other words, the packet carrying the request must specify to which server program the request must be delivered</a:t>
            </a:r>
            <a:r>
              <a:rPr lang="en-US" dirty="0" smtClean="0">
                <a:solidFill>
                  <a:schemeClr val="tx1"/>
                </a:solidFill>
              </a:rPr>
              <a:t>.</a:t>
            </a:r>
          </a:p>
          <a:p>
            <a:pPr algn="l"/>
            <a:r>
              <a:rPr lang="en-US" dirty="0" smtClean="0">
                <a:solidFill>
                  <a:schemeClr val="tx1"/>
                </a:solidFill>
              </a:rPr>
              <a:t>The </a:t>
            </a:r>
            <a:r>
              <a:rPr lang="en-US" dirty="0">
                <a:solidFill>
                  <a:schemeClr val="tx1"/>
                </a:solidFill>
              </a:rPr>
              <a:t>request packet must also specify the client program that sent the packet.  </a:t>
            </a:r>
            <a:endParaRPr lang="en-US" dirty="0" smtClean="0">
              <a:solidFill>
                <a:schemeClr val="tx1"/>
              </a:solidFill>
            </a:endParaRPr>
          </a:p>
          <a:p>
            <a:pPr algn="l"/>
            <a:r>
              <a:rPr lang="en-US" dirty="0" smtClean="0">
                <a:solidFill>
                  <a:schemeClr val="tx1"/>
                </a:solidFill>
              </a:rPr>
              <a:t>The </a:t>
            </a:r>
            <a:r>
              <a:rPr lang="en-US" dirty="0">
                <a:solidFill>
                  <a:schemeClr val="tx1"/>
                </a:solidFill>
              </a:rPr>
              <a:t>server uses this, when it responds to the request.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a:bodyPr>
          <a:lstStyle/>
          <a:p>
            <a:pPr algn="l"/>
            <a:r>
              <a:rPr lang="en-US" dirty="0" smtClean="0">
                <a:solidFill>
                  <a:schemeClr val="tx1"/>
                </a:solidFill>
              </a:rPr>
              <a:t>When </a:t>
            </a:r>
            <a:r>
              <a:rPr lang="en-US" dirty="0">
                <a:solidFill>
                  <a:schemeClr val="tx1"/>
                </a:solidFill>
              </a:rPr>
              <a:t>we need to deliver something to one specific destination among many, we need an address.   </a:t>
            </a:r>
            <a:endParaRPr lang="en-US" dirty="0" smtClean="0">
              <a:solidFill>
                <a:schemeClr val="tx1"/>
              </a:solidFill>
            </a:endParaRPr>
          </a:p>
          <a:p>
            <a:pPr algn="l"/>
            <a:r>
              <a:rPr lang="en-US" dirty="0" smtClean="0">
                <a:solidFill>
                  <a:schemeClr val="tx1"/>
                </a:solidFill>
              </a:rPr>
              <a:t>At </a:t>
            </a:r>
            <a:r>
              <a:rPr lang="en-US" dirty="0">
                <a:solidFill>
                  <a:schemeClr val="tx1"/>
                </a:solidFill>
              </a:rPr>
              <a:t>the data link layer, we need a MAC address to choose one node among several nodes.</a:t>
            </a:r>
          </a:p>
          <a:p>
            <a:pPr algn="l"/>
            <a:r>
              <a:rPr lang="en-US" dirty="0">
                <a:solidFill>
                  <a:schemeClr val="tx1"/>
                </a:solidFill>
              </a:rPr>
              <a:t>At the network layer, we need an IP address to choose one host among millions.   </a:t>
            </a:r>
            <a:endParaRPr lang="en-US" dirty="0" smtClean="0">
              <a:solidFill>
                <a:schemeClr val="tx1"/>
              </a:solidFill>
            </a:endParaRPr>
          </a:p>
          <a:p>
            <a:pPr algn="l"/>
            <a:r>
              <a:rPr lang="en-US" dirty="0" smtClean="0">
                <a:solidFill>
                  <a:schemeClr val="tx1"/>
                </a:solidFill>
              </a:rPr>
              <a:t>At </a:t>
            </a:r>
            <a:r>
              <a:rPr lang="en-US" dirty="0">
                <a:solidFill>
                  <a:schemeClr val="tx1"/>
                </a:solidFill>
              </a:rPr>
              <a:t>the transport layer, we need a transport-layer address, called a </a:t>
            </a:r>
            <a:r>
              <a:rPr lang="en-US" sz="3600" b="1" dirty="0">
                <a:solidFill>
                  <a:schemeClr val="tx1"/>
                </a:solidFill>
              </a:rPr>
              <a:t>port number</a:t>
            </a:r>
            <a:r>
              <a:rPr lang="en-US" dirty="0">
                <a:solidFill>
                  <a:schemeClr val="tx1"/>
                </a:solidFill>
              </a:rPr>
              <a:t>, to choose among multiple processes running on the destination host.  </a:t>
            </a:r>
            <a:endParaRPr lang="en-US" dirty="0" smtClean="0">
              <a:solidFill>
                <a:schemeClr val="tx1"/>
              </a:solidFill>
            </a:endParaRPr>
          </a:p>
          <a:p>
            <a:pPr algn="l"/>
            <a:r>
              <a:rPr lang="en-US" dirty="0" smtClean="0">
                <a:solidFill>
                  <a:schemeClr val="tx1"/>
                </a:solidFill>
              </a:rPr>
              <a:t>The </a:t>
            </a:r>
            <a:r>
              <a:rPr lang="en-US" dirty="0">
                <a:solidFill>
                  <a:schemeClr val="tx1"/>
                </a:solidFill>
              </a:rPr>
              <a:t>destination port number is needed for delivery; the source port number is needed for the reply.</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10000"/>
          </a:bodyPr>
          <a:lstStyle/>
          <a:p>
            <a:pPr algn="l"/>
            <a:r>
              <a:rPr lang="en-US" dirty="0">
                <a:solidFill>
                  <a:schemeClr val="tx1"/>
                </a:solidFill>
              </a:rPr>
              <a:t>In the internet model, the port numbers are 16 bit integers between ‘0’ and ‘65535’.  </a:t>
            </a:r>
            <a:endParaRPr lang="en-US" dirty="0" smtClean="0">
              <a:solidFill>
                <a:schemeClr val="tx1"/>
              </a:solidFill>
            </a:endParaRPr>
          </a:p>
          <a:p>
            <a:pPr algn="l"/>
            <a:r>
              <a:rPr lang="en-US" dirty="0" smtClean="0">
                <a:solidFill>
                  <a:schemeClr val="tx1"/>
                </a:solidFill>
              </a:rPr>
              <a:t>The </a:t>
            </a:r>
            <a:r>
              <a:rPr lang="en-US" dirty="0">
                <a:solidFill>
                  <a:schemeClr val="tx1"/>
                </a:solidFill>
              </a:rPr>
              <a:t>client program defines itself with a port number, chosen randomly by the transport layer software running on the client host.  </a:t>
            </a:r>
            <a:endParaRPr lang="en-US" dirty="0" smtClean="0">
              <a:solidFill>
                <a:schemeClr val="tx1"/>
              </a:solidFill>
            </a:endParaRPr>
          </a:p>
          <a:p>
            <a:pPr algn="l"/>
            <a:r>
              <a:rPr lang="en-US" dirty="0" smtClean="0">
                <a:solidFill>
                  <a:schemeClr val="tx1"/>
                </a:solidFill>
              </a:rPr>
              <a:t>This </a:t>
            </a:r>
            <a:r>
              <a:rPr lang="en-US" dirty="0">
                <a:solidFill>
                  <a:schemeClr val="tx1"/>
                </a:solidFill>
              </a:rPr>
              <a:t>is the ephemeral port number.</a:t>
            </a:r>
          </a:p>
          <a:p>
            <a:pPr algn="l"/>
            <a:r>
              <a:rPr lang="en-US" dirty="0">
                <a:solidFill>
                  <a:schemeClr val="tx1"/>
                </a:solidFill>
              </a:rPr>
              <a:t>The server process must also define itself with a port number.  </a:t>
            </a:r>
            <a:endParaRPr lang="en-US" dirty="0" smtClean="0">
              <a:solidFill>
                <a:schemeClr val="tx1"/>
              </a:solidFill>
            </a:endParaRPr>
          </a:p>
          <a:p>
            <a:pPr algn="l"/>
            <a:r>
              <a:rPr lang="en-US" dirty="0" smtClean="0">
                <a:solidFill>
                  <a:schemeClr val="tx1"/>
                </a:solidFill>
              </a:rPr>
              <a:t>The </a:t>
            </a:r>
            <a:r>
              <a:rPr lang="en-US" dirty="0">
                <a:solidFill>
                  <a:schemeClr val="tx1"/>
                </a:solidFill>
              </a:rPr>
              <a:t>internet has decided to use universal port numbers for servers; these are called well-known port numbers.  </a:t>
            </a:r>
          </a:p>
          <a:p>
            <a:pPr algn="l"/>
            <a:r>
              <a:rPr lang="en-US" dirty="0">
                <a:solidFill>
                  <a:schemeClr val="tx1"/>
                </a:solidFill>
              </a:rPr>
              <a:t>IP address and port numbers play a different role in selecting the final destination of data.  </a:t>
            </a:r>
            <a:endParaRPr lang="en-US" dirty="0" smtClean="0">
              <a:solidFill>
                <a:schemeClr val="tx1"/>
              </a:solidFill>
            </a:endParaRPr>
          </a:p>
          <a:p>
            <a:pPr algn="l"/>
            <a:r>
              <a:rPr lang="en-US" dirty="0" smtClean="0">
                <a:solidFill>
                  <a:schemeClr val="tx1"/>
                </a:solidFill>
              </a:rPr>
              <a:t>Depending </a:t>
            </a:r>
            <a:r>
              <a:rPr lang="en-US" dirty="0">
                <a:solidFill>
                  <a:schemeClr val="tx1"/>
                </a:solidFill>
              </a:rPr>
              <a:t>upon an IP address, the host </a:t>
            </a:r>
            <a:r>
              <a:rPr lang="en-US" dirty="0" smtClean="0">
                <a:solidFill>
                  <a:schemeClr val="tx1"/>
                </a:solidFill>
              </a:rPr>
              <a:t>has </a:t>
            </a:r>
            <a:r>
              <a:rPr lang="en-US" dirty="0">
                <a:solidFill>
                  <a:schemeClr val="tx1"/>
                </a:solidFill>
              </a:rPr>
              <a:t>been selected, the port number defines one of the processes on this particular host.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sz="3600" b="1" dirty="0">
                <a:solidFill>
                  <a:schemeClr val="tx1"/>
                </a:solidFill>
              </a:rPr>
              <a:t>IANA Ranges :  </a:t>
            </a:r>
            <a:r>
              <a:rPr lang="en-US" sz="2400" b="1" dirty="0">
                <a:solidFill>
                  <a:schemeClr val="tx1"/>
                </a:solidFill>
              </a:rPr>
              <a:t>[ Internet assigned number authority]</a:t>
            </a:r>
            <a:endParaRPr lang="en-US" sz="3600" b="1" dirty="0">
              <a:solidFill>
                <a:schemeClr val="tx1"/>
              </a:solidFill>
            </a:endParaRPr>
          </a:p>
          <a:p>
            <a:pPr algn="l"/>
            <a:r>
              <a:rPr lang="en-US" dirty="0">
                <a:solidFill>
                  <a:schemeClr val="tx1"/>
                </a:solidFill>
              </a:rPr>
              <a:t>Is has divided the port numbers into three ranges :</a:t>
            </a:r>
          </a:p>
          <a:p>
            <a:pPr algn="l"/>
            <a:r>
              <a:rPr lang="en-US" b="1" dirty="0">
                <a:solidFill>
                  <a:srgbClr val="FF0000"/>
                </a:solidFill>
              </a:rPr>
              <a:t>1.	Well-known ports </a:t>
            </a:r>
            <a:r>
              <a:rPr lang="en-US" dirty="0">
                <a:solidFill>
                  <a:schemeClr val="tx1"/>
                </a:solidFill>
              </a:rPr>
              <a:t>:   The ports ranging from 0 to 1023 are assigned and controlled by  IANA.  These are </a:t>
            </a:r>
            <a:r>
              <a:rPr lang="en-US" b="1" i="1" dirty="0">
                <a:solidFill>
                  <a:schemeClr val="tx1"/>
                </a:solidFill>
              </a:rPr>
              <a:t>well known ports</a:t>
            </a:r>
            <a:r>
              <a:rPr lang="en-US" dirty="0">
                <a:solidFill>
                  <a:schemeClr val="tx1"/>
                </a:solidFill>
              </a:rPr>
              <a:t>.</a:t>
            </a:r>
          </a:p>
          <a:p>
            <a:pPr algn="l"/>
            <a:r>
              <a:rPr lang="en-US" b="1" dirty="0">
                <a:solidFill>
                  <a:srgbClr val="FF0000"/>
                </a:solidFill>
              </a:rPr>
              <a:t>2.	Registered ports </a:t>
            </a:r>
            <a:r>
              <a:rPr lang="en-US" dirty="0">
                <a:solidFill>
                  <a:schemeClr val="tx1"/>
                </a:solidFill>
              </a:rPr>
              <a:t>:  The ports ranging from 1024 to 49151 are not assigned or controlled by IANA.  </a:t>
            </a:r>
          </a:p>
          <a:p>
            <a:pPr algn="l"/>
            <a:r>
              <a:rPr lang="en-US" b="1" dirty="0">
                <a:solidFill>
                  <a:srgbClr val="FF0000"/>
                </a:solidFill>
              </a:rPr>
              <a:t>3.	Dynamic ports </a:t>
            </a:r>
            <a:r>
              <a:rPr lang="en-US" dirty="0">
                <a:solidFill>
                  <a:schemeClr val="tx1"/>
                </a:solidFill>
              </a:rPr>
              <a:t>:  the ports ranging from 49152 to 65535 are neither controlled nor registered.  They can be used by any process. These are </a:t>
            </a:r>
            <a:r>
              <a:rPr lang="en-US" b="1" i="1" dirty="0">
                <a:solidFill>
                  <a:schemeClr val="tx1"/>
                </a:solidFill>
              </a:rPr>
              <a:t>ephemeral ports</a:t>
            </a:r>
            <a:r>
              <a:rPr lang="en-US" dirty="0">
                <a:solidFill>
                  <a:schemeClr val="tx1"/>
                </a:solidFill>
              </a:rPr>
              <a:t>.</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smtClean="0">
                <a:solidFill>
                  <a:schemeClr val="tx1"/>
                </a:solidFill>
              </a:rPr>
              <a:t>IANA Range :</a:t>
            </a:r>
            <a:endParaRPr lang="en-US" b="1"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450" y="1752599"/>
            <a:ext cx="8562750" cy="25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27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10000"/>
          </a:bodyPr>
          <a:lstStyle/>
          <a:p>
            <a:pPr algn="l"/>
            <a:r>
              <a:rPr lang="en-US" b="1" dirty="0">
                <a:solidFill>
                  <a:schemeClr val="tx1"/>
                </a:solidFill>
              </a:rPr>
              <a:t>Socket Addresses :</a:t>
            </a:r>
          </a:p>
          <a:p>
            <a:pPr algn="l"/>
            <a:r>
              <a:rPr lang="en-US" b="1" dirty="0">
                <a:solidFill>
                  <a:schemeClr val="tx1"/>
                </a:solidFill>
              </a:rPr>
              <a:t>Process – to – process delivery needs two identifiers, IP address and the port number, at each end to make a connection.  The combination of an IP address and a port number is called socket address.  The client socket address defines the client process uniquely just as the server socket address defines the server process uniquely.</a:t>
            </a:r>
          </a:p>
          <a:p>
            <a:pPr algn="l"/>
            <a:r>
              <a:rPr lang="en-US" b="1" dirty="0">
                <a:solidFill>
                  <a:schemeClr val="tx1"/>
                </a:solidFill>
              </a:rPr>
              <a:t> </a:t>
            </a:r>
          </a:p>
          <a:p>
            <a:pPr algn="l"/>
            <a:endParaRPr lang="en-US" b="1" dirty="0" smtClean="0">
              <a:solidFill>
                <a:schemeClr val="tx1"/>
              </a:solidFill>
            </a:endParaRPr>
          </a:p>
          <a:p>
            <a:pPr algn="l"/>
            <a:r>
              <a:rPr lang="en-US" b="1" dirty="0" smtClean="0">
                <a:solidFill>
                  <a:schemeClr val="tx1"/>
                </a:solidFill>
              </a:rPr>
              <a:t>A </a:t>
            </a:r>
            <a:r>
              <a:rPr lang="en-US" b="1" dirty="0">
                <a:solidFill>
                  <a:schemeClr val="tx1"/>
                </a:solidFill>
              </a:rPr>
              <a:t>transport-layer protocol needs a pair of socket addresses : the client socket address and the server socket address.   These four pieces of information are part of the IP header and the transport-layer protocol header.  The IP header contains the IP addresses; the UDP or TCP header contains the port numbers. </a:t>
            </a:r>
          </a:p>
        </p:txBody>
      </p:sp>
      <p:sp>
        <p:nvSpPr>
          <p:cNvPr id="3" name="Footer Placeholder 2"/>
          <p:cNvSpPr>
            <a:spLocks noGrp="1"/>
          </p:cNvSpPr>
          <p:nvPr>
            <p:ph type="ftr" sz="quarter" idx="11"/>
          </p:nvPr>
        </p:nvSpPr>
        <p:spPr/>
        <p:txBody>
          <a:bodyPr/>
          <a:lstStyle/>
          <a:p>
            <a:r>
              <a:rPr lang="en-US" smtClean="0"/>
              <a:t>SCR</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3969" y="2848024"/>
            <a:ext cx="2317631" cy="1147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8996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PROVIDING RELIABILITY</a:t>
            </a:r>
            <a:r>
              <a:rPr lang="en-US" dirty="0">
                <a:solidFill>
                  <a:schemeClr val="tx1"/>
                </a:solidFill>
              </a:rPr>
              <a:t>:</a:t>
            </a:r>
          </a:p>
          <a:p>
            <a:pPr algn="l"/>
            <a:r>
              <a:rPr lang="en-US" dirty="0">
                <a:solidFill>
                  <a:schemeClr val="tx1"/>
                </a:solidFill>
              </a:rPr>
              <a:t>A transport layer can provide reliability for the application program that uses its services.  ( as it involves flow control and error control )</a:t>
            </a:r>
          </a:p>
          <a:p>
            <a:pPr algn="l"/>
            <a:r>
              <a:rPr lang="en-US" b="1" dirty="0">
                <a:solidFill>
                  <a:schemeClr val="tx1"/>
                </a:solidFill>
              </a:rPr>
              <a:t>FLOW CONTROL:</a:t>
            </a:r>
          </a:p>
          <a:p>
            <a:pPr algn="l"/>
            <a:r>
              <a:rPr lang="en-US" dirty="0">
                <a:solidFill>
                  <a:schemeClr val="tx1"/>
                </a:solidFill>
              </a:rPr>
              <a:t>The transport layer can provide flow control. ( just like data link layer ).   </a:t>
            </a:r>
            <a:endParaRPr lang="en-US" dirty="0" smtClean="0">
              <a:solidFill>
                <a:schemeClr val="tx1"/>
              </a:solidFill>
            </a:endParaRPr>
          </a:p>
          <a:p>
            <a:pPr algn="l"/>
            <a:r>
              <a:rPr lang="en-US" dirty="0" smtClean="0">
                <a:solidFill>
                  <a:schemeClr val="tx1"/>
                </a:solidFill>
              </a:rPr>
              <a:t>However</a:t>
            </a:r>
            <a:r>
              <a:rPr lang="en-US" dirty="0">
                <a:solidFill>
                  <a:schemeClr val="tx1"/>
                </a:solidFill>
              </a:rPr>
              <a:t>, flow control at this layer is performed end to end rather than across a single link.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sz="3600" b="1" dirty="0">
                <a:solidFill>
                  <a:schemeClr val="tx1"/>
                </a:solidFill>
              </a:rPr>
              <a:t>ERROR CONTROL :</a:t>
            </a:r>
          </a:p>
          <a:p>
            <a:pPr algn="l"/>
            <a:r>
              <a:rPr lang="en-US" dirty="0">
                <a:solidFill>
                  <a:schemeClr val="tx1"/>
                </a:solidFill>
              </a:rPr>
              <a:t>It can provide error control. (like data link layer).  </a:t>
            </a:r>
            <a:endParaRPr lang="en-US" dirty="0" smtClean="0">
              <a:solidFill>
                <a:schemeClr val="tx1"/>
              </a:solidFill>
            </a:endParaRPr>
          </a:p>
          <a:p>
            <a:pPr algn="l"/>
            <a:r>
              <a:rPr lang="en-US" dirty="0" smtClean="0">
                <a:solidFill>
                  <a:schemeClr val="tx1"/>
                </a:solidFill>
              </a:rPr>
              <a:t>However </a:t>
            </a:r>
            <a:r>
              <a:rPr lang="en-US" dirty="0">
                <a:solidFill>
                  <a:schemeClr val="tx1"/>
                </a:solidFill>
              </a:rPr>
              <a:t>error control at this layer is performed end to end rather than across a single link.  </a:t>
            </a:r>
            <a:endParaRPr lang="en-US" dirty="0" smtClean="0">
              <a:solidFill>
                <a:schemeClr val="tx1"/>
              </a:solidFill>
            </a:endParaRPr>
          </a:p>
          <a:p>
            <a:pPr algn="l"/>
            <a:r>
              <a:rPr lang="en-US" dirty="0" smtClean="0">
                <a:solidFill>
                  <a:schemeClr val="tx1"/>
                </a:solidFill>
              </a:rPr>
              <a:t>The </a:t>
            </a:r>
            <a:r>
              <a:rPr lang="en-US" dirty="0">
                <a:solidFill>
                  <a:schemeClr val="tx1"/>
                </a:solidFill>
              </a:rPr>
              <a:t>sending transport layer makes sure that the entire message arrives at the receiving transport layer without error.( damage, loss or duplication). </a:t>
            </a:r>
            <a:endParaRPr lang="en-US" dirty="0" smtClean="0">
              <a:solidFill>
                <a:schemeClr val="tx1"/>
              </a:solidFill>
            </a:endParaRPr>
          </a:p>
          <a:p>
            <a:pPr algn="l"/>
            <a:r>
              <a:rPr lang="en-US" dirty="0" smtClean="0">
                <a:solidFill>
                  <a:schemeClr val="tx1"/>
                </a:solidFill>
              </a:rPr>
              <a:t>Error </a:t>
            </a:r>
            <a:r>
              <a:rPr lang="en-US" dirty="0">
                <a:solidFill>
                  <a:schemeClr val="tx1"/>
                </a:solidFill>
              </a:rPr>
              <a:t>correction is usually achieved through retransmission.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CONGESTION CONTROL AND </a:t>
            </a:r>
            <a:r>
              <a:rPr lang="en-US" b="1" dirty="0" err="1">
                <a:solidFill>
                  <a:schemeClr val="tx1"/>
                </a:solidFill>
              </a:rPr>
              <a:t>QoS</a:t>
            </a:r>
            <a:r>
              <a:rPr lang="en-US" dirty="0">
                <a:solidFill>
                  <a:schemeClr val="tx1"/>
                </a:solidFill>
              </a:rPr>
              <a:t>:</a:t>
            </a:r>
          </a:p>
          <a:p>
            <a:pPr algn="l"/>
            <a:r>
              <a:rPr lang="en-US" dirty="0">
                <a:solidFill>
                  <a:schemeClr val="tx1"/>
                </a:solidFill>
              </a:rPr>
              <a:t>Although Congestion in the network can happen in the data link, network, or transport layer, the effect of the congestion is normally seen in the transport layer because this is the layer that directly gives services to the application layer.  </a:t>
            </a:r>
            <a:endParaRPr lang="en-US" dirty="0" smtClean="0">
              <a:solidFill>
                <a:schemeClr val="tx1"/>
              </a:solidFill>
            </a:endParaRPr>
          </a:p>
          <a:p>
            <a:pPr algn="l"/>
            <a:r>
              <a:rPr lang="en-US" dirty="0" smtClean="0">
                <a:solidFill>
                  <a:schemeClr val="tx1"/>
                </a:solidFill>
              </a:rPr>
              <a:t>The </a:t>
            </a:r>
            <a:r>
              <a:rPr lang="en-US" dirty="0">
                <a:solidFill>
                  <a:schemeClr val="tx1"/>
                </a:solidFill>
              </a:rPr>
              <a:t>transport layer is responsible for process-to-process delivery.</a:t>
            </a:r>
          </a:p>
          <a:p>
            <a:pPr algn="l"/>
            <a:endParaRPr lang="en-US" dirty="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PROCESS-TO-PROCESS DELIVERY </a:t>
            </a:r>
            <a:r>
              <a:rPr lang="en-US" dirty="0">
                <a:solidFill>
                  <a:schemeClr val="tx1"/>
                </a:solidFill>
              </a:rPr>
              <a:t>:</a:t>
            </a:r>
          </a:p>
          <a:p>
            <a:pPr algn="l"/>
            <a:r>
              <a:rPr lang="en-US" dirty="0">
                <a:solidFill>
                  <a:schemeClr val="tx1"/>
                </a:solidFill>
              </a:rPr>
              <a:t>The data link layer is responsible for delivery of frames between two neighboring nodes over a link.  </a:t>
            </a:r>
            <a:endParaRPr lang="en-US" dirty="0" smtClean="0">
              <a:solidFill>
                <a:schemeClr val="tx1"/>
              </a:solidFill>
            </a:endParaRPr>
          </a:p>
          <a:p>
            <a:pPr algn="l"/>
            <a:r>
              <a:rPr lang="en-US" dirty="0" smtClean="0">
                <a:solidFill>
                  <a:schemeClr val="tx1"/>
                </a:solidFill>
              </a:rPr>
              <a:t>This </a:t>
            </a:r>
            <a:r>
              <a:rPr lang="en-US" dirty="0">
                <a:solidFill>
                  <a:schemeClr val="tx1"/>
                </a:solidFill>
              </a:rPr>
              <a:t>is called node-to-node delivery</a:t>
            </a:r>
            <a:r>
              <a:rPr lang="en-US" dirty="0" smtClean="0">
                <a:solidFill>
                  <a:schemeClr val="tx1"/>
                </a:solidFill>
              </a:rPr>
              <a:t>.</a:t>
            </a:r>
          </a:p>
          <a:p>
            <a:pPr algn="l"/>
            <a:endParaRPr lang="en-US" dirty="0">
              <a:solidFill>
                <a:schemeClr val="tx1"/>
              </a:solidFill>
            </a:endParaRPr>
          </a:p>
          <a:p>
            <a:pPr algn="l"/>
            <a:r>
              <a:rPr lang="en-US" dirty="0">
                <a:solidFill>
                  <a:schemeClr val="tx1"/>
                </a:solidFill>
              </a:rPr>
              <a:t>The network layer is responsible for delivery of datagrams between two hosts.  </a:t>
            </a:r>
            <a:endParaRPr lang="en-US" dirty="0" smtClean="0">
              <a:solidFill>
                <a:schemeClr val="tx1"/>
              </a:solidFill>
            </a:endParaRPr>
          </a:p>
          <a:p>
            <a:pPr algn="l"/>
            <a:r>
              <a:rPr lang="en-US" dirty="0" smtClean="0">
                <a:solidFill>
                  <a:schemeClr val="tx1"/>
                </a:solidFill>
              </a:rPr>
              <a:t>This </a:t>
            </a:r>
            <a:r>
              <a:rPr lang="en-US" dirty="0">
                <a:solidFill>
                  <a:schemeClr val="tx1"/>
                </a:solidFill>
              </a:rPr>
              <a:t>is called host-to-host delivery</a:t>
            </a:r>
            <a:r>
              <a:rPr lang="en-US" dirty="0" smtClean="0">
                <a:solidFill>
                  <a:schemeClr val="tx1"/>
                </a:solidFill>
              </a:rPr>
              <a:t>.</a:t>
            </a:r>
          </a:p>
          <a:p>
            <a:pPr algn="l"/>
            <a:endParaRPr lang="en-US" dirty="0">
              <a:solidFill>
                <a:schemeClr val="tx1"/>
              </a:solidFill>
            </a:endParaRPr>
          </a:p>
          <a:p>
            <a:pPr algn="l"/>
            <a:r>
              <a:rPr lang="en-US" dirty="0">
                <a:solidFill>
                  <a:schemeClr val="tx1"/>
                </a:solidFill>
              </a:rPr>
              <a:t>Communication on the internet is not defined as the exchange of data between two nodes or between two hosts.   </a:t>
            </a:r>
            <a:endParaRPr lang="en-US" dirty="0" smtClean="0">
              <a:solidFill>
                <a:schemeClr val="tx1"/>
              </a:solidFill>
            </a:endParaRPr>
          </a:p>
          <a:p>
            <a:pPr algn="l"/>
            <a:r>
              <a:rPr lang="en-US" dirty="0" smtClean="0">
                <a:solidFill>
                  <a:schemeClr val="tx1"/>
                </a:solidFill>
              </a:rPr>
              <a:t>Real </a:t>
            </a:r>
            <a:r>
              <a:rPr lang="en-US" dirty="0">
                <a:solidFill>
                  <a:schemeClr val="tx1"/>
                </a:solidFill>
              </a:rPr>
              <a:t>communication takes place between two processes (application programs).  </a:t>
            </a:r>
            <a:endParaRPr lang="en-US" dirty="0" smtClean="0">
              <a:solidFill>
                <a:schemeClr val="tx1"/>
              </a:solidFill>
            </a:endParaRPr>
          </a:p>
          <a:p>
            <a:pPr algn="l"/>
            <a:r>
              <a:rPr lang="en-US" dirty="0" smtClean="0">
                <a:solidFill>
                  <a:schemeClr val="tx1"/>
                </a:solidFill>
              </a:rPr>
              <a:t>We </a:t>
            </a:r>
            <a:r>
              <a:rPr lang="en-US" dirty="0">
                <a:solidFill>
                  <a:schemeClr val="tx1"/>
                </a:solidFill>
              </a:rPr>
              <a:t>need process-to-process delivery</a:t>
            </a:r>
            <a:r>
              <a:rPr lang="en-US" dirty="0" smtClean="0">
                <a:solidFill>
                  <a:schemeClr val="tx1"/>
                </a:solidFill>
              </a:rPr>
              <a:t>.</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smtClean="0">
                <a:solidFill>
                  <a:schemeClr val="tx1"/>
                </a:solidFill>
              </a:rPr>
              <a:t>However</a:t>
            </a:r>
            <a:r>
              <a:rPr lang="en-US" dirty="0">
                <a:solidFill>
                  <a:schemeClr val="tx1"/>
                </a:solidFill>
              </a:rPr>
              <a:t>, at any moment, several processes may be running on the source host and several on the destination host.  </a:t>
            </a:r>
            <a:endParaRPr lang="en-US" dirty="0" smtClean="0">
              <a:solidFill>
                <a:schemeClr val="tx1"/>
              </a:solidFill>
            </a:endParaRPr>
          </a:p>
          <a:p>
            <a:pPr algn="l"/>
            <a:r>
              <a:rPr lang="en-US" dirty="0" smtClean="0">
                <a:solidFill>
                  <a:schemeClr val="tx1"/>
                </a:solidFill>
              </a:rPr>
              <a:t>The </a:t>
            </a:r>
            <a:r>
              <a:rPr lang="en-US" dirty="0">
                <a:solidFill>
                  <a:schemeClr val="tx1"/>
                </a:solidFill>
              </a:rPr>
              <a:t>transport layer protocol is responsible for process-to-process delivery, the delivery of a packet, part of a message, from one process to another.  </a:t>
            </a:r>
            <a:endParaRPr lang="en-US" dirty="0" smtClean="0">
              <a:solidFill>
                <a:schemeClr val="tx1"/>
              </a:solidFill>
            </a:endParaRPr>
          </a:p>
          <a:p>
            <a:pPr algn="l"/>
            <a:r>
              <a:rPr lang="en-US" dirty="0" smtClean="0">
                <a:solidFill>
                  <a:schemeClr val="tx1"/>
                </a:solidFill>
              </a:rPr>
              <a:t>Two </a:t>
            </a:r>
            <a:r>
              <a:rPr lang="en-US" dirty="0">
                <a:solidFill>
                  <a:schemeClr val="tx1"/>
                </a:solidFill>
              </a:rPr>
              <a:t>processes communicate in a client-server relationship.</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2735071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Client-Server Paradigm:</a:t>
            </a:r>
          </a:p>
          <a:p>
            <a:pPr algn="l"/>
            <a:r>
              <a:rPr lang="en-US" dirty="0">
                <a:solidFill>
                  <a:schemeClr val="tx1"/>
                </a:solidFill>
              </a:rPr>
              <a:t>A process on the local host, called a client, needs services from a process usually on the remote host, called a </a:t>
            </a:r>
            <a:r>
              <a:rPr lang="en-US" b="1" dirty="0">
                <a:solidFill>
                  <a:schemeClr val="tx1"/>
                </a:solidFill>
              </a:rPr>
              <a:t>server</a:t>
            </a:r>
            <a:r>
              <a:rPr lang="en-US" dirty="0">
                <a:solidFill>
                  <a:schemeClr val="tx1"/>
                </a:solidFill>
              </a:rPr>
              <a:t>.  </a:t>
            </a:r>
          </a:p>
          <a:p>
            <a:pPr algn="l"/>
            <a:r>
              <a:rPr lang="en-US" dirty="0">
                <a:solidFill>
                  <a:schemeClr val="tx1"/>
                </a:solidFill>
              </a:rPr>
              <a:t>Both process ( client and server) have the same name. </a:t>
            </a:r>
            <a:endParaRPr lang="en-US" dirty="0" smtClean="0">
              <a:solidFill>
                <a:schemeClr val="tx1"/>
              </a:solidFill>
            </a:endParaRPr>
          </a:p>
          <a:p>
            <a:pPr algn="l"/>
            <a:r>
              <a:rPr lang="en-US" dirty="0" smtClean="0">
                <a:solidFill>
                  <a:schemeClr val="tx1"/>
                </a:solidFill>
              </a:rPr>
              <a:t>For </a:t>
            </a:r>
            <a:r>
              <a:rPr lang="en-US" dirty="0" err="1">
                <a:solidFill>
                  <a:schemeClr val="tx1"/>
                </a:solidFill>
              </a:rPr>
              <a:t>eg</a:t>
            </a:r>
            <a:r>
              <a:rPr lang="en-US" dirty="0">
                <a:solidFill>
                  <a:schemeClr val="tx1"/>
                </a:solidFill>
              </a:rPr>
              <a:t>., to get the day and time from a remote machine, we need a Daytime client process running on the local host and a Daytime server process running on a remote machine.   </a:t>
            </a:r>
            <a:endParaRPr lang="en-US" dirty="0" smtClean="0">
              <a:solidFill>
                <a:schemeClr val="tx1"/>
              </a:solidFill>
            </a:endParaRPr>
          </a:p>
          <a:p>
            <a:pPr algn="l"/>
            <a:r>
              <a:rPr lang="en-US" dirty="0" smtClean="0">
                <a:solidFill>
                  <a:schemeClr val="tx1"/>
                </a:solidFill>
              </a:rPr>
              <a:t>Operating </a:t>
            </a:r>
            <a:r>
              <a:rPr lang="en-US" dirty="0">
                <a:solidFill>
                  <a:schemeClr val="tx1"/>
                </a:solidFill>
              </a:rPr>
              <a:t>system today support both multiuser and multiprogramming environments. </a:t>
            </a:r>
            <a:endParaRPr lang="en-US" dirty="0" smtClean="0">
              <a:solidFill>
                <a:schemeClr val="tx1"/>
              </a:solidFill>
            </a:endParaRPr>
          </a:p>
          <a:p>
            <a:pPr algn="l"/>
            <a:r>
              <a:rPr lang="en-US" dirty="0" smtClean="0">
                <a:solidFill>
                  <a:schemeClr val="tx1"/>
                </a:solidFill>
              </a:rPr>
              <a:t>A </a:t>
            </a:r>
            <a:r>
              <a:rPr lang="en-US" dirty="0">
                <a:solidFill>
                  <a:schemeClr val="tx1"/>
                </a:solidFill>
              </a:rPr>
              <a:t>remote computer can run several server programs at the same time, just as local computers can run one or more client programs at the same time.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77500" lnSpcReduction="20000"/>
          </a:bodyPr>
          <a:lstStyle/>
          <a:p>
            <a:pPr algn="l"/>
            <a:r>
              <a:rPr lang="en-US" b="1" dirty="0">
                <a:solidFill>
                  <a:schemeClr val="tx1"/>
                </a:solidFill>
              </a:rPr>
              <a:t>Addressing :</a:t>
            </a:r>
          </a:p>
          <a:p>
            <a:pPr algn="l"/>
            <a:r>
              <a:rPr lang="en-US" dirty="0">
                <a:solidFill>
                  <a:schemeClr val="tx1"/>
                </a:solidFill>
              </a:rPr>
              <a:t>At the data link layer, we need a MAC address to choose one node among several nodes, if the connection is not point to point.  </a:t>
            </a:r>
            <a:endParaRPr lang="en-US" dirty="0" smtClean="0">
              <a:solidFill>
                <a:schemeClr val="tx1"/>
              </a:solidFill>
            </a:endParaRPr>
          </a:p>
          <a:p>
            <a:pPr algn="l"/>
            <a:r>
              <a:rPr lang="en-US" dirty="0" smtClean="0">
                <a:solidFill>
                  <a:schemeClr val="tx1"/>
                </a:solidFill>
              </a:rPr>
              <a:t>At </a:t>
            </a:r>
            <a:r>
              <a:rPr lang="en-US" dirty="0">
                <a:solidFill>
                  <a:schemeClr val="tx1"/>
                </a:solidFill>
              </a:rPr>
              <a:t>the network layer, an IP address is needed to choose one host among millions .  </a:t>
            </a:r>
          </a:p>
          <a:p>
            <a:pPr algn="l"/>
            <a:r>
              <a:rPr lang="en-US" dirty="0">
                <a:solidFill>
                  <a:schemeClr val="tx1"/>
                </a:solidFill>
              </a:rPr>
              <a:t>A datagram in the network layer needs a destination IP address for delivery and a source IP address for the destinations reply.  </a:t>
            </a:r>
            <a:endParaRPr lang="en-US" dirty="0" smtClean="0">
              <a:solidFill>
                <a:schemeClr val="tx1"/>
              </a:solidFill>
            </a:endParaRPr>
          </a:p>
          <a:p>
            <a:pPr algn="l"/>
            <a:endParaRPr lang="en-US" dirty="0">
              <a:solidFill>
                <a:schemeClr val="tx1"/>
              </a:solidFill>
            </a:endParaRPr>
          </a:p>
          <a:p>
            <a:pPr algn="l"/>
            <a:r>
              <a:rPr lang="en-US" dirty="0">
                <a:solidFill>
                  <a:schemeClr val="tx1"/>
                </a:solidFill>
              </a:rPr>
              <a:t>At the transport layer, we need a transport-layer address, called a port number, to choose among multiple processes running on the destination host.  </a:t>
            </a:r>
            <a:endParaRPr lang="en-US" dirty="0" smtClean="0">
              <a:solidFill>
                <a:schemeClr val="tx1"/>
              </a:solidFill>
            </a:endParaRPr>
          </a:p>
          <a:p>
            <a:pPr algn="l"/>
            <a:r>
              <a:rPr lang="en-US" dirty="0" smtClean="0">
                <a:solidFill>
                  <a:schemeClr val="tx1"/>
                </a:solidFill>
              </a:rPr>
              <a:t>The </a:t>
            </a:r>
            <a:r>
              <a:rPr lang="en-US" dirty="0">
                <a:solidFill>
                  <a:schemeClr val="tx1"/>
                </a:solidFill>
              </a:rPr>
              <a:t>destination port number is needed for delivery; the source port number is needed to the reply.</a:t>
            </a:r>
          </a:p>
          <a:p>
            <a:pPr algn="l"/>
            <a:r>
              <a:rPr lang="en-US" dirty="0">
                <a:solidFill>
                  <a:schemeClr val="tx1"/>
                </a:solidFill>
              </a:rPr>
              <a:t>In the internet model, the port numbers are 16-bit integers, between ‘0’ &amp; 65535.  The client program defines itself with a port number, chosen randomly by the transport layer software running on the client host.  This is ephemeral port number.</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The server process must also define itself with a port number. This port number, however, cannot be chosen randomly.  </a:t>
            </a:r>
          </a:p>
          <a:p>
            <a:pPr algn="l"/>
            <a:r>
              <a:rPr lang="en-US" dirty="0">
                <a:solidFill>
                  <a:schemeClr val="tx1"/>
                </a:solidFill>
              </a:rPr>
              <a:t>The internet has decided to use universal  port numbers for servers; these are called well-known port numbers.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697" y="762000"/>
            <a:ext cx="8579159"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A transport-layer protocol needs a pair of socket addresses : the client socket address and the server socket address.   These four pieces of information are part of the IP header and the transport-layer protocol header.  The IP header contains the IP addresses; the UDP or TCP header contains the port numbers.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b="1" dirty="0">
                <a:solidFill>
                  <a:schemeClr val="tx1"/>
                </a:solidFill>
              </a:rPr>
              <a:t>Connectionless versus Connection-oriented Service</a:t>
            </a:r>
            <a:r>
              <a:rPr lang="en-US" dirty="0">
                <a:solidFill>
                  <a:schemeClr val="tx1"/>
                </a:solidFill>
              </a:rPr>
              <a:t>:</a:t>
            </a:r>
          </a:p>
          <a:p>
            <a:pPr algn="l"/>
            <a:r>
              <a:rPr lang="en-US" dirty="0">
                <a:solidFill>
                  <a:schemeClr val="tx1"/>
                </a:solidFill>
              </a:rPr>
              <a:t>A transport-layer protocol can either be connectionless or connection-oriented.</a:t>
            </a:r>
          </a:p>
          <a:p>
            <a:pPr algn="l"/>
            <a:r>
              <a:rPr lang="en-US" b="1" dirty="0">
                <a:solidFill>
                  <a:schemeClr val="tx1"/>
                </a:solidFill>
              </a:rPr>
              <a:t>Connectionless Service </a:t>
            </a:r>
            <a:r>
              <a:rPr lang="en-US" dirty="0">
                <a:solidFill>
                  <a:schemeClr val="tx1"/>
                </a:solidFill>
              </a:rPr>
              <a:t>:</a:t>
            </a:r>
          </a:p>
          <a:p>
            <a:pPr algn="l"/>
            <a:r>
              <a:rPr lang="en-US" dirty="0">
                <a:solidFill>
                  <a:schemeClr val="tx1"/>
                </a:solidFill>
              </a:rPr>
              <a:t>In a connectionless service, the packets are sent from one party to another with no connection established between them.  </a:t>
            </a:r>
            <a:endParaRPr lang="en-US" dirty="0" smtClean="0">
              <a:solidFill>
                <a:schemeClr val="tx1"/>
              </a:solidFill>
            </a:endParaRPr>
          </a:p>
          <a:p>
            <a:pPr algn="l"/>
            <a:r>
              <a:rPr lang="en-US" dirty="0" smtClean="0">
                <a:solidFill>
                  <a:schemeClr val="tx1"/>
                </a:solidFill>
              </a:rPr>
              <a:t>The </a:t>
            </a:r>
            <a:r>
              <a:rPr lang="en-US" dirty="0">
                <a:solidFill>
                  <a:schemeClr val="tx1"/>
                </a:solidFill>
              </a:rPr>
              <a:t>packets are not numbered; they may be delayed, lost, or arrive out of sequence.  </a:t>
            </a:r>
            <a:endParaRPr lang="en-US" dirty="0" smtClean="0">
              <a:solidFill>
                <a:schemeClr val="tx1"/>
              </a:solidFill>
            </a:endParaRPr>
          </a:p>
          <a:p>
            <a:pPr algn="l"/>
            <a:r>
              <a:rPr lang="en-US" dirty="0" smtClean="0">
                <a:solidFill>
                  <a:schemeClr val="tx1"/>
                </a:solidFill>
              </a:rPr>
              <a:t>There </a:t>
            </a:r>
            <a:r>
              <a:rPr lang="en-US" dirty="0">
                <a:solidFill>
                  <a:schemeClr val="tx1"/>
                </a:solidFill>
              </a:rPr>
              <a:t>is no acknowledgment either.  </a:t>
            </a:r>
            <a:endParaRPr lang="en-US" dirty="0" smtClean="0">
              <a:solidFill>
                <a:schemeClr val="tx1"/>
              </a:solidFill>
            </a:endParaRPr>
          </a:p>
          <a:p>
            <a:pPr algn="l"/>
            <a:r>
              <a:rPr lang="en-US" dirty="0" smtClean="0">
                <a:solidFill>
                  <a:schemeClr val="tx1"/>
                </a:solidFill>
              </a:rPr>
              <a:t>One </a:t>
            </a:r>
            <a:r>
              <a:rPr lang="en-US" dirty="0">
                <a:solidFill>
                  <a:schemeClr val="tx1"/>
                </a:solidFill>
              </a:rPr>
              <a:t>of the transport layer protocol in the internet model , </a:t>
            </a:r>
            <a:r>
              <a:rPr lang="en-US" i="1" dirty="0">
                <a:solidFill>
                  <a:srgbClr val="FF0000"/>
                </a:solidFill>
              </a:rPr>
              <a:t>UDP is connectionless</a:t>
            </a:r>
            <a:r>
              <a:rPr lang="en-US" dirty="0">
                <a:solidFill>
                  <a:schemeClr val="tx1"/>
                </a:solidFill>
              </a:rPr>
              <a:t>.</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Connection-Oriented Services </a:t>
            </a:r>
            <a:r>
              <a:rPr lang="en-US" dirty="0">
                <a:solidFill>
                  <a:schemeClr val="tx1"/>
                </a:solidFill>
              </a:rPr>
              <a:t>:</a:t>
            </a:r>
          </a:p>
          <a:p>
            <a:pPr algn="l"/>
            <a:r>
              <a:rPr lang="en-US" dirty="0">
                <a:solidFill>
                  <a:schemeClr val="tx1"/>
                </a:solidFill>
              </a:rPr>
              <a:t>In this, a connection is first established between the sender and the receiver.  </a:t>
            </a:r>
            <a:endParaRPr lang="en-US" dirty="0" smtClean="0">
              <a:solidFill>
                <a:schemeClr val="tx1"/>
              </a:solidFill>
            </a:endParaRPr>
          </a:p>
          <a:p>
            <a:pPr algn="l"/>
            <a:r>
              <a:rPr lang="en-US" dirty="0" smtClean="0">
                <a:solidFill>
                  <a:schemeClr val="tx1"/>
                </a:solidFill>
              </a:rPr>
              <a:t>Data </a:t>
            </a:r>
            <a:r>
              <a:rPr lang="en-US" dirty="0">
                <a:solidFill>
                  <a:schemeClr val="tx1"/>
                </a:solidFill>
              </a:rPr>
              <a:t>are transferred.  </a:t>
            </a:r>
            <a:endParaRPr lang="en-US" dirty="0" smtClean="0">
              <a:solidFill>
                <a:schemeClr val="tx1"/>
              </a:solidFill>
            </a:endParaRPr>
          </a:p>
          <a:p>
            <a:pPr algn="l"/>
            <a:r>
              <a:rPr lang="en-US" dirty="0" smtClean="0">
                <a:solidFill>
                  <a:schemeClr val="tx1"/>
                </a:solidFill>
              </a:rPr>
              <a:t>At </a:t>
            </a:r>
            <a:r>
              <a:rPr lang="en-US" dirty="0">
                <a:solidFill>
                  <a:schemeClr val="tx1"/>
                </a:solidFill>
              </a:rPr>
              <a:t>the end, the connection is released. </a:t>
            </a:r>
            <a:endParaRPr lang="en-US" dirty="0" smtClean="0">
              <a:solidFill>
                <a:schemeClr val="tx1"/>
              </a:solidFill>
            </a:endParaRPr>
          </a:p>
          <a:p>
            <a:pPr algn="l"/>
            <a:r>
              <a:rPr lang="en-US" dirty="0" smtClean="0">
                <a:solidFill>
                  <a:schemeClr val="tx1"/>
                </a:solidFill>
              </a:rPr>
              <a:t>Transport </a:t>
            </a:r>
            <a:r>
              <a:rPr lang="en-US" dirty="0">
                <a:solidFill>
                  <a:schemeClr val="tx1"/>
                </a:solidFill>
              </a:rPr>
              <a:t>layer in the internet model, has TCP, which is connection oriented protocol.</a:t>
            </a:r>
          </a:p>
          <a:p>
            <a:pPr algn="l"/>
            <a:endParaRPr lang="en-US" dirty="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20000"/>
          </a:bodyPr>
          <a:lstStyle/>
          <a:p>
            <a:pPr algn="l"/>
            <a:r>
              <a:rPr lang="en-US" b="1" dirty="0">
                <a:solidFill>
                  <a:schemeClr val="tx1"/>
                </a:solidFill>
              </a:rPr>
              <a:t>Reliable versus Unreliable</a:t>
            </a:r>
            <a:r>
              <a:rPr lang="en-US" dirty="0">
                <a:solidFill>
                  <a:schemeClr val="tx1"/>
                </a:solidFill>
              </a:rPr>
              <a:t>:</a:t>
            </a:r>
          </a:p>
          <a:p>
            <a:pPr algn="l"/>
            <a:r>
              <a:rPr lang="en-US" dirty="0">
                <a:solidFill>
                  <a:schemeClr val="tx1"/>
                </a:solidFill>
              </a:rPr>
              <a:t>The Transport-layer services can be reliable or unreliable.  </a:t>
            </a:r>
            <a:endParaRPr lang="en-US" dirty="0" smtClean="0">
              <a:solidFill>
                <a:schemeClr val="tx1"/>
              </a:solidFill>
            </a:endParaRPr>
          </a:p>
          <a:p>
            <a:pPr algn="l"/>
            <a:r>
              <a:rPr lang="en-US" dirty="0" smtClean="0">
                <a:solidFill>
                  <a:schemeClr val="tx1"/>
                </a:solidFill>
              </a:rPr>
              <a:t>If </a:t>
            </a:r>
            <a:r>
              <a:rPr lang="en-US" dirty="0">
                <a:solidFill>
                  <a:schemeClr val="tx1"/>
                </a:solidFill>
              </a:rPr>
              <a:t>the application-layer program needs reliability, we use a reliable transport-layer protocol by implementing flow and error control at the transport layer.  </a:t>
            </a:r>
            <a:endParaRPr lang="en-US" dirty="0" smtClean="0">
              <a:solidFill>
                <a:schemeClr val="tx1"/>
              </a:solidFill>
            </a:endParaRPr>
          </a:p>
          <a:p>
            <a:pPr algn="l"/>
            <a:r>
              <a:rPr lang="en-US" dirty="0" smtClean="0">
                <a:solidFill>
                  <a:schemeClr val="tx1"/>
                </a:solidFill>
              </a:rPr>
              <a:t>This </a:t>
            </a:r>
            <a:r>
              <a:rPr lang="en-US" dirty="0">
                <a:solidFill>
                  <a:schemeClr val="tx1"/>
                </a:solidFill>
              </a:rPr>
              <a:t>means a slower and more complex  service.  </a:t>
            </a:r>
            <a:endParaRPr lang="en-US" dirty="0" smtClean="0">
              <a:solidFill>
                <a:schemeClr val="tx1"/>
              </a:solidFill>
            </a:endParaRPr>
          </a:p>
          <a:p>
            <a:pPr algn="l"/>
            <a:r>
              <a:rPr lang="en-US" dirty="0" smtClean="0">
                <a:solidFill>
                  <a:schemeClr val="tx1"/>
                </a:solidFill>
              </a:rPr>
              <a:t>On </a:t>
            </a:r>
            <a:r>
              <a:rPr lang="en-US" dirty="0">
                <a:solidFill>
                  <a:schemeClr val="tx1"/>
                </a:solidFill>
              </a:rPr>
              <a:t>the other hand, if the application program does not need reliability because it uses its own flow and error control mechanism or it needs fast service or the nature of the service does not demand flow and error control ( real time applications), then an unreliable protocol can be used</a:t>
            </a:r>
            <a:r>
              <a:rPr lang="en-US" dirty="0" smtClean="0">
                <a:solidFill>
                  <a:schemeClr val="tx1"/>
                </a:solidFill>
              </a:rPr>
              <a:t>.</a:t>
            </a:r>
          </a:p>
          <a:p>
            <a:pPr algn="l"/>
            <a:r>
              <a:rPr lang="en-US" dirty="0" smtClean="0">
                <a:solidFill>
                  <a:schemeClr val="tx1"/>
                </a:solidFill>
              </a:rPr>
              <a:t>In </a:t>
            </a:r>
            <a:r>
              <a:rPr lang="en-US" dirty="0">
                <a:solidFill>
                  <a:schemeClr val="tx1"/>
                </a:solidFill>
              </a:rPr>
              <a:t>the internet there are two different Transport layer protocols:</a:t>
            </a:r>
          </a:p>
          <a:p>
            <a:pPr algn="l"/>
            <a:r>
              <a:rPr lang="en-US" b="1" dirty="0">
                <a:solidFill>
                  <a:schemeClr val="tx1"/>
                </a:solidFill>
              </a:rPr>
              <a:t>UDP is connectionless </a:t>
            </a:r>
            <a:r>
              <a:rPr lang="en-US" dirty="0">
                <a:solidFill>
                  <a:schemeClr val="tx1"/>
                </a:solidFill>
              </a:rPr>
              <a:t>and unreliable;  and </a:t>
            </a:r>
            <a:r>
              <a:rPr lang="en-US" b="1" dirty="0">
                <a:solidFill>
                  <a:schemeClr val="tx1"/>
                </a:solidFill>
              </a:rPr>
              <a:t>TCP is connection-oriented and reliable</a:t>
            </a:r>
            <a:r>
              <a:rPr lang="en-US" dirty="0">
                <a:solidFill>
                  <a:schemeClr val="tx1"/>
                </a:solidFill>
              </a:rPr>
              <a:t>.  </a:t>
            </a:r>
            <a:endParaRPr lang="en-US" dirty="0" smtClean="0">
              <a:solidFill>
                <a:schemeClr val="tx1"/>
              </a:solidFill>
            </a:endParaRPr>
          </a:p>
          <a:p>
            <a:pPr algn="l"/>
            <a:r>
              <a:rPr lang="en-US" dirty="0" smtClean="0">
                <a:solidFill>
                  <a:schemeClr val="tx1"/>
                </a:solidFill>
              </a:rPr>
              <a:t>These </a:t>
            </a:r>
            <a:r>
              <a:rPr lang="en-US" dirty="0">
                <a:solidFill>
                  <a:schemeClr val="tx1"/>
                </a:solidFill>
              </a:rPr>
              <a:t>two can respond to the demands of the application layer programs.</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20000"/>
          </a:bodyPr>
          <a:lstStyle/>
          <a:p>
            <a:pPr algn="l"/>
            <a:r>
              <a:rPr lang="en-US" b="1" dirty="0">
                <a:solidFill>
                  <a:schemeClr val="tx1"/>
                </a:solidFill>
              </a:rPr>
              <a:t>USER DATAGRAM PROTOCOL ( UDP ) </a:t>
            </a:r>
            <a:r>
              <a:rPr lang="en-US" dirty="0">
                <a:solidFill>
                  <a:schemeClr val="tx1"/>
                </a:solidFill>
              </a:rPr>
              <a:t>:</a:t>
            </a:r>
          </a:p>
          <a:p>
            <a:pPr algn="l"/>
            <a:r>
              <a:rPr lang="en-US" dirty="0">
                <a:solidFill>
                  <a:schemeClr val="tx1"/>
                </a:solidFill>
              </a:rPr>
              <a:t>It is a connectionless, unreliable transport protocol.  </a:t>
            </a:r>
            <a:endParaRPr lang="en-US" dirty="0" smtClean="0">
              <a:solidFill>
                <a:schemeClr val="tx1"/>
              </a:solidFill>
            </a:endParaRPr>
          </a:p>
          <a:p>
            <a:pPr algn="l"/>
            <a:r>
              <a:rPr lang="en-US" dirty="0" smtClean="0">
                <a:solidFill>
                  <a:schemeClr val="tx1"/>
                </a:solidFill>
              </a:rPr>
              <a:t>It </a:t>
            </a:r>
            <a:r>
              <a:rPr lang="en-US" dirty="0">
                <a:solidFill>
                  <a:schemeClr val="tx1"/>
                </a:solidFill>
              </a:rPr>
              <a:t>does not add anything to the services of IP except for providing process-to-process communication instead of host-to-host communication.  </a:t>
            </a:r>
          </a:p>
          <a:p>
            <a:pPr algn="l"/>
            <a:r>
              <a:rPr lang="en-US" dirty="0">
                <a:solidFill>
                  <a:schemeClr val="tx1"/>
                </a:solidFill>
              </a:rPr>
              <a:t>There is no flow control mechanism and three is no acknowledgment for received packets.  </a:t>
            </a:r>
            <a:endParaRPr lang="en-US" dirty="0" smtClean="0">
              <a:solidFill>
                <a:schemeClr val="tx1"/>
              </a:solidFill>
            </a:endParaRPr>
          </a:p>
          <a:p>
            <a:pPr algn="l"/>
            <a:r>
              <a:rPr lang="en-US" dirty="0" smtClean="0">
                <a:solidFill>
                  <a:schemeClr val="tx1"/>
                </a:solidFill>
              </a:rPr>
              <a:t>If </a:t>
            </a:r>
            <a:r>
              <a:rPr lang="en-US" dirty="0">
                <a:solidFill>
                  <a:schemeClr val="tx1"/>
                </a:solidFill>
              </a:rPr>
              <a:t>UDP detects an error in the received packet, it silently drops it.  </a:t>
            </a:r>
          </a:p>
          <a:p>
            <a:pPr algn="l"/>
            <a:r>
              <a:rPr lang="en-US" sz="2800" b="1" i="1" dirty="0">
                <a:solidFill>
                  <a:schemeClr val="tx1"/>
                </a:solidFill>
              </a:rPr>
              <a:t>If UDP is so powerless, why would a process want to use it ?  </a:t>
            </a:r>
          </a:p>
          <a:p>
            <a:pPr algn="l"/>
            <a:r>
              <a:rPr lang="en-US" dirty="0">
                <a:solidFill>
                  <a:schemeClr val="tx1"/>
                </a:solidFill>
              </a:rPr>
              <a:t>With the disadvantages, come some advantages.  </a:t>
            </a:r>
            <a:endParaRPr lang="en-US" dirty="0" smtClean="0">
              <a:solidFill>
                <a:schemeClr val="tx1"/>
              </a:solidFill>
            </a:endParaRPr>
          </a:p>
          <a:p>
            <a:pPr algn="l"/>
            <a:r>
              <a:rPr lang="en-US" dirty="0" smtClean="0">
                <a:solidFill>
                  <a:schemeClr val="tx1"/>
                </a:solidFill>
              </a:rPr>
              <a:t>UDP </a:t>
            </a:r>
            <a:r>
              <a:rPr lang="en-US" dirty="0">
                <a:solidFill>
                  <a:schemeClr val="tx1"/>
                </a:solidFill>
              </a:rPr>
              <a:t>is a very simple protocol using a minimum of overhead.  </a:t>
            </a:r>
            <a:endParaRPr lang="en-US" dirty="0" smtClean="0">
              <a:solidFill>
                <a:schemeClr val="tx1"/>
              </a:solidFill>
            </a:endParaRPr>
          </a:p>
          <a:p>
            <a:pPr algn="l"/>
            <a:r>
              <a:rPr lang="en-US" dirty="0" smtClean="0">
                <a:solidFill>
                  <a:schemeClr val="tx1"/>
                </a:solidFill>
              </a:rPr>
              <a:t>If </a:t>
            </a:r>
            <a:r>
              <a:rPr lang="en-US" dirty="0">
                <a:solidFill>
                  <a:schemeClr val="tx1"/>
                </a:solidFill>
              </a:rPr>
              <a:t>a process wants to send a small message and does not care much about reliability, it can use UDP.  </a:t>
            </a:r>
            <a:endParaRPr lang="en-US" dirty="0" smtClean="0">
              <a:solidFill>
                <a:schemeClr val="tx1"/>
              </a:solidFill>
            </a:endParaRPr>
          </a:p>
          <a:p>
            <a:pPr algn="l"/>
            <a:r>
              <a:rPr lang="en-US" dirty="0" smtClean="0">
                <a:solidFill>
                  <a:schemeClr val="tx1"/>
                </a:solidFill>
              </a:rPr>
              <a:t>Sending </a:t>
            </a:r>
            <a:r>
              <a:rPr lang="en-US" dirty="0">
                <a:solidFill>
                  <a:schemeClr val="tx1"/>
                </a:solidFill>
              </a:rPr>
              <a:t>a small message using UDP takes much less interaction between the sender and receiver than using TCP.</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User Datagram Protocol (UD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9753600"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6477090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USER DATAGRAM </a:t>
            </a:r>
            <a:r>
              <a:rPr lang="en-US" b="1" dirty="0" smtClean="0">
                <a:solidFill>
                  <a:schemeClr val="tx1"/>
                </a:solidFill>
              </a:rPr>
              <a:t>:</a:t>
            </a:r>
          </a:p>
          <a:p>
            <a:pPr algn="l"/>
            <a:r>
              <a:rPr lang="en-US" dirty="0">
                <a:solidFill>
                  <a:schemeClr val="tx1"/>
                </a:solidFill>
              </a:rPr>
              <a:t>UDP packets called datagrams, have a fixed size header of 8 bytes.</a:t>
            </a:r>
          </a:p>
          <a:p>
            <a:pPr algn="l"/>
            <a:endParaRPr lang="en-US" dirty="0" smtClean="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133600"/>
            <a:ext cx="8487916" cy="4409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smtClean="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57760"/>
            <a:ext cx="8570605" cy="5766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65599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Source port number </a:t>
            </a:r>
            <a:r>
              <a:rPr lang="en-US" dirty="0">
                <a:solidFill>
                  <a:schemeClr val="tx1"/>
                </a:solidFill>
              </a:rPr>
              <a:t>:  This is the port number used by the process running on the source host.  </a:t>
            </a:r>
            <a:endParaRPr lang="en-US" dirty="0" smtClean="0">
              <a:solidFill>
                <a:schemeClr val="tx1"/>
              </a:solidFill>
            </a:endParaRPr>
          </a:p>
          <a:p>
            <a:pPr algn="l"/>
            <a:r>
              <a:rPr lang="en-US" dirty="0" smtClean="0">
                <a:solidFill>
                  <a:schemeClr val="tx1"/>
                </a:solidFill>
              </a:rPr>
              <a:t>It </a:t>
            </a:r>
            <a:r>
              <a:rPr lang="en-US" dirty="0">
                <a:solidFill>
                  <a:schemeClr val="tx1"/>
                </a:solidFill>
              </a:rPr>
              <a:t>is 16 bits long, which means that the port number can range from 0 to 65535.</a:t>
            </a:r>
          </a:p>
          <a:p>
            <a:pPr algn="l"/>
            <a:r>
              <a:rPr lang="en-US" b="1" dirty="0">
                <a:solidFill>
                  <a:schemeClr val="tx1"/>
                </a:solidFill>
              </a:rPr>
              <a:t>Destination port number:   </a:t>
            </a:r>
            <a:r>
              <a:rPr lang="en-US" dirty="0">
                <a:solidFill>
                  <a:schemeClr val="tx1"/>
                </a:solidFill>
              </a:rPr>
              <a:t>This is the port number used by the process running on the destination host.  </a:t>
            </a:r>
            <a:endParaRPr lang="en-US" dirty="0" smtClean="0">
              <a:solidFill>
                <a:schemeClr val="tx1"/>
              </a:solidFill>
            </a:endParaRPr>
          </a:p>
          <a:p>
            <a:pPr algn="l"/>
            <a:r>
              <a:rPr lang="en-US" dirty="0" smtClean="0">
                <a:solidFill>
                  <a:schemeClr val="tx1"/>
                </a:solidFill>
              </a:rPr>
              <a:t>It </a:t>
            </a:r>
            <a:r>
              <a:rPr lang="en-US" dirty="0">
                <a:solidFill>
                  <a:schemeClr val="tx1"/>
                </a:solidFill>
              </a:rPr>
              <a:t>is also 16 bits long</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Length </a:t>
            </a:r>
            <a:r>
              <a:rPr lang="en-US" dirty="0">
                <a:solidFill>
                  <a:schemeClr val="tx1"/>
                </a:solidFill>
              </a:rPr>
              <a:t>:  This is a 16-bit field that defines the total length of the user datagram, header plus data.  </a:t>
            </a:r>
            <a:endParaRPr lang="en-US" dirty="0" smtClean="0">
              <a:solidFill>
                <a:schemeClr val="tx1"/>
              </a:solidFill>
            </a:endParaRPr>
          </a:p>
          <a:p>
            <a:pPr algn="l"/>
            <a:r>
              <a:rPr lang="en-US" dirty="0" smtClean="0">
                <a:solidFill>
                  <a:schemeClr val="tx1"/>
                </a:solidFill>
              </a:rPr>
              <a:t>The </a:t>
            </a:r>
            <a:r>
              <a:rPr lang="en-US" dirty="0">
                <a:solidFill>
                  <a:schemeClr val="tx1"/>
                </a:solidFill>
              </a:rPr>
              <a:t>16 bits can define a total length of  0 to 65535 bytes.  </a:t>
            </a:r>
            <a:endParaRPr lang="en-US" dirty="0" smtClean="0">
              <a:solidFill>
                <a:schemeClr val="tx1"/>
              </a:solidFill>
            </a:endParaRPr>
          </a:p>
          <a:p>
            <a:pPr algn="l"/>
            <a:r>
              <a:rPr lang="en-US" dirty="0" smtClean="0">
                <a:solidFill>
                  <a:schemeClr val="tx1"/>
                </a:solidFill>
              </a:rPr>
              <a:t>A </a:t>
            </a:r>
            <a:r>
              <a:rPr lang="en-US" dirty="0">
                <a:solidFill>
                  <a:schemeClr val="tx1"/>
                </a:solidFill>
              </a:rPr>
              <a:t>user datagram is encapsulated in an IP datagram.  </a:t>
            </a:r>
            <a:endParaRPr lang="en-US" dirty="0" smtClean="0">
              <a:solidFill>
                <a:schemeClr val="tx1"/>
              </a:solidFill>
            </a:endParaRPr>
          </a:p>
          <a:p>
            <a:pPr algn="l"/>
            <a:r>
              <a:rPr lang="en-US" dirty="0" smtClean="0">
                <a:solidFill>
                  <a:schemeClr val="tx1"/>
                </a:solidFill>
              </a:rPr>
              <a:t>There </a:t>
            </a:r>
            <a:r>
              <a:rPr lang="en-US" dirty="0">
                <a:solidFill>
                  <a:schemeClr val="tx1"/>
                </a:solidFill>
              </a:rPr>
              <a:t>is a field in the IP datagram, that defines the total length.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Checksum</a:t>
            </a:r>
            <a:r>
              <a:rPr lang="en-US" dirty="0">
                <a:solidFill>
                  <a:schemeClr val="tx1"/>
                </a:solidFill>
              </a:rPr>
              <a:t> :  This field is used to detect errors over the entire user datagram ( header plus data ).  </a:t>
            </a:r>
            <a:endParaRPr lang="en-US" dirty="0" smtClean="0">
              <a:solidFill>
                <a:schemeClr val="tx1"/>
              </a:solidFill>
            </a:endParaRPr>
          </a:p>
          <a:p>
            <a:pPr algn="l"/>
            <a:r>
              <a:rPr lang="en-US" dirty="0" smtClean="0">
                <a:solidFill>
                  <a:schemeClr val="tx1"/>
                </a:solidFill>
              </a:rPr>
              <a:t>The </a:t>
            </a:r>
            <a:r>
              <a:rPr lang="en-US" dirty="0">
                <a:solidFill>
                  <a:schemeClr val="tx1"/>
                </a:solidFill>
              </a:rPr>
              <a:t>calculation of checksum and its inclusion in a user datagram are optional.  If the checksum is not calculated, the field is filled with 0’s</a:t>
            </a:r>
            <a:r>
              <a:rPr lang="en-US" dirty="0" smtClean="0">
                <a:solidFill>
                  <a:schemeClr val="tx1"/>
                </a:solidFill>
              </a:rPr>
              <a:t>.</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195" name="Group 2"/>
          <p:cNvGrpSpPr>
            <a:grpSpLocks/>
          </p:cNvGrpSpPr>
          <p:nvPr/>
        </p:nvGrpSpPr>
        <p:grpSpPr bwMode="auto">
          <a:xfrm>
            <a:off x="0" y="0"/>
            <a:ext cx="8686800" cy="6400800"/>
            <a:chOff x="0" y="96"/>
            <a:chExt cx="5472" cy="3840"/>
          </a:xfrm>
        </p:grpSpPr>
        <p:sp>
          <p:nvSpPr>
            <p:cNvPr id="8200"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itchFamily="18" charset="0"/>
              </a:endParaRPr>
            </a:p>
          </p:txBody>
        </p:sp>
        <p:sp>
          <p:nvSpPr>
            <p:cNvPr id="8201" name="AutoShape 4"/>
            <p:cNvSpPr>
              <a:spLocks noChangeArrowheads="1"/>
            </p:cNvSpPr>
            <p:nvPr/>
          </p:nvSpPr>
          <p:spPr bwMode="blackWhite">
            <a:xfrm>
              <a:off x="0" y="96"/>
              <a:ext cx="5376" cy="768"/>
            </a:xfrm>
            <a:custGeom>
              <a:avLst/>
              <a:gdLst>
                <a:gd name="T0" fmla="*/ 0 w 7000"/>
                <a:gd name="T1" fmla="*/ 0 h 1000"/>
                <a:gd name="T2" fmla="*/ 25471 w 7000"/>
                <a:gd name="T3" fmla="*/ 0 h 1000"/>
                <a:gd name="T4" fmla="*/ 27539 w 7000"/>
                <a:gd name="T5" fmla="*/ 295 h 1000"/>
                <a:gd name="T6" fmla="*/ 25475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169" y="0"/>
                  </a:lnTo>
                  <a:cubicBezTo>
                    <a:pt x="6446" y="0"/>
                    <a:pt x="6670" y="223"/>
                    <a:pt x="6670" y="500"/>
                  </a:cubicBezTo>
                  <a:cubicBezTo>
                    <a:pt x="6670" y="776"/>
                    <a:pt x="6446" y="999"/>
                    <a:pt x="617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8202"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8196" name="Text Box 6"/>
          <p:cNvSpPr txBox="1">
            <a:spLocks noChangeArrowheads="1"/>
          </p:cNvSpPr>
          <p:nvPr/>
        </p:nvSpPr>
        <p:spPr bwMode="auto">
          <a:xfrm>
            <a:off x="228600" y="354013"/>
            <a:ext cx="4095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ahoma" pitchFamily="34" charset="0"/>
              </a:defRPr>
            </a:lvl1pPr>
            <a:lvl2pPr marL="742950" indent="-285750">
              <a:defRPr sz="2800" b="1">
                <a:solidFill>
                  <a:schemeClr val="tx1"/>
                </a:solidFill>
                <a:latin typeface="Tahoma" pitchFamily="34" charset="0"/>
              </a:defRPr>
            </a:lvl2pPr>
            <a:lvl3pPr marL="1143000" indent="-228600">
              <a:defRPr sz="2800" b="1">
                <a:solidFill>
                  <a:schemeClr val="tx1"/>
                </a:solidFill>
                <a:latin typeface="Tahoma" pitchFamily="34" charset="0"/>
              </a:defRPr>
            </a:lvl3pPr>
            <a:lvl4pPr marL="1600200" indent="-228600">
              <a:defRPr sz="2800" b="1">
                <a:solidFill>
                  <a:schemeClr val="tx1"/>
                </a:solidFill>
                <a:latin typeface="Tahoma" pitchFamily="34" charset="0"/>
              </a:defRPr>
            </a:lvl4pPr>
            <a:lvl5pPr marL="2057400" indent="-228600">
              <a:defRPr sz="2800" b="1">
                <a:solidFill>
                  <a:schemeClr val="tx1"/>
                </a:solidFill>
                <a:latin typeface="Tahoma" pitchFamily="34" charset="0"/>
              </a:defRPr>
            </a:lvl5pPr>
            <a:lvl6pPr marL="2514600" indent="-228600" eaLnBrk="0" fontAlgn="base" hangingPunct="0">
              <a:spcBef>
                <a:spcPct val="0"/>
              </a:spcBef>
              <a:spcAft>
                <a:spcPct val="0"/>
              </a:spcAft>
              <a:defRPr sz="2800" b="1">
                <a:solidFill>
                  <a:schemeClr val="tx1"/>
                </a:solidFill>
                <a:latin typeface="Tahoma" pitchFamily="34" charset="0"/>
              </a:defRPr>
            </a:lvl6pPr>
            <a:lvl7pPr marL="2971800" indent="-228600" eaLnBrk="0" fontAlgn="base" hangingPunct="0">
              <a:spcBef>
                <a:spcPct val="0"/>
              </a:spcBef>
              <a:spcAft>
                <a:spcPct val="0"/>
              </a:spcAft>
              <a:defRPr sz="2800" b="1">
                <a:solidFill>
                  <a:schemeClr val="tx1"/>
                </a:solidFill>
                <a:latin typeface="Tahoma" pitchFamily="34" charset="0"/>
              </a:defRPr>
            </a:lvl7pPr>
            <a:lvl8pPr marL="3429000" indent="-228600" eaLnBrk="0" fontAlgn="base" hangingPunct="0">
              <a:spcBef>
                <a:spcPct val="0"/>
              </a:spcBef>
              <a:spcAft>
                <a:spcPct val="0"/>
              </a:spcAft>
              <a:defRPr sz="2800" b="1">
                <a:solidFill>
                  <a:schemeClr val="tx1"/>
                </a:solidFill>
                <a:latin typeface="Tahoma" pitchFamily="34" charset="0"/>
              </a:defRPr>
            </a:lvl8pPr>
            <a:lvl9pPr marL="3886200" indent="-228600" eaLnBrk="0" fontAlgn="base" hangingPunct="0">
              <a:spcBef>
                <a:spcPct val="0"/>
              </a:spcBef>
              <a:spcAft>
                <a:spcPct val="0"/>
              </a:spcAft>
              <a:defRPr sz="2800" b="1">
                <a:solidFill>
                  <a:schemeClr val="tx1"/>
                </a:solidFill>
                <a:latin typeface="Tahoma" pitchFamily="34" charset="0"/>
              </a:defRPr>
            </a:lvl9pPr>
          </a:lstStyle>
          <a:p>
            <a:r>
              <a:rPr lang="en-US" sz="3600">
                <a:solidFill>
                  <a:schemeClr val="bg1"/>
                </a:solidFill>
                <a:latin typeface="Arial" charset="0"/>
              </a:rPr>
              <a:t>11.3   CHECKSUM</a:t>
            </a:r>
          </a:p>
        </p:txBody>
      </p:sp>
      <p:sp>
        <p:nvSpPr>
          <p:cNvPr id="475143" name="Rectangle 7"/>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defRPr/>
            </a:pPr>
            <a:r>
              <a:rPr lang="en-US" sz="2000" i="1">
                <a:effectLst>
                  <a:outerShdw blurRad="38100" dist="38100" dir="2700000" algn="tl">
                    <a:srgbClr val="C0C0C0"/>
                  </a:outerShdw>
                </a:effectLst>
                <a:latin typeface="Times New Roman" pitchFamily="18" charset="0"/>
              </a:rPr>
              <a:t>UDP checksum calculation is different from the one for IP and ICMP. Here the checksum includes three sections: a pseudoheader, the UDP header, and the data coming from the application layer.</a:t>
            </a:r>
          </a:p>
        </p:txBody>
      </p:sp>
      <p:sp>
        <p:nvSpPr>
          <p:cNvPr id="2" name="Footer Placeholder 1"/>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5381169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itchFamily="34" charset="0"/>
              </a:defRPr>
            </a:lvl1pPr>
            <a:lvl2pPr marL="742950" indent="-285750">
              <a:defRPr sz="2800" b="1">
                <a:solidFill>
                  <a:schemeClr val="tx1"/>
                </a:solidFill>
                <a:latin typeface="Tahoma" pitchFamily="34" charset="0"/>
              </a:defRPr>
            </a:lvl2pPr>
            <a:lvl3pPr marL="1143000" indent="-228600">
              <a:defRPr sz="2800" b="1">
                <a:solidFill>
                  <a:schemeClr val="tx1"/>
                </a:solidFill>
                <a:latin typeface="Tahoma" pitchFamily="34" charset="0"/>
              </a:defRPr>
            </a:lvl3pPr>
            <a:lvl4pPr marL="1600200" indent="-228600">
              <a:defRPr sz="2800" b="1">
                <a:solidFill>
                  <a:schemeClr val="tx1"/>
                </a:solidFill>
                <a:latin typeface="Tahoma" pitchFamily="34" charset="0"/>
              </a:defRPr>
            </a:lvl4pPr>
            <a:lvl5pPr marL="2057400" indent="-228600">
              <a:defRPr sz="2800" b="1">
                <a:solidFill>
                  <a:schemeClr val="tx1"/>
                </a:solidFill>
                <a:latin typeface="Tahoma" pitchFamily="34" charset="0"/>
              </a:defRPr>
            </a:lvl5pPr>
            <a:lvl6pPr marL="2514600" indent="-228600" eaLnBrk="0" fontAlgn="base" hangingPunct="0">
              <a:spcBef>
                <a:spcPct val="0"/>
              </a:spcBef>
              <a:spcAft>
                <a:spcPct val="0"/>
              </a:spcAft>
              <a:defRPr sz="2800" b="1">
                <a:solidFill>
                  <a:schemeClr val="tx1"/>
                </a:solidFill>
                <a:latin typeface="Tahoma" pitchFamily="34" charset="0"/>
              </a:defRPr>
            </a:lvl6pPr>
            <a:lvl7pPr marL="2971800" indent="-228600" eaLnBrk="0" fontAlgn="base" hangingPunct="0">
              <a:spcBef>
                <a:spcPct val="0"/>
              </a:spcBef>
              <a:spcAft>
                <a:spcPct val="0"/>
              </a:spcAft>
              <a:defRPr sz="2800" b="1">
                <a:solidFill>
                  <a:schemeClr val="tx1"/>
                </a:solidFill>
                <a:latin typeface="Tahoma" pitchFamily="34" charset="0"/>
              </a:defRPr>
            </a:lvl7pPr>
            <a:lvl8pPr marL="3429000" indent="-228600" eaLnBrk="0" fontAlgn="base" hangingPunct="0">
              <a:spcBef>
                <a:spcPct val="0"/>
              </a:spcBef>
              <a:spcAft>
                <a:spcPct val="0"/>
              </a:spcAft>
              <a:defRPr sz="2800" b="1">
                <a:solidFill>
                  <a:schemeClr val="tx1"/>
                </a:solidFill>
                <a:latin typeface="Tahoma" pitchFamily="34" charset="0"/>
              </a:defRPr>
            </a:lvl8pPr>
            <a:lvl9pPr marL="3886200" indent="-228600" eaLnBrk="0" fontAlgn="base" hangingPunct="0">
              <a:spcBef>
                <a:spcPct val="0"/>
              </a:spcBef>
              <a:spcAft>
                <a:spcPct val="0"/>
              </a:spcAft>
              <a:defRPr sz="2800" b="1">
                <a:solidFill>
                  <a:schemeClr val="tx1"/>
                </a:solidFill>
                <a:latin typeface="Tahoma" pitchFamily="34" charset="0"/>
              </a:defRPr>
            </a:lvl9pPr>
          </a:lstStyle>
          <a:p>
            <a:r>
              <a:rPr lang="en-US" altLang="en-US" sz="1800">
                <a:solidFill>
                  <a:srgbClr val="0000FF"/>
                </a:solidFill>
                <a:latin typeface="Times New Roman" pitchFamily="18" charset="0"/>
              </a:rPr>
              <a:t>Figure 11.8</a:t>
            </a:r>
            <a:r>
              <a:rPr lang="en-US" altLang="en-US" sz="1800">
                <a:solidFill>
                  <a:schemeClr val="accent2"/>
                </a:solidFill>
                <a:latin typeface="Times New Roman" pitchFamily="18" charset="0"/>
              </a:rPr>
              <a:t>    </a:t>
            </a:r>
            <a:r>
              <a:rPr lang="en-US" altLang="en-US" sz="1800" i="1">
                <a:latin typeface="Times New Roman" pitchFamily="18" charset="0"/>
              </a:rPr>
              <a:t>Pseudoheader for checksum calculation</a:t>
            </a:r>
          </a:p>
        </p:txBody>
      </p:sp>
      <p:sp>
        <p:nvSpPr>
          <p:cNvPr id="922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922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922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922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922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922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922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pic>
        <p:nvPicPr>
          <p:cNvPr id="922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36663"/>
            <a:ext cx="7404100" cy="447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29668798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990600" y="90488"/>
            <a:ext cx="78486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itchFamily="34" charset="0"/>
              </a:defRPr>
            </a:lvl1pPr>
            <a:lvl2pPr marL="742950" indent="-285750">
              <a:defRPr sz="2800" b="1">
                <a:solidFill>
                  <a:schemeClr val="tx1"/>
                </a:solidFill>
                <a:latin typeface="Tahoma" pitchFamily="34" charset="0"/>
              </a:defRPr>
            </a:lvl2pPr>
            <a:lvl3pPr marL="1143000" indent="-228600">
              <a:defRPr sz="2800" b="1">
                <a:solidFill>
                  <a:schemeClr val="tx1"/>
                </a:solidFill>
                <a:latin typeface="Tahoma" pitchFamily="34" charset="0"/>
              </a:defRPr>
            </a:lvl3pPr>
            <a:lvl4pPr marL="1600200" indent="-228600">
              <a:defRPr sz="2800" b="1">
                <a:solidFill>
                  <a:schemeClr val="tx1"/>
                </a:solidFill>
                <a:latin typeface="Tahoma" pitchFamily="34" charset="0"/>
              </a:defRPr>
            </a:lvl4pPr>
            <a:lvl5pPr marL="2057400" indent="-228600">
              <a:defRPr sz="2800" b="1">
                <a:solidFill>
                  <a:schemeClr val="tx1"/>
                </a:solidFill>
                <a:latin typeface="Tahoma" pitchFamily="34" charset="0"/>
              </a:defRPr>
            </a:lvl5pPr>
            <a:lvl6pPr marL="2514600" indent="-228600" eaLnBrk="0" fontAlgn="base" hangingPunct="0">
              <a:spcBef>
                <a:spcPct val="0"/>
              </a:spcBef>
              <a:spcAft>
                <a:spcPct val="0"/>
              </a:spcAft>
              <a:defRPr sz="2800" b="1">
                <a:solidFill>
                  <a:schemeClr val="tx1"/>
                </a:solidFill>
                <a:latin typeface="Tahoma" pitchFamily="34" charset="0"/>
              </a:defRPr>
            </a:lvl6pPr>
            <a:lvl7pPr marL="2971800" indent="-228600" eaLnBrk="0" fontAlgn="base" hangingPunct="0">
              <a:spcBef>
                <a:spcPct val="0"/>
              </a:spcBef>
              <a:spcAft>
                <a:spcPct val="0"/>
              </a:spcAft>
              <a:defRPr sz="2800" b="1">
                <a:solidFill>
                  <a:schemeClr val="tx1"/>
                </a:solidFill>
                <a:latin typeface="Tahoma" pitchFamily="34" charset="0"/>
              </a:defRPr>
            </a:lvl7pPr>
            <a:lvl8pPr marL="3429000" indent="-228600" eaLnBrk="0" fontAlgn="base" hangingPunct="0">
              <a:spcBef>
                <a:spcPct val="0"/>
              </a:spcBef>
              <a:spcAft>
                <a:spcPct val="0"/>
              </a:spcAft>
              <a:defRPr sz="2800" b="1">
                <a:solidFill>
                  <a:schemeClr val="tx1"/>
                </a:solidFill>
                <a:latin typeface="Tahoma" pitchFamily="34" charset="0"/>
              </a:defRPr>
            </a:lvl8pPr>
            <a:lvl9pPr marL="3886200" indent="-228600" eaLnBrk="0" fontAlgn="base" hangingPunct="0">
              <a:spcBef>
                <a:spcPct val="0"/>
              </a:spcBef>
              <a:spcAft>
                <a:spcPct val="0"/>
              </a:spcAft>
              <a:defRPr sz="2800" b="1">
                <a:solidFill>
                  <a:schemeClr val="tx1"/>
                </a:solidFill>
                <a:latin typeface="Tahoma" pitchFamily="34" charset="0"/>
              </a:defRPr>
            </a:lvl9pPr>
          </a:lstStyle>
          <a:p>
            <a:r>
              <a:rPr lang="en-US" altLang="en-US" sz="1800">
                <a:solidFill>
                  <a:srgbClr val="0000FF"/>
                </a:solidFill>
                <a:latin typeface="Times New Roman" pitchFamily="18" charset="0"/>
              </a:rPr>
              <a:t>Figure 11.9</a:t>
            </a:r>
            <a:r>
              <a:rPr lang="en-US" altLang="en-US" sz="1800" i="1">
                <a:latin typeface="Times New Roman" pitchFamily="18" charset="0"/>
              </a:rPr>
              <a:t>    Checksum calculation of a simple UDP user datagram</a:t>
            </a:r>
          </a:p>
        </p:txBody>
      </p:sp>
      <p:sp>
        <p:nvSpPr>
          <p:cNvPr id="1024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1024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1024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1024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1024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1024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sp>
        <p:nvSpPr>
          <p:cNvPr id="1025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a:p>
        </p:txBody>
      </p:sp>
      <p:pic>
        <p:nvPicPr>
          <p:cNvPr id="10251"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1890713"/>
            <a:ext cx="8601075" cy="374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25585881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914400"/>
            <a:ext cx="7391400" cy="2585323"/>
          </a:xfrm>
          <a:prstGeom prst="rect">
            <a:avLst/>
          </a:prstGeom>
        </p:spPr>
        <p:txBody>
          <a:bodyPr wrap="square">
            <a:spAutoFit/>
          </a:bodyPr>
          <a:lstStyle/>
          <a:p>
            <a:r>
              <a:rPr lang="en-US" dirty="0"/>
              <a:t>Example :   A dump UDP header in hexadecimal format.</a:t>
            </a:r>
          </a:p>
          <a:p>
            <a:r>
              <a:rPr lang="en-US" dirty="0"/>
              <a:t>CB84,000D,001C,001C</a:t>
            </a:r>
          </a:p>
          <a:p>
            <a:r>
              <a:rPr lang="en-US" dirty="0"/>
              <a:t>Source port no.    		 	( CB84 </a:t>
            </a:r>
            <a:r>
              <a:rPr lang="en-US" baseline="-25000" dirty="0"/>
              <a:t>16</a:t>
            </a:r>
            <a:r>
              <a:rPr lang="en-US" dirty="0"/>
              <a:t> )  =  52100.</a:t>
            </a:r>
          </a:p>
          <a:p>
            <a:r>
              <a:rPr lang="en-US" dirty="0"/>
              <a:t>Destination port no.   		( 000d </a:t>
            </a:r>
            <a:r>
              <a:rPr lang="en-US" baseline="-25000" dirty="0"/>
              <a:t>16</a:t>
            </a:r>
            <a:r>
              <a:rPr lang="en-US" dirty="0"/>
              <a:t> )  =  13.</a:t>
            </a:r>
          </a:p>
          <a:p>
            <a:r>
              <a:rPr lang="en-US" dirty="0"/>
              <a:t>Total length of user datagram.     	( 001C </a:t>
            </a:r>
            <a:r>
              <a:rPr lang="en-US" baseline="-25000" dirty="0"/>
              <a:t>16</a:t>
            </a:r>
            <a:r>
              <a:rPr lang="en-US" dirty="0"/>
              <a:t> )  =  28 bytes.</a:t>
            </a:r>
          </a:p>
          <a:p>
            <a:r>
              <a:rPr lang="en-US" dirty="0"/>
              <a:t>Length of data :			28 – 8 = 20 bytes.</a:t>
            </a:r>
          </a:p>
          <a:p>
            <a:r>
              <a:rPr lang="en-US" dirty="0"/>
              <a:t>Destination port is 13 :		the packet is from client to 					server.</a:t>
            </a:r>
          </a:p>
          <a:p>
            <a:r>
              <a:rPr lang="en-US" dirty="0"/>
              <a:t>The client process is the :   	Daytime.</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4401183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sz="3600" b="1" dirty="0">
                <a:solidFill>
                  <a:schemeClr val="tx1"/>
                </a:solidFill>
              </a:rPr>
              <a:t>One Question </a:t>
            </a:r>
            <a:r>
              <a:rPr lang="en-US" dirty="0">
                <a:solidFill>
                  <a:schemeClr val="tx1"/>
                </a:solidFill>
              </a:rPr>
              <a:t>:  </a:t>
            </a:r>
            <a:r>
              <a:rPr lang="en-US" b="1" i="1" dirty="0">
                <a:solidFill>
                  <a:schemeClr val="tx1"/>
                </a:solidFill>
              </a:rPr>
              <a:t>The data link layer is reliable and has flow and error control, do we need this at the transport layer, too?</a:t>
            </a:r>
          </a:p>
          <a:p>
            <a:pPr algn="l"/>
            <a:r>
              <a:rPr lang="en-US" dirty="0">
                <a:solidFill>
                  <a:schemeClr val="tx1"/>
                </a:solidFill>
              </a:rPr>
              <a:t>Answer is </a:t>
            </a:r>
            <a:r>
              <a:rPr lang="en-US" b="1" dirty="0">
                <a:solidFill>
                  <a:schemeClr val="tx1"/>
                </a:solidFill>
              </a:rPr>
              <a:t>Yes</a:t>
            </a:r>
            <a:r>
              <a:rPr lang="en-US" dirty="0">
                <a:solidFill>
                  <a:schemeClr val="tx1"/>
                </a:solidFill>
              </a:rPr>
              <a:t>.   Reliability at the data link layer is between two nodes; we need reliability between two ends.  </a:t>
            </a:r>
            <a:endParaRPr lang="en-US" dirty="0" smtClean="0">
              <a:solidFill>
                <a:schemeClr val="tx1"/>
              </a:solidFill>
            </a:endParaRPr>
          </a:p>
          <a:p>
            <a:pPr algn="l"/>
            <a:r>
              <a:rPr lang="en-US" dirty="0" smtClean="0">
                <a:solidFill>
                  <a:schemeClr val="tx1"/>
                </a:solidFill>
              </a:rPr>
              <a:t>Because </a:t>
            </a:r>
            <a:r>
              <a:rPr lang="en-US" dirty="0">
                <a:solidFill>
                  <a:schemeClr val="tx1"/>
                </a:solidFill>
              </a:rPr>
              <a:t>the network layer in the internet is unreliable (best-effort-delivery), we need to implement reliability at the transport layer.  </a:t>
            </a:r>
            <a:endParaRPr lang="en-US" dirty="0" smtClean="0">
              <a:solidFill>
                <a:schemeClr val="tx1"/>
              </a:solidFill>
            </a:endParaRPr>
          </a:p>
          <a:p>
            <a:pPr algn="l"/>
            <a:r>
              <a:rPr lang="en-US" dirty="0" smtClean="0">
                <a:solidFill>
                  <a:schemeClr val="tx1"/>
                </a:solidFill>
              </a:rPr>
              <a:t>To </a:t>
            </a:r>
            <a:r>
              <a:rPr lang="en-US" dirty="0">
                <a:solidFill>
                  <a:schemeClr val="tx1"/>
                </a:solidFill>
              </a:rPr>
              <a:t>understand that error control at the data link layer does not guarantee error control at the transport layer will be cleared by the given figure given below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82466"/>
            <a:ext cx="8382000" cy="6293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553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7"/>
                                        </p:tgtEl>
                                        <p:attrNameLst>
                                          <p:attrName>style.visibility</p:attrName>
                                        </p:attrNameLst>
                                      </p:cBhvr>
                                      <p:to>
                                        <p:strVal val="visible"/>
                                      </p:to>
                                    </p:set>
                                    <p:anim calcmode="lin" valueType="num">
                                      <p:cBhvr additive="base">
                                        <p:cTn id="13" dur="500" fill="hold"/>
                                        <p:tgtEl>
                                          <p:spTgt spid="1027"/>
                                        </p:tgtEl>
                                        <p:attrNameLst>
                                          <p:attrName>ppt_x</p:attrName>
                                        </p:attrNameLst>
                                      </p:cBhvr>
                                      <p:tavLst>
                                        <p:tav tm="0">
                                          <p:val>
                                            <p:strVal val="#ppt_x"/>
                                          </p:val>
                                        </p:tav>
                                        <p:tav tm="100000">
                                          <p:val>
                                            <p:strVal val="#ppt_x"/>
                                          </p:val>
                                        </p:tav>
                                      </p:tavLst>
                                    </p:anim>
                                    <p:anim calcmode="lin" valueType="num">
                                      <p:cBhvr additive="base">
                                        <p:cTn id="14"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TRANSMISSIOIN CONTROL PROTOCOL (TCP) </a:t>
            </a:r>
            <a:r>
              <a:rPr lang="en-US" dirty="0" smtClean="0">
                <a:solidFill>
                  <a:schemeClr val="tx1"/>
                </a:solidFill>
              </a:rPr>
              <a:t>:</a:t>
            </a:r>
          </a:p>
          <a:p>
            <a:pPr algn="l"/>
            <a:endParaRPr lang="en-US" dirty="0">
              <a:solidFill>
                <a:schemeClr val="tx1"/>
              </a:solidFill>
            </a:endParaRPr>
          </a:p>
        </p:txBody>
      </p:sp>
      <p:sp>
        <p:nvSpPr>
          <p:cNvPr id="4" name="Footer Placeholder 3"/>
          <p:cNvSpPr>
            <a:spLocks noGrp="1"/>
          </p:cNvSpPr>
          <p:nvPr>
            <p:ph type="ftr" sz="quarter" idx="11"/>
          </p:nvPr>
        </p:nvSpPr>
        <p:spPr/>
        <p:txBody>
          <a:bodyPr/>
          <a:lstStyle/>
          <a:p>
            <a:r>
              <a:rPr lang="en-US" smtClean="0"/>
              <a:t>SCR</a:t>
            </a:r>
            <a:endParaRPr lang="en-US"/>
          </a:p>
        </p:txBody>
      </p:sp>
      <p:pic>
        <p:nvPicPr>
          <p:cNvPr id="3" name="Picture 2" descr="C:\Users\sanju\Desktop\COMPUTER NETWORK\TRANSPORT LAYER\20150906_114647.jpg"/>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8305800" cy="5257800"/>
          </a:xfrm>
          <a:prstGeom prst="rect">
            <a:avLst/>
          </a:prstGeom>
          <a:noFill/>
          <a:ln>
            <a:noFill/>
          </a:ln>
        </p:spPr>
      </p:pic>
    </p:spTree>
    <p:extLst>
      <p:ext uri="{BB962C8B-B14F-4D97-AF65-F5344CB8AC3E}">
        <p14:creationId xmlns:p14="http://schemas.microsoft.com/office/powerpoint/2010/main" val="7982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28767"/>
            <a:ext cx="8343603" cy="6200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2"/>
                                        </p:tgtEl>
                                        <p:attrNameLst>
                                          <p:attrName>style.visibility</p:attrName>
                                        </p:attrNameLst>
                                      </p:cBhvr>
                                      <p:to>
                                        <p:strVal val="visible"/>
                                      </p:to>
                                    </p:set>
                                    <p:anim calcmode="lin" valueType="num">
                                      <p:cBhvr additive="base">
                                        <p:cTn id="13" dur="500" fill="hold"/>
                                        <p:tgtEl>
                                          <p:spTgt spid="5122"/>
                                        </p:tgtEl>
                                        <p:attrNameLst>
                                          <p:attrName>ppt_x</p:attrName>
                                        </p:attrNameLst>
                                      </p:cBhvr>
                                      <p:tavLst>
                                        <p:tav tm="0">
                                          <p:val>
                                            <p:strVal val="#ppt_x"/>
                                          </p:val>
                                        </p:tav>
                                        <p:tav tm="100000">
                                          <p:val>
                                            <p:strVal val="#ppt_x"/>
                                          </p:val>
                                        </p:tav>
                                      </p:tavLst>
                                    </p:anim>
                                    <p:anim calcmode="lin" valueType="num">
                                      <p:cBhvr additive="base">
                                        <p:cTn id="14"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dirty="0">
                <a:solidFill>
                  <a:schemeClr val="tx1"/>
                </a:solidFill>
              </a:rPr>
              <a:t>The segment consists of a 20 to  60 byte header, followed by data from the application program.  </a:t>
            </a:r>
            <a:endParaRPr lang="en-US" dirty="0" smtClean="0">
              <a:solidFill>
                <a:schemeClr val="tx1"/>
              </a:solidFill>
            </a:endParaRPr>
          </a:p>
          <a:p>
            <a:pPr algn="l"/>
            <a:r>
              <a:rPr lang="en-US" dirty="0" smtClean="0">
                <a:solidFill>
                  <a:schemeClr val="tx1"/>
                </a:solidFill>
              </a:rPr>
              <a:t>The </a:t>
            </a:r>
            <a:r>
              <a:rPr lang="en-US" dirty="0">
                <a:solidFill>
                  <a:schemeClr val="tx1"/>
                </a:solidFill>
              </a:rPr>
              <a:t>header is 20 bytes, if there are no options and up to 60 bytes, if it contains options.</a:t>
            </a:r>
          </a:p>
          <a:p>
            <a:pPr algn="l"/>
            <a:r>
              <a:rPr lang="en-US" sz="3600" b="1" dirty="0">
                <a:solidFill>
                  <a:schemeClr val="tx1"/>
                </a:solidFill>
              </a:rPr>
              <a:t>Source port address </a:t>
            </a:r>
            <a:r>
              <a:rPr lang="en-US" dirty="0">
                <a:solidFill>
                  <a:schemeClr val="tx1"/>
                </a:solidFill>
              </a:rPr>
              <a:t>:  </a:t>
            </a:r>
            <a:endParaRPr lang="en-US" dirty="0" smtClean="0">
              <a:solidFill>
                <a:schemeClr val="tx1"/>
              </a:solidFill>
            </a:endParaRPr>
          </a:p>
          <a:p>
            <a:pPr algn="l"/>
            <a:r>
              <a:rPr lang="en-US" dirty="0" smtClean="0">
                <a:solidFill>
                  <a:schemeClr val="tx1"/>
                </a:solidFill>
              </a:rPr>
              <a:t>This </a:t>
            </a:r>
            <a:r>
              <a:rPr lang="en-US" dirty="0">
                <a:solidFill>
                  <a:schemeClr val="tx1"/>
                </a:solidFill>
              </a:rPr>
              <a:t>is a 16-bit field that defines the port number of the application program in the host that is sending the segment. </a:t>
            </a:r>
          </a:p>
          <a:p>
            <a:pPr algn="l"/>
            <a:r>
              <a:rPr lang="en-US" sz="3600" b="1" dirty="0">
                <a:solidFill>
                  <a:schemeClr val="tx1"/>
                </a:solidFill>
              </a:rPr>
              <a:t>Destination port address </a:t>
            </a:r>
            <a:r>
              <a:rPr lang="en-US" dirty="0">
                <a:solidFill>
                  <a:schemeClr val="tx1"/>
                </a:solidFill>
              </a:rPr>
              <a:t>:   This is a 16-bit field that defines the port number of the application program in the host that is receiving the segment.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10000"/>
          </a:bodyPr>
          <a:lstStyle/>
          <a:p>
            <a:pPr algn="l"/>
            <a:r>
              <a:rPr lang="en-US" sz="3600" b="1" dirty="0">
                <a:solidFill>
                  <a:schemeClr val="tx1"/>
                </a:solidFill>
              </a:rPr>
              <a:t>Sequence number :   </a:t>
            </a:r>
            <a:endParaRPr lang="en-US" sz="3600" b="1" dirty="0" smtClean="0">
              <a:solidFill>
                <a:schemeClr val="tx1"/>
              </a:solidFill>
            </a:endParaRPr>
          </a:p>
          <a:p>
            <a:pPr algn="l"/>
            <a:r>
              <a:rPr lang="en-US" dirty="0" smtClean="0">
                <a:solidFill>
                  <a:schemeClr val="tx1"/>
                </a:solidFill>
              </a:rPr>
              <a:t>This </a:t>
            </a:r>
            <a:r>
              <a:rPr lang="en-US" dirty="0">
                <a:solidFill>
                  <a:schemeClr val="tx1"/>
                </a:solidFill>
              </a:rPr>
              <a:t>32-bit field defines the number assigned to the first byte of data contained in this segment.  </a:t>
            </a:r>
            <a:endParaRPr lang="en-US" dirty="0" smtClean="0">
              <a:solidFill>
                <a:schemeClr val="tx1"/>
              </a:solidFill>
            </a:endParaRPr>
          </a:p>
          <a:p>
            <a:pPr algn="l"/>
            <a:r>
              <a:rPr lang="en-US" dirty="0" smtClean="0">
                <a:solidFill>
                  <a:schemeClr val="tx1"/>
                </a:solidFill>
              </a:rPr>
              <a:t>As </a:t>
            </a:r>
            <a:r>
              <a:rPr lang="en-US" dirty="0">
                <a:solidFill>
                  <a:schemeClr val="tx1"/>
                </a:solidFill>
              </a:rPr>
              <a:t>it is said before, TCP</a:t>
            </a:r>
            <a:r>
              <a:rPr lang="en-US" dirty="0" smtClean="0">
                <a:solidFill>
                  <a:schemeClr val="tx1"/>
                </a:solidFill>
              </a:rPr>
              <a:t>;  </a:t>
            </a:r>
            <a:r>
              <a:rPr lang="en-US" dirty="0">
                <a:solidFill>
                  <a:schemeClr val="tx1"/>
                </a:solidFill>
              </a:rPr>
              <a:t>is a stream transport protocol.  </a:t>
            </a:r>
            <a:endParaRPr lang="en-US" dirty="0" smtClean="0">
              <a:solidFill>
                <a:schemeClr val="tx1"/>
              </a:solidFill>
            </a:endParaRPr>
          </a:p>
          <a:p>
            <a:pPr algn="l"/>
            <a:r>
              <a:rPr lang="en-US" dirty="0" smtClean="0">
                <a:solidFill>
                  <a:schemeClr val="tx1"/>
                </a:solidFill>
              </a:rPr>
              <a:t>To </a:t>
            </a:r>
            <a:r>
              <a:rPr lang="en-US" dirty="0">
                <a:solidFill>
                  <a:schemeClr val="tx1"/>
                </a:solidFill>
              </a:rPr>
              <a:t>ensure connectivity, each byte to be transmitted is numbered.  </a:t>
            </a:r>
            <a:endParaRPr lang="en-US" dirty="0" smtClean="0">
              <a:solidFill>
                <a:schemeClr val="tx1"/>
              </a:solidFill>
            </a:endParaRPr>
          </a:p>
          <a:p>
            <a:pPr algn="l"/>
            <a:r>
              <a:rPr lang="en-US" dirty="0" smtClean="0">
                <a:solidFill>
                  <a:schemeClr val="tx1"/>
                </a:solidFill>
              </a:rPr>
              <a:t>The </a:t>
            </a:r>
            <a:r>
              <a:rPr lang="en-US" dirty="0">
                <a:solidFill>
                  <a:schemeClr val="tx1"/>
                </a:solidFill>
              </a:rPr>
              <a:t>sequence number tells the destination which byte in this sequence is the first byte in the segment.  </a:t>
            </a:r>
            <a:endParaRPr lang="en-US" dirty="0" smtClean="0">
              <a:solidFill>
                <a:schemeClr val="tx1"/>
              </a:solidFill>
            </a:endParaRPr>
          </a:p>
          <a:p>
            <a:pPr algn="l"/>
            <a:r>
              <a:rPr lang="en-US" dirty="0" smtClean="0">
                <a:solidFill>
                  <a:schemeClr val="tx1"/>
                </a:solidFill>
              </a:rPr>
              <a:t>During </a:t>
            </a:r>
            <a:r>
              <a:rPr lang="en-US" dirty="0">
                <a:solidFill>
                  <a:schemeClr val="tx1"/>
                </a:solidFill>
              </a:rPr>
              <a:t>connection establishment each party uses a random number generator to create an initial sequence number (ISN), which is usually different in each direction.</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10000"/>
          </a:bodyPr>
          <a:lstStyle/>
          <a:p>
            <a:pPr algn="l"/>
            <a:r>
              <a:rPr lang="en-US" b="1" dirty="0">
                <a:solidFill>
                  <a:schemeClr val="tx1"/>
                </a:solidFill>
              </a:rPr>
              <a:t>Acknowledgement number :  </a:t>
            </a:r>
            <a:endParaRPr lang="en-US" b="1" dirty="0" smtClean="0">
              <a:solidFill>
                <a:schemeClr val="tx1"/>
              </a:solidFill>
            </a:endParaRPr>
          </a:p>
          <a:p>
            <a:pPr algn="l"/>
            <a:r>
              <a:rPr lang="en-US" dirty="0" smtClean="0">
                <a:solidFill>
                  <a:schemeClr val="tx1"/>
                </a:solidFill>
              </a:rPr>
              <a:t>This </a:t>
            </a:r>
            <a:r>
              <a:rPr lang="en-US" dirty="0">
                <a:solidFill>
                  <a:schemeClr val="tx1"/>
                </a:solidFill>
              </a:rPr>
              <a:t>32-bit field defines the byte number that the receiver of the segment is expecting to receive from the other party.  </a:t>
            </a:r>
            <a:endParaRPr lang="en-US" dirty="0" smtClean="0">
              <a:solidFill>
                <a:schemeClr val="tx1"/>
              </a:solidFill>
            </a:endParaRPr>
          </a:p>
          <a:p>
            <a:pPr algn="l"/>
            <a:r>
              <a:rPr lang="en-US" dirty="0" smtClean="0">
                <a:solidFill>
                  <a:schemeClr val="tx1"/>
                </a:solidFill>
              </a:rPr>
              <a:t>If </a:t>
            </a:r>
            <a:r>
              <a:rPr lang="en-US" dirty="0">
                <a:solidFill>
                  <a:schemeClr val="tx1"/>
                </a:solidFill>
              </a:rPr>
              <a:t>the receiver of the segment has successfully received byte number x from the other party, it returns x+1 as the acknowledgment number.   </a:t>
            </a:r>
            <a:endParaRPr lang="en-US" dirty="0" smtClean="0">
              <a:solidFill>
                <a:schemeClr val="tx1"/>
              </a:solidFill>
            </a:endParaRPr>
          </a:p>
          <a:p>
            <a:pPr algn="l"/>
            <a:r>
              <a:rPr lang="en-US" dirty="0" smtClean="0">
                <a:solidFill>
                  <a:schemeClr val="tx1"/>
                </a:solidFill>
              </a:rPr>
              <a:t>Acknowledgment </a:t>
            </a:r>
            <a:r>
              <a:rPr lang="en-US" dirty="0">
                <a:solidFill>
                  <a:schemeClr val="tx1"/>
                </a:solidFill>
              </a:rPr>
              <a:t>and data can be piggybacked together</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Header length :  </a:t>
            </a:r>
            <a:endParaRPr lang="en-US" b="1" dirty="0" smtClean="0">
              <a:solidFill>
                <a:schemeClr val="tx1"/>
              </a:solidFill>
            </a:endParaRPr>
          </a:p>
          <a:p>
            <a:pPr algn="l"/>
            <a:r>
              <a:rPr lang="en-US" dirty="0" smtClean="0">
                <a:solidFill>
                  <a:schemeClr val="tx1"/>
                </a:solidFill>
              </a:rPr>
              <a:t>The </a:t>
            </a:r>
            <a:r>
              <a:rPr lang="en-US" dirty="0">
                <a:solidFill>
                  <a:schemeClr val="tx1"/>
                </a:solidFill>
              </a:rPr>
              <a:t>4-bit field indicates the number of 4-byte words in the TCP header.  </a:t>
            </a:r>
            <a:endParaRPr lang="en-US" dirty="0" smtClean="0">
              <a:solidFill>
                <a:schemeClr val="tx1"/>
              </a:solidFill>
            </a:endParaRPr>
          </a:p>
          <a:p>
            <a:pPr algn="l"/>
            <a:r>
              <a:rPr lang="en-US" dirty="0" smtClean="0">
                <a:solidFill>
                  <a:schemeClr val="tx1"/>
                </a:solidFill>
              </a:rPr>
              <a:t>The </a:t>
            </a:r>
            <a:r>
              <a:rPr lang="en-US" dirty="0">
                <a:solidFill>
                  <a:schemeClr val="tx1"/>
                </a:solidFill>
              </a:rPr>
              <a:t>length of the header can be between 20 and 60 bytes.  </a:t>
            </a:r>
            <a:endParaRPr lang="en-US" dirty="0" smtClean="0">
              <a:solidFill>
                <a:schemeClr val="tx1"/>
              </a:solidFill>
            </a:endParaRPr>
          </a:p>
          <a:p>
            <a:pPr algn="l"/>
            <a:r>
              <a:rPr lang="en-US" dirty="0" smtClean="0">
                <a:solidFill>
                  <a:schemeClr val="tx1"/>
                </a:solidFill>
              </a:rPr>
              <a:t>Therefore</a:t>
            </a:r>
            <a:r>
              <a:rPr lang="en-US" dirty="0">
                <a:solidFill>
                  <a:schemeClr val="tx1"/>
                </a:solidFill>
              </a:rPr>
              <a:t>, the value of this field is always between 5 ( 5 x 4 = 20 )  and ( 15 x 4 = 60 ).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anim calcmode="lin" valueType="num">
                                      <p:cBhvr additive="base">
                                        <p:cTn id="4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 calcmode="lin" valueType="num">
                                      <p:cBhvr additive="base">
                                        <p:cTn id="49"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168019"/>
            <a:ext cx="8534400" cy="252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42" y="1066800"/>
            <a:ext cx="8575317"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dirty="0" smtClean="0"/>
              <a:t>TCP Flags</a:t>
            </a:r>
            <a:endParaRPr lang="en-IN" dirty="0"/>
          </a:p>
        </p:txBody>
      </p:sp>
      <p:sp>
        <p:nvSpPr>
          <p:cNvPr id="3" name="Content Placeholder 2"/>
          <p:cNvSpPr>
            <a:spLocks noGrp="1"/>
          </p:cNvSpPr>
          <p:nvPr>
            <p:ph idx="1"/>
          </p:nvPr>
        </p:nvSpPr>
        <p:spPr>
          <a:xfrm>
            <a:off x="457200" y="762000"/>
            <a:ext cx="8229600" cy="5364163"/>
          </a:xfrm>
        </p:spPr>
        <p:txBody>
          <a:bodyPr>
            <a:normAutofit fontScale="85000" lnSpcReduction="20000"/>
          </a:bodyPr>
          <a:lstStyle/>
          <a:p>
            <a:pPr fontAlgn="base"/>
            <a:r>
              <a:rPr lang="en-US" b="1" dirty="0"/>
              <a:t>Synchronization (SYN) –</a:t>
            </a:r>
            <a:r>
              <a:rPr lang="en-US" dirty="0"/>
              <a:t> It is used in first step of </a:t>
            </a:r>
            <a:r>
              <a:rPr lang="en-US" u="sng" dirty="0">
                <a:hlinkClick r:id="rId2"/>
              </a:rPr>
              <a:t>connection establishment</a:t>
            </a:r>
            <a:r>
              <a:rPr lang="en-US" dirty="0"/>
              <a:t> phase or 3-way handshake process between the two hosts. Only the first packet from sender as well as receiver should have this flag set. This is used for synchronizing sequence number i.e. to tell the other end which sequence number they should accept.</a:t>
            </a:r>
          </a:p>
          <a:p>
            <a:pPr fontAlgn="base"/>
            <a:r>
              <a:rPr lang="en-US" b="1" dirty="0"/>
              <a:t>Acknowledgement (ACK) –</a:t>
            </a:r>
            <a:r>
              <a:rPr lang="en-US" dirty="0"/>
              <a:t> It is used to acknowledge packets which are successful received by the host. The flag is set if the acknowledgement number field contains a valid acknowledgement number. </a:t>
            </a:r>
            <a:br>
              <a:rPr lang="en-US" dirty="0"/>
            </a:br>
            <a:r>
              <a:rPr lang="en-US" dirty="0"/>
              <a:t>In given below diagram, the receiver sends an ACK = 1 as well as SYN = 1 in the second step of connection establishment to tell sender that it received its initial packet. </a:t>
            </a:r>
          </a:p>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16008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dirty="0" smtClean="0"/>
              <a:t>TCP Flags</a:t>
            </a:r>
            <a:endParaRPr lang="en-IN" dirty="0"/>
          </a:p>
        </p:txBody>
      </p:sp>
      <p:sp>
        <p:nvSpPr>
          <p:cNvPr id="3" name="Content Placeholder 2"/>
          <p:cNvSpPr>
            <a:spLocks noGrp="1"/>
          </p:cNvSpPr>
          <p:nvPr>
            <p:ph idx="1"/>
          </p:nvPr>
        </p:nvSpPr>
        <p:spPr>
          <a:xfrm>
            <a:off x="457200" y="762000"/>
            <a:ext cx="8229600" cy="5364163"/>
          </a:xfrm>
        </p:spPr>
        <p:txBody>
          <a:bodyPr>
            <a:normAutofit fontScale="70000" lnSpcReduction="20000"/>
          </a:bodyPr>
          <a:lstStyle/>
          <a:p>
            <a:pPr fontAlgn="base"/>
            <a:r>
              <a:rPr lang="en-US" b="1" dirty="0"/>
              <a:t>Finish (FIN) –</a:t>
            </a:r>
            <a:r>
              <a:rPr lang="en-US" dirty="0"/>
              <a:t> It is used to request for connection termination i.e. when there is no more data from the sender, it requests for connection termination. This is the last packet sent by sender. It frees the reserved resources and gracefully terminate the connection. </a:t>
            </a:r>
            <a:br>
              <a:rPr lang="en-US" dirty="0"/>
            </a:br>
            <a:r>
              <a:rPr lang="en-US" dirty="0"/>
              <a:t> </a:t>
            </a:r>
          </a:p>
          <a:p>
            <a:pPr fontAlgn="base"/>
            <a:r>
              <a:rPr lang="en-US" b="1" dirty="0"/>
              <a:t>Reset (RST) –</a:t>
            </a:r>
            <a:r>
              <a:rPr lang="en-US" dirty="0"/>
              <a:t> It is used to terminate the connection if the RST sender feels something is wrong with the TCP connection or that the conversation should not exist. It can get send from receiver side when packet is send to particular host that was not expecting it. </a:t>
            </a:r>
          </a:p>
          <a:p>
            <a:pPr fontAlgn="base"/>
            <a:r>
              <a:rPr lang="en-US" b="1" dirty="0"/>
              <a:t>Urgent (URG) –</a:t>
            </a:r>
            <a:r>
              <a:rPr lang="en-US" dirty="0"/>
              <a:t> It is used to indicate that the data contained in the packet should be prioritized and handled urgently by the receiver. This flag is used in combination with the Urgent Pointer field to identify the location of the urgent data in the packet.</a:t>
            </a:r>
          </a:p>
          <a:p>
            <a:pPr fontAlgn="base"/>
            <a:r>
              <a:rPr lang="en-US" b="1" dirty="0"/>
              <a:t>Push (PSH) –</a:t>
            </a:r>
            <a:r>
              <a:rPr lang="en-US" dirty="0"/>
              <a:t> It is used to request immediate data delivery to the receiving host, without waiting for additional data to be buffered on the sender’s side. This flag is commonly used in applications such as real-time audio or video streaming.</a:t>
            </a:r>
          </a:p>
          <a:p>
            <a:endParaRPr lang="en-IN" dirty="0"/>
          </a:p>
        </p:txBody>
      </p:sp>
      <p:sp>
        <p:nvSpPr>
          <p:cNvPr id="4" name="Footer Placeholder 3"/>
          <p:cNvSpPr>
            <a:spLocks noGrp="1"/>
          </p:cNvSpPr>
          <p:nvPr>
            <p:ph type="ftr" sz="quarter" idx="11"/>
          </p:nvPr>
        </p:nvSpPr>
        <p:spPr/>
        <p:txBody>
          <a:bodyPr/>
          <a:lstStyle/>
          <a:p>
            <a:r>
              <a:rPr lang="en-US" dirty="0" smtClean="0"/>
              <a:t>SCR</a:t>
            </a:r>
            <a:endParaRPr lang="en-US" dirty="0"/>
          </a:p>
        </p:txBody>
      </p:sp>
    </p:spTree>
    <p:extLst>
      <p:ext uri="{BB962C8B-B14F-4D97-AF65-F5344CB8AC3E}">
        <p14:creationId xmlns:p14="http://schemas.microsoft.com/office/powerpoint/2010/main" val="3394228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Finish (FIN) v/s Reset (RST) –</a:t>
            </a:r>
            <a:r>
              <a:rPr lang="en-US" dirty="0"/>
              <a:t> </a:t>
            </a:r>
            <a:br>
              <a:rPr lang="en-US" dirty="0"/>
            </a:br>
            <a:r>
              <a:rPr lang="en-US" dirty="0"/>
              <a:t> </a:t>
            </a:r>
            <a:r>
              <a:rPr lang="en-IN" dirty="0"/>
              <a:t/>
            </a:r>
            <a:br>
              <a:rPr lang="en-IN" dirty="0"/>
            </a:br>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322827"/>
            <a:ext cx="5983791" cy="335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91864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Window size </a:t>
            </a:r>
            <a:r>
              <a:rPr lang="en-US" dirty="0">
                <a:solidFill>
                  <a:schemeClr val="tx1"/>
                </a:solidFill>
              </a:rPr>
              <a:t>:  </a:t>
            </a:r>
            <a:endParaRPr lang="en-US" dirty="0" smtClean="0">
              <a:solidFill>
                <a:schemeClr val="tx1"/>
              </a:solidFill>
            </a:endParaRPr>
          </a:p>
          <a:p>
            <a:pPr algn="l"/>
            <a:r>
              <a:rPr lang="en-US" dirty="0" smtClean="0">
                <a:solidFill>
                  <a:schemeClr val="tx1"/>
                </a:solidFill>
              </a:rPr>
              <a:t>The </a:t>
            </a:r>
            <a:r>
              <a:rPr lang="en-US" dirty="0">
                <a:solidFill>
                  <a:schemeClr val="tx1"/>
                </a:solidFill>
              </a:rPr>
              <a:t>field defines the window size of the sending TCP in bytes.  </a:t>
            </a:r>
            <a:endParaRPr lang="en-US" dirty="0" smtClean="0">
              <a:solidFill>
                <a:schemeClr val="tx1"/>
              </a:solidFill>
            </a:endParaRPr>
          </a:p>
          <a:p>
            <a:pPr algn="l"/>
            <a:r>
              <a:rPr lang="en-US" dirty="0" smtClean="0">
                <a:solidFill>
                  <a:schemeClr val="tx1"/>
                </a:solidFill>
              </a:rPr>
              <a:t>Note </a:t>
            </a:r>
            <a:r>
              <a:rPr lang="en-US" dirty="0">
                <a:solidFill>
                  <a:schemeClr val="tx1"/>
                </a:solidFill>
              </a:rPr>
              <a:t>that the length of this field is 16 bits, which means that the maximum size of the window is 65535 bytes.  </a:t>
            </a:r>
            <a:endParaRPr lang="en-US" dirty="0" smtClean="0">
              <a:solidFill>
                <a:schemeClr val="tx1"/>
              </a:solidFill>
            </a:endParaRPr>
          </a:p>
          <a:p>
            <a:pPr algn="l"/>
            <a:r>
              <a:rPr lang="en-US" dirty="0" smtClean="0">
                <a:solidFill>
                  <a:schemeClr val="tx1"/>
                </a:solidFill>
              </a:rPr>
              <a:t>This </a:t>
            </a:r>
            <a:r>
              <a:rPr lang="en-US" dirty="0">
                <a:solidFill>
                  <a:schemeClr val="tx1"/>
                </a:solidFill>
              </a:rPr>
              <a:t>value is normally referred to as the receiving window ( </a:t>
            </a:r>
            <a:r>
              <a:rPr lang="en-US" dirty="0" err="1">
                <a:solidFill>
                  <a:schemeClr val="tx1"/>
                </a:solidFill>
              </a:rPr>
              <a:t>rwnd</a:t>
            </a:r>
            <a:r>
              <a:rPr lang="en-US" dirty="0">
                <a:solidFill>
                  <a:schemeClr val="tx1"/>
                </a:solidFill>
              </a:rPr>
              <a:t> ) and is determined by the receiver.  </a:t>
            </a:r>
            <a:endParaRPr lang="en-US" dirty="0" smtClean="0">
              <a:solidFill>
                <a:schemeClr val="tx1"/>
              </a:solidFill>
            </a:endParaRPr>
          </a:p>
          <a:p>
            <a:pPr algn="l"/>
            <a:r>
              <a:rPr lang="en-US" dirty="0" smtClean="0">
                <a:solidFill>
                  <a:schemeClr val="tx1"/>
                </a:solidFill>
              </a:rPr>
              <a:t>The </a:t>
            </a:r>
            <a:r>
              <a:rPr lang="en-US" dirty="0">
                <a:solidFill>
                  <a:schemeClr val="tx1"/>
                </a:solidFill>
              </a:rPr>
              <a:t>sender must obey the dictation of the receiver in this case. </a:t>
            </a:r>
          </a:p>
          <a:p>
            <a:pPr algn="l"/>
            <a:r>
              <a:rPr lang="en-US" b="1" dirty="0">
                <a:solidFill>
                  <a:schemeClr val="tx1"/>
                </a:solidFill>
              </a:rPr>
              <a:t>Checksum</a:t>
            </a:r>
            <a:r>
              <a:rPr lang="en-US" dirty="0">
                <a:solidFill>
                  <a:schemeClr val="tx1"/>
                </a:solidFill>
              </a:rPr>
              <a:t> :  </a:t>
            </a:r>
            <a:endParaRPr lang="en-US" dirty="0" smtClean="0">
              <a:solidFill>
                <a:schemeClr val="tx1"/>
              </a:solidFill>
            </a:endParaRPr>
          </a:p>
          <a:p>
            <a:pPr algn="l"/>
            <a:r>
              <a:rPr lang="en-US" dirty="0" smtClean="0">
                <a:solidFill>
                  <a:schemeClr val="tx1"/>
                </a:solidFill>
              </a:rPr>
              <a:t>This </a:t>
            </a:r>
            <a:r>
              <a:rPr lang="en-US" dirty="0">
                <a:solidFill>
                  <a:schemeClr val="tx1"/>
                </a:solidFill>
              </a:rPr>
              <a:t>16-bit field contains the checksum.  </a:t>
            </a:r>
            <a:endParaRPr lang="en-US" dirty="0" smtClean="0">
              <a:solidFill>
                <a:schemeClr val="tx1"/>
              </a:solidFill>
            </a:endParaRPr>
          </a:p>
          <a:p>
            <a:pPr algn="l"/>
            <a:r>
              <a:rPr lang="en-US" dirty="0" smtClean="0">
                <a:solidFill>
                  <a:schemeClr val="tx1"/>
                </a:solidFill>
              </a:rPr>
              <a:t>The </a:t>
            </a:r>
            <a:r>
              <a:rPr lang="en-US" dirty="0">
                <a:solidFill>
                  <a:schemeClr val="tx1"/>
                </a:solidFill>
              </a:rPr>
              <a:t>calculation of the checksum for TCP. ( follows the same procedure as the one described for UDP)</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Urgent pointer </a:t>
            </a:r>
            <a:r>
              <a:rPr lang="en-US" dirty="0">
                <a:solidFill>
                  <a:schemeClr val="tx1"/>
                </a:solidFill>
              </a:rPr>
              <a:t>:   </a:t>
            </a:r>
            <a:endParaRPr lang="en-US" dirty="0" smtClean="0">
              <a:solidFill>
                <a:schemeClr val="tx1"/>
              </a:solidFill>
            </a:endParaRPr>
          </a:p>
          <a:p>
            <a:pPr algn="l"/>
            <a:r>
              <a:rPr lang="en-US" dirty="0" smtClean="0">
                <a:solidFill>
                  <a:schemeClr val="tx1"/>
                </a:solidFill>
              </a:rPr>
              <a:t>This </a:t>
            </a:r>
            <a:r>
              <a:rPr lang="en-US" dirty="0">
                <a:solidFill>
                  <a:schemeClr val="tx1"/>
                </a:solidFill>
              </a:rPr>
              <a:t>16-bit field, which is valid only if the urgent flag is set, is used when the segment contains urgent data.  </a:t>
            </a:r>
            <a:endParaRPr lang="en-US" dirty="0" smtClean="0">
              <a:solidFill>
                <a:schemeClr val="tx1"/>
              </a:solidFill>
            </a:endParaRPr>
          </a:p>
          <a:p>
            <a:pPr algn="l"/>
            <a:r>
              <a:rPr lang="en-US" dirty="0" smtClean="0">
                <a:solidFill>
                  <a:schemeClr val="tx1"/>
                </a:solidFill>
              </a:rPr>
              <a:t>The </a:t>
            </a:r>
            <a:r>
              <a:rPr lang="en-US" dirty="0">
                <a:solidFill>
                  <a:schemeClr val="tx1"/>
                </a:solidFill>
              </a:rPr>
              <a:t>number is added to the sequence number to obtain the number of the last urgent byte in the data section of the segment.  </a:t>
            </a:r>
          </a:p>
          <a:p>
            <a:pPr algn="l"/>
            <a:r>
              <a:rPr lang="en-US" sz="3500" b="1" dirty="0">
                <a:solidFill>
                  <a:schemeClr val="tx1"/>
                </a:solidFill>
              </a:rPr>
              <a:t>Options </a:t>
            </a:r>
            <a:r>
              <a:rPr lang="en-US" dirty="0">
                <a:solidFill>
                  <a:schemeClr val="tx1"/>
                </a:solidFill>
              </a:rPr>
              <a:t>:  </a:t>
            </a:r>
            <a:endParaRPr lang="en-US" dirty="0" smtClean="0">
              <a:solidFill>
                <a:schemeClr val="tx1"/>
              </a:solidFill>
            </a:endParaRPr>
          </a:p>
          <a:p>
            <a:pPr algn="l"/>
            <a:r>
              <a:rPr lang="en-US" dirty="0" smtClean="0">
                <a:solidFill>
                  <a:schemeClr val="tx1"/>
                </a:solidFill>
              </a:rPr>
              <a:t>There </a:t>
            </a:r>
            <a:r>
              <a:rPr lang="en-US" dirty="0">
                <a:solidFill>
                  <a:schemeClr val="tx1"/>
                </a:solidFill>
              </a:rPr>
              <a:t>can be up to 40 bytes of optional information in the TCP header. </a:t>
            </a:r>
          </a:p>
          <a:p>
            <a:pPr algn="l"/>
            <a:r>
              <a:rPr lang="en-US" b="1" dirty="0">
                <a:solidFill>
                  <a:schemeClr val="tx1"/>
                </a:solidFill>
              </a:rPr>
              <a:t>Encapsulation :</a:t>
            </a:r>
          </a:p>
          <a:p>
            <a:pPr algn="l"/>
            <a:r>
              <a:rPr lang="en-US" dirty="0">
                <a:solidFill>
                  <a:schemeClr val="tx1"/>
                </a:solidFill>
              </a:rPr>
              <a:t>A TCP segment encapsulates the data received from the application layer.  </a:t>
            </a:r>
            <a:endParaRPr lang="en-US" dirty="0" smtClean="0">
              <a:solidFill>
                <a:schemeClr val="tx1"/>
              </a:solidFill>
            </a:endParaRPr>
          </a:p>
          <a:p>
            <a:pPr algn="l"/>
            <a:r>
              <a:rPr lang="en-US" dirty="0" smtClean="0">
                <a:solidFill>
                  <a:schemeClr val="tx1"/>
                </a:solidFill>
              </a:rPr>
              <a:t>The </a:t>
            </a:r>
            <a:r>
              <a:rPr lang="en-US" dirty="0">
                <a:solidFill>
                  <a:schemeClr val="tx1"/>
                </a:solidFill>
              </a:rPr>
              <a:t>TCP segment is encapsulated in an IP datagram, which in turn is encapsulated in a frame at the data-link layer as shown below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01024"/>
            <a:ext cx="8534400" cy="4055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333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sz="3600" b="1" dirty="0">
                <a:solidFill>
                  <a:schemeClr val="tx1"/>
                </a:solidFill>
              </a:rPr>
              <a:t>Port Numbers </a:t>
            </a:r>
            <a:r>
              <a:rPr lang="en-US" dirty="0">
                <a:solidFill>
                  <a:schemeClr val="tx1"/>
                </a:solidFill>
              </a:rPr>
              <a:t>:</a:t>
            </a:r>
          </a:p>
          <a:p>
            <a:pPr algn="l"/>
            <a:r>
              <a:rPr lang="en-US" dirty="0">
                <a:solidFill>
                  <a:schemeClr val="tx1"/>
                </a:solidFill>
              </a:rPr>
              <a:t>Table lists some well-known port numbers used by TCP.  </a:t>
            </a:r>
          </a:p>
          <a:p>
            <a:pPr algn="l"/>
            <a:r>
              <a:rPr lang="en-US" dirty="0">
                <a:solidFill>
                  <a:schemeClr val="tx1"/>
                </a:solidFill>
              </a:rPr>
              <a:t>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296180"/>
            <a:ext cx="5715000" cy="556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5400" b="1" dirty="0" smtClean="0"/>
              <a:t>A TCP Connection</a:t>
            </a:r>
            <a:endParaRPr lang="en-US" sz="5400" b="1" dirty="0"/>
          </a:p>
        </p:txBody>
      </p:sp>
      <p:sp>
        <p:nvSpPr>
          <p:cNvPr id="6" name="Content Placeholder 5"/>
          <p:cNvSpPr>
            <a:spLocks noGrp="1"/>
          </p:cNvSpPr>
          <p:nvPr>
            <p:ph idx="1"/>
          </p:nvPr>
        </p:nvSpPr>
        <p:spPr>
          <a:xfrm>
            <a:off x="990600" y="1600200"/>
            <a:ext cx="6629400" cy="4525963"/>
          </a:xfrm>
        </p:spPr>
        <p:txBody>
          <a:bodyPr/>
          <a:lstStyle/>
          <a:p>
            <a:r>
              <a:rPr lang="en-US" dirty="0" smtClean="0"/>
              <a:t>Connection Establishment</a:t>
            </a:r>
          </a:p>
          <a:p>
            <a:endParaRPr lang="en-US" dirty="0"/>
          </a:p>
          <a:p>
            <a:r>
              <a:rPr lang="en-US" dirty="0" smtClean="0"/>
              <a:t>Data Transfer</a:t>
            </a:r>
          </a:p>
          <a:p>
            <a:endParaRPr lang="en-US" dirty="0" smtClean="0"/>
          </a:p>
          <a:p>
            <a:r>
              <a:rPr lang="en-US" dirty="0" smtClean="0"/>
              <a:t>Connection Termination</a:t>
            </a:r>
            <a:endParaRPr lang="en-US" dirty="0"/>
          </a:p>
        </p:txBody>
      </p:sp>
    </p:spTree>
    <p:extLst>
      <p:ext uri="{BB962C8B-B14F-4D97-AF65-F5344CB8AC3E}">
        <p14:creationId xmlns:p14="http://schemas.microsoft.com/office/powerpoint/2010/main" val="375917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 Establishment</a:t>
            </a:r>
          </a:p>
        </p:txBody>
      </p:sp>
      <p:sp>
        <p:nvSpPr>
          <p:cNvPr id="3" name="Content Placeholder 2"/>
          <p:cNvSpPr>
            <a:spLocks noGrp="1"/>
          </p:cNvSpPr>
          <p:nvPr>
            <p:ph idx="1"/>
          </p:nvPr>
        </p:nvSpPr>
        <p:spPr/>
        <p:txBody>
          <a:bodyPr/>
          <a:lstStyle/>
          <a:p>
            <a:r>
              <a:rPr lang="en-US" dirty="0" smtClean="0"/>
              <a:t>TCP transmits data in full duplex mode.</a:t>
            </a:r>
          </a:p>
          <a:p>
            <a:r>
              <a:rPr lang="en-US" dirty="0" smtClean="0"/>
              <a:t>Three-Way Handshake</a:t>
            </a:r>
          </a:p>
          <a:p>
            <a:pPr lvl="1"/>
            <a:r>
              <a:rPr lang="en-US" dirty="0"/>
              <a:t>Server program tells its TCP that it is ready to accept a connection. This request is called a </a:t>
            </a:r>
            <a:r>
              <a:rPr lang="en-US" i="1" dirty="0">
                <a:solidFill>
                  <a:srgbClr val="FF0000"/>
                </a:solidFill>
              </a:rPr>
              <a:t>passive open</a:t>
            </a:r>
            <a:r>
              <a:rPr lang="en-US" dirty="0"/>
              <a:t>.</a:t>
            </a:r>
          </a:p>
          <a:p>
            <a:pPr lvl="1"/>
            <a:r>
              <a:rPr lang="en-US" dirty="0"/>
              <a:t>The client program issues a request for an </a:t>
            </a:r>
            <a:r>
              <a:rPr lang="en-US" i="1" dirty="0">
                <a:solidFill>
                  <a:srgbClr val="FF0000"/>
                </a:solidFill>
              </a:rPr>
              <a:t>active open</a:t>
            </a:r>
            <a:r>
              <a:rPr lang="en-US" dirty="0">
                <a:solidFill>
                  <a:srgbClr val="FF0000"/>
                </a:solidFill>
              </a:rPr>
              <a:t>.</a:t>
            </a:r>
          </a:p>
          <a:p>
            <a:endParaRPr lang="en-US" dirty="0"/>
          </a:p>
          <a:p>
            <a:endParaRPr lang="en-US" dirty="0"/>
          </a:p>
        </p:txBody>
      </p:sp>
    </p:spTree>
    <p:extLst>
      <p:ext uri="{BB962C8B-B14F-4D97-AF65-F5344CB8AC3E}">
        <p14:creationId xmlns:p14="http://schemas.microsoft.com/office/powerpoint/2010/main" val="9107862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IN" sz="2800" dirty="0" smtClean="0"/>
              <a:t>Connection Establishment in TCP -3 way handshaking</a:t>
            </a:r>
            <a:endParaRPr lang="en-IN" sz="2800" dirty="0"/>
          </a:p>
        </p:txBody>
      </p:sp>
      <p:sp>
        <p:nvSpPr>
          <p:cNvPr id="3" name="Content Placeholder 2"/>
          <p:cNvSpPr>
            <a:spLocks noGrp="1"/>
          </p:cNvSpPr>
          <p:nvPr>
            <p:ph idx="1"/>
          </p:nvPr>
        </p:nvSpPr>
        <p:spPr>
          <a:xfrm>
            <a:off x="228600" y="914400"/>
            <a:ext cx="8458200" cy="5715000"/>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71550"/>
            <a:ext cx="7848600" cy="588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69552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0" y="1524000"/>
            <a:ext cx="9111660"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Connection Establishment</a:t>
            </a:r>
            <a:endParaRPr lang="en-US" dirty="0"/>
          </a:p>
        </p:txBody>
      </p:sp>
    </p:spTree>
    <p:extLst>
      <p:ext uri="{BB962C8B-B14F-4D97-AF65-F5344CB8AC3E}">
        <p14:creationId xmlns:p14="http://schemas.microsoft.com/office/powerpoint/2010/main" val="96962334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Connection Establishment</a:t>
            </a:r>
          </a:p>
        </p:txBody>
      </p:sp>
      <p:sp>
        <p:nvSpPr>
          <p:cNvPr id="3" name="Content Placeholder 2"/>
          <p:cNvSpPr>
            <a:spLocks noGrp="1"/>
          </p:cNvSpPr>
          <p:nvPr>
            <p:ph idx="1"/>
          </p:nvPr>
        </p:nvSpPr>
        <p:spPr>
          <a:xfrm>
            <a:off x="457200" y="762000"/>
            <a:ext cx="8229600" cy="6019800"/>
          </a:xfrm>
        </p:spPr>
        <p:txBody>
          <a:bodyPr>
            <a:normAutofit/>
          </a:bodyPr>
          <a:lstStyle/>
          <a:p>
            <a:r>
              <a:rPr lang="en-US" dirty="0"/>
              <a:t>The client sends the first segment, a SYN </a:t>
            </a:r>
            <a:r>
              <a:rPr lang="en-US" dirty="0" smtClean="0"/>
              <a:t>segment</a:t>
            </a:r>
          </a:p>
          <a:p>
            <a:pPr lvl="1"/>
            <a:r>
              <a:rPr lang="en-US" dirty="0" smtClean="0"/>
              <a:t> Only </a:t>
            </a:r>
            <a:r>
              <a:rPr lang="en-US" dirty="0"/>
              <a:t>the SYN flag is set.</a:t>
            </a:r>
          </a:p>
          <a:p>
            <a:pPr lvl="1"/>
            <a:r>
              <a:rPr lang="en-US" dirty="0"/>
              <a:t>This segment is for </a:t>
            </a:r>
            <a:r>
              <a:rPr lang="en-US" dirty="0">
                <a:solidFill>
                  <a:srgbClr val="FF0000"/>
                </a:solidFill>
              </a:rPr>
              <a:t>synchronization of sequence </a:t>
            </a:r>
            <a:r>
              <a:rPr lang="en-US" dirty="0" smtClean="0">
                <a:solidFill>
                  <a:srgbClr val="FF0000"/>
                </a:solidFill>
              </a:rPr>
              <a:t>numbers</a:t>
            </a:r>
          </a:p>
          <a:p>
            <a:pPr lvl="1"/>
            <a:r>
              <a:rPr lang="en-US" dirty="0"/>
              <a:t>segment </a:t>
            </a:r>
            <a:r>
              <a:rPr lang="en-US" dirty="0">
                <a:solidFill>
                  <a:srgbClr val="FF0000"/>
                </a:solidFill>
              </a:rPr>
              <a:t>does not </a:t>
            </a:r>
            <a:r>
              <a:rPr lang="en-US" dirty="0"/>
              <a:t>contain an acknowledgment </a:t>
            </a:r>
            <a:r>
              <a:rPr lang="en-US" dirty="0" smtClean="0"/>
              <a:t>number</a:t>
            </a:r>
          </a:p>
          <a:p>
            <a:pPr lvl="1"/>
            <a:r>
              <a:rPr lang="en-US" dirty="0" smtClean="0">
                <a:solidFill>
                  <a:srgbClr val="FF0000"/>
                </a:solidFill>
              </a:rPr>
              <a:t>Does not </a:t>
            </a:r>
            <a:r>
              <a:rPr lang="en-US" dirty="0" smtClean="0"/>
              <a:t>define window size.</a:t>
            </a:r>
          </a:p>
          <a:p>
            <a:pPr lvl="1"/>
            <a:r>
              <a:rPr lang="en-US" b="1" dirty="0"/>
              <a:t>SYN segment cannot carry data, but it consumes one sequence </a:t>
            </a:r>
            <a:r>
              <a:rPr lang="en-US" b="1" dirty="0" smtClean="0"/>
              <a:t>number </a:t>
            </a:r>
            <a:r>
              <a:rPr lang="en-US" dirty="0"/>
              <a:t>( for</a:t>
            </a:r>
            <a:r>
              <a:rPr lang="en-US" b="1" dirty="0" smtClean="0"/>
              <a:t> </a:t>
            </a:r>
            <a:r>
              <a:rPr lang="en-US" dirty="0" smtClean="0"/>
              <a:t>one </a:t>
            </a:r>
            <a:r>
              <a:rPr lang="en-US" dirty="0"/>
              <a:t>imaginary </a:t>
            </a:r>
            <a:r>
              <a:rPr lang="en-US" dirty="0" smtClean="0"/>
              <a:t>byte)</a:t>
            </a:r>
            <a:r>
              <a:rPr lang="en-US" b="1" dirty="0" smtClean="0"/>
              <a:t>.</a:t>
            </a:r>
            <a:endParaRPr lang="en-US" dirty="0"/>
          </a:p>
        </p:txBody>
      </p:sp>
    </p:spTree>
    <p:extLst>
      <p:ext uri="{BB962C8B-B14F-4D97-AF65-F5344CB8AC3E}">
        <p14:creationId xmlns:p14="http://schemas.microsoft.com/office/powerpoint/2010/main" val="35674745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 Establishment</a:t>
            </a:r>
          </a:p>
        </p:txBody>
      </p:sp>
      <p:sp>
        <p:nvSpPr>
          <p:cNvPr id="3" name="Content Placeholder 2"/>
          <p:cNvSpPr>
            <a:spLocks noGrp="1"/>
          </p:cNvSpPr>
          <p:nvPr>
            <p:ph idx="1"/>
          </p:nvPr>
        </p:nvSpPr>
        <p:spPr>
          <a:xfrm>
            <a:off x="457200" y="1219200"/>
            <a:ext cx="8229600" cy="5562600"/>
          </a:xfrm>
        </p:spPr>
        <p:txBody>
          <a:bodyPr>
            <a:normAutofit fontScale="92500"/>
          </a:bodyPr>
          <a:lstStyle/>
          <a:p>
            <a:r>
              <a:rPr lang="en-US" dirty="0"/>
              <a:t>S</a:t>
            </a:r>
            <a:r>
              <a:rPr lang="en-US" dirty="0" smtClean="0"/>
              <a:t>erver </a:t>
            </a:r>
            <a:r>
              <a:rPr lang="en-US" dirty="0"/>
              <a:t>sends the second segment, a </a:t>
            </a:r>
            <a:r>
              <a:rPr lang="en-US" dirty="0">
                <a:solidFill>
                  <a:srgbClr val="FF0000"/>
                </a:solidFill>
              </a:rPr>
              <a:t>SYN + </a:t>
            </a:r>
            <a:r>
              <a:rPr lang="en-US" dirty="0" smtClean="0">
                <a:solidFill>
                  <a:srgbClr val="FF0000"/>
                </a:solidFill>
              </a:rPr>
              <a:t>ACK</a:t>
            </a:r>
            <a:r>
              <a:rPr lang="en-US" dirty="0" smtClean="0"/>
              <a:t>.</a:t>
            </a:r>
          </a:p>
          <a:p>
            <a:r>
              <a:rPr lang="en-US" dirty="0"/>
              <a:t>This segment has a dual </a:t>
            </a:r>
            <a:r>
              <a:rPr lang="en-US" dirty="0" smtClean="0"/>
              <a:t>purpose:</a:t>
            </a:r>
          </a:p>
          <a:p>
            <a:pPr lvl="1"/>
            <a:r>
              <a:rPr lang="en-US" dirty="0" smtClean="0"/>
              <a:t>SYN segment for communication in the other direction(initialize a sequence </a:t>
            </a:r>
            <a:r>
              <a:rPr lang="en-US" dirty="0"/>
              <a:t>number for numbering the bytes sent from the server to the </a:t>
            </a:r>
            <a:r>
              <a:rPr lang="en-US" dirty="0" smtClean="0"/>
              <a:t>client).</a:t>
            </a:r>
          </a:p>
          <a:p>
            <a:pPr lvl="1"/>
            <a:r>
              <a:rPr lang="en-US" dirty="0" smtClean="0"/>
              <a:t>The server </a:t>
            </a:r>
            <a:r>
              <a:rPr lang="en-US" dirty="0"/>
              <a:t>also acknowledges the receipt of the SYN segment from the </a:t>
            </a:r>
            <a:r>
              <a:rPr lang="en-US" dirty="0" smtClean="0"/>
              <a:t>client by setting ACK flag.</a:t>
            </a:r>
          </a:p>
          <a:p>
            <a:r>
              <a:rPr lang="en-US" dirty="0" smtClean="0"/>
              <a:t>Because segment contains an ACK, it also </a:t>
            </a:r>
            <a:r>
              <a:rPr lang="en-US" dirty="0" smtClean="0">
                <a:solidFill>
                  <a:srgbClr val="FF0000"/>
                </a:solidFill>
              </a:rPr>
              <a:t>need to define window size</a:t>
            </a:r>
            <a:r>
              <a:rPr lang="en-US" dirty="0" smtClean="0"/>
              <a:t>, </a:t>
            </a:r>
            <a:r>
              <a:rPr lang="en-US" i="1" dirty="0" err="1" smtClean="0"/>
              <a:t>rwnd</a:t>
            </a:r>
            <a:r>
              <a:rPr lang="en-US" dirty="0" smtClean="0"/>
              <a:t>(to be used by client).</a:t>
            </a:r>
          </a:p>
          <a:p>
            <a:r>
              <a:rPr lang="en-US" b="1" dirty="0"/>
              <a:t>A SYN +</a:t>
            </a:r>
            <a:r>
              <a:rPr lang="en-US" dirty="0" smtClean="0"/>
              <a:t> </a:t>
            </a:r>
            <a:r>
              <a:rPr lang="en-US" b="1" dirty="0"/>
              <a:t>ACK segment cannot carry </a:t>
            </a:r>
            <a:r>
              <a:rPr lang="en-US" b="1" dirty="0" smtClean="0"/>
              <a:t>data, but </a:t>
            </a:r>
            <a:r>
              <a:rPr lang="en-US" b="1" dirty="0"/>
              <a:t>it does consume one sequence number.</a:t>
            </a:r>
            <a:endParaRPr lang="en-US" dirty="0" smtClean="0"/>
          </a:p>
          <a:p>
            <a:pPr lvl="1"/>
            <a:endParaRPr lang="en-US" dirty="0"/>
          </a:p>
        </p:txBody>
      </p:sp>
    </p:spTree>
    <p:extLst>
      <p:ext uri="{BB962C8B-B14F-4D97-AF65-F5344CB8AC3E}">
        <p14:creationId xmlns:p14="http://schemas.microsoft.com/office/powerpoint/2010/main" val="119952021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 Establishment</a:t>
            </a:r>
          </a:p>
        </p:txBody>
      </p:sp>
      <p:sp>
        <p:nvSpPr>
          <p:cNvPr id="3" name="Content Placeholder 2"/>
          <p:cNvSpPr>
            <a:spLocks noGrp="1"/>
          </p:cNvSpPr>
          <p:nvPr>
            <p:ph idx="1"/>
          </p:nvPr>
        </p:nvSpPr>
        <p:spPr>
          <a:xfrm>
            <a:off x="457200" y="1981200"/>
            <a:ext cx="8229600" cy="2590800"/>
          </a:xfrm>
        </p:spPr>
        <p:txBody>
          <a:bodyPr>
            <a:normAutofit/>
          </a:bodyPr>
          <a:lstStyle/>
          <a:p>
            <a:r>
              <a:rPr lang="en-US" dirty="0"/>
              <a:t>The client sends the third </a:t>
            </a:r>
            <a:r>
              <a:rPr lang="en-US" dirty="0" smtClean="0"/>
              <a:t>segment – an ACK segment.</a:t>
            </a:r>
          </a:p>
          <a:p>
            <a:r>
              <a:rPr lang="en-US" b="1" dirty="0"/>
              <a:t>An ACK segment, if carrying no data, </a:t>
            </a:r>
            <a:r>
              <a:rPr lang="en-US" b="1" dirty="0">
                <a:solidFill>
                  <a:srgbClr val="FF0000"/>
                </a:solidFill>
              </a:rPr>
              <a:t>consumes no sequence number</a:t>
            </a:r>
            <a:r>
              <a:rPr lang="en-US" b="1" dirty="0"/>
              <a:t>.</a:t>
            </a:r>
            <a:endParaRPr lang="en-US" dirty="0"/>
          </a:p>
        </p:txBody>
      </p:sp>
    </p:spTree>
    <p:extLst>
      <p:ext uri="{BB962C8B-B14F-4D97-AF65-F5344CB8AC3E}">
        <p14:creationId xmlns:p14="http://schemas.microsoft.com/office/powerpoint/2010/main" val="36221934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1119"/>
            <a:ext cx="7010400" cy="411162"/>
          </a:xfrm>
        </p:spPr>
        <p:txBody>
          <a:bodyPr>
            <a:normAutofit fontScale="90000"/>
          </a:bodyPr>
          <a:lstStyle/>
          <a:p>
            <a:r>
              <a:rPr lang="en-US" dirty="0" smtClean="0"/>
              <a:t>Data Transfer</a:t>
            </a:r>
            <a:endParaRPr lang="en-US" dirty="0"/>
          </a:p>
        </p:txBody>
      </p:sp>
      <p:pic>
        <p:nvPicPr>
          <p:cNvPr id="4" name="Picture 3"/>
          <p:cNvPicPr>
            <a:picLocks noChangeAspect="1"/>
          </p:cNvPicPr>
          <p:nvPr/>
        </p:nvPicPr>
        <p:blipFill>
          <a:blip r:embed="rId2"/>
          <a:stretch>
            <a:fillRect/>
          </a:stretch>
        </p:blipFill>
        <p:spPr>
          <a:xfrm>
            <a:off x="457200" y="501411"/>
            <a:ext cx="8216900" cy="6369289"/>
          </a:xfrm>
          <a:prstGeom prst="rect">
            <a:avLst/>
          </a:prstGeom>
        </p:spPr>
      </p:pic>
    </p:spTree>
    <p:extLst>
      <p:ext uri="{BB962C8B-B14F-4D97-AF65-F5344CB8AC3E}">
        <p14:creationId xmlns:p14="http://schemas.microsoft.com/office/powerpoint/2010/main" val="284363252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Data Transfer</a:t>
            </a:r>
            <a:endParaRPr lang="en-US" dirty="0"/>
          </a:p>
        </p:txBody>
      </p:sp>
      <p:sp>
        <p:nvSpPr>
          <p:cNvPr id="3" name="Content Placeholder 2"/>
          <p:cNvSpPr>
            <a:spLocks noGrp="1"/>
          </p:cNvSpPr>
          <p:nvPr>
            <p:ph idx="1"/>
          </p:nvPr>
        </p:nvSpPr>
        <p:spPr>
          <a:xfrm>
            <a:off x="457200" y="838200"/>
            <a:ext cx="8229600" cy="5287963"/>
          </a:xfrm>
        </p:spPr>
        <p:txBody>
          <a:bodyPr/>
          <a:lstStyle/>
          <a:p>
            <a:endParaRPr lang="en-US" dirty="0" smtClean="0"/>
          </a:p>
          <a:p>
            <a:pPr marL="0" indent="0">
              <a:buNone/>
            </a:pPr>
            <a:endParaRPr lang="en-US" dirty="0"/>
          </a:p>
        </p:txBody>
      </p:sp>
      <p:sp>
        <p:nvSpPr>
          <p:cNvPr id="5" name="Content Placeholder 2"/>
          <p:cNvSpPr txBox="1">
            <a:spLocks/>
          </p:cNvSpPr>
          <p:nvPr/>
        </p:nvSpPr>
        <p:spPr>
          <a:xfrm>
            <a:off x="457200" y="838200"/>
            <a:ext cx="8229600" cy="556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t>After connection establishment, bidirectional data transfer can take place.</a:t>
            </a:r>
          </a:p>
          <a:p>
            <a:r>
              <a:rPr lang="en-US" dirty="0"/>
              <a:t>acknowledgment </a:t>
            </a:r>
            <a:r>
              <a:rPr lang="en-US" dirty="0" smtClean="0"/>
              <a:t>can be </a:t>
            </a:r>
            <a:r>
              <a:rPr lang="en-US" dirty="0">
                <a:solidFill>
                  <a:srgbClr val="FF0000"/>
                </a:solidFill>
              </a:rPr>
              <a:t>piggybacked</a:t>
            </a:r>
            <a:r>
              <a:rPr lang="en-US" dirty="0"/>
              <a:t> with the data.</a:t>
            </a:r>
            <a:endParaRPr lang="en-US" sz="2400" dirty="0" smtClean="0"/>
          </a:p>
          <a:p>
            <a:r>
              <a:rPr lang="en-US" dirty="0" smtClean="0"/>
              <a:t>Pushing Data:</a:t>
            </a:r>
          </a:p>
          <a:p>
            <a:pPr lvl="1"/>
            <a:r>
              <a:rPr lang="en-US" dirty="0"/>
              <a:t>Delayed transmission and delayed delivery of data </a:t>
            </a:r>
            <a:r>
              <a:rPr lang="en-US" dirty="0" smtClean="0"/>
              <a:t>may not </a:t>
            </a:r>
            <a:r>
              <a:rPr lang="en-US" dirty="0"/>
              <a:t>be acceptable by the application </a:t>
            </a:r>
            <a:r>
              <a:rPr lang="en-US" dirty="0" smtClean="0"/>
              <a:t>program.</a:t>
            </a:r>
          </a:p>
          <a:p>
            <a:pPr lvl="1"/>
            <a:r>
              <a:rPr lang="en-US" dirty="0" smtClean="0"/>
              <a:t>application </a:t>
            </a:r>
            <a:r>
              <a:rPr lang="en-US" dirty="0"/>
              <a:t>program at the sender </a:t>
            </a:r>
            <a:r>
              <a:rPr lang="en-US" dirty="0" smtClean="0"/>
              <a:t>can request </a:t>
            </a:r>
            <a:r>
              <a:rPr lang="en-US" dirty="0"/>
              <a:t>a </a:t>
            </a:r>
            <a:r>
              <a:rPr lang="en-US" i="1" dirty="0"/>
              <a:t>push </a:t>
            </a:r>
            <a:r>
              <a:rPr lang="en-US" dirty="0"/>
              <a:t>operation</a:t>
            </a:r>
            <a:endParaRPr lang="en-US" dirty="0" smtClean="0"/>
          </a:p>
          <a:p>
            <a:pPr lvl="1"/>
            <a:r>
              <a:rPr lang="en-US" dirty="0"/>
              <a:t>TCP can choose whether or not to use </a:t>
            </a:r>
            <a:r>
              <a:rPr lang="en-US" dirty="0" smtClean="0"/>
              <a:t>this feature.</a:t>
            </a:r>
          </a:p>
        </p:txBody>
      </p:sp>
    </p:spTree>
    <p:extLst>
      <p:ext uri="{BB962C8B-B14F-4D97-AF65-F5344CB8AC3E}">
        <p14:creationId xmlns:p14="http://schemas.microsoft.com/office/powerpoint/2010/main" val="232555216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Data Transfer</a:t>
            </a:r>
            <a:endParaRPr lang="en-US" dirty="0"/>
          </a:p>
        </p:txBody>
      </p:sp>
      <p:sp>
        <p:nvSpPr>
          <p:cNvPr id="3" name="Content Placeholder 2"/>
          <p:cNvSpPr>
            <a:spLocks noGrp="1"/>
          </p:cNvSpPr>
          <p:nvPr>
            <p:ph idx="1"/>
          </p:nvPr>
        </p:nvSpPr>
        <p:spPr>
          <a:xfrm>
            <a:off x="457200" y="838200"/>
            <a:ext cx="8229600" cy="5287963"/>
          </a:xfrm>
        </p:spPr>
        <p:txBody>
          <a:bodyPr/>
          <a:lstStyle/>
          <a:p>
            <a:endParaRPr lang="en-US" dirty="0" smtClean="0"/>
          </a:p>
          <a:p>
            <a:pPr marL="0" indent="0">
              <a:buNone/>
            </a:pPr>
            <a:endParaRPr lang="en-US" dirty="0"/>
          </a:p>
        </p:txBody>
      </p:sp>
      <p:sp>
        <p:nvSpPr>
          <p:cNvPr id="5" name="Content Placeholder 2"/>
          <p:cNvSpPr txBox="1">
            <a:spLocks/>
          </p:cNvSpPr>
          <p:nvPr/>
        </p:nvSpPr>
        <p:spPr>
          <a:xfrm>
            <a:off x="457200" y="838200"/>
            <a:ext cx="8229600" cy="55626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t>After connection establishment, bidirectional data transfer can take place</a:t>
            </a:r>
          </a:p>
          <a:p>
            <a:r>
              <a:rPr lang="en-US" dirty="0" smtClean="0"/>
              <a:t>Urgent Data :</a:t>
            </a:r>
          </a:p>
          <a:p>
            <a:pPr lvl="1"/>
            <a:r>
              <a:rPr lang="en-US" dirty="0"/>
              <a:t>Each byte of data has a position in </a:t>
            </a:r>
            <a:r>
              <a:rPr lang="en-US" dirty="0" smtClean="0"/>
              <a:t>the stream</a:t>
            </a:r>
            <a:r>
              <a:rPr lang="en-US" dirty="0"/>
              <a:t>. However, there are occasions in which an application program needs to </a:t>
            </a:r>
            <a:r>
              <a:rPr lang="en-US" dirty="0" smtClean="0"/>
              <a:t>send </a:t>
            </a:r>
            <a:r>
              <a:rPr lang="en-US" i="1" dirty="0" smtClean="0"/>
              <a:t>urgent </a:t>
            </a:r>
            <a:r>
              <a:rPr lang="en-US" dirty="0" smtClean="0"/>
              <a:t>bytes</a:t>
            </a:r>
          </a:p>
          <a:p>
            <a:pPr lvl="1"/>
            <a:r>
              <a:rPr lang="en-US" dirty="0"/>
              <a:t>send a segment with the URG bit set</a:t>
            </a:r>
            <a:r>
              <a:rPr lang="en-US" dirty="0" smtClean="0"/>
              <a:t>.</a:t>
            </a:r>
          </a:p>
          <a:p>
            <a:pPr lvl="1"/>
            <a:r>
              <a:rPr lang="en-US" dirty="0" smtClean="0"/>
              <a:t>Sending TCP send </a:t>
            </a:r>
            <a:r>
              <a:rPr lang="en-US" dirty="0"/>
              <a:t>a segment with the URG bit set</a:t>
            </a:r>
            <a:r>
              <a:rPr lang="en-US" dirty="0" smtClean="0"/>
              <a:t>.</a:t>
            </a:r>
          </a:p>
          <a:p>
            <a:pPr lvl="1"/>
            <a:r>
              <a:rPr lang="en-US" dirty="0" smtClean="0"/>
              <a:t>Sending TCP </a:t>
            </a:r>
            <a:r>
              <a:rPr lang="en-US" dirty="0"/>
              <a:t>creates a segment and inserts the urgent data at the beginning of the </a:t>
            </a:r>
            <a:r>
              <a:rPr lang="en-US" dirty="0" smtClean="0"/>
              <a:t>segment, rest segment can carry normal data.</a:t>
            </a:r>
          </a:p>
          <a:p>
            <a:pPr lvl="1"/>
            <a:r>
              <a:rPr lang="en-US" dirty="0"/>
              <a:t>The urgent pointer field in </a:t>
            </a:r>
            <a:r>
              <a:rPr lang="en-US" dirty="0" smtClean="0"/>
              <a:t>the header </a:t>
            </a:r>
            <a:r>
              <a:rPr lang="en-US" dirty="0"/>
              <a:t>defines the end of the urgent data (the last byte of urgent data).</a:t>
            </a:r>
            <a:endParaRPr lang="en-US" dirty="0" smtClean="0"/>
          </a:p>
        </p:txBody>
      </p:sp>
    </p:spTree>
    <p:extLst>
      <p:ext uri="{BB962C8B-B14F-4D97-AF65-F5344CB8AC3E}">
        <p14:creationId xmlns:p14="http://schemas.microsoft.com/office/powerpoint/2010/main" val="409214680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20738"/>
            <a:ext cx="8305800" cy="792162"/>
          </a:xfrm>
        </p:spPr>
        <p:txBody>
          <a:bodyPr>
            <a:normAutofit/>
          </a:bodyPr>
          <a:lstStyle/>
          <a:p>
            <a:r>
              <a:rPr lang="en-US" dirty="0" smtClean="0"/>
              <a:t>Urgent Flag/Pointer</a:t>
            </a:r>
            <a:endParaRPr lang="en-US" dirty="0"/>
          </a:p>
        </p:txBody>
      </p:sp>
      <p:sp>
        <p:nvSpPr>
          <p:cNvPr id="3" name="Content Placeholder 2"/>
          <p:cNvSpPr>
            <a:spLocks noGrp="1"/>
          </p:cNvSpPr>
          <p:nvPr>
            <p:ph idx="1"/>
          </p:nvPr>
        </p:nvSpPr>
        <p:spPr/>
        <p:txBody>
          <a:bodyPr/>
          <a:lstStyle/>
          <a:p>
            <a:r>
              <a:rPr lang="en-US" dirty="0" smtClean="0"/>
              <a:t>For </a:t>
            </a:r>
            <a:r>
              <a:rPr lang="en-US" dirty="0"/>
              <a:t>example, </a:t>
            </a:r>
            <a:r>
              <a:rPr lang="en-US" dirty="0" smtClean="0"/>
              <a:t>if the </a:t>
            </a:r>
            <a:r>
              <a:rPr lang="en-US" dirty="0"/>
              <a:t>segment sequence number is 15000 and the value of the urgent pointer is 200, </a:t>
            </a:r>
            <a:r>
              <a:rPr lang="en-US" dirty="0" smtClean="0"/>
              <a:t>the first </a:t>
            </a:r>
            <a:r>
              <a:rPr lang="en-US" dirty="0"/>
              <a:t>byte of urgent data is the byte 15000 and the last byte is the byte 15200. The rest </a:t>
            </a:r>
            <a:r>
              <a:rPr lang="en-US" dirty="0" smtClean="0"/>
              <a:t>of the </a:t>
            </a:r>
            <a:r>
              <a:rPr lang="en-US" dirty="0"/>
              <a:t>bytes in the segment (if present) </a:t>
            </a:r>
            <a:r>
              <a:rPr lang="en-US" dirty="0" smtClean="0"/>
              <a:t>are non-urgent</a:t>
            </a:r>
            <a:r>
              <a:rPr lang="en-US" dirty="0"/>
              <a:t>.</a:t>
            </a:r>
          </a:p>
        </p:txBody>
      </p:sp>
    </p:spTree>
    <p:extLst>
      <p:ext uri="{BB962C8B-B14F-4D97-AF65-F5344CB8AC3E}">
        <p14:creationId xmlns:p14="http://schemas.microsoft.com/office/powerpoint/2010/main" val="30552638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Connection Termination</a:t>
            </a:r>
            <a:endParaRPr lang="en-US" dirty="0"/>
          </a:p>
        </p:txBody>
      </p:sp>
      <p:sp>
        <p:nvSpPr>
          <p:cNvPr id="3" name="Content Placeholder 2"/>
          <p:cNvSpPr>
            <a:spLocks noGrp="1"/>
          </p:cNvSpPr>
          <p:nvPr>
            <p:ph idx="1"/>
          </p:nvPr>
        </p:nvSpPr>
        <p:spPr/>
        <p:txBody>
          <a:bodyPr/>
          <a:lstStyle/>
          <a:p>
            <a:r>
              <a:rPr lang="en-US" dirty="0" smtClean="0"/>
              <a:t>Either of client or server can close the connection, usually initiated by the client.</a:t>
            </a:r>
          </a:p>
          <a:p>
            <a:r>
              <a:rPr lang="en-US" dirty="0" smtClean="0"/>
              <a:t>Most implementation allow two options:</a:t>
            </a:r>
          </a:p>
          <a:p>
            <a:pPr lvl="1"/>
            <a:r>
              <a:rPr lang="en-US" dirty="0" smtClean="0"/>
              <a:t>Three way handshaking</a:t>
            </a:r>
          </a:p>
          <a:p>
            <a:pPr lvl="1"/>
            <a:r>
              <a:rPr lang="en-US" dirty="0" smtClean="0"/>
              <a:t>Four way handshaking with Half-close option.</a:t>
            </a:r>
            <a:endParaRPr lang="en-US" dirty="0"/>
          </a:p>
        </p:txBody>
      </p:sp>
    </p:spTree>
    <p:extLst>
      <p:ext uri="{BB962C8B-B14F-4D97-AF65-F5344CB8AC3E}">
        <p14:creationId xmlns:p14="http://schemas.microsoft.com/office/powerpoint/2010/main" val="266964398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Connection Termination</a:t>
            </a:r>
            <a:endParaRPr lang="en-US" dirty="0"/>
          </a:p>
        </p:txBody>
      </p:sp>
      <p:pic>
        <p:nvPicPr>
          <p:cNvPr id="4" name="Content Placeholder 3"/>
          <p:cNvPicPr>
            <a:picLocks noGrp="1" noChangeAspect="1"/>
          </p:cNvPicPr>
          <p:nvPr>
            <p:ph idx="1"/>
          </p:nvPr>
        </p:nvPicPr>
        <p:blipFill>
          <a:blip r:embed="rId2"/>
          <a:stretch>
            <a:fillRect/>
          </a:stretch>
        </p:blipFill>
        <p:spPr>
          <a:xfrm>
            <a:off x="457200" y="914400"/>
            <a:ext cx="8077200" cy="5572991"/>
          </a:xfrm>
          <a:prstGeom prst="rect">
            <a:avLst/>
          </a:prstGeom>
        </p:spPr>
      </p:pic>
    </p:spTree>
    <p:extLst>
      <p:ext uri="{BB962C8B-B14F-4D97-AF65-F5344CB8AC3E}">
        <p14:creationId xmlns:p14="http://schemas.microsoft.com/office/powerpoint/2010/main" val="354555646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Connection Termination</a:t>
            </a:r>
          </a:p>
        </p:txBody>
      </p:sp>
      <p:sp>
        <p:nvSpPr>
          <p:cNvPr id="3" name="Content Placeholder 2"/>
          <p:cNvSpPr>
            <a:spLocks noGrp="1"/>
          </p:cNvSpPr>
          <p:nvPr>
            <p:ph idx="1"/>
          </p:nvPr>
        </p:nvSpPr>
        <p:spPr>
          <a:xfrm>
            <a:off x="457200" y="1219200"/>
            <a:ext cx="8229600" cy="4906963"/>
          </a:xfrm>
        </p:spPr>
        <p:txBody>
          <a:bodyPr/>
          <a:lstStyle/>
          <a:p>
            <a:pPr marL="0" indent="0">
              <a:buNone/>
            </a:pPr>
            <a:r>
              <a:rPr lang="en-US" dirty="0" smtClean="0"/>
              <a:t>I. Three Way Handshake :</a:t>
            </a:r>
          </a:p>
          <a:p>
            <a:r>
              <a:rPr lang="en-US" dirty="0" smtClean="0"/>
              <a:t>Client TCP sends a FIN segment in which FIN flag is set.</a:t>
            </a:r>
          </a:p>
          <a:p>
            <a:r>
              <a:rPr lang="en-US" dirty="0"/>
              <a:t>FIN segment can include the last chunk of data sent by the client or it can </a:t>
            </a:r>
            <a:r>
              <a:rPr lang="en-US" dirty="0" smtClean="0"/>
              <a:t>be just </a:t>
            </a:r>
            <a:r>
              <a:rPr lang="en-US" dirty="0"/>
              <a:t>a control </a:t>
            </a:r>
            <a:r>
              <a:rPr lang="en-US" dirty="0" smtClean="0"/>
              <a:t>segment.</a:t>
            </a:r>
          </a:p>
          <a:p>
            <a:r>
              <a:rPr lang="en-US" b="1" dirty="0"/>
              <a:t>The FIN segment consumes one sequence number if it does not carry data.</a:t>
            </a:r>
            <a:endParaRPr lang="en-US" dirty="0"/>
          </a:p>
        </p:txBody>
      </p:sp>
    </p:spTree>
    <p:extLst>
      <p:ext uri="{BB962C8B-B14F-4D97-AF65-F5344CB8AC3E}">
        <p14:creationId xmlns:p14="http://schemas.microsoft.com/office/powerpoint/2010/main" val="94119024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Connection Termination</a:t>
            </a:r>
          </a:p>
        </p:txBody>
      </p:sp>
      <p:sp>
        <p:nvSpPr>
          <p:cNvPr id="3" name="Content Placeholder 2"/>
          <p:cNvSpPr>
            <a:spLocks noGrp="1"/>
          </p:cNvSpPr>
          <p:nvPr>
            <p:ph idx="1"/>
          </p:nvPr>
        </p:nvSpPr>
        <p:spPr>
          <a:xfrm>
            <a:off x="457200" y="1219200"/>
            <a:ext cx="8229600" cy="4906963"/>
          </a:xfrm>
        </p:spPr>
        <p:txBody>
          <a:bodyPr>
            <a:normAutofit lnSpcReduction="10000"/>
          </a:bodyPr>
          <a:lstStyle/>
          <a:p>
            <a:pPr marL="0" indent="0">
              <a:buNone/>
            </a:pPr>
            <a:r>
              <a:rPr lang="en-US" dirty="0" smtClean="0"/>
              <a:t>II. Three Way Handshake :</a:t>
            </a:r>
          </a:p>
          <a:p>
            <a:r>
              <a:rPr lang="en-US" dirty="0" smtClean="0"/>
              <a:t>Server TCP, after receiving FIN segment sends a FIN+ACK segment to confirm receipt of FIN segment and also to announce closing of connection in other direction.</a:t>
            </a:r>
          </a:p>
          <a:p>
            <a:r>
              <a:rPr lang="en-US" dirty="0" smtClean="0"/>
              <a:t>This segment can also carry last chunk of data from server.</a:t>
            </a:r>
          </a:p>
          <a:p>
            <a:r>
              <a:rPr lang="en-US" dirty="0"/>
              <a:t>If it does not carry data, it consumes only one sequence </a:t>
            </a:r>
            <a:r>
              <a:rPr lang="en-US" dirty="0" smtClean="0"/>
              <a:t>number because </a:t>
            </a:r>
            <a:r>
              <a:rPr lang="en-US" dirty="0"/>
              <a:t>it needs to be </a:t>
            </a:r>
            <a:r>
              <a:rPr lang="en-US" dirty="0" smtClean="0"/>
              <a:t>acknowledged.</a:t>
            </a:r>
          </a:p>
        </p:txBody>
      </p:sp>
    </p:spTree>
    <p:extLst>
      <p:ext uri="{BB962C8B-B14F-4D97-AF65-F5344CB8AC3E}">
        <p14:creationId xmlns:p14="http://schemas.microsoft.com/office/powerpoint/2010/main" val="41779761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Connection Termination</a:t>
            </a:r>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dirty="0" smtClean="0"/>
              <a:t>III. Three Way Handshake :</a:t>
            </a:r>
          </a:p>
          <a:p>
            <a:r>
              <a:rPr lang="en-US" dirty="0"/>
              <a:t>C</a:t>
            </a:r>
            <a:r>
              <a:rPr lang="en-US" dirty="0" smtClean="0"/>
              <a:t>lient </a:t>
            </a:r>
            <a:r>
              <a:rPr lang="en-US" dirty="0"/>
              <a:t>TCP sends the last segment, an ACK segment, to confirm the receipt </a:t>
            </a:r>
            <a:r>
              <a:rPr lang="en-US" dirty="0" smtClean="0"/>
              <a:t>of the </a:t>
            </a:r>
            <a:r>
              <a:rPr lang="en-US" dirty="0"/>
              <a:t>FIN segment from the TCP server</a:t>
            </a:r>
            <a:r>
              <a:rPr lang="en-US" dirty="0" smtClean="0"/>
              <a:t>.</a:t>
            </a:r>
          </a:p>
          <a:p>
            <a:r>
              <a:rPr lang="en-US" dirty="0"/>
              <a:t>This segment cannot carry data and consumes no sequence numbers</a:t>
            </a:r>
            <a:endParaRPr lang="en-US" dirty="0" smtClean="0"/>
          </a:p>
        </p:txBody>
      </p:sp>
    </p:spTree>
    <p:extLst>
      <p:ext uri="{BB962C8B-B14F-4D97-AF65-F5344CB8AC3E}">
        <p14:creationId xmlns:p14="http://schemas.microsoft.com/office/powerpoint/2010/main" val="2795408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IN" sz="2800" dirty="0" smtClean="0"/>
              <a:t>Connection Termination in TCP</a:t>
            </a:r>
            <a:endParaRPr lang="en-IN" sz="2800" dirty="0"/>
          </a:p>
        </p:txBody>
      </p:sp>
      <p:sp>
        <p:nvSpPr>
          <p:cNvPr id="3" name="Content Placeholder 2"/>
          <p:cNvSpPr>
            <a:spLocks noGrp="1"/>
          </p:cNvSpPr>
          <p:nvPr>
            <p:ph idx="1"/>
          </p:nvPr>
        </p:nvSpPr>
        <p:spPr>
          <a:xfrm>
            <a:off x="457200" y="914400"/>
            <a:ext cx="8229600" cy="5486400"/>
          </a:xfrm>
        </p:spPr>
        <p:txBody>
          <a:bodyPr/>
          <a:lstStyle/>
          <a:p>
            <a:endParaRPr lang="en-IN" dirty="0"/>
          </a:p>
        </p:txBody>
      </p:sp>
      <p:sp>
        <p:nvSpPr>
          <p:cNvPr id="5" name="Footer Placeholder 4"/>
          <p:cNvSpPr>
            <a:spLocks noGrp="1"/>
          </p:cNvSpPr>
          <p:nvPr>
            <p:ph type="ftr" sz="quarter" idx="11"/>
          </p:nvPr>
        </p:nvSpPr>
        <p:spPr/>
        <p:txBody>
          <a:bodyPr/>
          <a:lstStyle/>
          <a:p>
            <a:r>
              <a:rPr lang="en-US" smtClean="0"/>
              <a:t>SCR</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778" y="1143000"/>
            <a:ext cx="5913422" cy="4778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393560" y="960480"/>
              <a:ext cx="5803200" cy="2772000"/>
            </p14:xfrm>
          </p:contentPart>
        </mc:Choice>
        <mc:Fallback xmlns="">
          <p:pic>
            <p:nvPicPr>
              <p:cNvPr id="4" name="Ink 3"/>
              <p:cNvPicPr/>
              <p:nvPr/>
            </p:nvPicPr>
            <p:blipFill>
              <a:blip r:embed="rId4"/>
              <a:stretch>
                <a:fillRect/>
              </a:stretch>
            </p:blipFill>
            <p:spPr>
              <a:xfrm>
                <a:off x="1386360" y="952200"/>
                <a:ext cx="5814720" cy="2783160"/>
              </a:xfrm>
              <a:prstGeom prst="rect">
                <a:avLst/>
              </a:prstGeom>
            </p:spPr>
          </p:pic>
        </mc:Fallback>
      </mc:AlternateContent>
    </p:spTree>
    <p:extLst>
      <p:ext uri="{BB962C8B-B14F-4D97-AF65-F5344CB8AC3E}">
        <p14:creationId xmlns:p14="http://schemas.microsoft.com/office/powerpoint/2010/main" val="426671215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70000" lnSpcReduction="20000"/>
          </a:bodyPr>
          <a:lstStyle/>
          <a:p>
            <a:pPr algn="l"/>
            <a:r>
              <a:rPr lang="en-US" b="1" dirty="0">
                <a:solidFill>
                  <a:schemeClr val="tx1"/>
                </a:solidFill>
              </a:rPr>
              <a:t>Flow Control </a:t>
            </a:r>
            <a:r>
              <a:rPr lang="en-US" dirty="0">
                <a:solidFill>
                  <a:schemeClr val="tx1"/>
                </a:solidFill>
              </a:rPr>
              <a:t>:</a:t>
            </a:r>
          </a:p>
          <a:p>
            <a:pPr algn="l"/>
            <a:r>
              <a:rPr lang="en-US" dirty="0">
                <a:solidFill>
                  <a:schemeClr val="tx1"/>
                </a:solidFill>
              </a:rPr>
              <a:t>Flow control defines the amount of data a source can send before receiving an acknowledgment from the destination.  </a:t>
            </a:r>
            <a:endParaRPr lang="en-US" dirty="0" smtClean="0">
              <a:solidFill>
                <a:schemeClr val="tx1"/>
              </a:solidFill>
            </a:endParaRPr>
          </a:p>
          <a:p>
            <a:pPr algn="l"/>
            <a:r>
              <a:rPr lang="en-US" dirty="0" smtClean="0">
                <a:solidFill>
                  <a:schemeClr val="tx1"/>
                </a:solidFill>
              </a:rPr>
              <a:t>In </a:t>
            </a:r>
            <a:r>
              <a:rPr lang="en-US" dirty="0">
                <a:solidFill>
                  <a:schemeClr val="tx1"/>
                </a:solidFill>
              </a:rPr>
              <a:t>extreme case, a transport-layer protocol could send 1 byte of data and wait for an acknowledgment before sending the next byte.   </a:t>
            </a:r>
            <a:endParaRPr lang="en-US" dirty="0" smtClean="0">
              <a:solidFill>
                <a:schemeClr val="tx1"/>
              </a:solidFill>
            </a:endParaRPr>
          </a:p>
          <a:p>
            <a:pPr algn="l"/>
            <a:r>
              <a:rPr lang="en-US" dirty="0" smtClean="0">
                <a:solidFill>
                  <a:schemeClr val="tx1"/>
                </a:solidFill>
              </a:rPr>
              <a:t>But </a:t>
            </a:r>
            <a:r>
              <a:rPr lang="en-US" dirty="0">
                <a:solidFill>
                  <a:schemeClr val="tx1"/>
                </a:solidFill>
              </a:rPr>
              <a:t>this would be an extremely slow process. If the data are travelling a long distance, the source is idle, while it waits for an acknowledgment. </a:t>
            </a:r>
          </a:p>
          <a:p>
            <a:pPr algn="l"/>
            <a:r>
              <a:rPr lang="en-US" dirty="0">
                <a:solidFill>
                  <a:schemeClr val="tx1"/>
                </a:solidFill>
              </a:rPr>
              <a:t>At the other extreme, a transport-layer protocol can send all the data it has without worrying about acknowledgment.  </a:t>
            </a:r>
            <a:endParaRPr lang="en-US" dirty="0" smtClean="0">
              <a:solidFill>
                <a:schemeClr val="tx1"/>
              </a:solidFill>
            </a:endParaRPr>
          </a:p>
          <a:p>
            <a:pPr algn="l"/>
            <a:r>
              <a:rPr lang="en-US" dirty="0" smtClean="0">
                <a:solidFill>
                  <a:schemeClr val="tx1"/>
                </a:solidFill>
              </a:rPr>
              <a:t>This </a:t>
            </a:r>
            <a:r>
              <a:rPr lang="en-US" dirty="0">
                <a:solidFill>
                  <a:schemeClr val="tx1"/>
                </a:solidFill>
              </a:rPr>
              <a:t>speeds up the process, but it may overwhelm the receiver.  </a:t>
            </a:r>
            <a:endParaRPr lang="en-US" dirty="0" smtClean="0">
              <a:solidFill>
                <a:schemeClr val="tx1"/>
              </a:solidFill>
            </a:endParaRPr>
          </a:p>
          <a:p>
            <a:pPr algn="l"/>
            <a:r>
              <a:rPr lang="en-US" dirty="0" smtClean="0">
                <a:solidFill>
                  <a:schemeClr val="tx1"/>
                </a:solidFill>
              </a:rPr>
              <a:t>Besides</a:t>
            </a:r>
            <a:r>
              <a:rPr lang="en-US" dirty="0">
                <a:solidFill>
                  <a:schemeClr val="tx1"/>
                </a:solidFill>
              </a:rPr>
              <a:t>, if some part of the data is lost, duplicated, received out of order,  or corrupted, the source will not know until all data have been checked by the destination.</a:t>
            </a:r>
          </a:p>
          <a:p>
            <a:pPr algn="l"/>
            <a:r>
              <a:rPr lang="en-US" dirty="0">
                <a:solidFill>
                  <a:schemeClr val="tx1"/>
                </a:solidFill>
              </a:rPr>
              <a:t>TCP has a solution that stands somewhere in between.  </a:t>
            </a:r>
            <a:endParaRPr lang="en-US" dirty="0" smtClean="0">
              <a:solidFill>
                <a:schemeClr val="tx1"/>
              </a:solidFill>
            </a:endParaRPr>
          </a:p>
          <a:p>
            <a:pPr algn="l"/>
            <a:r>
              <a:rPr lang="en-US" dirty="0" smtClean="0">
                <a:solidFill>
                  <a:schemeClr val="tx1"/>
                </a:solidFill>
              </a:rPr>
              <a:t>It </a:t>
            </a:r>
            <a:r>
              <a:rPr lang="en-US" dirty="0">
                <a:solidFill>
                  <a:schemeClr val="tx1"/>
                </a:solidFill>
              </a:rPr>
              <a:t>defines a window that is imposed on the buffer of data delivered from the application program and is ready to be sent.  </a:t>
            </a:r>
            <a:endParaRPr lang="en-US" dirty="0" smtClean="0">
              <a:solidFill>
                <a:schemeClr val="tx1"/>
              </a:solidFill>
            </a:endParaRPr>
          </a:p>
          <a:p>
            <a:pPr algn="l"/>
            <a:r>
              <a:rPr lang="en-US" dirty="0" smtClean="0">
                <a:solidFill>
                  <a:schemeClr val="tx1"/>
                </a:solidFill>
              </a:rPr>
              <a:t>TCP </a:t>
            </a:r>
            <a:r>
              <a:rPr lang="en-US" dirty="0">
                <a:solidFill>
                  <a:schemeClr val="tx1"/>
                </a:solidFill>
              </a:rPr>
              <a:t>sends as many data as are defined by the sliding window protocol.</a:t>
            </a:r>
          </a:p>
          <a:p>
            <a:pPr algn="l"/>
            <a:endParaRPr lang="en-US" dirty="0">
              <a:solidFill>
                <a:schemeClr val="tx1"/>
              </a:solidFill>
            </a:endParaRPr>
          </a:p>
        </p:txBody>
      </p:sp>
      <p:sp>
        <p:nvSpPr>
          <p:cNvPr id="4" name="Footer Placeholder 3"/>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xEl>
                                              <p:pRg st="9" end="9"/>
                                            </p:txEl>
                                          </p:spTgt>
                                        </p:tgtEl>
                                        <p:attrNameLst>
                                          <p:attrName>style.visibility</p:attrName>
                                        </p:attrNameLst>
                                      </p:cBhvr>
                                      <p:to>
                                        <p:strVal val="visible"/>
                                      </p:to>
                                    </p:set>
                                    <p:anim calcmode="lin" valueType="num">
                                      <p:cBhvr additive="base">
                                        <p:cTn id="6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smtClean="0"/>
              <a:t>Flow control  </a:t>
            </a:r>
            <a:r>
              <a:rPr lang="en-IN" b="1" dirty="0"/>
              <a:t>PROTOCOLS</a:t>
            </a:r>
            <a:endParaRPr lang="en-IN" dirty="0"/>
          </a:p>
        </p:txBody>
      </p:sp>
      <p:sp>
        <p:nvSpPr>
          <p:cNvPr id="2" name="Content Placeholder 1"/>
          <p:cNvSpPr>
            <a:spLocks noGrp="1"/>
          </p:cNvSpPr>
          <p:nvPr>
            <p:ph idx="1"/>
          </p:nvPr>
        </p:nvSpPr>
        <p:spPr>
          <a:xfrm>
            <a:off x="381000" y="1828800"/>
            <a:ext cx="8381999" cy="4297363"/>
          </a:xfrm>
        </p:spPr>
        <p:txBody>
          <a:bodyPr>
            <a:normAutofit/>
          </a:bodyPr>
          <a:lstStyle/>
          <a:p>
            <a:r>
              <a:rPr lang="en-IN" sz="4400" dirty="0" smtClean="0"/>
              <a:t>Stop and wait</a:t>
            </a:r>
          </a:p>
          <a:p>
            <a:r>
              <a:rPr lang="en-IN" sz="4400" dirty="0" smtClean="0"/>
              <a:t>Sliding window protocols:</a:t>
            </a:r>
          </a:p>
          <a:p>
            <a:pPr lvl="1"/>
            <a:r>
              <a:rPr lang="en-IN" sz="4000" dirty="0" smtClean="0"/>
              <a:t>Go back N</a:t>
            </a:r>
          </a:p>
          <a:p>
            <a:pPr lvl="1"/>
            <a:r>
              <a:rPr lang="en-IN" sz="4000" dirty="0" smtClean="0"/>
              <a:t>Selective Repeat</a:t>
            </a:r>
            <a:endParaRPr lang="en-IN" sz="4000" dirty="0"/>
          </a:p>
        </p:txBody>
      </p:sp>
      <p:sp>
        <p:nvSpPr>
          <p:cNvPr id="5" name="Footer Placeholder 4"/>
          <p:cNvSpPr>
            <a:spLocks noGrp="1"/>
          </p:cNvSpPr>
          <p:nvPr>
            <p:ph type="ftr" sz="quarter" idx="11"/>
          </p:nvPr>
        </p:nvSpPr>
        <p:spPr/>
        <p:txBody>
          <a:bodyPr/>
          <a:lstStyle/>
          <a:p>
            <a:r>
              <a:rPr lang="en-US" smtClean="0"/>
              <a:t>SCR</a:t>
            </a:r>
            <a:endParaRPr lang="en-US"/>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716920" y="2133000"/>
              <a:ext cx="191520" cy="51480"/>
            </p14:xfrm>
          </p:contentPart>
        </mc:Choice>
        <mc:Fallback xmlns="">
          <p:pic>
            <p:nvPicPr>
              <p:cNvPr id="4" name="Ink 3"/>
              <p:cNvPicPr/>
              <p:nvPr/>
            </p:nvPicPr>
            <p:blipFill>
              <a:blip r:embed="rId3"/>
              <a:stretch>
                <a:fillRect/>
              </a:stretch>
            </p:blipFill>
            <p:spPr>
              <a:xfrm>
                <a:off x="2714400" y="2130480"/>
                <a:ext cx="196560" cy="56520"/>
              </a:xfrm>
              <a:prstGeom prst="rect">
                <a:avLst/>
              </a:prstGeom>
            </p:spPr>
          </p:pic>
        </mc:Fallback>
      </mc:AlternateContent>
    </p:spTree>
    <p:extLst>
      <p:ext uri="{BB962C8B-B14F-4D97-AF65-F5344CB8AC3E}">
        <p14:creationId xmlns:p14="http://schemas.microsoft.com/office/powerpoint/2010/main" val="14535673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IN" sz="2800" b="1" dirty="0">
                <a:solidFill>
                  <a:srgbClr val="FF0000"/>
                </a:solidFill>
              </a:rPr>
              <a:t>Stop-and-Wait Protocol</a:t>
            </a:r>
            <a:endParaRPr lang="en-IN" sz="2800" dirty="0"/>
          </a:p>
        </p:txBody>
      </p:sp>
      <p:sp>
        <p:nvSpPr>
          <p:cNvPr id="3" name="Content Placeholder 2"/>
          <p:cNvSpPr>
            <a:spLocks noGrp="1"/>
          </p:cNvSpPr>
          <p:nvPr>
            <p:ph idx="1"/>
          </p:nvPr>
        </p:nvSpPr>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65043"/>
            <a:ext cx="842772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378306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271272"/>
            <a:ext cx="8229600" cy="1252728"/>
          </a:xfrm>
        </p:spPr>
        <p:txBody>
          <a:bodyPr>
            <a:normAutofit/>
          </a:bodyPr>
          <a:lstStyle/>
          <a:p>
            <a:r>
              <a:rPr lang="en-IN" b="1" dirty="0" smtClean="0">
                <a:solidFill>
                  <a:srgbClr val="FF0000"/>
                </a:solidFill>
              </a:rPr>
              <a:t>Stop-and-Wait Protocol</a:t>
            </a:r>
            <a:endParaRPr lang="en-IN" b="1" dirty="0">
              <a:solidFill>
                <a:srgbClr val="FF0000"/>
              </a:solidFill>
            </a:endParaRPr>
          </a:p>
        </p:txBody>
      </p:sp>
      <p:sp>
        <p:nvSpPr>
          <p:cNvPr id="4" name="Footer Placeholder 3"/>
          <p:cNvSpPr>
            <a:spLocks noGrp="1"/>
          </p:cNvSpPr>
          <p:nvPr>
            <p:ph type="ftr" sz="quarter" idx="11"/>
          </p:nvPr>
        </p:nvSpPr>
        <p:spPr/>
        <p:txBody>
          <a:bodyPr/>
          <a:lstStyle/>
          <a:p>
            <a:r>
              <a:rPr lang="en-US" smtClean="0"/>
              <a:t>SCR</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773365"/>
            <a:ext cx="8991600" cy="309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14400" y="1828800"/>
            <a:ext cx="7315200" cy="923330"/>
          </a:xfrm>
          <a:prstGeom prst="rect">
            <a:avLst/>
          </a:prstGeom>
          <a:noFill/>
        </p:spPr>
        <p:txBody>
          <a:bodyPr wrap="square" rtlCol="0">
            <a:spAutoFit/>
          </a:bodyPr>
          <a:lstStyle/>
          <a:p>
            <a:pPr marL="285750" indent="-285750">
              <a:buFont typeface="Arial" pitchFamily="34" charset="0"/>
              <a:buChar char="•"/>
            </a:pPr>
            <a:r>
              <a:rPr lang="en-IN" dirty="0" smtClean="0"/>
              <a:t>Flow control is achieved by forcing the sender to wait for an ACK</a:t>
            </a:r>
          </a:p>
          <a:p>
            <a:pPr marL="285750" indent="-285750">
              <a:buFont typeface="Arial" pitchFamily="34" charset="0"/>
              <a:buChar char="•"/>
            </a:pPr>
            <a:r>
              <a:rPr lang="en-IN" dirty="0" smtClean="0"/>
              <a:t>Error Control is achieved by discarding corrupted packets and letting the sender resend unacknowledged packets when the timer expires</a:t>
            </a:r>
            <a:endParaRPr lang="en-IN" dirty="0"/>
          </a:p>
        </p:txBody>
      </p:sp>
    </p:spTree>
    <p:extLst>
      <p:ext uri="{BB962C8B-B14F-4D97-AF65-F5344CB8AC3E}">
        <p14:creationId xmlns:p14="http://schemas.microsoft.com/office/powerpoint/2010/main" val="65541618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p:txBody>
          <a:bodyPr>
            <a:normAutofit/>
          </a:bodyPr>
          <a:lstStyle/>
          <a:p>
            <a:r>
              <a:rPr lang="en-IN" b="1" dirty="0" smtClean="0">
                <a:solidFill>
                  <a:srgbClr val="FF0000"/>
                </a:solidFill>
              </a:rPr>
              <a:t>Stop-and-Wait Protocol</a:t>
            </a:r>
            <a:endParaRPr lang="en-IN" b="1" dirty="0">
              <a:solidFill>
                <a:srgbClr val="FF0000"/>
              </a:solidFill>
            </a:endParaRPr>
          </a:p>
        </p:txBody>
      </p:sp>
      <p:sp>
        <p:nvSpPr>
          <p:cNvPr id="2" name="Content Placeholder 1"/>
          <p:cNvSpPr>
            <a:spLocks noGrp="1"/>
          </p:cNvSpPr>
          <p:nvPr>
            <p:ph idx="1"/>
          </p:nvPr>
        </p:nvSpPr>
        <p:spPr>
          <a:xfrm>
            <a:off x="872067" y="1219200"/>
            <a:ext cx="7408333" cy="4906963"/>
          </a:xfrm>
        </p:spPr>
        <p:txBody>
          <a:bodyPr>
            <a:normAutofit fontScale="85000" lnSpcReduction="10000"/>
          </a:bodyPr>
          <a:lstStyle/>
          <a:p>
            <a:r>
              <a:rPr lang="en-IN" dirty="0" smtClean="0"/>
              <a:t>Sequence Numbers:</a:t>
            </a:r>
          </a:p>
          <a:p>
            <a:pPr lvl="1"/>
            <a:r>
              <a:rPr lang="en-IN" dirty="0" smtClean="0">
                <a:solidFill>
                  <a:schemeClr val="tx1"/>
                </a:solidFill>
                <a:latin typeface="Times New Roman" pitchFamily="18" charset="0"/>
                <a:cs typeface="Times New Roman" pitchFamily="18" charset="0"/>
              </a:rPr>
              <a:t>To prevent duplicate packets, the protocol uses sequence numbers and acknowledgement numbers</a:t>
            </a:r>
          </a:p>
          <a:p>
            <a:pPr lvl="1"/>
            <a:r>
              <a:rPr lang="en-IN" dirty="0" smtClean="0">
                <a:solidFill>
                  <a:schemeClr val="tx1"/>
                </a:solidFill>
                <a:latin typeface="Times New Roman" pitchFamily="18" charset="0"/>
                <a:cs typeface="Times New Roman" pitchFamily="18" charset="0"/>
              </a:rPr>
              <a:t>Range of sequence number?</a:t>
            </a:r>
          </a:p>
          <a:p>
            <a:pPr lvl="1"/>
            <a:r>
              <a:rPr lang="en-IN" dirty="0" smtClean="0">
                <a:solidFill>
                  <a:schemeClr val="tx1"/>
                </a:solidFill>
                <a:latin typeface="Times New Roman" pitchFamily="18" charset="0"/>
                <a:cs typeface="Times New Roman" pitchFamily="18" charset="0"/>
              </a:rPr>
              <a:t>Assume ‘x’ as sequence number then we only need to use ‘x+1’  after that. There is no need for x+2</a:t>
            </a:r>
          </a:p>
          <a:p>
            <a:pPr lvl="1"/>
            <a:r>
              <a:rPr lang="en-IN" dirty="0" err="1" smtClean="0">
                <a:solidFill>
                  <a:schemeClr val="tx1"/>
                </a:solidFill>
                <a:latin typeface="Times New Roman" pitchFamily="18" charset="0"/>
                <a:cs typeface="Times New Roman" pitchFamily="18" charset="0"/>
              </a:rPr>
              <a:t>Eg</a:t>
            </a:r>
            <a:r>
              <a:rPr lang="en-IN" dirty="0" smtClean="0">
                <a:solidFill>
                  <a:schemeClr val="tx1"/>
                </a:solidFill>
                <a:latin typeface="Times New Roman" pitchFamily="18" charset="0"/>
                <a:cs typeface="Times New Roman" pitchFamily="18" charset="0"/>
              </a:rPr>
              <a:t>: Packet number ‘0’ is sent from the sender and receivers receives it successfully then an </a:t>
            </a:r>
            <a:r>
              <a:rPr lang="en-IN" dirty="0" err="1" smtClean="0">
                <a:solidFill>
                  <a:schemeClr val="tx1"/>
                </a:solidFill>
                <a:latin typeface="Times New Roman" pitchFamily="18" charset="0"/>
                <a:cs typeface="Times New Roman" pitchFamily="18" charset="0"/>
              </a:rPr>
              <a:t>ack</a:t>
            </a:r>
            <a:r>
              <a:rPr lang="en-IN" dirty="0" smtClean="0">
                <a:solidFill>
                  <a:schemeClr val="tx1"/>
                </a:solidFill>
                <a:latin typeface="Times New Roman" pitchFamily="18" charset="0"/>
                <a:cs typeface="Times New Roman" pitchFamily="18" charset="0"/>
              </a:rPr>
              <a:t> 1 is generated by receiver</a:t>
            </a:r>
          </a:p>
          <a:p>
            <a:pPr lvl="1"/>
            <a:r>
              <a:rPr lang="en-IN" dirty="0" smtClean="0">
                <a:solidFill>
                  <a:schemeClr val="tx1"/>
                </a:solidFill>
                <a:latin typeface="Times New Roman" pitchFamily="18" charset="0"/>
                <a:cs typeface="Times New Roman" pitchFamily="18" charset="0"/>
              </a:rPr>
              <a:t>If Packet 0 is lost or corrupted; after time out sender will again send packet 0</a:t>
            </a:r>
          </a:p>
          <a:p>
            <a:pPr lvl="1"/>
            <a:r>
              <a:rPr lang="en-IN" dirty="0" smtClean="0">
                <a:solidFill>
                  <a:schemeClr val="tx1"/>
                </a:solidFill>
                <a:latin typeface="Times New Roman" pitchFamily="18" charset="0"/>
                <a:cs typeface="Times New Roman" pitchFamily="18" charset="0"/>
              </a:rPr>
              <a:t>So in all we have only 2 numbers 0 and 1</a:t>
            </a:r>
          </a:p>
          <a:p>
            <a:pPr lvl="1"/>
            <a:endParaRPr lang="en-IN" dirty="0"/>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5953899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fontScale="90000"/>
          </a:bodyPr>
          <a:lstStyle/>
          <a:p>
            <a:r>
              <a:rPr lang="en-IN" dirty="0" smtClean="0"/>
              <a:t/>
            </a:r>
            <a:br>
              <a:rPr lang="en-IN" dirty="0" smtClean="0"/>
            </a:br>
            <a:r>
              <a:rPr lang="en-IN" sz="3600" dirty="0" smtClean="0"/>
              <a:t>Drawback -Stop and wait</a:t>
            </a:r>
            <a:br>
              <a:rPr lang="en-IN" sz="3600" dirty="0" smtClean="0"/>
            </a:br>
            <a:r>
              <a:rPr lang="en-IN" sz="3600" dirty="0" smtClean="0"/>
              <a:t>Sends one frame at a time-slower(no pipelining)</a:t>
            </a:r>
            <a:br>
              <a:rPr lang="en-IN" sz="3600" dirty="0" smtClean="0"/>
            </a:br>
            <a:endParaRPr lang="en-IN" sz="3600" dirty="0"/>
          </a:p>
        </p:txBody>
      </p:sp>
      <p:sp>
        <p:nvSpPr>
          <p:cNvPr id="3" name="Content Placeholder 2"/>
          <p:cNvSpPr>
            <a:spLocks noGrp="1"/>
          </p:cNvSpPr>
          <p:nvPr>
            <p:ph idx="1"/>
          </p:nvPr>
        </p:nvSpPr>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399"/>
            <a:ext cx="4328795" cy="373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275" y="1616121"/>
            <a:ext cx="4183689"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906517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2209800"/>
            <a:ext cx="4200904" cy="3320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963741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76072"/>
            <a:ext cx="8229600" cy="1252728"/>
          </a:xfrm>
        </p:spPr>
        <p:txBody>
          <a:bodyPr>
            <a:normAutofit fontScale="90000"/>
          </a:bodyPr>
          <a:lstStyle/>
          <a:p>
            <a:r>
              <a:rPr lang="en-IN" dirty="0"/>
              <a:t>Pipelining:</a:t>
            </a:r>
            <a:br>
              <a:rPr lang="en-IN" dirty="0"/>
            </a:br>
            <a:endParaRPr lang="en-IN" dirty="0"/>
          </a:p>
        </p:txBody>
      </p:sp>
      <p:sp>
        <p:nvSpPr>
          <p:cNvPr id="2" name="Content Placeholder 1"/>
          <p:cNvSpPr>
            <a:spLocks noGrp="1"/>
          </p:cNvSpPr>
          <p:nvPr>
            <p:ph idx="1"/>
          </p:nvPr>
        </p:nvSpPr>
        <p:spPr/>
        <p:txBody>
          <a:bodyPr/>
          <a:lstStyle/>
          <a:p>
            <a:r>
              <a:rPr lang="en-IN" dirty="0" smtClean="0"/>
              <a:t>Pipelining:</a:t>
            </a:r>
          </a:p>
          <a:p>
            <a:pPr lvl="1">
              <a:buFont typeface="Arial" pitchFamily="34" charset="0"/>
              <a:buChar char="•"/>
            </a:pPr>
            <a:r>
              <a:rPr lang="en-IN" dirty="0" smtClean="0"/>
              <a:t>A task is often begun before the previous task has ended, in networking</a:t>
            </a:r>
          </a:p>
          <a:p>
            <a:pPr lvl="1">
              <a:buFont typeface="Arial" pitchFamily="34" charset="0"/>
              <a:buChar char="•"/>
            </a:pPr>
            <a:r>
              <a:rPr lang="en-IN" dirty="0" smtClean="0"/>
              <a:t>This is known as pipelining</a:t>
            </a:r>
          </a:p>
          <a:p>
            <a:pPr lvl="1">
              <a:buFont typeface="Arial" pitchFamily="34" charset="0"/>
              <a:buChar char="•"/>
            </a:pPr>
            <a:r>
              <a:rPr lang="en-IN" dirty="0" smtClean="0"/>
              <a:t>There is no pipelining in Stop-and-wait protocol</a:t>
            </a:r>
          </a:p>
          <a:p>
            <a:pPr lvl="1">
              <a:buFont typeface="Arial" pitchFamily="34" charset="0"/>
              <a:buChar char="•"/>
            </a:pPr>
            <a:r>
              <a:rPr lang="en-IN" dirty="0" smtClean="0"/>
              <a:t>However pipelining is used in next two protocols because several packets can be sent before a sender receive feedback about the previous packets</a:t>
            </a:r>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44594405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868362"/>
          </a:xfrm>
        </p:spPr>
        <p:txBody>
          <a:bodyPr>
            <a:normAutofit/>
          </a:bodyPr>
          <a:lstStyle/>
          <a:p>
            <a:r>
              <a:rPr lang="en-IN" sz="3200" dirty="0" smtClean="0"/>
              <a:t>Drawback – Poor utilization of bandwidth</a:t>
            </a:r>
            <a:endParaRPr lang="en-IN" sz="3200" dirty="0"/>
          </a:p>
        </p:txBody>
      </p:sp>
      <p:sp>
        <p:nvSpPr>
          <p:cNvPr id="2" name="Content Placeholder 1"/>
          <p:cNvSpPr>
            <a:spLocks noGrp="1"/>
          </p:cNvSpPr>
          <p:nvPr>
            <p:ph idx="1"/>
          </p:nvPr>
        </p:nvSpPr>
        <p:spPr>
          <a:xfrm>
            <a:off x="762001" y="1600200"/>
            <a:ext cx="7518400" cy="4572000"/>
          </a:xfrm>
        </p:spPr>
        <p:txBody>
          <a:bodyPr>
            <a:normAutofit fontScale="70000" lnSpcReduction="20000"/>
          </a:bodyPr>
          <a:lstStyle/>
          <a:p>
            <a:r>
              <a:rPr lang="en-IN" dirty="0" smtClean="0">
                <a:solidFill>
                  <a:schemeClr val="tx1"/>
                </a:solidFill>
                <a:latin typeface="Times New Roman" pitchFamily="18" charset="0"/>
                <a:cs typeface="Times New Roman" pitchFamily="18" charset="0"/>
              </a:rPr>
              <a:t>Assume that, in a Stop-and-Wait system, the bandwidth of the line is 1Mbps, and 1bit takes 20 milliseconds to make a round trip. What is bandwidth delay product? If the system data packets are 1,000 bits in length, what is the utilization percentage of the link?</a:t>
            </a:r>
          </a:p>
          <a:p>
            <a:r>
              <a:rPr lang="en-IN" dirty="0" smtClean="0">
                <a:solidFill>
                  <a:schemeClr val="tx1"/>
                </a:solidFill>
                <a:latin typeface="Times New Roman" pitchFamily="18" charset="0"/>
                <a:cs typeface="Times New Roman" pitchFamily="18" charset="0"/>
              </a:rPr>
              <a:t>Solution:</a:t>
            </a:r>
          </a:p>
          <a:p>
            <a:r>
              <a:rPr lang="en-IN" dirty="0" smtClean="0">
                <a:solidFill>
                  <a:schemeClr val="tx1"/>
                </a:solidFill>
                <a:latin typeface="Times New Roman" pitchFamily="18" charset="0"/>
                <a:cs typeface="Times New Roman" pitchFamily="18" charset="0"/>
              </a:rPr>
              <a:t>B.W * Delay=1M*20m=20,000 bits</a:t>
            </a:r>
          </a:p>
          <a:p>
            <a:r>
              <a:rPr lang="en-IN" dirty="0" smtClean="0">
                <a:solidFill>
                  <a:schemeClr val="tx1"/>
                </a:solidFill>
                <a:latin typeface="Times New Roman" pitchFamily="18" charset="0"/>
                <a:cs typeface="Times New Roman" pitchFamily="18" charset="0"/>
              </a:rPr>
              <a:t>The system can send 20,000 bits during the time it takes for the data to go from the sender to the receiver and the </a:t>
            </a:r>
            <a:r>
              <a:rPr lang="en-IN" dirty="0" err="1" smtClean="0">
                <a:solidFill>
                  <a:schemeClr val="tx1"/>
                </a:solidFill>
                <a:latin typeface="Times New Roman" pitchFamily="18" charset="0"/>
                <a:cs typeface="Times New Roman" pitchFamily="18" charset="0"/>
              </a:rPr>
              <a:t>ack</a:t>
            </a:r>
            <a:r>
              <a:rPr lang="en-IN" dirty="0" smtClean="0">
                <a:solidFill>
                  <a:schemeClr val="tx1"/>
                </a:solidFill>
                <a:latin typeface="Times New Roman" pitchFamily="18" charset="0"/>
                <a:cs typeface="Times New Roman" pitchFamily="18" charset="0"/>
              </a:rPr>
              <a:t> to comeback. However system send only 1000 bits.</a:t>
            </a:r>
          </a:p>
          <a:p>
            <a:r>
              <a:rPr lang="en-IN" dirty="0" smtClean="0">
                <a:solidFill>
                  <a:schemeClr val="tx1"/>
                </a:solidFill>
                <a:latin typeface="Times New Roman" pitchFamily="18" charset="0"/>
                <a:cs typeface="Times New Roman" pitchFamily="18" charset="0"/>
              </a:rPr>
              <a:t>Utilization %= 1000/20000=5 %</a:t>
            </a:r>
          </a:p>
          <a:p>
            <a:r>
              <a:rPr lang="en-IN" dirty="0" smtClean="0">
                <a:solidFill>
                  <a:schemeClr val="tx1"/>
                </a:solidFill>
                <a:latin typeface="Times New Roman" pitchFamily="18" charset="0"/>
                <a:cs typeface="Times New Roman" pitchFamily="18" charset="0"/>
              </a:rPr>
              <a:t>Hence link capacity is wasted</a:t>
            </a:r>
          </a:p>
          <a:p>
            <a:endParaRPr lang="en-IN" dirty="0" smtClean="0">
              <a:solidFill>
                <a:schemeClr val="tx1"/>
              </a:solidFill>
              <a:latin typeface="Times New Roman" pitchFamily="18" charset="0"/>
              <a:cs typeface="Times New Roman" pitchFamily="18" charset="0"/>
            </a:endParaRPr>
          </a:p>
          <a:p>
            <a:endParaRPr lang="en-IN" dirty="0">
              <a:solidFill>
                <a:schemeClr val="tx1"/>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180820580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457200" y="1143000"/>
            <a:ext cx="8229600" cy="1252728"/>
          </a:xfrm>
          <a:prstGeom prst="rect">
            <a:avLst/>
          </a:prstGeom>
        </p:spPr>
        <p:txBody>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smtClean="0">
                <a:hlinkClick r:id="rId3" action="ppaction://hlinkfile"/>
              </a:rPr>
              <a:t>Go-Back-</a:t>
            </a:r>
            <a:r>
              <a:rPr lang="en-IN" b="1" i="1" dirty="0" smtClean="0">
                <a:hlinkClick r:id="rId3" action="ppaction://hlinkfile"/>
              </a:rPr>
              <a:t>N </a:t>
            </a:r>
            <a:r>
              <a:rPr lang="en-IN" b="1" dirty="0" smtClean="0">
                <a:hlinkClick r:id="rId3" action="ppaction://hlinkfile"/>
              </a:rPr>
              <a:t>Protocol</a:t>
            </a:r>
            <a:endParaRPr lang="en-IN"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53" y="2406336"/>
            <a:ext cx="9016094" cy="326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149939209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42" y="685800"/>
            <a:ext cx="8982058"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274638"/>
            <a:ext cx="8229600" cy="639762"/>
          </a:xfrm>
        </p:spPr>
        <p:txBody>
          <a:bodyPr>
            <a:normAutofit fontScale="90000"/>
          </a:bodyPr>
          <a:lstStyle/>
          <a:p>
            <a:r>
              <a:rPr lang="en-IN" sz="3200" b="1" dirty="0">
                <a:hlinkClick r:id="rId3" action="ppaction://hlinkfile"/>
              </a:rPr>
              <a:t>Go-Back-</a:t>
            </a:r>
            <a:r>
              <a:rPr lang="en-IN" sz="3200" b="1" i="1" dirty="0">
                <a:hlinkClick r:id="rId3" action="ppaction://hlinkfile"/>
              </a:rPr>
              <a:t>N </a:t>
            </a:r>
            <a:r>
              <a:rPr lang="en-IN" sz="3200" b="1" dirty="0">
                <a:hlinkClick r:id="rId3" action="ppaction://hlinkfile"/>
              </a:rPr>
              <a:t>Protocol</a:t>
            </a:r>
            <a:r>
              <a:rPr lang="en-IN" sz="3200" dirty="0"/>
              <a:t/>
            </a:r>
            <a:br>
              <a:rPr lang="en-IN" sz="3200" dirty="0"/>
            </a:br>
            <a:endParaRPr lang="en-IN" sz="3200" dirty="0"/>
          </a:p>
        </p:txBody>
      </p:sp>
      <p:sp>
        <p:nvSpPr>
          <p:cNvPr id="3" name="Content Placeholder 2"/>
          <p:cNvSpPr>
            <a:spLocks noGrp="1"/>
          </p:cNvSpPr>
          <p:nvPr>
            <p:ph idx="1"/>
          </p:nvPr>
        </p:nvSpPr>
        <p:spPr>
          <a:xfrm>
            <a:off x="685800" y="1600201"/>
            <a:ext cx="8001000" cy="4038600"/>
          </a:xfrm>
        </p:spPr>
        <p:txBody>
          <a:bodyPr/>
          <a:lstStyle/>
          <a:p>
            <a:endParaRPr lang="en-IN" dirty="0"/>
          </a:p>
        </p:txBody>
      </p:sp>
      <p:sp>
        <p:nvSpPr>
          <p:cNvPr id="5" name="Footer Placeholder 4"/>
          <p:cNvSpPr>
            <a:spLocks noGrp="1"/>
          </p:cNvSpPr>
          <p:nvPr>
            <p:ph type="ftr" sz="quarter" idx="11"/>
          </p:nvPr>
        </p:nvSpPr>
        <p:spPr/>
        <p:txBody>
          <a:bodyPr/>
          <a:lstStyle/>
          <a:p>
            <a:r>
              <a:rPr lang="en-US" smtClean="0"/>
              <a:t>SCR</a:t>
            </a:r>
            <a:endParaRPr lang="en-US"/>
          </a:p>
        </p:txBody>
      </p:sp>
      <p:sp>
        <p:nvSpPr>
          <p:cNvPr id="4" name="Rectangle 3"/>
          <p:cNvSpPr/>
          <p:nvPr/>
        </p:nvSpPr>
        <p:spPr>
          <a:xfrm>
            <a:off x="1600200" y="5906026"/>
            <a:ext cx="4572000" cy="646331"/>
          </a:xfrm>
          <a:prstGeom prst="rect">
            <a:avLst/>
          </a:prstGeom>
        </p:spPr>
        <p:txBody>
          <a:bodyPr>
            <a:spAutoFit/>
          </a:bodyPr>
          <a:lstStyle/>
          <a:p>
            <a:r>
              <a:rPr lang="en-IN" dirty="0"/>
              <a:t>https://www.youtube.com/watch?v=LnbvhoxHn8M</a:t>
            </a:r>
          </a:p>
        </p:txBody>
      </p:sp>
    </p:spTree>
    <p:extLst>
      <p:ext uri="{BB962C8B-B14F-4D97-AF65-F5344CB8AC3E}">
        <p14:creationId xmlns:p14="http://schemas.microsoft.com/office/powerpoint/2010/main" val="224983794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i="1" dirty="0"/>
              <a:t>Send window for Go-Back-</a:t>
            </a:r>
            <a:r>
              <a:rPr lang="en-IN" dirty="0"/>
              <a:t>N</a:t>
            </a:r>
          </a:p>
        </p:txBody>
      </p:sp>
      <p:sp>
        <p:nvSpPr>
          <p:cNvPr id="2" name="Content Placeholder 1"/>
          <p:cNvSpPr>
            <a:spLocks noGrp="1"/>
          </p:cNvSpPr>
          <p:nvPr>
            <p:ph idx="1"/>
          </p:nvPr>
        </p:nvSpPr>
        <p:spPr>
          <a:xfrm>
            <a:off x="381000" y="1828800"/>
            <a:ext cx="8381999" cy="4297363"/>
          </a:xfrm>
        </p:spPr>
        <p:txBody>
          <a:bodyPr>
            <a:normAutofit fontScale="92500" lnSpcReduction="20000"/>
          </a:bodyP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r>
              <a:rPr lang="en-IN" sz="2800" i="1" dirty="0" err="1"/>
              <a:t>S</a:t>
            </a:r>
            <a:r>
              <a:rPr lang="en-IN" sz="2800" i="1" baseline="-25000" dirty="0" err="1"/>
              <a:t>f</a:t>
            </a:r>
            <a:r>
              <a:rPr lang="en-IN" sz="2800" i="1" dirty="0"/>
              <a:t> </a:t>
            </a:r>
            <a:r>
              <a:rPr lang="en-IN" sz="2800" dirty="0"/>
              <a:t>(send window, the first outstanding packet</a:t>
            </a:r>
            <a:r>
              <a:rPr lang="en-IN" sz="2800" dirty="0" smtClean="0"/>
              <a:t>)</a:t>
            </a:r>
          </a:p>
          <a:p>
            <a:r>
              <a:rPr lang="en-IN" sz="2800" i="1" dirty="0" err="1" smtClean="0"/>
              <a:t>S</a:t>
            </a:r>
            <a:r>
              <a:rPr lang="en-IN" sz="2800" i="1" baseline="-25000" dirty="0" err="1" smtClean="0"/>
              <a:t>n</a:t>
            </a:r>
            <a:r>
              <a:rPr lang="en-IN" sz="2800" dirty="0" smtClean="0"/>
              <a:t>(send </a:t>
            </a:r>
            <a:r>
              <a:rPr lang="en-IN" sz="2800" dirty="0"/>
              <a:t>window, the next packet to be sent</a:t>
            </a:r>
            <a:r>
              <a:rPr lang="en-IN" sz="2800" dirty="0" smtClean="0"/>
              <a:t>)</a:t>
            </a:r>
            <a:endParaRPr lang="en-IN" sz="2800"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553" y="1524000"/>
            <a:ext cx="87630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124419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i="1" dirty="0"/>
              <a:t>Sliding the send window</a:t>
            </a:r>
            <a:endParaRPr lang="en-IN" dirty="0"/>
          </a:p>
        </p:txBody>
      </p:sp>
      <p:sp>
        <p:nvSpPr>
          <p:cNvPr id="2" name="Content Placeholder 1"/>
          <p:cNvSpPr>
            <a:spLocks noGrp="1"/>
          </p:cNvSpPr>
          <p:nvPr>
            <p:ph idx="1"/>
          </p:nvPr>
        </p:nvSpPr>
        <p:spPr>
          <a:xfrm>
            <a:off x="381000" y="1828800"/>
            <a:ext cx="8381999" cy="4297363"/>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1752600"/>
            <a:ext cx="8712641"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212547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i="1" dirty="0"/>
              <a:t>Receive window for Go-Back-</a:t>
            </a:r>
            <a:r>
              <a:rPr lang="en-IN" dirty="0"/>
              <a:t>N</a:t>
            </a:r>
          </a:p>
        </p:txBody>
      </p:sp>
      <p:sp>
        <p:nvSpPr>
          <p:cNvPr id="2" name="Content Placeholder 1"/>
          <p:cNvSpPr>
            <a:spLocks noGrp="1"/>
          </p:cNvSpPr>
          <p:nvPr>
            <p:ph idx="1"/>
          </p:nvPr>
        </p:nvSpPr>
        <p:spPr>
          <a:xfrm>
            <a:off x="381000" y="1828800"/>
            <a:ext cx="8381999" cy="4297363"/>
          </a:xfrm>
        </p:spPr>
        <p:txBody>
          <a:bodyPr>
            <a:normAutofit/>
          </a:bodyPr>
          <a:lstStyle/>
          <a:p>
            <a:endParaRPr lang="en-IN" dirty="0" smtClean="0"/>
          </a:p>
          <a:p>
            <a:endParaRPr lang="en-IN" dirty="0"/>
          </a:p>
          <a:p>
            <a:endParaRPr lang="en-IN" dirty="0" smtClean="0"/>
          </a:p>
          <a:p>
            <a:endParaRPr lang="en-IN" dirty="0"/>
          </a:p>
          <a:p>
            <a:endParaRPr lang="en-IN" dirty="0" smtClean="0"/>
          </a:p>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17072"/>
            <a:ext cx="8407319" cy="2902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73124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IN" sz="4000" b="1" dirty="0"/>
              <a:t>In the Go-Back-</a:t>
            </a:r>
            <a:r>
              <a:rPr lang="en-IN" sz="4000" b="1" i="1" dirty="0"/>
              <a:t>N </a:t>
            </a:r>
            <a:r>
              <a:rPr lang="en-IN" sz="4000" b="1" dirty="0"/>
              <a:t>protocol, the size of the send window must be less than </a:t>
            </a:r>
            <a:r>
              <a:rPr lang="en-IN" sz="4000" b="1" dirty="0" smtClean="0"/>
              <a:t>2</a:t>
            </a:r>
            <a:r>
              <a:rPr lang="en-IN" sz="4000" b="1" i="1" baseline="30000" dirty="0" smtClean="0"/>
              <a:t>m</a:t>
            </a:r>
            <a:endParaRPr lang="en-IN" dirty="0"/>
          </a:p>
        </p:txBody>
      </p:sp>
      <p:sp>
        <p:nvSpPr>
          <p:cNvPr id="2" name="Content Placeholder 1"/>
          <p:cNvSpPr>
            <a:spLocks noGrp="1"/>
          </p:cNvSpPr>
          <p:nvPr>
            <p:ph idx="1"/>
          </p:nvPr>
        </p:nvSpPr>
        <p:spPr>
          <a:xfrm>
            <a:off x="381000" y="1828800"/>
            <a:ext cx="8381999" cy="4297363"/>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81200"/>
            <a:ext cx="9087164"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303328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Content Placeholder 1"/>
          <p:cNvSpPr>
            <a:spLocks noGrp="1"/>
          </p:cNvSpPr>
          <p:nvPr>
            <p:ph idx="1"/>
          </p:nvPr>
        </p:nvSpPr>
        <p:spPr>
          <a:xfrm>
            <a:off x="381000" y="1828800"/>
            <a:ext cx="8381999" cy="4297363"/>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685800"/>
            <a:ext cx="8861099"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556940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Content Placeholder 1"/>
          <p:cNvSpPr>
            <a:spLocks noGrp="1"/>
          </p:cNvSpPr>
          <p:nvPr>
            <p:ph idx="1"/>
          </p:nvPr>
        </p:nvSpPr>
        <p:spPr>
          <a:xfrm>
            <a:off x="381000" y="1828800"/>
            <a:ext cx="8381999" cy="4297363"/>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7010400" cy="690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36005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0"/>
            <a:ext cx="8229600" cy="1252728"/>
          </a:xfrm>
        </p:spPr>
        <p:txBody>
          <a:bodyPr/>
          <a:lstStyle/>
          <a:p>
            <a:r>
              <a:rPr lang="en-IN" b="1" dirty="0"/>
              <a:t>Selective-Repeat </a:t>
            </a:r>
            <a:r>
              <a:rPr lang="en-IN" b="1" dirty="0">
                <a:hlinkClick r:id="rId3" action="ppaction://hlinkfile"/>
              </a:rPr>
              <a:t>Protocol</a:t>
            </a:r>
            <a:endParaRPr lang="en-IN" dirty="0"/>
          </a:p>
        </p:txBody>
      </p:sp>
      <p:sp>
        <p:nvSpPr>
          <p:cNvPr id="2" name="Content Placeholder 1"/>
          <p:cNvSpPr>
            <a:spLocks noGrp="1"/>
          </p:cNvSpPr>
          <p:nvPr>
            <p:ph idx="1"/>
          </p:nvPr>
        </p:nvSpPr>
        <p:spPr>
          <a:xfrm>
            <a:off x="381000" y="1828800"/>
            <a:ext cx="8381999" cy="4297363"/>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771" y="2438400"/>
            <a:ext cx="8850229"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652431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IN" i="1" dirty="0"/>
              <a:t>Send window for Selective-Repeat protocol</a:t>
            </a:r>
            <a:endParaRPr lang="en-IN" dirty="0"/>
          </a:p>
        </p:txBody>
      </p:sp>
      <p:sp>
        <p:nvSpPr>
          <p:cNvPr id="2" name="Content Placeholder 1"/>
          <p:cNvSpPr>
            <a:spLocks noGrp="1"/>
          </p:cNvSpPr>
          <p:nvPr>
            <p:ph idx="1"/>
          </p:nvPr>
        </p:nvSpPr>
        <p:spPr>
          <a:xfrm>
            <a:off x="381000" y="1828800"/>
            <a:ext cx="8381999" cy="4297363"/>
          </a:xfrm>
        </p:spPr>
        <p:txBody>
          <a:bodyPr/>
          <a:lstStyle/>
          <a:p>
            <a:r>
              <a:rPr lang="en-IN" dirty="0" smtClean="0"/>
              <a:t>Check for the window size here!!!</a:t>
            </a:r>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1" y="2601105"/>
            <a:ext cx="8839200" cy="2295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509471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IN" i="1" dirty="0"/>
              <a:t>Receive window for Selective-Repeat protocol</a:t>
            </a:r>
            <a:endParaRPr lang="en-IN" dirty="0"/>
          </a:p>
        </p:txBody>
      </p:sp>
      <p:sp>
        <p:nvSpPr>
          <p:cNvPr id="2" name="Content Placeholder 1"/>
          <p:cNvSpPr>
            <a:spLocks noGrp="1"/>
          </p:cNvSpPr>
          <p:nvPr>
            <p:ph idx="1"/>
          </p:nvPr>
        </p:nvSpPr>
        <p:spPr>
          <a:xfrm>
            <a:off x="381000" y="1828800"/>
            <a:ext cx="8381999" cy="4297363"/>
          </a:xfrm>
        </p:spPr>
        <p:txBody>
          <a:bodyPr/>
          <a:lstStyle/>
          <a:p>
            <a:endParaRPr lang="en-IN" dirty="0"/>
          </a:p>
        </p:txBody>
      </p:sp>
      <p:sp>
        <p:nvSpPr>
          <p:cNvPr id="4" name="Footer Placeholder 3"/>
          <p:cNvSpPr>
            <a:spLocks noGrp="1"/>
          </p:cNvSpPr>
          <p:nvPr>
            <p:ph type="ftr" sz="quarter" idx="11"/>
          </p:nvPr>
        </p:nvSpPr>
        <p:spPr/>
        <p:txBody>
          <a:bodyPr/>
          <a:lstStyle/>
          <a:p>
            <a:r>
              <a:rPr lang="en-US" smtClean="0"/>
              <a:t>SCR</a:t>
            </a:r>
            <a:endParaRPr lang="en-US"/>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4" y="2438400"/>
            <a:ext cx="8980516" cy="2461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676302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IN" dirty="0" smtClean="0"/>
          </a:p>
        </p:txBody>
      </p:sp>
      <p:sp>
        <p:nvSpPr>
          <p:cNvPr id="3" name="Text Placeholder 2"/>
          <p:cNvSpPr>
            <a:spLocks noGrp="1"/>
          </p:cNvSpPr>
          <p:nvPr>
            <p:ph type="body" idx="1"/>
          </p:nvPr>
        </p:nvSpPr>
        <p:spPr/>
        <p:txBody>
          <a:bodyPr>
            <a:normAutofit/>
          </a:bodyPr>
          <a:lstStyle/>
          <a:p>
            <a:pPr eaLnBrk="1" hangingPunct="1">
              <a:defRPr/>
            </a:pPr>
            <a:r>
              <a:rPr lang="en-US" altLang="en-US" sz="4400" i="1" dirty="0" smtClean="0">
                <a:effectLst>
                  <a:outerShdw blurRad="38100" dist="38100" dir="2700000" algn="tl">
                    <a:srgbClr val="C0C0C0"/>
                  </a:outerShdw>
                </a:effectLst>
                <a:latin typeface="Times New Roman" pitchFamily="18" charset="0"/>
              </a:rPr>
              <a:t>Transmission</a:t>
            </a:r>
            <a:br>
              <a:rPr lang="en-US" altLang="en-US" sz="4400" i="1" dirty="0" smtClean="0">
                <a:effectLst>
                  <a:outerShdw blurRad="38100" dist="38100" dir="2700000" algn="tl">
                    <a:srgbClr val="C0C0C0"/>
                  </a:outerShdw>
                </a:effectLst>
                <a:latin typeface="Times New Roman" pitchFamily="18" charset="0"/>
              </a:rPr>
            </a:br>
            <a:r>
              <a:rPr lang="en-US" altLang="en-US" sz="4400" i="1" dirty="0" smtClean="0">
                <a:effectLst>
                  <a:outerShdw blurRad="38100" dist="38100" dir="2700000" algn="tl">
                    <a:srgbClr val="C0C0C0"/>
                  </a:outerShdw>
                </a:effectLst>
                <a:latin typeface="Times New Roman" pitchFamily="18" charset="0"/>
              </a:rPr>
              <a:t>Control Protocol</a:t>
            </a:r>
          </a:p>
          <a:p>
            <a:pPr eaLnBrk="1" hangingPunct="1">
              <a:defRPr/>
            </a:pPr>
            <a:endParaRPr lang="en-IN" dirty="0" smtClean="0"/>
          </a:p>
        </p:txBody>
      </p:sp>
      <p:sp>
        <p:nvSpPr>
          <p:cNvPr id="4" name="Footer Placeholder 3"/>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73436203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Sliding Window Protocol:</a:t>
            </a:r>
          </a:p>
          <a:p>
            <a:pPr algn="l"/>
            <a:r>
              <a:rPr lang="en-US" dirty="0">
                <a:solidFill>
                  <a:schemeClr val="tx1"/>
                </a:solidFill>
              </a:rPr>
              <a:t>TCP uses a sliding window protocol.  </a:t>
            </a:r>
            <a:endParaRPr lang="en-US" dirty="0" smtClean="0">
              <a:solidFill>
                <a:schemeClr val="tx1"/>
              </a:solidFill>
            </a:endParaRPr>
          </a:p>
          <a:p>
            <a:pPr algn="l"/>
            <a:r>
              <a:rPr lang="en-US" dirty="0" smtClean="0">
                <a:solidFill>
                  <a:schemeClr val="tx1"/>
                </a:solidFill>
              </a:rPr>
              <a:t>With </a:t>
            </a:r>
            <a:r>
              <a:rPr lang="en-US" dirty="0">
                <a:solidFill>
                  <a:schemeClr val="tx1"/>
                </a:solidFill>
              </a:rPr>
              <a:t>this method, both hosts use a window for each connection. </a:t>
            </a:r>
            <a:endParaRPr lang="en-US" dirty="0" smtClean="0">
              <a:solidFill>
                <a:schemeClr val="tx1"/>
              </a:solidFill>
            </a:endParaRPr>
          </a:p>
          <a:p>
            <a:pPr algn="l"/>
            <a:r>
              <a:rPr lang="en-US" dirty="0" smtClean="0">
                <a:solidFill>
                  <a:schemeClr val="tx1"/>
                </a:solidFill>
              </a:rPr>
              <a:t>The </a:t>
            </a:r>
            <a:r>
              <a:rPr lang="en-US" dirty="0">
                <a:solidFill>
                  <a:schemeClr val="tx1"/>
                </a:solidFill>
              </a:rPr>
              <a:t>window spans a portion of the buffer containing bytes that a host can send before worrying about an acknowledgment from the other host.  </a:t>
            </a:r>
            <a:endParaRPr lang="en-US" dirty="0" smtClean="0">
              <a:solidFill>
                <a:schemeClr val="tx1"/>
              </a:solidFill>
            </a:endParaRPr>
          </a:p>
          <a:p>
            <a:pPr algn="l"/>
            <a:r>
              <a:rPr lang="en-US" dirty="0" smtClean="0">
                <a:solidFill>
                  <a:schemeClr val="tx1"/>
                </a:solidFill>
              </a:rPr>
              <a:t>The </a:t>
            </a:r>
            <a:r>
              <a:rPr lang="en-US" dirty="0">
                <a:solidFill>
                  <a:schemeClr val="tx1"/>
                </a:solidFill>
              </a:rPr>
              <a:t>window is called a sliding window, because it can slide over the buffer as data and acknowledgments are sent and received.</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10000"/>
          </a:bodyPr>
          <a:lstStyle/>
          <a:p>
            <a:pPr algn="l"/>
            <a:r>
              <a:rPr lang="en-US" dirty="0">
                <a:solidFill>
                  <a:schemeClr val="tx1"/>
                </a:solidFill>
              </a:rPr>
              <a:t>A sliding window is used to make transmission more efficient as well as to control the flow of data so that the destination does not become overwhelmed with data.  </a:t>
            </a:r>
            <a:endParaRPr lang="en-US" dirty="0" smtClean="0">
              <a:solidFill>
                <a:schemeClr val="tx1"/>
              </a:solidFill>
            </a:endParaRPr>
          </a:p>
          <a:p>
            <a:pPr algn="l"/>
            <a:r>
              <a:rPr lang="en-US" dirty="0" smtClean="0">
                <a:solidFill>
                  <a:schemeClr val="tx1"/>
                </a:solidFill>
              </a:rPr>
              <a:t>TCP’s </a:t>
            </a:r>
            <a:r>
              <a:rPr lang="en-US" dirty="0">
                <a:solidFill>
                  <a:schemeClr val="tx1"/>
                </a:solidFill>
              </a:rPr>
              <a:t>sliding windows are byte oriented.</a:t>
            </a:r>
          </a:p>
          <a:p>
            <a:pPr algn="l"/>
            <a:r>
              <a:rPr lang="en-US" b="1" dirty="0">
                <a:solidFill>
                  <a:schemeClr val="tx1"/>
                </a:solidFill>
              </a:rPr>
              <a:t>Sender Buffer </a:t>
            </a:r>
            <a:r>
              <a:rPr lang="en-US" dirty="0">
                <a:solidFill>
                  <a:schemeClr val="tx1"/>
                </a:solidFill>
              </a:rPr>
              <a:t>:</a:t>
            </a:r>
          </a:p>
          <a:p>
            <a:pPr algn="l"/>
            <a:r>
              <a:rPr lang="en-US" dirty="0">
                <a:solidFill>
                  <a:schemeClr val="tx1"/>
                </a:solidFill>
              </a:rPr>
              <a:t>Figure shows the sender buffer in flat buffer for simplicity.  </a:t>
            </a:r>
            <a:endParaRPr lang="en-US" dirty="0" smtClean="0">
              <a:solidFill>
                <a:schemeClr val="tx1"/>
              </a:solidFill>
            </a:endParaRPr>
          </a:p>
          <a:p>
            <a:pPr algn="l"/>
            <a:r>
              <a:rPr lang="en-US" dirty="0" smtClean="0">
                <a:solidFill>
                  <a:schemeClr val="tx1"/>
                </a:solidFill>
              </a:rPr>
              <a:t>If </a:t>
            </a:r>
            <a:r>
              <a:rPr lang="en-US" dirty="0">
                <a:solidFill>
                  <a:schemeClr val="tx1"/>
                </a:solidFill>
              </a:rPr>
              <a:t>the two ends are connected, it forms a circular buffer.</a:t>
            </a:r>
          </a:p>
          <a:p>
            <a:pPr algn="l"/>
            <a:r>
              <a:rPr lang="en-US" dirty="0">
                <a:solidFill>
                  <a:schemeClr val="tx1"/>
                </a:solidFill>
              </a:rPr>
              <a:t>In the given figure, the bytes before 200 have been sent and acknowledged.  </a:t>
            </a:r>
            <a:endParaRPr lang="en-US" dirty="0" smtClean="0">
              <a:solidFill>
                <a:schemeClr val="tx1"/>
              </a:solidFill>
            </a:endParaRPr>
          </a:p>
          <a:p>
            <a:pPr algn="l"/>
            <a:r>
              <a:rPr lang="en-US" dirty="0" smtClean="0">
                <a:solidFill>
                  <a:schemeClr val="tx1"/>
                </a:solidFill>
              </a:rPr>
              <a:t>The </a:t>
            </a:r>
            <a:r>
              <a:rPr lang="en-US" dirty="0">
                <a:solidFill>
                  <a:schemeClr val="tx1"/>
                </a:solidFill>
              </a:rPr>
              <a:t>sender can reuse these locations.  </a:t>
            </a:r>
            <a:endParaRPr lang="en-US" dirty="0" smtClean="0">
              <a:solidFill>
                <a:schemeClr val="tx1"/>
              </a:solidFill>
            </a:endParaRPr>
          </a:p>
          <a:p>
            <a:pPr algn="l"/>
            <a:r>
              <a:rPr lang="en-US" dirty="0" smtClean="0">
                <a:solidFill>
                  <a:schemeClr val="tx1"/>
                </a:solidFill>
              </a:rPr>
              <a:t>Bytes </a:t>
            </a:r>
            <a:r>
              <a:rPr lang="en-US" dirty="0">
                <a:solidFill>
                  <a:schemeClr val="tx1"/>
                </a:solidFill>
              </a:rPr>
              <a:t>200 to 202 have  been sent, but not acknowledged.  </a:t>
            </a:r>
            <a:endParaRPr lang="en-US" dirty="0" smtClean="0">
              <a:solidFill>
                <a:schemeClr val="tx1"/>
              </a:solidFill>
            </a:endParaRPr>
          </a:p>
          <a:p>
            <a:pPr algn="l"/>
            <a:r>
              <a:rPr lang="en-US" dirty="0" smtClean="0">
                <a:solidFill>
                  <a:schemeClr val="tx1"/>
                </a:solidFill>
              </a:rPr>
              <a:t>The </a:t>
            </a:r>
            <a:r>
              <a:rPr lang="en-US" dirty="0">
                <a:solidFill>
                  <a:schemeClr val="tx1"/>
                </a:solidFill>
              </a:rPr>
              <a:t>sender has to keep these bytes in the buffer in case they are lost or damaged.  </a:t>
            </a:r>
            <a:endParaRPr lang="en-US" dirty="0" smtClean="0">
              <a:solidFill>
                <a:schemeClr val="tx1"/>
              </a:solidFill>
            </a:endParaRPr>
          </a:p>
          <a:p>
            <a:pPr algn="l"/>
            <a:r>
              <a:rPr lang="en-US" dirty="0" smtClean="0">
                <a:solidFill>
                  <a:schemeClr val="tx1"/>
                </a:solidFill>
              </a:rPr>
              <a:t>Bytes </a:t>
            </a:r>
            <a:r>
              <a:rPr lang="en-US" dirty="0">
                <a:solidFill>
                  <a:schemeClr val="tx1"/>
                </a:solidFill>
              </a:rPr>
              <a:t>203 to 211 are in the buffer (produced by the process) but have not yet been sent.</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xEl>
                                              <p:pRg st="9" end="9"/>
                                            </p:txEl>
                                          </p:spTgt>
                                        </p:tgtEl>
                                        <p:attrNameLst>
                                          <p:attrName>style.visibility</p:attrName>
                                        </p:attrNameLst>
                                      </p:cBhvr>
                                      <p:to>
                                        <p:strVal val="visible"/>
                                      </p:to>
                                    </p:set>
                                    <p:anim calcmode="lin" valueType="num">
                                      <p:cBhvr additive="base">
                                        <p:cTn id="6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994" y="1905000"/>
            <a:ext cx="8304336"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Let us examine the situation in which there is no sliding window protocol.  </a:t>
            </a:r>
            <a:endParaRPr lang="en-US" dirty="0" smtClean="0">
              <a:solidFill>
                <a:schemeClr val="tx1"/>
              </a:solidFill>
            </a:endParaRPr>
          </a:p>
          <a:p>
            <a:pPr algn="l"/>
            <a:r>
              <a:rPr lang="en-US" dirty="0" smtClean="0">
                <a:solidFill>
                  <a:schemeClr val="tx1"/>
                </a:solidFill>
              </a:rPr>
              <a:t>In </a:t>
            </a:r>
            <a:r>
              <a:rPr lang="en-US" dirty="0">
                <a:solidFill>
                  <a:schemeClr val="tx1"/>
                </a:solidFill>
              </a:rPr>
              <a:t>this case, the sender can go ahead and send all the bytes (up to 211 ) in its buffer, without regard to the condition of the receiver.  </a:t>
            </a:r>
            <a:endParaRPr lang="en-US" dirty="0" smtClean="0">
              <a:solidFill>
                <a:schemeClr val="tx1"/>
              </a:solidFill>
            </a:endParaRPr>
          </a:p>
          <a:p>
            <a:pPr algn="l"/>
            <a:r>
              <a:rPr lang="en-US" dirty="0" smtClean="0">
                <a:solidFill>
                  <a:schemeClr val="tx1"/>
                </a:solidFill>
              </a:rPr>
              <a:t>The </a:t>
            </a:r>
            <a:r>
              <a:rPr lang="en-US" dirty="0">
                <a:solidFill>
                  <a:schemeClr val="tx1"/>
                </a:solidFill>
              </a:rPr>
              <a:t>receiver’s buffer, with its limited size could completely fill up because the receiving process is not consuming data fast enough.  </a:t>
            </a:r>
            <a:endParaRPr lang="en-US" dirty="0" smtClean="0">
              <a:solidFill>
                <a:schemeClr val="tx1"/>
              </a:solidFill>
            </a:endParaRPr>
          </a:p>
          <a:p>
            <a:pPr algn="l"/>
            <a:r>
              <a:rPr lang="en-US" dirty="0" smtClean="0">
                <a:solidFill>
                  <a:schemeClr val="tx1"/>
                </a:solidFill>
              </a:rPr>
              <a:t>The </a:t>
            </a:r>
            <a:r>
              <a:rPr lang="en-US" dirty="0">
                <a:solidFill>
                  <a:schemeClr val="tx1"/>
                </a:solidFill>
              </a:rPr>
              <a:t>excess bytes discarded by the receiver will require retransmission.  </a:t>
            </a:r>
            <a:endParaRPr lang="en-US" dirty="0" smtClean="0">
              <a:solidFill>
                <a:schemeClr val="tx1"/>
              </a:solidFill>
            </a:endParaRPr>
          </a:p>
          <a:p>
            <a:pPr algn="l"/>
            <a:r>
              <a:rPr lang="en-US" dirty="0" smtClean="0">
                <a:solidFill>
                  <a:schemeClr val="tx1"/>
                </a:solidFill>
              </a:rPr>
              <a:t>The </a:t>
            </a:r>
            <a:r>
              <a:rPr lang="en-US" dirty="0">
                <a:solidFill>
                  <a:schemeClr val="tx1"/>
                </a:solidFill>
              </a:rPr>
              <a:t>sender must adjust itself to the number of locations available at the receiver site.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10000"/>
          </a:bodyPr>
          <a:lstStyle/>
          <a:p>
            <a:pPr algn="l"/>
            <a:r>
              <a:rPr lang="en-US" b="1" dirty="0">
                <a:solidFill>
                  <a:schemeClr val="tx1"/>
                </a:solidFill>
              </a:rPr>
              <a:t>Receiver Window :</a:t>
            </a:r>
          </a:p>
          <a:p>
            <a:pPr algn="l"/>
            <a:r>
              <a:rPr lang="en-US" dirty="0">
                <a:solidFill>
                  <a:schemeClr val="tx1"/>
                </a:solidFill>
              </a:rPr>
              <a:t>The figure shows the receiver buffer.  </a:t>
            </a:r>
            <a:endParaRPr lang="en-US" dirty="0" smtClean="0">
              <a:solidFill>
                <a:schemeClr val="tx1"/>
              </a:solidFill>
            </a:endParaRPr>
          </a:p>
          <a:p>
            <a:pPr algn="l"/>
            <a:r>
              <a:rPr lang="en-US" dirty="0" smtClean="0">
                <a:solidFill>
                  <a:schemeClr val="tx1"/>
                </a:solidFill>
              </a:rPr>
              <a:t>Note </a:t>
            </a:r>
            <a:r>
              <a:rPr lang="en-US" dirty="0">
                <a:solidFill>
                  <a:schemeClr val="tx1"/>
                </a:solidFill>
              </a:rPr>
              <a:t>that the next byte to be consumed by the process is byte 164.  </a:t>
            </a:r>
            <a:endParaRPr lang="en-US" dirty="0" smtClean="0">
              <a:solidFill>
                <a:schemeClr val="tx1"/>
              </a:solidFill>
            </a:endParaRPr>
          </a:p>
          <a:p>
            <a:pPr algn="l"/>
            <a:r>
              <a:rPr lang="en-US" dirty="0" smtClean="0">
                <a:solidFill>
                  <a:schemeClr val="tx1"/>
                </a:solidFill>
              </a:rPr>
              <a:t>The </a:t>
            </a:r>
            <a:r>
              <a:rPr lang="en-US" dirty="0">
                <a:solidFill>
                  <a:schemeClr val="tx1"/>
                </a:solidFill>
              </a:rPr>
              <a:t>receiver expects to receive byte 200 from the sender ( which has been sent but not received ).  </a:t>
            </a:r>
            <a:endParaRPr lang="en-US" dirty="0" smtClean="0">
              <a:solidFill>
                <a:schemeClr val="tx1"/>
              </a:solidFill>
            </a:endParaRPr>
          </a:p>
          <a:p>
            <a:pPr algn="l"/>
            <a:r>
              <a:rPr lang="en-US" dirty="0" smtClean="0">
                <a:solidFill>
                  <a:schemeClr val="tx1"/>
                </a:solidFill>
              </a:rPr>
              <a:t>How </a:t>
            </a:r>
            <a:r>
              <a:rPr lang="en-US" dirty="0">
                <a:solidFill>
                  <a:schemeClr val="tx1"/>
                </a:solidFill>
              </a:rPr>
              <a:t>many more bytes can the receiver store ?  </a:t>
            </a:r>
            <a:endParaRPr lang="en-US" dirty="0" smtClean="0">
              <a:solidFill>
                <a:schemeClr val="tx1"/>
              </a:solidFill>
            </a:endParaRPr>
          </a:p>
          <a:p>
            <a:pPr algn="l"/>
            <a:r>
              <a:rPr lang="en-US" dirty="0" smtClean="0">
                <a:solidFill>
                  <a:schemeClr val="tx1"/>
                </a:solidFill>
              </a:rPr>
              <a:t>If </a:t>
            </a:r>
            <a:r>
              <a:rPr lang="en-US" dirty="0">
                <a:solidFill>
                  <a:schemeClr val="tx1"/>
                </a:solidFill>
              </a:rPr>
              <a:t>the total size of the receiving buffer is N and M locations are already occupied, then only N-M more bytes can be received.  </a:t>
            </a:r>
            <a:endParaRPr lang="en-US" dirty="0" smtClean="0">
              <a:solidFill>
                <a:schemeClr val="tx1"/>
              </a:solidFill>
            </a:endParaRPr>
          </a:p>
          <a:p>
            <a:pPr algn="l"/>
            <a:r>
              <a:rPr lang="en-US" dirty="0" smtClean="0">
                <a:solidFill>
                  <a:schemeClr val="tx1"/>
                </a:solidFill>
              </a:rPr>
              <a:t>This </a:t>
            </a:r>
            <a:r>
              <a:rPr lang="en-US" dirty="0">
                <a:solidFill>
                  <a:schemeClr val="tx1"/>
                </a:solidFill>
              </a:rPr>
              <a:t>value is called the receiver window.  </a:t>
            </a:r>
            <a:endParaRPr lang="en-US" dirty="0" smtClean="0">
              <a:solidFill>
                <a:schemeClr val="tx1"/>
              </a:solidFill>
            </a:endParaRPr>
          </a:p>
          <a:p>
            <a:pPr algn="l"/>
            <a:r>
              <a:rPr lang="en-US" dirty="0" smtClean="0">
                <a:solidFill>
                  <a:schemeClr val="tx1"/>
                </a:solidFill>
              </a:rPr>
              <a:t>For </a:t>
            </a:r>
            <a:r>
              <a:rPr lang="en-US" dirty="0">
                <a:solidFill>
                  <a:schemeClr val="tx1"/>
                </a:solidFill>
              </a:rPr>
              <a:t>example, if  N=13  and  M=6, this means that the value of the receiver window is 7.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262" y="2057400"/>
            <a:ext cx="8367889"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70000" lnSpcReduction="20000"/>
          </a:bodyPr>
          <a:lstStyle/>
          <a:p>
            <a:pPr algn="l"/>
            <a:r>
              <a:rPr lang="en-US" b="1" dirty="0">
                <a:solidFill>
                  <a:schemeClr val="tx1"/>
                </a:solidFill>
              </a:rPr>
              <a:t>Error Control :</a:t>
            </a:r>
          </a:p>
          <a:p>
            <a:pPr algn="l"/>
            <a:r>
              <a:rPr lang="en-US" dirty="0">
                <a:solidFill>
                  <a:schemeClr val="tx1"/>
                </a:solidFill>
              </a:rPr>
              <a:t>TCP is a reliable transport-layer protocol.  </a:t>
            </a:r>
            <a:endParaRPr lang="en-US" dirty="0" smtClean="0">
              <a:solidFill>
                <a:schemeClr val="tx1"/>
              </a:solidFill>
            </a:endParaRPr>
          </a:p>
          <a:p>
            <a:pPr algn="l"/>
            <a:r>
              <a:rPr lang="en-US" dirty="0" smtClean="0">
                <a:solidFill>
                  <a:schemeClr val="tx1"/>
                </a:solidFill>
              </a:rPr>
              <a:t>This </a:t>
            </a:r>
            <a:r>
              <a:rPr lang="en-US" dirty="0">
                <a:solidFill>
                  <a:schemeClr val="tx1"/>
                </a:solidFill>
              </a:rPr>
              <a:t>means that an application program that delivers a stream of data to TCP relies on TCP to deliver the entire stream to the application program on the other end in order,  without error, and without any part lost or duplicated. </a:t>
            </a:r>
            <a:endParaRPr lang="en-US" dirty="0" smtClean="0">
              <a:solidFill>
                <a:schemeClr val="tx1"/>
              </a:solidFill>
            </a:endParaRPr>
          </a:p>
          <a:p>
            <a:pPr algn="l"/>
            <a:r>
              <a:rPr lang="en-US" dirty="0" smtClean="0">
                <a:solidFill>
                  <a:schemeClr val="tx1"/>
                </a:solidFill>
              </a:rPr>
              <a:t>Errors </a:t>
            </a:r>
            <a:r>
              <a:rPr lang="en-US" dirty="0">
                <a:solidFill>
                  <a:schemeClr val="tx1"/>
                </a:solidFill>
              </a:rPr>
              <a:t>control in TCP includes mechanisms for detecting corrupted segments, lost segments, out of order segments.  </a:t>
            </a:r>
          </a:p>
          <a:p>
            <a:pPr algn="l"/>
            <a:r>
              <a:rPr lang="en-US" dirty="0">
                <a:solidFill>
                  <a:schemeClr val="tx1"/>
                </a:solidFill>
              </a:rPr>
              <a:t>TCP uses three simple tools :  checksum, acknowledgment, and time-out.  </a:t>
            </a:r>
            <a:endParaRPr lang="en-US" dirty="0" smtClean="0">
              <a:solidFill>
                <a:schemeClr val="tx1"/>
              </a:solidFill>
            </a:endParaRPr>
          </a:p>
          <a:p>
            <a:pPr algn="l"/>
            <a:r>
              <a:rPr lang="en-US" dirty="0" smtClean="0">
                <a:solidFill>
                  <a:schemeClr val="tx1"/>
                </a:solidFill>
              </a:rPr>
              <a:t>Each </a:t>
            </a:r>
            <a:r>
              <a:rPr lang="en-US" dirty="0">
                <a:solidFill>
                  <a:schemeClr val="tx1"/>
                </a:solidFill>
              </a:rPr>
              <a:t>segment includes the checksum field, which is used to check for a corrupted segment. </a:t>
            </a:r>
            <a:endParaRPr lang="en-US" dirty="0" smtClean="0">
              <a:solidFill>
                <a:schemeClr val="tx1"/>
              </a:solidFill>
            </a:endParaRPr>
          </a:p>
          <a:p>
            <a:pPr algn="l"/>
            <a:r>
              <a:rPr lang="en-US" dirty="0" smtClean="0">
                <a:solidFill>
                  <a:schemeClr val="tx1"/>
                </a:solidFill>
              </a:rPr>
              <a:t>If </a:t>
            </a:r>
            <a:r>
              <a:rPr lang="en-US" dirty="0">
                <a:solidFill>
                  <a:schemeClr val="tx1"/>
                </a:solidFill>
              </a:rPr>
              <a:t>the segment is corrupted, it is discarded by the destination TCP.  </a:t>
            </a:r>
            <a:endParaRPr lang="en-US" dirty="0" smtClean="0">
              <a:solidFill>
                <a:schemeClr val="tx1"/>
              </a:solidFill>
            </a:endParaRPr>
          </a:p>
          <a:p>
            <a:pPr algn="l"/>
            <a:r>
              <a:rPr lang="en-US" dirty="0" smtClean="0">
                <a:solidFill>
                  <a:schemeClr val="tx1"/>
                </a:solidFill>
              </a:rPr>
              <a:t>TCP </a:t>
            </a:r>
            <a:r>
              <a:rPr lang="en-US" dirty="0">
                <a:solidFill>
                  <a:schemeClr val="tx1"/>
                </a:solidFill>
              </a:rPr>
              <a:t>uses the acknowledgment method to confirm the receipt of those segments that have reached the destination uncorrupted.  No negative acknowledgment is used in TCP.  </a:t>
            </a:r>
            <a:endParaRPr lang="en-US" dirty="0" smtClean="0">
              <a:solidFill>
                <a:schemeClr val="tx1"/>
              </a:solidFill>
            </a:endParaRPr>
          </a:p>
          <a:p>
            <a:pPr algn="l"/>
            <a:r>
              <a:rPr lang="en-US" dirty="0" smtClean="0">
                <a:solidFill>
                  <a:schemeClr val="tx1"/>
                </a:solidFill>
              </a:rPr>
              <a:t>If </a:t>
            </a:r>
            <a:r>
              <a:rPr lang="en-US" dirty="0">
                <a:solidFill>
                  <a:schemeClr val="tx1"/>
                </a:solidFill>
              </a:rPr>
              <a:t>a segment is not acknowledged before the time out, It is considered to be either corrupted for lost.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Congestion Control  and Quality  of Service </a:t>
            </a:r>
            <a:r>
              <a:rPr lang="en-US" dirty="0">
                <a:solidFill>
                  <a:schemeClr val="tx1"/>
                </a:solidFill>
              </a:rPr>
              <a:t>:</a:t>
            </a:r>
          </a:p>
          <a:p>
            <a:pPr algn="l"/>
            <a:r>
              <a:rPr lang="en-US" dirty="0">
                <a:solidFill>
                  <a:schemeClr val="tx1"/>
                </a:solidFill>
              </a:rPr>
              <a:t>These two issues are so closely bound together that improving one means improving the other and ignoring one usually means ignoring the other.  </a:t>
            </a:r>
            <a:endParaRPr lang="en-US" dirty="0" smtClean="0">
              <a:solidFill>
                <a:schemeClr val="tx1"/>
              </a:solidFill>
            </a:endParaRPr>
          </a:p>
          <a:p>
            <a:pPr algn="l"/>
            <a:r>
              <a:rPr lang="en-US" dirty="0" smtClean="0">
                <a:solidFill>
                  <a:schemeClr val="tx1"/>
                </a:solidFill>
              </a:rPr>
              <a:t>These </a:t>
            </a:r>
            <a:r>
              <a:rPr lang="en-US" dirty="0">
                <a:solidFill>
                  <a:schemeClr val="tx1"/>
                </a:solidFill>
              </a:rPr>
              <a:t>issues are not only related to  one layer, but to three :  </a:t>
            </a:r>
            <a:endParaRPr lang="en-US" dirty="0" smtClean="0">
              <a:solidFill>
                <a:schemeClr val="tx1"/>
              </a:solidFill>
            </a:endParaRPr>
          </a:p>
          <a:p>
            <a:pPr algn="l"/>
            <a:r>
              <a:rPr lang="en-US" dirty="0" smtClean="0">
                <a:solidFill>
                  <a:schemeClr val="tx1"/>
                </a:solidFill>
              </a:rPr>
              <a:t>the </a:t>
            </a:r>
            <a:r>
              <a:rPr lang="en-US" dirty="0">
                <a:solidFill>
                  <a:schemeClr val="tx1"/>
                </a:solidFill>
              </a:rPr>
              <a:t>data link layer, the network layer, and the transport layer.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10000"/>
          </a:bodyPr>
          <a:lstStyle/>
          <a:p>
            <a:pPr algn="l"/>
            <a:r>
              <a:rPr lang="en-US" b="1" dirty="0">
                <a:solidFill>
                  <a:schemeClr val="tx1"/>
                </a:solidFill>
              </a:rPr>
              <a:t>Data Traffic:</a:t>
            </a:r>
          </a:p>
          <a:p>
            <a:pPr algn="l"/>
            <a:r>
              <a:rPr lang="en-US" dirty="0">
                <a:solidFill>
                  <a:schemeClr val="tx1"/>
                </a:solidFill>
              </a:rPr>
              <a:t>The main focus of congestion control and quality of service is data traffic.  </a:t>
            </a:r>
            <a:endParaRPr lang="en-US" dirty="0" smtClean="0">
              <a:solidFill>
                <a:schemeClr val="tx1"/>
              </a:solidFill>
            </a:endParaRPr>
          </a:p>
          <a:p>
            <a:pPr algn="l"/>
            <a:r>
              <a:rPr lang="en-US" dirty="0" smtClean="0">
                <a:solidFill>
                  <a:schemeClr val="tx1"/>
                </a:solidFill>
              </a:rPr>
              <a:t>In </a:t>
            </a:r>
            <a:r>
              <a:rPr lang="en-US" dirty="0">
                <a:solidFill>
                  <a:schemeClr val="tx1"/>
                </a:solidFill>
              </a:rPr>
              <a:t>congestion control we try to avoid traffic congestion.  </a:t>
            </a:r>
            <a:endParaRPr lang="en-US" dirty="0" smtClean="0">
              <a:solidFill>
                <a:schemeClr val="tx1"/>
              </a:solidFill>
            </a:endParaRPr>
          </a:p>
          <a:p>
            <a:pPr algn="l"/>
            <a:r>
              <a:rPr lang="en-US" dirty="0" smtClean="0">
                <a:solidFill>
                  <a:schemeClr val="tx1"/>
                </a:solidFill>
              </a:rPr>
              <a:t>In </a:t>
            </a:r>
            <a:r>
              <a:rPr lang="en-US" dirty="0">
                <a:solidFill>
                  <a:schemeClr val="tx1"/>
                </a:solidFill>
              </a:rPr>
              <a:t>quality of service, we try to create an appropriate environment for the traffic.  </a:t>
            </a:r>
            <a:endParaRPr lang="en-US" dirty="0" smtClean="0">
              <a:solidFill>
                <a:schemeClr val="tx1"/>
              </a:solidFill>
            </a:endParaRPr>
          </a:p>
          <a:p>
            <a:pPr algn="l"/>
            <a:r>
              <a:rPr lang="en-US" dirty="0" smtClean="0">
                <a:solidFill>
                  <a:schemeClr val="tx1"/>
                </a:solidFill>
              </a:rPr>
              <a:t>So</a:t>
            </a:r>
            <a:r>
              <a:rPr lang="en-US" dirty="0">
                <a:solidFill>
                  <a:schemeClr val="tx1"/>
                </a:solidFill>
              </a:rPr>
              <a:t>, before talking about congestion control and quality of service, data traffic should be discussed</a:t>
            </a:r>
            <a:r>
              <a:rPr lang="en-US" dirty="0" smtClean="0">
                <a:solidFill>
                  <a:schemeClr val="tx1"/>
                </a:solidFill>
              </a:rPr>
              <a:t>.</a:t>
            </a:r>
          </a:p>
          <a:p>
            <a:pPr algn="l"/>
            <a:r>
              <a:rPr lang="en-US" dirty="0" smtClean="0">
                <a:solidFill>
                  <a:schemeClr val="tx1"/>
                </a:solidFill>
              </a:rPr>
              <a:t>The </a:t>
            </a:r>
            <a:r>
              <a:rPr lang="en-US" dirty="0">
                <a:solidFill>
                  <a:schemeClr val="tx1"/>
                </a:solidFill>
              </a:rPr>
              <a:t>Average Rate is the number of bits sent during a period to time, divided by the number of seconds in that period. </a:t>
            </a:r>
            <a:endParaRPr lang="en-US" dirty="0" smtClean="0">
              <a:solidFill>
                <a:schemeClr val="tx1"/>
              </a:solidFill>
            </a:endParaRPr>
          </a:p>
          <a:p>
            <a:pPr algn="l"/>
            <a:r>
              <a:rPr lang="en-US" dirty="0" smtClean="0">
                <a:solidFill>
                  <a:schemeClr val="tx1"/>
                </a:solidFill>
              </a:rPr>
              <a:t>Average </a:t>
            </a:r>
            <a:r>
              <a:rPr lang="en-US" dirty="0">
                <a:solidFill>
                  <a:schemeClr val="tx1"/>
                </a:solidFill>
              </a:rPr>
              <a:t>data rate  =    amount data / time</a:t>
            </a:r>
            <a:r>
              <a:rPr lang="en-US" dirty="0" smtClean="0">
                <a:solidFill>
                  <a:schemeClr val="tx1"/>
                </a:solidFill>
              </a:rPr>
              <a:t>.</a:t>
            </a:r>
          </a:p>
          <a:p>
            <a:pPr algn="l"/>
            <a:endParaRPr lang="en-US" dirty="0">
              <a:solidFill>
                <a:schemeClr val="tx1"/>
              </a:solidFill>
            </a:endParaRPr>
          </a:p>
          <a:p>
            <a:pPr algn="l"/>
            <a:r>
              <a:rPr lang="en-US" dirty="0">
                <a:solidFill>
                  <a:schemeClr val="tx1"/>
                </a:solidFill>
              </a:rPr>
              <a:t>The average data rate is very useful characteristic of traffic, because it indicates the average bandwidth needed by the traffic.</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 calcmode="lin" valueType="num">
                                      <p:cBhvr additive="base">
                                        <p:cTn id="49"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Congestion :</a:t>
            </a:r>
          </a:p>
          <a:p>
            <a:pPr algn="l"/>
            <a:r>
              <a:rPr lang="en-US" dirty="0">
                <a:solidFill>
                  <a:schemeClr val="tx1"/>
                </a:solidFill>
              </a:rPr>
              <a:t>It is an important issue in a packet-switched network.  </a:t>
            </a:r>
            <a:endParaRPr lang="en-US" dirty="0" smtClean="0">
              <a:solidFill>
                <a:schemeClr val="tx1"/>
              </a:solidFill>
            </a:endParaRPr>
          </a:p>
          <a:p>
            <a:pPr algn="l"/>
            <a:r>
              <a:rPr lang="en-US" dirty="0" smtClean="0">
                <a:solidFill>
                  <a:schemeClr val="tx1"/>
                </a:solidFill>
              </a:rPr>
              <a:t>It </a:t>
            </a:r>
            <a:r>
              <a:rPr lang="en-US" dirty="0">
                <a:solidFill>
                  <a:schemeClr val="tx1"/>
                </a:solidFill>
              </a:rPr>
              <a:t>may occur, if the load on the network – the number of packets sent to the network – is greater than the capacity of the network – the number of packets a network can handle.  </a:t>
            </a:r>
            <a:endParaRPr lang="en-US" dirty="0" smtClean="0">
              <a:solidFill>
                <a:schemeClr val="tx1"/>
              </a:solidFill>
            </a:endParaRPr>
          </a:p>
          <a:p>
            <a:pPr algn="l"/>
            <a:r>
              <a:rPr lang="en-US" dirty="0" smtClean="0">
                <a:solidFill>
                  <a:schemeClr val="tx1"/>
                </a:solidFill>
              </a:rPr>
              <a:t>Congestion </a:t>
            </a:r>
            <a:r>
              <a:rPr lang="en-US" dirty="0">
                <a:solidFill>
                  <a:schemeClr val="tx1"/>
                </a:solidFill>
              </a:rPr>
              <a:t>control refers to the mechanisms and techniques to control the congestion and keep the load below the capacity.</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10000"/>
          </a:bodyPr>
          <a:lstStyle/>
          <a:p>
            <a:pPr algn="l"/>
            <a:r>
              <a:rPr lang="en-US" b="1" dirty="0">
                <a:solidFill>
                  <a:schemeClr val="tx1"/>
                </a:solidFill>
              </a:rPr>
              <a:t>What are the reasons for the congestions in a network ?  </a:t>
            </a:r>
          </a:p>
          <a:p>
            <a:pPr algn="l"/>
            <a:r>
              <a:rPr lang="en-US" dirty="0">
                <a:solidFill>
                  <a:schemeClr val="tx1"/>
                </a:solidFill>
              </a:rPr>
              <a:t>Congestions happens in any system that involves waiting.  </a:t>
            </a:r>
            <a:endParaRPr lang="en-US" dirty="0" smtClean="0">
              <a:solidFill>
                <a:schemeClr val="tx1"/>
              </a:solidFill>
            </a:endParaRPr>
          </a:p>
          <a:p>
            <a:pPr algn="l"/>
            <a:r>
              <a:rPr lang="en-US" dirty="0" smtClean="0">
                <a:solidFill>
                  <a:schemeClr val="tx1"/>
                </a:solidFill>
              </a:rPr>
              <a:t>For </a:t>
            </a:r>
            <a:r>
              <a:rPr lang="en-US" dirty="0" err="1">
                <a:solidFill>
                  <a:schemeClr val="tx1"/>
                </a:solidFill>
              </a:rPr>
              <a:t>eg</a:t>
            </a:r>
            <a:r>
              <a:rPr lang="en-US" dirty="0">
                <a:solidFill>
                  <a:schemeClr val="tx1"/>
                </a:solidFill>
              </a:rPr>
              <a:t>,  congestion happens on a freeway because any abnormality in the flow, such as an accident during rush hour, creates blockage.</a:t>
            </a:r>
          </a:p>
          <a:p>
            <a:pPr algn="l"/>
            <a:r>
              <a:rPr lang="en-US" dirty="0">
                <a:solidFill>
                  <a:schemeClr val="tx1"/>
                </a:solidFill>
              </a:rPr>
              <a:t>Congestions in a network or internetwork occurs  because routers and switches have queues - buffers that hold the packets before and after processing .  </a:t>
            </a:r>
            <a:endParaRPr lang="en-US" dirty="0" smtClean="0">
              <a:solidFill>
                <a:schemeClr val="tx1"/>
              </a:solidFill>
            </a:endParaRPr>
          </a:p>
          <a:p>
            <a:pPr algn="l"/>
            <a:r>
              <a:rPr lang="en-US" dirty="0" smtClean="0">
                <a:solidFill>
                  <a:schemeClr val="tx1"/>
                </a:solidFill>
              </a:rPr>
              <a:t>A </a:t>
            </a:r>
            <a:r>
              <a:rPr lang="en-US" dirty="0">
                <a:solidFill>
                  <a:schemeClr val="tx1"/>
                </a:solidFill>
              </a:rPr>
              <a:t>router, for example, has an input queue and an output queue for each interface.  </a:t>
            </a:r>
            <a:endParaRPr lang="en-US" dirty="0" smtClean="0">
              <a:solidFill>
                <a:schemeClr val="tx1"/>
              </a:solidFill>
            </a:endParaRPr>
          </a:p>
          <a:p>
            <a:pPr algn="l"/>
            <a:r>
              <a:rPr lang="en-US" dirty="0" smtClean="0">
                <a:solidFill>
                  <a:schemeClr val="tx1"/>
                </a:solidFill>
              </a:rPr>
              <a:t>When </a:t>
            </a:r>
            <a:r>
              <a:rPr lang="en-US" dirty="0">
                <a:solidFill>
                  <a:schemeClr val="tx1"/>
                </a:solidFill>
              </a:rPr>
              <a:t>a packet arrives at the incoming interface, it undergoes three steps before departing.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10000"/>
          </a:bodyPr>
          <a:lstStyle/>
          <a:p>
            <a:pPr algn="l"/>
            <a:r>
              <a:rPr lang="en-US" dirty="0">
                <a:solidFill>
                  <a:schemeClr val="tx1"/>
                </a:solidFill>
              </a:rPr>
              <a:t>1.	The packet is put at the end of the input queue while waiting to be checked.</a:t>
            </a:r>
          </a:p>
          <a:p>
            <a:pPr algn="l"/>
            <a:r>
              <a:rPr lang="en-US" dirty="0">
                <a:solidFill>
                  <a:schemeClr val="tx1"/>
                </a:solidFill>
              </a:rPr>
              <a:t>2.	The processing module of the router removes the packet from the input queue once it reaches the front of the queue and uses its routing table and the destination address to find the route.</a:t>
            </a:r>
          </a:p>
          <a:p>
            <a:pPr algn="l"/>
            <a:r>
              <a:rPr lang="en-US" dirty="0">
                <a:solidFill>
                  <a:schemeClr val="tx1"/>
                </a:solidFill>
              </a:rPr>
              <a:t>3.	The packet is put in the appropriate output queue and waits its turn to be sent. </a:t>
            </a:r>
          </a:p>
          <a:p>
            <a:pPr algn="l"/>
            <a:r>
              <a:rPr lang="en-US" b="1" dirty="0">
                <a:solidFill>
                  <a:schemeClr val="tx1"/>
                </a:solidFill>
              </a:rPr>
              <a:t>It needs to be aware of two issues </a:t>
            </a:r>
            <a:r>
              <a:rPr lang="en-US" dirty="0">
                <a:solidFill>
                  <a:schemeClr val="tx1"/>
                </a:solidFill>
              </a:rPr>
              <a:t>:  First, if the rate of packet arrival is higher than the packet processing rate, the input queues become longer and longer.   </a:t>
            </a:r>
            <a:endParaRPr lang="en-US" dirty="0" smtClean="0">
              <a:solidFill>
                <a:schemeClr val="tx1"/>
              </a:solidFill>
            </a:endParaRPr>
          </a:p>
          <a:p>
            <a:pPr algn="l"/>
            <a:r>
              <a:rPr lang="en-US" dirty="0" smtClean="0">
                <a:solidFill>
                  <a:schemeClr val="tx1"/>
                </a:solidFill>
              </a:rPr>
              <a:t>Second</a:t>
            </a:r>
            <a:r>
              <a:rPr lang="en-US" dirty="0">
                <a:solidFill>
                  <a:schemeClr val="tx1"/>
                </a:solidFill>
              </a:rPr>
              <a:t>,  if the packet departure rate is less than the packet processing rate, the output queues become longer and longer.</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Network Performance </a:t>
            </a:r>
            <a:r>
              <a:rPr lang="en-US" dirty="0">
                <a:solidFill>
                  <a:schemeClr val="tx1"/>
                </a:solidFill>
              </a:rPr>
              <a:t>:</a:t>
            </a:r>
          </a:p>
          <a:p>
            <a:pPr algn="l"/>
            <a:r>
              <a:rPr lang="en-US" dirty="0">
                <a:solidFill>
                  <a:schemeClr val="tx1"/>
                </a:solidFill>
              </a:rPr>
              <a:t>Congestion control involves two factors that measure the performance of a network delay and throughput  ( throughput in a network is the number of packets passing through the network in a unit of time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Congestion Control :</a:t>
            </a:r>
          </a:p>
          <a:p>
            <a:pPr algn="l"/>
            <a:r>
              <a:rPr lang="en-US" dirty="0">
                <a:solidFill>
                  <a:schemeClr val="tx1"/>
                </a:solidFill>
              </a:rPr>
              <a:t>It refers to techniques and mechanisms that can either prevent congestion, before it happens, or remove congestion,  after it has happened.   </a:t>
            </a:r>
            <a:endParaRPr lang="en-US" dirty="0" smtClean="0">
              <a:solidFill>
                <a:schemeClr val="tx1"/>
              </a:solidFill>
            </a:endParaRPr>
          </a:p>
          <a:p>
            <a:pPr algn="l"/>
            <a:r>
              <a:rPr lang="en-US" dirty="0" smtClean="0">
                <a:solidFill>
                  <a:schemeClr val="tx1"/>
                </a:solidFill>
              </a:rPr>
              <a:t>It </a:t>
            </a:r>
            <a:r>
              <a:rPr lang="en-US" dirty="0">
                <a:solidFill>
                  <a:schemeClr val="tx1"/>
                </a:solidFill>
              </a:rPr>
              <a:t>can be classified under two broad categories : </a:t>
            </a:r>
            <a:endParaRPr lang="en-US" dirty="0" smtClean="0">
              <a:solidFill>
                <a:schemeClr val="tx1"/>
              </a:solidFill>
            </a:endParaRPr>
          </a:p>
          <a:p>
            <a:pPr algn="l"/>
            <a:r>
              <a:rPr lang="en-US" dirty="0" smtClean="0">
                <a:solidFill>
                  <a:schemeClr val="tx1"/>
                </a:solidFill>
              </a:rPr>
              <a:t>Open-loop </a:t>
            </a:r>
            <a:r>
              <a:rPr lang="en-US" dirty="0">
                <a:solidFill>
                  <a:schemeClr val="tx1"/>
                </a:solidFill>
              </a:rPr>
              <a:t>congestion control ( prevention ) and </a:t>
            </a:r>
            <a:endParaRPr lang="en-US" dirty="0" smtClean="0">
              <a:solidFill>
                <a:schemeClr val="tx1"/>
              </a:solidFill>
            </a:endParaRPr>
          </a:p>
          <a:p>
            <a:pPr algn="l"/>
            <a:r>
              <a:rPr lang="en-US" dirty="0" smtClean="0">
                <a:solidFill>
                  <a:schemeClr val="tx1"/>
                </a:solidFill>
              </a:rPr>
              <a:t>Closed-loop </a:t>
            </a:r>
            <a:r>
              <a:rPr lang="en-US" dirty="0">
                <a:solidFill>
                  <a:schemeClr val="tx1"/>
                </a:solidFill>
              </a:rPr>
              <a:t>congestion control ( removal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82194"/>
            <a:ext cx="8458200" cy="635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3566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Open-loop congestion control ( prevention ) :</a:t>
            </a:r>
          </a:p>
          <a:p>
            <a:pPr algn="l"/>
            <a:r>
              <a:rPr lang="en-US" dirty="0">
                <a:solidFill>
                  <a:schemeClr val="tx1"/>
                </a:solidFill>
              </a:rPr>
              <a:t>These policies are applied to prevent congestion before it happens.  In these, congestions is handled by either the sourced or the destination.  </a:t>
            </a:r>
          </a:p>
          <a:p>
            <a:pPr algn="l"/>
            <a:r>
              <a:rPr lang="en-US" dirty="0">
                <a:solidFill>
                  <a:schemeClr val="tx1"/>
                </a:solidFill>
              </a:rPr>
              <a:t>1.	</a:t>
            </a:r>
            <a:r>
              <a:rPr lang="en-US" b="1" dirty="0">
                <a:solidFill>
                  <a:schemeClr val="tx1"/>
                </a:solidFill>
              </a:rPr>
              <a:t>Retransmission policy </a:t>
            </a:r>
            <a:r>
              <a:rPr lang="en-US" dirty="0">
                <a:solidFill>
                  <a:schemeClr val="tx1"/>
                </a:solidFill>
              </a:rPr>
              <a:t>:  A good retransmission policy can prevent congestion.</a:t>
            </a:r>
          </a:p>
          <a:p>
            <a:pPr algn="l"/>
            <a:r>
              <a:rPr lang="en-US" dirty="0">
                <a:solidFill>
                  <a:schemeClr val="tx1"/>
                </a:solidFill>
              </a:rPr>
              <a:t>2.	</a:t>
            </a:r>
            <a:r>
              <a:rPr lang="en-US" b="1" dirty="0">
                <a:solidFill>
                  <a:schemeClr val="tx1"/>
                </a:solidFill>
              </a:rPr>
              <a:t>Window Policy </a:t>
            </a:r>
            <a:r>
              <a:rPr lang="en-US" dirty="0">
                <a:solidFill>
                  <a:schemeClr val="tx1"/>
                </a:solidFill>
              </a:rPr>
              <a:t>:  The type of window at the sender may also affect congestion.  The Selective Repeat window is better than the Go-Back-N window for congestion control.</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10000"/>
          </a:bodyPr>
          <a:lstStyle/>
          <a:p>
            <a:pPr algn="l"/>
            <a:r>
              <a:rPr lang="en-US" dirty="0">
                <a:solidFill>
                  <a:schemeClr val="tx1"/>
                </a:solidFill>
              </a:rPr>
              <a:t>3.	</a:t>
            </a:r>
            <a:r>
              <a:rPr lang="en-US" b="1" dirty="0">
                <a:solidFill>
                  <a:schemeClr val="tx1"/>
                </a:solidFill>
              </a:rPr>
              <a:t>Acknowledgment Policy </a:t>
            </a:r>
            <a:r>
              <a:rPr lang="en-US" dirty="0">
                <a:solidFill>
                  <a:schemeClr val="tx1"/>
                </a:solidFill>
              </a:rPr>
              <a:t>:  If the receiver does not acknowledge every packet it receives, it may slow down the sender and help prevent congestion. </a:t>
            </a:r>
          </a:p>
          <a:p>
            <a:pPr algn="l"/>
            <a:r>
              <a:rPr lang="en-US" dirty="0">
                <a:solidFill>
                  <a:schemeClr val="tx1"/>
                </a:solidFill>
              </a:rPr>
              <a:t>4.	</a:t>
            </a:r>
            <a:r>
              <a:rPr lang="en-US" b="1" dirty="0">
                <a:solidFill>
                  <a:schemeClr val="tx1"/>
                </a:solidFill>
              </a:rPr>
              <a:t>Discarding Policy </a:t>
            </a:r>
            <a:r>
              <a:rPr lang="en-US" dirty="0">
                <a:solidFill>
                  <a:schemeClr val="tx1"/>
                </a:solidFill>
              </a:rPr>
              <a:t>:  A good discarding policy by the routers may prevent congestion and at the same time may not harm the integrity of the transmission.  </a:t>
            </a:r>
            <a:r>
              <a:rPr lang="en-US" dirty="0" err="1">
                <a:solidFill>
                  <a:schemeClr val="tx1"/>
                </a:solidFill>
              </a:rPr>
              <a:t>Eg</a:t>
            </a:r>
            <a:r>
              <a:rPr lang="en-US" dirty="0">
                <a:solidFill>
                  <a:schemeClr val="tx1"/>
                </a:solidFill>
              </a:rPr>
              <a:t>. In audio transmission, if the policy is to discard less sensitive packets when congestion is likely to happen, the quality of sound is still preserved and congestion is prevented.</a:t>
            </a:r>
          </a:p>
          <a:p>
            <a:pPr algn="l"/>
            <a:r>
              <a:rPr lang="en-US" dirty="0">
                <a:solidFill>
                  <a:schemeClr val="tx1"/>
                </a:solidFill>
              </a:rPr>
              <a:t>5.	</a:t>
            </a:r>
            <a:r>
              <a:rPr lang="en-US" b="1" dirty="0">
                <a:solidFill>
                  <a:schemeClr val="tx1"/>
                </a:solidFill>
              </a:rPr>
              <a:t>Admission Policy </a:t>
            </a:r>
            <a:r>
              <a:rPr lang="en-US" dirty="0">
                <a:solidFill>
                  <a:schemeClr val="tx1"/>
                </a:solidFill>
              </a:rPr>
              <a:t>:   An admission policy which is a quality-of-service mechanism, can also prevent congestion in virtual-circuit networks.  Switches in a flow first check the resource requirement of a flow before admitting it to the network.</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20000"/>
          </a:bodyPr>
          <a:lstStyle/>
          <a:p>
            <a:pPr algn="l"/>
            <a:r>
              <a:rPr lang="en-US" b="1" dirty="0">
                <a:solidFill>
                  <a:schemeClr val="tx1"/>
                </a:solidFill>
              </a:rPr>
              <a:t>Closed-loop congestion control ( removal ).   </a:t>
            </a:r>
            <a:endParaRPr lang="en-US" b="1" dirty="0" smtClean="0">
              <a:solidFill>
                <a:schemeClr val="tx1"/>
              </a:solidFill>
            </a:endParaRPr>
          </a:p>
          <a:p>
            <a:pPr algn="l"/>
            <a:r>
              <a:rPr lang="en-US" dirty="0" smtClean="0">
                <a:solidFill>
                  <a:schemeClr val="tx1"/>
                </a:solidFill>
              </a:rPr>
              <a:t>Closed </a:t>
            </a:r>
            <a:r>
              <a:rPr lang="en-US" dirty="0">
                <a:solidFill>
                  <a:schemeClr val="tx1"/>
                </a:solidFill>
              </a:rPr>
              <a:t>loop congestion control mechanisms try to alleviate congestion after it happens. Several mechanisms have been used by different protocols.  They are :</a:t>
            </a:r>
          </a:p>
          <a:p>
            <a:pPr algn="l"/>
            <a:r>
              <a:rPr lang="en-US" dirty="0">
                <a:solidFill>
                  <a:schemeClr val="tx1"/>
                </a:solidFill>
              </a:rPr>
              <a:t>1.	</a:t>
            </a:r>
            <a:r>
              <a:rPr lang="en-US" b="1" dirty="0">
                <a:solidFill>
                  <a:schemeClr val="tx1"/>
                </a:solidFill>
              </a:rPr>
              <a:t>Back Pressure </a:t>
            </a:r>
            <a:r>
              <a:rPr lang="en-US" dirty="0">
                <a:solidFill>
                  <a:schemeClr val="tx1"/>
                </a:solidFill>
              </a:rPr>
              <a:t>:  When a router is congested, it can inform the previous upstream router to reduce the rate of outgoing packets.  The action can be recursive all the way to the router before the source.  This mechanism is called back pressure.     {  [ The further routers may be congested ( it may have large data to handle ), so it informs the previous routers to slow down the output flow of data.  It continues up to the source machine.   This process is the back pressure ].  So the pressure on the last router is moved backward to the source to remove the congestion.    It was implemented in first virtual-circuit network, X.25.  It cannot be implemented in a datagram network because in this type of network a node (router) does not have the slightest knowledge of the upstream router.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smtClean="0">
              <a:solidFill>
                <a:schemeClr val="tx1"/>
              </a:solidFill>
            </a:endParaRPr>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70" y="990600"/>
            <a:ext cx="8238602" cy="2916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041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1"/>
                                        </p:tgtEl>
                                        <p:attrNameLst>
                                          <p:attrName>style.visibility</p:attrName>
                                        </p:attrNameLst>
                                      </p:cBhvr>
                                      <p:to>
                                        <p:strVal val="visible"/>
                                      </p:to>
                                    </p:set>
                                    <p:anim calcmode="lin" valueType="num">
                                      <p:cBhvr additive="base">
                                        <p:cTn id="13" dur="500" fill="hold"/>
                                        <p:tgtEl>
                                          <p:spTgt spid="2051"/>
                                        </p:tgtEl>
                                        <p:attrNameLst>
                                          <p:attrName>ppt_x</p:attrName>
                                        </p:attrNameLst>
                                      </p:cBhvr>
                                      <p:tavLst>
                                        <p:tav tm="0">
                                          <p:val>
                                            <p:strVal val="#ppt_x"/>
                                          </p:val>
                                        </p:tav>
                                        <p:tav tm="100000">
                                          <p:val>
                                            <p:strVal val="#ppt_x"/>
                                          </p:val>
                                        </p:tav>
                                      </p:tavLst>
                                    </p:anim>
                                    <p:anim calcmode="lin" valueType="num">
                                      <p:cBhvr additive="base">
                                        <p:cTn id="14"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smtClean="0">
              <a:solidFill>
                <a:schemeClr val="tx1"/>
              </a:solidFill>
            </a:endParaRPr>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168" y="304800"/>
            <a:ext cx="8433661"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724869"/>
            <a:ext cx="5562600" cy="3857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549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 calcmode="lin" valueType="num">
                                      <p:cBhvr additive="base">
                                        <p:cTn id="13" dur="500" fill="hold"/>
                                        <p:tgtEl>
                                          <p:spTgt spid="3074"/>
                                        </p:tgtEl>
                                        <p:attrNameLst>
                                          <p:attrName>ppt_x</p:attrName>
                                        </p:attrNameLst>
                                      </p:cBhvr>
                                      <p:tavLst>
                                        <p:tav tm="0">
                                          <p:val>
                                            <p:strVal val="#ppt_x"/>
                                          </p:val>
                                        </p:tav>
                                        <p:tav tm="100000">
                                          <p:val>
                                            <p:strVal val="#ppt_x"/>
                                          </p:val>
                                        </p:tav>
                                      </p:tavLst>
                                    </p:anim>
                                    <p:anim calcmode="lin" valueType="num">
                                      <p:cBhvr additive="base">
                                        <p:cTn id="14"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gtEl>
                                        <p:attrNameLst>
                                          <p:attrName>style.visibility</p:attrName>
                                        </p:attrNameLst>
                                      </p:cBhvr>
                                      <p:to>
                                        <p:strVal val="visible"/>
                                      </p:to>
                                    </p:set>
                                    <p:anim calcmode="lin" valueType="num">
                                      <p:cBhvr additive="base">
                                        <p:cTn id="19" dur="500" fill="hold"/>
                                        <p:tgtEl>
                                          <p:spTgt spid="3075"/>
                                        </p:tgtEl>
                                        <p:attrNameLst>
                                          <p:attrName>ppt_x</p:attrName>
                                        </p:attrNameLst>
                                      </p:cBhvr>
                                      <p:tavLst>
                                        <p:tav tm="0">
                                          <p:val>
                                            <p:strVal val="#ppt_x"/>
                                          </p:val>
                                        </p:tav>
                                        <p:tav tm="100000">
                                          <p:val>
                                            <p:strVal val="#ppt_x"/>
                                          </p:val>
                                        </p:tav>
                                      </p:tavLst>
                                    </p:anim>
                                    <p:anim calcmode="lin" valueType="num">
                                      <p:cBhvr additive="base">
                                        <p:cTn id="20"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dirty="0">
                <a:solidFill>
                  <a:schemeClr val="tx1"/>
                </a:solidFill>
              </a:rPr>
              <a:t>2.	</a:t>
            </a:r>
            <a:r>
              <a:rPr lang="en-US" b="1" dirty="0">
                <a:solidFill>
                  <a:schemeClr val="tx1"/>
                </a:solidFill>
              </a:rPr>
              <a:t>Choke Point </a:t>
            </a:r>
            <a:r>
              <a:rPr lang="en-US" dirty="0">
                <a:solidFill>
                  <a:schemeClr val="tx1"/>
                </a:solidFill>
              </a:rPr>
              <a:t>:  It is a packet sent by a router to the source to inform it of congestion.  This type  of control is similar to ICMP’s source quench packet.</a:t>
            </a:r>
          </a:p>
          <a:p>
            <a:pPr algn="l"/>
            <a:r>
              <a:rPr lang="en-US" dirty="0">
                <a:solidFill>
                  <a:schemeClr val="tx1"/>
                </a:solidFill>
              </a:rPr>
              <a:t>3.	</a:t>
            </a:r>
            <a:r>
              <a:rPr lang="en-US" b="1" dirty="0">
                <a:solidFill>
                  <a:schemeClr val="tx1"/>
                </a:solidFill>
              </a:rPr>
              <a:t>Implicit Signaling </a:t>
            </a:r>
            <a:r>
              <a:rPr lang="en-US" dirty="0">
                <a:solidFill>
                  <a:schemeClr val="tx1"/>
                </a:solidFill>
              </a:rPr>
              <a:t>:  The source can detect an implicit signal concerning congestion and slow down its sending rate.   [ the delay in receiving an acknowledgment can be a signal that the network is congested.].</a:t>
            </a:r>
          </a:p>
          <a:p>
            <a:pPr algn="l"/>
            <a:r>
              <a:rPr lang="en-US" dirty="0">
                <a:solidFill>
                  <a:schemeClr val="tx1"/>
                </a:solidFill>
              </a:rPr>
              <a:t>4.	</a:t>
            </a:r>
            <a:r>
              <a:rPr lang="en-US" b="1" dirty="0">
                <a:solidFill>
                  <a:schemeClr val="tx1"/>
                </a:solidFill>
              </a:rPr>
              <a:t>Explicit signaling </a:t>
            </a:r>
            <a:r>
              <a:rPr lang="en-US" dirty="0">
                <a:solidFill>
                  <a:schemeClr val="tx1"/>
                </a:solidFill>
              </a:rPr>
              <a:t>:   The routers that experience congestion can send an explicit signal, the setting of a bit  in a  packet,  to inform the sender  or the  receiver  of congestion.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5.	</a:t>
            </a:r>
            <a:r>
              <a:rPr lang="en-US" b="1" dirty="0">
                <a:solidFill>
                  <a:schemeClr val="tx1"/>
                </a:solidFill>
              </a:rPr>
              <a:t>Backward Signaling </a:t>
            </a:r>
            <a:r>
              <a:rPr lang="en-US" dirty="0">
                <a:solidFill>
                  <a:schemeClr val="tx1"/>
                </a:solidFill>
              </a:rPr>
              <a:t>:   the bit can be set in a packet moving in the direction opposite to the congestion.  This bit can warn the source that there is congestion and that it needs to slow down to avoid the discarding of packets.</a:t>
            </a:r>
          </a:p>
          <a:p>
            <a:pPr algn="l"/>
            <a:r>
              <a:rPr lang="en-US" dirty="0">
                <a:solidFill>
                  <a:schemeClr val="tx1"/>
                </a:solidFill>
              </a:rPr>
              <a:t>6.	</a:t>
            </a:r>
            <a:r>
              <a:rPr lang="en-US" b="1" dirty="0">
                <a:solidFill>
                  <a:schemeClr val="tx1"/>
                </a:solidFill>
              </a:rPr>
              <a:t>Forward Signaling  </a:t>
            </a:r>
            <a:r>
              <a:rPr lang="en-US" dirty="0">
                <a:solidFill>
                  <a:schemeClr val="tx1"/>
                </a:solidFill>
              </a:rPr>
              <a:t>:  This bit be set in the packet moving in the direction of the congestion.  This bit can warn the destination that there is congestion.  The receiver in this case can use policies, such as slowing down the acknowledgment, to alleviate (reduce / ease / relive)  the congestion.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Congestion Control in TCP </a:t>
            </a:r>
            <a:r>
              <a:rPr lang="en-US" dirty="0">
                <a:solidFill>
                  <a:schemeClr val="tx1"/>
                </a:solidFill>
              </a:rPr>
              <a:t>:</a:t>
            </a:r>
          </a:p>
          <a:p>
            <a:pPr algn="l"/>
            <a:r>
              <a:rPr lang="en-US" dirty="0">
                <a:solidFill>
                  <a:schemeClr val="tx1"/>
                </a:solidFill>
              </a:rPr>
              <a:t>An  internet is a combination of networks and connecting devices (routers).  A packet from a sender may pass through several routers before reaching its final destination. A router has a buffer that stores the incoming packets, processes them, and forwards them. If a router receives packets faster than it can process, congestion might occur and some packets could be dropped.  When a packet does not reach the destination, no acknowledgment is sent for it.  The sender has no choice but to retransmit the lost packet.  This may create more congestion and more dropping of packets, which means more retransmission and more congestion.  A point may then be reached in which the whole system collapses and no more data can be sent.  TCP therefore needs to find some way to avoid this situation.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10000"/>
          </a:bodyPr>
          <a:lstStyle/>
          <a:p>
            <a:pPr algn="l"/>
            <a:r>
              <a:rPr lang="en-US" dirty="0">
                <a:solidFill>
                  <a:schemeClr val="tx1"/>
                </a:solidFill>
              </a:rPr>
              <a:t>TCP assumes that the cause of a lost segment is due to congestion in the network.</a:t>
            </a:r>
          </a:p>
          <a:p>
            <a:pPr algn="l"/>
            <a:r>
              <a:rPr lang="en-US" dirty="0">
                <a:solidFill>
                  <a:schemeClr val="tx1"/>
                </a:solidFill>
              </a:rPr>
              <a:t>During the flow control, when the receiver is overwhelmed with data, we said that that the sender window is determined by the available buffer space in the receiver.  We assumed that it is only the receiver that can dictate to the sender the size of the sender’s window.  We have totally ignored the other entity – the network.  If the network cannot deliver the data as fast as they are created by the sender, it needs to tell the sender to slow down.  In other words, in addition to the receiver, the network is a second entity that determines the size of the senders window in TCP.  </a:t>
            </a:r>
          </a:p>
          <a:p>
            <a:pPr algn="l"/>
            <a:r>
              <a:rPr lang="en-US" dirty="0">
                <a:solidFill>
                  <a:schemeClr val="tx1"/>
                </a:solidFill>
              </a:rPr>
              <a:t>If the cause of the lost segment is congestion, retransmission of the segment does not remove the cause – it aggravates it.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QUALITY OF SERVICE [ </a:t>
            </a:r>
            <a:r>
              <a:rPr lang="en-US" b="1" dirty="0" err="1">
                <a:solidFill>
                  <a:schemeClr val="tx1"/>
                </a:solidFill>
              </a:rPr>
              <a:t>QoS</a:t>
            </a:r>
            <a:r>
              <a:rPr lang="en-US" b="1" dirty="0">
                <a:solidFill>
                  <a:schemeClr val="tx1"/>
                </a:solidFill>
              </a:rPr>
              <a:t>] </a:t>
            </a:r>
            <a:r>
              <a:rPr lang="en-US" dirty="0">
                <a:solidFill>
                  <a:schemeClr val="tx1"/>
                </a:solidFill>
              </a:rPr>
              <a:t>:  It is internetworking issue that has been discussed more than defined. It can be defined as something a flow seeks to attain. </a:t>
            </a:r>
          </a:p>
          <a:p>
            <a:pPr algn="l"/>
            <a:r>
              <a:rPr lang="en-US" b="1" dirty="0">
                <a:solidFill>
                  <a:schemeClr val="tx1"/>
                </a:solidFill>
              </a:rPr>
              <a:t>Flow Characteristics </a:t>
            </a:r>
            <a:r>
              <a:rPr lang="en-US" dirty="0">
                <a:solidFill>
                  <a:schemeClr val="tx1"/>
                </a:solidFill>
              </a:rPr>
              <a:t>:  There are four types of characteristics attributed to </a:t>
            </a:r>
            <a:r>
              <a:rPr lang="en-US" dirty="0" err="1">
                <a:solidFill>
                  <a:schemeClr val="tx1"/>
                </a:solidFill>
              </a:rPr>
              <a:t>aflow</a:t>
            </a:r>
            <a:r>
              <a:rPr lang="en-US" dirty="0">
                <a:solidFill>
                  <a:schemeClr val="tx1"/>
                </a:solidFill>
              </a:rPr>
              <a:t> :  </a:t>
            </a:r>
            <a:r>
              <a:rPr lang="en-US" b="1" i="1" dirty="0">
                <a:solidFill>
                  <a:schemeClr val="tx1"/>
                </a:solidFill>
              </a:rPr>
              <a:t>reliability, delay, jitter, and bandwidth</a:t>
            </a:r>
            <a:r>
              <a:rPr lang="en-US" dirty="0">
                <a:solidFill>
                  <a:schemeClr val="tx1"/>
                </a:solidFill>
              </a:rPr>
              <a:t>. </a:t>
            </a:r>
          </a:p>
          <a:p>
            <a:pPr algn="l"/>
            <a:r>
              <a:rPr lang="en-US" b="1" dirty="0">
                <a:solidFill>
                  <a:schemeClr val="tx1"/>
                </a:solidFill>
              </a:rPr>
              <a:t>Reliability</a:t>
            </a:r>
            <a:r>
              <a:rPr lang="en-US" dirty="0">
                <a:solidFill>
                  <a:schemeClr val="tx1"/>
                </a:solidFill>
              </a:rPr>
              <a:t> :   It is a characteristics that a flow needs. Lack of reliability means losing a packet or acknowledgement, which entails retransmission. However the sensitivity of application programs to reliability is not the same.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77500" lnSpcReduction="20000"/>
          </a:bodyPr>
          <a:lstStyle/>
          <a:p>
            <a:pPr algn="l"/>
            <a:r>
              <a:rPr lang="en-US" b="1" dirty="0">
                <a:solidFill>
                  <a:schemeClr val="tx1"/>
                </a:solidFill>
              </a:rPr>
              <a:t>Delay</a:t>
            </a:r>
            <a:r>
              <a:rPr lang="en-US" dirty="0">
                <a:solidFill>
                  <a:schemeClr val="tx1"/>
                </a:solidFill>
              </a:rPr>
              <a:t> :  Source to Destination delay is another flow characteristic.  Again application can tolerate delay in different degrees.  In this case telephony  audio conferencing, video conferencing, and remote log-in need minimum delay, while delay in file transfer of e-mail is less important. </a:t>
            </a:r>
          </a:p>
          <a:p>
            <a:pPr algn="l"/>
            <a:r>
              <a:rPr lang="en-US" b="1" dirty="0">
                <a:solidFill>
                  <a:schemeClr val="tx1"/>
                </a:solidFill>
              </a:rPr>
              <a:t>Jitter</a:t>
            </a:r>
            <a:r>
              <a:rPr lang="en-US" dirty="0">
                <a:solidFill>
                  <a:schemeClr val="tx1"/>
                </a:solidFill>
              </a:rPr>
              <a:t>:  It is the variation in delay for packets belonging to the same flow.  </a:t>
            </a:r>
            <a:r>
              <a:rPr lang="en-US" dirty="0" err="1">
                <a:solidFill>
                  <a:schemeClr val="tx1"/>
                </a:solidFill>
              </a:rPr>
              <a:t>Eg</a:t>
            </a:r>
            <a:r>
              <a:rPr lang="en-US" dirty="0">
                <a:solidFill>
                  <a:schemeClr val="tx1"/>
                </a:solidFill>
              </a:rPr>
              <a:t>.  For application like audio and video, if four packets are sent at times 0, 1, 2, 3 and they arrive at 20, 21, 22, 23, all have the same delay time of 20 unites of time.   On the other hand, if the above four packets arrive at 21, 23, 21, 28 units of time, they have different delays of 21, 22, 19, 25.  The first case is completely acceptable; the second case is not.  For this application it doesn’t matter, whether the delay is short or long, but with same delay for all packets.  So the second one is not acceptable.</a:t>
            </a:r>
          </a:p>
          <a:p>
            <a:pPr algn="l"/>
            <a:r>
              <a:rPr lang="en-US" dirty="0">
                <a:solidFill>
                  <a:schemeClr val="tx1"/>
                </a:solidFill>
              </a:rPr>
              <a:t>Jitter is defined as the variation in the packet delay.  High jitter means the difference between delays is large; low jitter means the variation is small.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b="1" dirty="0">
                <a:solidFill>
                  <a:schemeClr val="tx1"/>
                </a:solidFill>
              </a:rPr>
              <a:t>Bandwidth</a:t>
            </a:r>
            <a:r>
              <a:rPr lang="en-US" dirty="0">
                <a:solidFill>
                  <a:schemeClr val="tx1"/>
                </a:solidFill>
              </a:rPr>
              <a:t> :    Different applications need different bandwidth.  In video conferencing we need to send millions of bits per second to refresh a color screen while the total number of bits in an email may not reach even a million.</a:t>
            </a:r>
          </a:p>
          <a:p>
            <a:pPr algn="l"/>
            <a:r>
              <a:rPr lang="en-US" b="1" dirty="0">
                <a:solidFill>
                  <a:schemeClr val="tx1"/>
                </a:solidFill>
              </a:rPr>
              <a:t>Flow Classes </a:t>
            </a:r>
            <a:r>
              <a:rPr lang="en-US" dirty="0">
                <a:solidFill>
                  <a:schemeClr val="tx1"/>
                </a:solidFill>
              </a:rPr>
              <a:t>:  Based on the flow characteristics, we can classify flows into groups, with each group having similar levels of characteristics.  ATM (Asynchronous Transfer Mode ) Forum defines four services :  CBR (constant-bit-rate), VBR (variable-bit-rate), ABR (available-bit-rate), UBR (unspecified-bit-rate).</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b="1" dirty="0">
                <a:solidFill>
                  <a:schemeClr val="tx1"/>
                </a:solidFill>
              </a:rPr>
              <a:t>TECHNIQUES TO IMPROVE </a:t>
            </a:r>
            <a:r>
              <a:rPr lang="en-US" b="1" dirty="0" err="1">
                <a:solidFill>
                  <a:schemeClr val="tx1"/>
                </a:solidFill>
              </a:rPr>
              <a:t>QoS</a:t>
            </a:r>
            <a:r>
              <a:rPr lang="en-US" b="1" dirty="0">
                <a:solidFill>
                  <a:schemeClr val="tx1"/>
                </a:solidFill>
              </a:rPr>
              <a:t> </a:t>
            </a:r>
            <a:r>
              <a:rPr lang="en-US" dirty="0">
                <a:solidFill>
                  <a:schemeClr val="tx1"/>
                </a:solidFill>
              </a:rPr>
              <a:t>:  Four common methods .</a:t>
            </a:r>
          </a:p>
          <a:p>
            <a:pPr algn="l"/>
            <a:r>
              <a:rPr lang="en-US" dirty="0">
                <a:solidFill>
                  <a:schemeClr val="tx1"/>
                </a:solidFill>
              </a:rPr>
              <a:t>1.	</a:t>
            </a:r>
            <a:r>
              <a:rPr lang="en-US" b="1" dirty="0">
                <a:solidFill>
                  <a:schemeClr val="tx1"/>
                </a:solidFill>
              </a:rPr>
              <a:t>Scheduling</a:t>
            </a:r>
            <a:r>
              <a:rPr lang="en-US" dirty="0">
                <a:solidFill>
                  <a:schemeClr val="tx1"/>
                </a:solidFill>
              </a:rPr>
              <a:t> :  Packets from different flows arrive at a switch or router for processing.  A good scheduling technique treats the different flows in a fair and appropriate manner. Some of the scheduling techniques are given below:</a:t>
            </a:r>
          </a:p>
          <a:p>
            <a:pPr algn="l"/>
            <a:r>
              <a:rPr lang="en-US" dirty="0">
                <a:solidFill>
                  <a:schemeClr val="tx1"/>
                </a:solidFill>
              </a:rPr>
              <a:t>1.	</a:t>
            </a:r>
            <a:r>
              <a:rPr lang="en-US" b="1" dirty="0">
                <a:solidFill>
                  <a:schemeClr val="tx1"/>
                </a:solidFill>
              </a:rPr>
              <a:t>FIFO Queuing </a:t>
            </a:r>
            <a:r>
              <a:rPr lang="en-US" dirty="0">
                <a:solidFill>
                  <a:schemeClr val="tx1"/>
                </a:solidFill>
              </a:rPr>
              <a:t>:  In First-in, First-out (FIFO) queuing, packets wait in a buffer (queue) until the node (router or switch) is ready to process them.  If the average arrival rate is higher than the average processing rate, the queue will fill up and new packets will be discarded. </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2.	</a:t>
            </a:r>
            <a:r>
              <a:rPr lang="en-US" b="1" dirty="0">
                <a:solidFill>
                  <a:schemeClr val="tx1"/>
                </a:solidFill>
              </a:rPr>
              <a:t>Priority Queuing</a:t>
            </a:r>
            <a:r>
              <a:rPr lang="en-US" dirty="0">
                <a:solidFill>
                  <a:schemeClr val="tx1"/>
                </a:solidFill>
              </a:rPr>
              <a:t>:  Packets are assigned to a priority class. Each priority class has its own queue.  The packets in the highest-priority queue are processed first.  Packets in the lowest-priority queue are processed last.  Note that the system does not stop serving a queue until it is empty.   It can provide better </a:t>
            </a:r>
            <a:r>
              <a:rPr lang="en-US" dirty="0" err="1">
                <a:solidFill>
                  <a:schemeClr val="tx1"/>
                </a:solidFill>
              </a:rPr>
              <a:t>QoS</a:t>
            </a:r>
            <a:r>
              <a:rPr lang="en-US" dirty="0">
                <a:solidFill>
                  <a:schemeClr val="tx1"/>
                </a:solidFill>
              </a:rPr>
              <a:t> than FIFO queuing. </a:t>
            </a:r>
          </a:p>
          <a:p>
            <a:pPr algn="l"/>
            <a:r>
              <a:rPr lang="en-US" dirty="0">
                <a:solidFill>
                  <a:schemeClr val="tx1"/>
                </a:solidFill>
              </a:rPr>
              <a:t>3.	</a:t>
            </a:r>
            <a:r>
              <a:rPr lang="en-US" b="1" dirty="0">
                <a:solidFill>
                  <a:schemeClr val="tx1"/>
                </a:solidFill>
              </a:rPr>
              <a:t>Weighted Fair Queuing </a:t>
            </a:r>
            <a:r>
              <a:rPr lang="en-US" dirty="0">
                <a:solidFill>
                  <a:schemeClr val="tx1"/>
                </a:solidFill>
              </a:rPr>
              <a:t>:   In this technique, the packets are still assigned to different classes are  admitted to different queues.  The queues are weighted based on the priority of the queues.</a:t>
            </a:r>
          </a:p>
          <a:p>
            <a:pPr algn="l"/>
            <a:endParaRPr lang="en-US" dirty="0">
              <a:solidFill>
                <a:schemeClr val="tx1"/>
              </a:solidFill>
            </a:endParaRP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2.	</a:t>
            </a:r>
            <a:r>
              <a:rPr lang="en-US" b="1" dirty="0">
                <a:solidFill>
                  <a:schemeClr val="tx1"/>
                </a:solidFill>
              </a:rPr>
              <a:t>Traffic Shaping </a:t>
            </a:r>
            <a:r>
              <a:rPr lang="en-US" dirty="0">
                <a:solidFill>
                  <a:schemeClr val="tx1"/>
                </a:solidFill>
              </a:rPr>
              <a:t>:  It’s a mechanism to control the amount and the rate of the traffic sent to the network.   </a:t>
            </a:r>
            <a:r>
              <a:rPr lang="en-US" b="1" dirty="0">
                <a:solidFill>
                  <a:schemeClr val="tx1"/>
                </a:solidFill>
              </a:rPr>
              <a:t>LEAKY BUCKET </a:t>
            </a:r>
            <a:r>
              <a:rPr lang="en-US" dirty="0">
                <a:solidFill>
                  <a:schemeClr val="tx1"/>
                </a:solidFill>
              </a:rPr>
              <a:t>:   The input rate can vary, but the output rate remains constant.    </a:t>
            </a:r>
          </a:p>
          <a:p>
            <a:pPr algn="l"/>
            <a:r>
              <a:rPr lang="en-US" dirty="0">
                <a:solidFill>
                  <a:schemeClr val="tx1"/>
                </a:solidFill>
              </a:rPr>
              <a:t>3.	</a:t>
            </a:r>
            <a:r>
              <a:rPr lang="en-US" b="1" dirty="0">
                <a:solidFill>
                  <a:schemeClr val="tx1"/>
                </a:solidFill>
              </a:rPr>
              <a:t>Resource Reservation </a:t>
            </a:r>
            <a:r>
              <a:rPr lang="en-US" dirty="0">
                <a:solidFill>
                  <a:schemeClr val="tx1"/>
                </a:solidFill>
              </a:rPr>
              <a:t>:   A flow of data needs resources such as a buffer, bandwidth, CPU time, and so on.  The </a:t>
            </a:r>
            <a:r>
              <a:rPr lang="en-US" dirty="0" err="1">
                <a:solidFill>
                  <a:schemeClr val="tx1"/>
                </a:solidFill>
              </a:rPr>
              <a:t>QoS</a:t>
            </a:r>
            <a:r>
              <a:rPr lang="en-US" dirty="0">
                <a:solidFill>
                  <a:schemeClr val="tx1"/>
                </a:solidFill>
              </a:rPr>
              <a:t> is improved if these resources are reserved beforehand.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r>
              <a:rPr lang="en-US" dirty="0">
                <a:solidFill>
                  <a:schemeClr val="tx1"/>
                </a:solidFill>
              </a:rPr>
              <a:t>4.	</a:t>
            </a:r>
            <a:r>
              <a:rPr lang="en-US" b="1" dirty="0">
                <a:solidFill>
                  <a:schemeClr val="tx1"/>
                </a:solidFill>
              </a:rPr>
              <a:t>Admission Control </a:t>
            </a:r>
            <a:r>
              <a:rPr lang="en-US" dirty="0">
                <a:solidFill>
                  <a:schemeClr val="tx1"/>
                </a:solidFill>
              </a:rPr>
              <a:t>:  It refers to the mechanism used by a router, or a switch, to accept or reject a flow based on predefined parameters called flow specification.  Before a router accepts a flow for processing, it checks the flow specifications to see if its capacity ( in terms of bandwidth, buffer size, CPU speed, etc.) and its previous commitments to other flows can handle the new flow. </a:t>
            </a:r>
          </a:p>
        </p:txBody>
      </p:sp>
      <p:sp>
        <p:nvSpPr>
          <p:cNvPr id="3" name="Footer Placeholder 2"/>
          <p:cNvSpPr>
            <a:spLocks noGrp="1"/>
          </p:cNvSpPr>
          <p:nvPr>
            <p:ph type="ftr" sz="quarter" idx="11"/>
          </p:nvPr>
        </p:nvSpPr>
        <p:spPr/>
        <p:txBody>
          <a:bodyPr/>
          <a:lstStyle/>
          <a:p>
            <a:r>
              <a:rPr lang="en-US" smtClean="0"/>
              <a:t>SCR</a:t>
            </a:r>
            <a:endParaRPr lang="en-US"/>
          </a:p>
        </p:txBody>
      </p:sp>
    </p:spTree>
    <p:extLst>
      <p:ext uri="{BB962C8B-B14F-4D97-AF65-F5344CB8AC3E}">
        <p14:creationId xmlns:p14="http://schemas.microsoft.com/office/powerpoint/2010/main" val="34037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5046</TotalTime>
  <Words>6800</Words>
  <Application>Microsoft Office PowerPoint</Application>
  <PresentationFormat>On-screen Show (4:3)</PresentationFormat>
  <Paragraphs>586</Paragraphs>
  <Slides>121</Slides>
  <Notes>9</Notes>
  <HiddenSlides>0</HiddenSlides>
  <MMClips>0</MMClips>
  <ScaleCrop>false</ScaleCrop>
  <HeadingPairs>
    <vt:vector size="4" baseType="variant">
      <vt:variant>
        <vt:lpstr>Theme</vt:lpstr>
      </vt:variant>
      <vt:variant>
        <vt:i4>1</vt:i4>
      </vt:variant>
      <vt:variant>
        <vt:lpstr>Slide Titles</vt:lpstr>
      </vt:variant>
      <vt:variant>
        <vt:i4>121</vt:i4>
      </vt:variant>
    </vt:vector>
  </HeadingPairs>
  <TitlesOfParts>
    <vt:vector size="122" baseType="lpstr">
      <vt:lpstr>Office Theme</vt:lpstr>
      <vt:lpstr>CHAPTER NO.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TCP Flags</vt:lpstr>
      <vt:lpstr>TCP Flags</vt:lpstr>
      <vt:lpstr>PowerPoint Presentation</vt:lpstr>
      <vt:lpstr>PowerPoint Presentation</vt:lpstr>
      <vt:lpstr>PowerPoint Presentation</vt:lpstr>
      <vt:lpstr>PowerPoint Presentation</vt:lpstr>
      <vt:lpstr>PowerPoint Presentation</vt:lpstr>
      <vt:lpstr>A TCP Connection</vt:lpstr>
      <vt:lpstr>Connection Establishment</vt:lpstr>
      <vt:lpstr>Connection Establishment in TCP -3 way handshaking</vt:lpstr>
      <vt:lpstr>Connection Establishment</vt:lpstr>
      <vt:lpstr>Connection Establishment</vt:lpstr>
      <vt:lpstr>Connection Establishment</vt:lpstr>
      <vt:lpstr>Connection Establishment</vt:lpstr>
      <vt:lpstr>Data Transfer</vt:lpstr>
      <vt:lpstr>Data Transfer</vt:lpstr>
      <vt:lpstr>Data Transfer</vt:lpstr>
      <vt:lpstr>Urgent Flag/Pointer</vt:lpstr>
      <vt:lpstr>Connection Termination</vt:lpstr>
      <vt:lpstr>Connection Termination</vt:lpstr>
      <vt:lpstr>Connection Termination</vt:lpstr>
      <vt:lpstr>Connection Termination</vt:lpstr>
      <vt:lpstr>Connection Termination</vt:lpstr>
      <vt:lpstr>Connection Termination in TCP</vt:lpstr>
      <vt:lpstr>PowerPoint Presentation</vt:lpstr>
      <vt:lpstr>Flow control  PROTOCOLS</vt:lpstr>
      <vt:lpstr>Stop-and-Wait Protocol</vt:lpstr>
      <vt:lpstr>Stop-and-Wait Protocol</vt:lpstr>
      <vt:lpstr>Stop-and-Wait Protocol</vt:lpstr>
      <vt:lpstr> Drawback -Stop and wait Sends one frame at a time-slower(no pipelining) </vt:lpstr>
      <vt:lpstr>PowerPoint Presentation</vt:lpstr>
      <vt:lpstr>Pipelining: </vt:lpstr>
      <vt:lpstr>Drawback – Poor utilization of bandwidth</vt:lpstr>
      <vt:lpstr>PowerPoint Presentation</vt:lpstr>
      <vt:lpstr>Go-Back-N Protocol </vt:lpstr>
      <vt:lpstr>Send window for Go-Back-N</vt:lpstr>
      <vt:lpstr>Sliding the send window</vt:lpstr>
      <vt:lpstr>Receive window for Go-Back-N</vt:lpstr>
      <vt:lpstr>In the Go-Back-N protocol, the size of the send window must be less than 2m</vt:lpstr>
      <vt:lpstr>PowerPoint Presentation</vt:lpstr>
      <vt:lpstr>PowerPoint Presentation</vt:lpstr>
      <vt:lpstr>Selective-Repeat Protocol</vt:lpstr>
      <vt:lpstr>Send window for Selective-Repeat protocol</vt:lpstr>
      <vt:lpstr>Receive window for Selective-Repeat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308</cp:revision>
  <dcterms:created xsi:type="dcterms:W3CDTF">2018-07-03T05:52:06Z</dcterms:created>
  <dcterms:modified xsi:type="dcterms:W3CDTF">2025-11-02T21:18:42Z</dcterms:modified>
</cp:coreProperties>
</file>