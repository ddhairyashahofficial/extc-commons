
<file path=[Content_Types].xml><?xml version="1.0" encoding="utf-8"?>
<Types xmlns="http://schemas.openxmlformats.org/package/2006/content-types">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media/image44.jpg" ContentType="image/jpg"/>
  <Override PartName="/ppt/media/image60.jpg" ContentType="image/jpg"/>
  <Override PartName="/ppt/media/image62.jpg" ContentType="image/jpg"/>
  <Override PartName="/ppt/media/image63.jpg" ContentType="image/jpg"/>
  <Override PartName="/ppt/media/image64.jpg" ContentType="image/jpg"/>
  <Override PartName="/ppt/media/image65.jpg" ContentType="image/jpg"/>
  <Override PartName="/ppt/media/image66.jpg" ContentType="image/jpg"/>
  <Override PartName="/ppt/media/image68.jpg" ContentType="image/jpg"/>
  <Override PartName="/ppt/media/image69.jpg" ContentType="image/jpg"/>
  <Override PartName="/ppt/media/image70.jpg" ContentType="image/jpg"/>
  <Override PartName="/ppt/media/image72.jpg" ContentType="image/jpg"/>
  <Override PartName="/ppt/media/image73.jpg" ContentType="image/jpg"/>
  <Override PartName="/ppt/media/image74.jpg" ContentType="image/jpg"/>
  <Override PartName="/ppt/media/image75.jpg" ContentType="image/jpg"/>
  <Override PartName="/ppt/media/image76.jpg" ContentType="image/jpg"/>
  <Override PartName="/ppt/media/image77.jpg" ContentType="image/jpg"/>
  <Override PartName="/ppt/media/image79.jpg" ContentType="image/jpg"/>
  <Override PartName="/ppt/media/image80.jpg" ContentType="image/jpg"/>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96"/>
  </p:notesMasterIdLst>
  <p:sldIdLst>
    <p:sldId id="256" r:id="rId2"/>
    <p:sldId id="501" r:id="rId3"/>
    <p:sldId id="504" r:id="rId4"/>
    <p:sldId id="502" r:id="rId5"/>
    <p:sldId id="335" r:id="rId6"/>
    <p:sldId id="601" r:id="rId7"/>
    <p:sldId id="349" r:id="rId8"/>
    <p:sldId id="602" r:id="rId9"/>
    <p:sldId id="351" r:id="rId10"/>
    <p:sldId id="353" r:id="rId11"/>
    <p:sldId id="354" r:id="rId12"/>
    <p:sldId id="355" r:id="rId13"/>
    <p:sldId id="356" r:id="rId14"/>
    <p:sldId id="383" r:id="rId15"/>
    <p:sldId id="359" r:id="rId16"/>
    <p:sldId id="360" r:id="rId17"/>
    <p:sldId id="479" r:id="rId18"/>
    <p:sldId id="357" r:id="rId19"/>
    <p:sldId id="358" r:id="rId20"/>
    <p:sldId id="506" r:id="rId21"/>
    <p:sldId id="507" r:id="rId22"/>
    <p:sldId id="508" r:id="rId23"/>
    <p:sldId id="509" r:id="rId24"/>
    <p:sldId id="510" r:id="rId25"/>
    <p:sldId id="511" r:id="rId26"/>
    <p:sldId id="512" r:id="rId27"/>
    <p:sldId id="513" r:id="rId28"/>
    <p:sldId id="514" r:id="rId29"/>
    <p:sldId id="515" r:id="rId30"/>
    <p:sldId id="516" r:id="rId31"/>
    <p:sldId id="517" r:id="rId32"/>
    <p:sldId id="518" r:id="rId33"/>
    <p:sldId id="519" r:id="rId34"/>
    <p:sldId id="520" r:id="rId35"/>
    <p:sldId id="521" r:id="rId36"/>
    <p:sldId id="522" r:id="rId37"/>
    <p:sldId id="523" r:id="rId38"/>
    <p:sldId id="524" r:id="rId39"/>
    <p:sldId id="525" r:id="rId40"/>
    <p:sldId id="526" r:id="rId41"/>
    <p:sldId id="527" r:id="rId42"/>
    <p:sldId id="528" r:id="rId43"/>
    <p:sldId id="529" r:id="rId44"/>
    <p:sldId id="530" r:id="rId45"/>
    <p:sldId id="531" r:id="rId46"/>
    <p:sldId id="532" r:id="rId47"/>
    <p:sldId id="533" r:id="rId48"/>
    <p:sldId id="534" r:id="rId49"/>
    <p:sldId id="535" r:id="rId50"/>
    <p:sldId id="536" r:id="rId51"/>
    <p:sldId id="537" r:id="rId52"/>
    <p:sldId id="538" r:id="rId53"/>
    <p:sldId id="539" r:id="rId54"/>
    <p:sldId id="540" r:id="rId55"/>
    <p:sldId id="598" r:id="rId56"/>
    <p:sldId id="547" r:id="rId57"/>
    <p:sldId id="548" r:id="rId58"/>
    <p:sldId id="549" r:id="rId59"/>
    <p:sldId id="550" r:id="rId60"/>
    <p:sldId id="599" r:id="rId61"/>
    <p:sldId id="600" r:id="rId62"/>
    <p:sldId id="551" r:id="rId63"/>
    <p:sldId id="552" r:id="rId64"/>
    <p:sldId id="553" r:id="rId65"/>
    <p:sldId id="554" r:id="rId66"/>
    <p:sldId id="556" r:id="rId67"/>
    <p:sldId id="557" r:id="rId68"/>
    <p:sldId id="558" r:id="rId69"/>
    <p:sldId id="559" r:id="rId70"/>
    <p:sldId id="560" r:id="rId71"/>
    <p:sldId id="561" r:id="rId72"/>
    <p:sldId id="562" r:id="rId73"/>
    <p:sldId id="563" r:id="rId74"/>
    <p:sldId id="564" r:id="rId75"/>
    <p:sldId id="565" r:id="rId76"/>
    <p:sldId id="566" r:id="rId77"/>
    <p:sldId id="620" r:id="rId78"/>
    <p:sldId id="628" r:id="rId79"/>
    <p:sldId id="621" r:id="rId80"/>
    <p:sldId id="622" r:id="rId81"/>
    <p:sldId id="623" r:id="rId82"/>
    <p:sldId id="624" r:id="rId83"/>
    <p:sldId id="625" r:id="rId84"/>
    <p:sldId id="626" r:id="rId85"/>
    <p:sldId id="627" r:id="rId86"/>
    <p:sldId id="629" r:id="rId87"/>
    <p:sldId id="630" r:id="rId88"/>
    <p:sldId id="631" r:id="rId89"/>
    <p:sldId id="632" r:id="rId90"/>
    <p:sldId id="633" r:id="rId91"/>
    <p:sldId id="634" r:id="rId92"/>
    <p:sldId id="635" r:id="rId93"/>
    <p:sldId id="636" r:id="rId94"/>
    <p:sldId id="637" r:id="rId95"/>
    <p:sldId id="638" r:id="rId96"/>
    <p:sldId id="639" r:id="rId97"/>
    <p:sldId id="640" r:id="rId98"/>
    <p:sldId id="641" r:id="rId99"/>
    <p:sldId id="642" r:id="rId100"/>
    <p:sldId id="643" r:id="rId101"/>
    <p:sldId id="644" r:id="rId102"/>
    <p:sldId id="645" r:id="rId103"/>
    <p:sldId id="646" r:id="rId104"/>
    <p:sldId id="647" r:id="rId105"/>
    <p:sldId id="648" r:id="rId106"/>
    <p:sldId id="649" r:id="rId107"/>
    <p:sldId id="650" r:id="rId108"/>
    <p:sldId id="651" r:id="rId109"/>
    <p:sldId id="652" r:id="rId110"/>
    <p:sldId id="653" r:id="rId111"/>
    <p:sldId id="654" r:id="rId112"/>
    <p:sldId id="655" r:id="rId113"/>
    <p:sldId id="656" r:id="rId114"/>
    <p:sldId id="657" r:id="rId115"/>
    <p:sldId id="658" r:id="rId116"/>
    <p:sldId id="659" r:id="rId117"/>
    <p:sldId id="660" r:id="rId118"/>
    <p:sldId id="661" r:id="rId119"/>
    <p:sldId id="662" r:id="rId120"/>
    <p:sldId id="663" r:id="rId121"/>
    <p:sldId id="664" r:id="rId122"/>
    <p:sldId id="665" r:id="rId123"/>
    <p:sldId id="666" r:id="rId124"/>
    <p:sldId id="667" r:id="rId125"/>
    <p:sldId id="668" r:id="rId126"/>
    <p:sldId id="440" r:id="rId127"/>
    <p:sldId id="442" r:id="rId128"/>
    <p:sldId id="443" r:id="rId129"/>
    <p:sldId id="567" r:id="rId130"/>
    <p:sldId id="568" r:id="rId131"/>
    <p:sldId id="569" r:id="rId132"/>
    <p:sldId id="570" r:id="rId133"/>
    <p:sldId id="571" r:id="rId134"/>
    <p:sldId id="572" r:id="rId135"/>
    <p:sldId id="573" r:id="rId136"/>
    <p:sldId id="574" r:id="rId137"/>
    <p:sldId id="498" r:id="rId138"/>
    <p:sldId id="575" r:id="rId139"/>
    <p:sldId id="499" r:id="rId140"/>
    <p:sldId id="500" r:id="rId141"/>
    <p:sldId id="444" r:id="rId142"/>
    <p:sldId id="445" r:id="rId143"/>
    <p:sldId id="446" r:id="rId144"/>
    <p:sldId id="447" r:id="rId145"/>
    <p:sldId id="448" r:id="rId146"/>
    <p:sldId id="449" r:id="rId147"/>
    <p:sldId id="450" r:id="rId148"/>
    <p:sldId id="451" r:id="rId149"/>
    <p:sldId id="582" r:id="rId150"/>
    <p:sldId id="583" r:id="rId151"/>
    <p:sldId id="584" r:id="rId152"/>
    <p:sldId id="587" r:id="rId153"/>
    <p:sldId id="588" r:id="rId154"/>
    <p:sldId id="589" r:id="rId155"/>
    <p:sldId id="590" r:id="rId156"/>
    <p:sldId id="591" r:id="rId157"/>
    <p:sldId id="592" r:id="rId158"/>
    <p:sldId id="593" r:id="rId159"/>
    <p:sldId id="594" r:id="rId160"/>
    <p:sldId id="595" r:id="rId161"/>
    <p:sldId id="596" r:id="rId162"/>
    <p:sldId id="597" r:id="rId163"/>
    <p:sldId id="603" r:id="rId164"/>
    <p:sldId id="604" r:id="rId165"/>
    <p:sldId id="605" r:id="rId166"/>
    <p:sldId id="452" r:id="rId167"/>
    <p:sldId id="576" r:id="rId168"/>
    <p:sldId id="346" r:id="rId169"/>
    <p:sldId id="580" r:id="rId170"/>
    <p:sldId id="454" r:id="rId171"/>
    <p:sldId id="455" r:id="rId172"/>
    <p:sldId id="456" r:id="rId173"/>
    <p:sldId id="457" r:id="rId174"/>
    <p:sldId id="609" r:id="rId175"/>
    <p:sldId id="607" r:id="rId176"/>
    <p:sldId id="458" r:id="rId177"/>
    <p:sldId id="610" r:id="rId178"/>
    <p:sldId id="611" r:id="rId179"/>
    <p:sldId id="608" r:id="rId180"/>
    <p:sldId id="459" r:id="rId181"/>
    <p:sldId id="606" r:id="rId182"/>
    <p:sldId id="612" r:id="rId183"/>
    <p:sldId id="577" r:id="rId184"/>
    <p:sldId id="578" r:id="rId185"/>
    <p:sldId id="460" r:id="rId186"/>
    <p:sldId id="579" r:id="rId187"/>
    <p:sldId id="461" r:id="rId188"/>
    <p:sldId id="613" r:id="rId189"/>
    <p:sldId id="614" r:id="rId190"/>
    <p:sldId id="615" r:id="rId191"/>
    <p:sldId id="616" r:id="rId192"/>
    <p:sldId id="617" r:id="rId193"/>
    <p:sldId id="618" r:id="rId194"/>
    <p:sldId id="619" r:id="rId19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28" autoAdjust="0"/>
    <p:restoredTop sz="86423" autoAdjust="0"/>
  </p:normalViewPr>
  <p:slideViewPr>
    <p:cSldViewPr>
      <p:cViewPr>
        <p:scale>
          <a:sx n="60" d="100"/>
          <a:sy n="60" d="100"/>
        </p:scale>
        <p:origin x="-1240" y="-2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96" Type="http://schemas.openxmlformats.org/officeDocument/2006/relationships/notesMaster" Target="notesMasters/notesMaster1.xml"/><Relationship Id="rId200"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viewProps" Target="viewProps.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traceFormat>
        <inkml:channelProperties>
          <inkml:channelProperty channel="X" name="resolution" value="2155.72363" units="1/cm"/>
          <inkml:channelProperty channel="Y" name="resolution" value="3449.15796" units="1/cm"/>
          <inkml:channelProperty channel="F" name="resolution" value="5.68611" units="1/deg"/>
        </inkml:channelProperties>
      </inkml:inkSource>
      <inkml:timestamp xml:id="ts0" timeString="2022-01-27T09:19:31.466"/>
    </inkml:context>
    <inkml:brush xml:id="br0">
      <inkml:brushProperty name="width" value="0.05292" units="cm"/>
      <inkml:brushProperty name="height" value="0.05292" units="cm"/>
      <inkml:brushProperty name="color" value="#FF0000"/>
    </inkml:brush>
  </inkml:definitions>
  <inkml:trace contextRef="#ctx0" brushRef="#br0">3433 4301 11,'0'0'212,"0"0"-162,0 0-4,0 0-3,0 0 4,0 0-3,0 0-8,0 0-4,0-5-8,0 5-16,0 0-8,0 0-13,0 0 0,0 9-16,0 9-116,15 6-72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C563F6-A97A-412B-B277-8DD16C8D3505}" type="datetimeFigureOut">
              <a:rPr lang="en-US" smtClean="0"/>
              <a:t>9/4/2025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D003B8-2CCA-447A-9B40-6FB815425F0D}" type="slidenum">
              <a:rPr lang="en-US" smtClean="0"/>
              <a:t>‹#›</a:t>
            </a:fld>
            <a:endParaRPr lang="en-US"/>
          </a:p>
        </p:txBody>
      </p:sp>
    </p:spTree>
    <p:extLst>
      <p:ext uri="{BB962C8B-B14F-4D97-AF65-F5344CB8AC3E}">
        <p14:creationId xmlns:p14="http://schemas.microsoft.com/office/powerpoint/2010/main" val="15084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B177FE5E-048D-4B2A-935E-61B6EF81EA36}" type="slidenum">
              <a:rPr lang="en-US" altLang="en-US" b="0" smtClean="0"/>
              <a:pPr/>
              <a:t>27</a:t>
            </a:fld>
            <a:endParaRPr lang="en-US" altLang="en-US" b="0" smtClean="0"/>
          </a:p>
        </p:txBody>
      </p:sp>
      <p:sp>
        <p:nvSpPr>
          <p:cNvPr id="2764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612F21C2-1C33-40AB-B364-2C4314A62AB0}" type="slidenum">
              <a:rPr lang="en-US" altLang="en-US" b="0" smtClean="0"/>
              <a:pPr/>
              <a:t>28</a:t>
            </a:fld>
            <a:endParaRPr lang="en-US" altLang="en-US" b="0" smtClean="0"/>
          </a:p>
        </p:txBody>
      </p:sp>
      <p:sp>
        <p:nvSpPr>
          <p:cNvPr id="2775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75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79B9EBAD-A309-4884-A9A9-128CC2BA9F2C}" type="slidenum">
              <a:rPr lang="en-US" altLang="en-US" b="0" smtClean="0"/>
              <a:pPr/>
              <a:t>29</a:t>
            </a:fld>
            <a:endParaRPr lang="en-US" altLang="en-US" b="0" smtClean="0"/>
          </a:p>
        </p:txBody>
      </p:sp>
      <p:sp>
        <p:nvSpPr>
          <p:cNvPr id="2785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85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9E8BF0A8-A683-47D7-9283-E6C37847E36A}" type="slidenum">
              <a:rPr lang="en-US" altLang="en-US" b="0" smtClean="0"/>
              <a:pPr/>
              <a:t>30</a:t>
            </a:fld>
            <a:endParaRPr lang="en-US" altLang="en-US" b="0" smtClean="0"/>
          </a:p>
        </p:txBody>
      </p:sp>
      <p:sp>
        <p:nvSpPr>
          <p:cNvPr id="2795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95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57267BBC-A75D-439A-A938-1FA5FAED4C08}" type="slidenum">
              <a:rPr lang="en-US" altLang="en-US" b="0" smtClean="0"/>
              <a:pPr/>
              <a:t>31</a:t>
            </a:fld>
            <a:endParaRPr lang="en-US" altLang="en-US" b="0" smtClean="0"/>
          </a:p>
        </p:txBody>
      </p:sp>
      <p:sp>
        <p:nvSpPr>
          <p:cNvPr id="2805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05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832C1A6B-C37B-48B1-8A82-6A2EAD877251}" type="slidenum">
              <a:rPr lang="en-US" altLang="en-US" b="0" smtClean="0"/>
              <a:pPr/>
              <a:t>32</a:t>
            </a:fld>
            <a:endParaRPr lang="en-US" altLang="en-US" b="0" smtClean="0"/>
          </a:p>
        </p:txBody>
      </p:sp>
      <p:sp>
        <p:nvSpPr>
          <p:cNvPr id="2816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16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12A61CD5-EF25-46F3-A0E5-094C48DC60C3}" type="slidenum">
              <a:rPr lang="en-US" altLang="en-US" b="0" smtClean="0"/>
              <a:pPr/>
              <a:t>33</a:t>
            </a:fld>
            <a:endParaRPr lang="en-US" altLang="en-US" b="0" smtClean="0"/>
          </a:p>
        </p:txBody>
      </p:sp>
      <p:sp>
        <p:nvSpPr>
          <p:cNvPr id="2826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26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34A729DA-6C8B-4161-9B3D-5BCC8B830C83}" type="slidenum">
              <a:rPr lang="en-US" altLang="en-US" b="0" smtClean="0"/>
              <a:pPr/>
              <a:t>34</a:t>
            </a:fld>
            <a:endParaRPr lang="en-US" altLang="en-US" b="0" smtClean="0"/>
          </a:p>
        </p:txBody>
      </p:sp>
      <p:sp>
        <p:nvSpPr>
          <p:cNvPr id="2836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36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01CDC7E6-15DA-415F-8F13-FC7DF336E73D}" type="slidenum">
              <a:rPr lang="en-US" altLang="en-US" b="0" smtClean="0"/>
              <a:pPr/>
              <a:t>35</a:t>
            </a:fld>
            <a:endParaRPr lang="en-US" altLang="en-US" b="0" smtClean="0"/>
          </a:p>
        </p:txBody>
      </p:sp>
      <p:sp>
        <p:nvSpPr>
          <p:cNvPr id="2846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46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EFB4C15A-1614-4C1D-BFDB-1DD8713F2B56}" type="slidenum">
              <a:rPr lang="en-US" altLang="en-US" b="0" smtClean="0"/>
              <a:pPr/>
              <a:t>36</a:t>
            </a:fld>
            <a:endParaRPr lang="en-US" altLang="en-US" b="0" smtClean="0"/>
          </a:p>
        </p:txBody>
      </p:sp>
      <p:sp>
        <p:nvSpPr>
          <p:cNvPr id="2856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57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71438A3A-35A2-4588-8B43-BC395BFC0012}" type="slidenum">
              <a:rPr lang="en-US" altLang="en-US" b="0" smtClean="0"/>
              <a:pPr/>
              <a:t>37</a:t>
            </a:fld>
            <a:endParaRPr lang="en-US" altLang="en-US" b="0" smtClean="0"/>
          </a:p>
        </p:txBody>
      </p:sp>
      <p:sp>
        <p:nvSpPr>
          <p:cNvPr id="28672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C65D4C89-2C3C-4E2A-96E4-34D749EA20A8}" type="slidenum">
              <a:rPr lang="en-US" altLang="en-US" b="0" smtClean="0"/>
              <a:pPr/>
              <a:t>38</a:t>
            </a:fld>
            <a:endParaRPr lang="en-US" altLang="en-US" b="0" smtClean="0"/>
          </a:p>
        </p:txBody>
      </p:sp>
      <p:sp>
        <p:nvSpPr>
          <p:cNvPr id="287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7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22C843A2-0D56-4741-A85B-65D4FD306182}" type="slidenum">
              <a:rPr lang="en-US" altLang="en-US" b="0" smtClean="0"/>
              <a:pPr/>
              <a:t>42</a:t>
            </a:fld>
            <a:endParaRPr lang="en-US" altLang="en-US" b="0" smtClean="0"/>
          </a:p>
        </p:txBody>
      </p:sp>
      <p:sp>
        <p:nvSpPr>
          <p:cNvPr id="2887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87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93B24229-F8AA-4833-B09D-64018742909F}" type="slidenum">
              <a:rPr lang="en-US" altLang="en-US" b="0" smtClean="0"/>
              <a:pPr/>
              <a:t>43</a:t>
            </a:fld>
            <a:endParaRPr lang="en-US" altLang="en-US" b="0" smtClean="0"/>
          </a:p>
        </p:txBody>
      </p:sp>
      <p:sp>
        <p:nvSpPr>
          <p:cNvPr id="2897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97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1CFEB101-B7C5-446B-A19A-7677E7F39909}" type="slidenum">
              <a:rPr lang="en-US" altLang="en-US" b="0" smtClean="0"/>
              <a:pPr/>
              <a:t>44</a:t>
            </a:fld>
            <a:endParaRPr lang="en-US" altLang="en-US" b="0" smtClean="0"/>
          </a:p>
        </p:txBody>
      </p:sp>
      <p:sp>
        <p:nvSpPr>
          <p:cNvPr id="2908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0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F5232817-748B-444A-A32C-F425F47F01CA}" type="slidenum">
              <a:rPr lang="en-US" altLang="en-US" b="0" smtClean="0"/>
              <a:pPr/>
              <a:t>45</a:t>
            </a:fld>
            <a:endParaRPr lang="en-US" altLang="en-US" b="0" smtClean="0"/>
          </a:p>
        </p:txBody>
      </p:sp>
      <p:sp>
        <p:nvSpPr>
          <p:cNvPr id="2918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1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D2CB2059-E885-4385-8622-3E7C0085A7F3}" type="slidenum">
              <a:rPr lang="en-US" altLang="en-US" b="0" smtClean="0"/>
              <a:pPr/>
              <a:t>46</a:t>
            </a:fld>
            <a:endParaRPr lang="en-US" altLang="en-US" b="0" smtClean="0"/>
          </a:p>
        </p:txBody>
      </p:sp>
      <p:sp>
        <p:nvSpPr>
          <p:cNvPr id="2928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28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581E53F3-2FDB-4F33-B4E9-4CA76EA8DDAB}" type="slidenum">
              <a:rPr lang="en-US" altLang="en-US" b="0" smtClean="0"/>
              <a:pPr/>
              <a:t>47</a:t>
            </a:fld>
            <a:endParaRPr lang="en-US" altLang="en-US" b="0" smtClean="0"/>
          </a:p>
        </p:txBody>
      </p:sp>
      <p:sp>
        <p:nvSpPr>
          <p:cNvPr id="2938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38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9A951B0A-149F-48C5-8F2E-937EF6E639CC}" type="slidenum">
              <a:rPr lang="en-US" altLang="en-US" b="0" smtClean="0"/>
              <a:pPr/>
              <a:t>48</a:t>
            </a:fld>
            <a:endParaRPr lang="en-US" altLang="en-US" b="0" smtClean="0"/>
          </a:p>
        </p:txBody>
      </p:sp>
      <p:sp>
        <p:nvSpPr>
          <p:cNvPr id="2949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49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0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00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E24013CB-C3DF-45C5-B179-69A7CD6E1B60}" type="slidenum">
              <a:rPr lang="en-US" altLang="en-US" b="0" smtClean="0"/>
              <a:pPr/>
              <a:t>56</a:t>
            </a:fld>
            <a:endParaRPr lang="en-US" altLang="en-US" b="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1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01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8B9FC1A7-FBE9-4F47-9225-B116E6115AE6}" type="slidenum">
              <a:rPr lang="en-US" altLang="en-US" b="0" smtClean="0"/>
              <a:pPr/>
              <a:t>57</a:t>
            </a:fld>
            <a:endParaRPr lang="en-US" altLang="en-US" b="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139DF703-0E16-4653-AE80-CD7AC2AE832A}" type="slidenum">
              <a:rPr lang="en-US" altLang="en-US" b="0" smtClean="0"/>
              <a:pPr/>
              <a:t>68</a:t>
            </a:fld>
            <a:endParaRPr lang="en-US" altLang="en-US" b="0" dirty="0" smtClean="0"/>
          </a:p>
        </p:txBody>
      </p:sp>
      <p:sp>
        <p:nvSpPr>
          <p:cNvPr id="3031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3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54E40762-8244-4DE1-B748-F5F554FBCA60}" type="slidenum">
              <a:rPr lang="en-US" altLang="en-US" b="0" smtClean="0"/>
              <a:pPr/>
              <a:t>69</a:t>
            </a:fld>
            <a:endParaRPr lang="en-US" altLang="en-US" b="0" dirty="0" smtClean="0"/>
          </a:p>
        </p:txBody>
      </p:sp>
      <p:sp>
        <p:nvSpPr>
          <p:cNvPr id="3041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41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fld id="{0D96CB75-82F2-4B98-8F36-8BD5F52DE920}" type="slidenum">
              <a:rPr lang="en-US" altLang="en-US" b="0" smtClean="0"/>
              <a:pPr/>
              <a:t>70</a:t>
            </a:fld>
            <a:endParaRPr lang="en-US" altLang="en-US" b="0" dirty="0" smtClean="0"/>
          </a:p>
        </p:txBody>
      </p:sp>
      <p:sp>
        <p:nvSpPr>
          <p:cNvPr id="3051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5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fld id="{052C3370-1646-4D46-98C8-1C46CE764AED}" type="slidenum">
              <a:rPr lang="en-US" sz="1200" smtClean="0">
                <a:latin typeface="Times New Roman" pitchFamily="18" charset="0"/>
              </a:rPr>
              <a:pPr/>
              <a:t>129</a:t>
            </a:fld>
            <a:endParaRPr lang="en-US" sz="1200" smtClean="0">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fld id="{9A7623A1-C971-4CEC-B61F-4327BB9C3AB2}" type="slidenum">
              <a:rPr lang="en-US" sz="1200" smtClean="0">
                <a:latin typeface="Times New Roman" pitchFamily="18" charset="0"/>
              </a:rPr>
              <a:pPr/>
              <a:t>132</a:t>
            </a:fld>
            <a:endParaRPr lang="en-US" sz="1200" smtClean="0">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fld id="{1404D5E5-C0AC-4F3B-8912-404B86FD3AD7}" type="slidenum">
              <a:rPr lang="en-US" sz="1200" smtClean="0">
                <a:latin typeface="Times New Roman" pitchFamily="18" charset="0"/>
              </a:rPr>
              <a:pPr/>
              <a:t>134</a:t>
            </a:fld>
            <a:endParaRPr lang="en-US" sz="1200" smtClean="0">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fld id="{944F75CE-D973-46C1-8F03-D63CFC61CB72}" type="slidenum">
              <a:rPr lang="en-US" sz="1200" smtClean="0">
                <a:latin typeface="Times New Roman" pitchFamily="18" charset="0"/>
              </a:rPr>
              <a:pPr/>
              <a:t>136</a:t>
            </a:fld>
            <a:endParaRPr lang="en-US" sz="1200" smtClean="0">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D8C033B-90D3-4E0C-AA43-074D824ED7AA}" type="slidenum">
              <a:rPr lang="en-IN" smtClean="0"/>
              <a:t>150</a:t>
            </a:fld>
            <a:endParaRPr lang="en-IN"/>
          </a:p>
        </p:txBody>
      </p:sp>
    </p:spTree>
    <p:extLst>
      <p:ext uri="{BB962C8B-B14F-4D97-AF65-F5344CB8AC3E}">
        <p14:creationId xmlns:p14="http://schemas.microsoft.com/office/powerpoint/2010/main" val="3526524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b="1" i="0" kern="1200" dirty="0" smtClean="0">
                <a:solidFill>
                  <a:schemeClr val="tx1"/>
                </a:solidFill>
                <a:effectLst/>
                <a:latin typeface="+mn-lt"/>
                <a:ea typeface="+mn-ea"/>
                <a:cs typeface="+mn-cs"/>
              </a:rPr>
              <a:t>Probability of events for a Poisson distribution</a:t>
            </a:r>
          </a:p>
          <a:p>
            <a:r>
              <a:rPr lang="en-IN" sz="1200" b="0" i="0" kern="1200" dirty="0" smtClean="0">
                <a:solidFill>
                  <a:schemeClr val="tx1"/>
                </a:solidFill>
                <a:effectLst/>
                <a:latin typeface="+mn-lt"/>
                <a:ea typeface="+mn-ea"/>
                <a:cs typeface="+mn-cs"/>
              </a:rPr>
              <a:t>An event can occur 0, 1, 2, … times in an interval. </a:t>
            </a:r>
          </a:p>
          <a:p>
            <a:r>
              <a:rPr lang="en-IN" sz="1200" b="0" i="0" kern="1200" dirty="0" smtClean="0">
                <a:solidFill>
                  <a:schemeClr val="tx1"/>
                </a:solidFill>
                <a:effectLst/>
                <a:latin typeface="+mn-lt"/>
                <a:ea typeface="+mn-ea"/>
                <a:cs typeface="+mn-cs"/>
              </a:rPr>
              <a:t>The average number of events in an interval is designated</a:t>
            </a:r>
          </a:p>
          <a:p>
            <a:r>
              <a:rPr lang="en-IN" sz="1200" b="0" i="0" kern="1200" dirty="0" smtClean="0">
                <a:solidFill>
                  <a:schemeClr val="tx1"/>
                </a:solidFill>
                <a:effectLst/>
                <a:latin typeface="+mn-lt"/>
                <a:ea typeface="+mn-ea"/>
                <a:cs typeface="+mn-cs"/>
              </a:rPr>
              <a:t>. Lambda is the event rate, also called the rate parameter.</a:t>
            </a:r>
          </a:p>
          <a:p>
            <a:r>
              <a:rPr lang="en-IN" sz="1200" b="0" i="0" kern="1200" dirty="0" smtClean="0">
                <a:solidFill>
                  <a:schemeClr val="tx1"/>
                </a:solidFill>
                <a:effectLst/>
                <a:latin typeface="+mn-lt"/>
                <a:ea typeface="+mn-ea"/>
                <a:cs typeface="+mn-cs"/>
              </a:rPr>
              <a:t> The probability of observing k events in an interval is given by the equation</a:t>
            </a:r>
          </a:p>
          <a:p>
            <a:endParaRPr lang="en-IN" sz="800" b="0" i="0" kern="1200" dirty="0" smtClean="0">
              <a:solidFill>
                <a:schemeClr val="tx1"/>
              </a:solidFill>
              <a:effectLst/>
              <a:latin typeface="+mn-lt"/>
              <a:ea typeface="+mn-ea"/>
              <a:cs typeface="+mn-cs"/>
            </a:endParaRPr>
          </a:p>
          <a:p>
            <a:r>
              <a:rPr lang="en-IN" sz="1200" b="0" i="0" kern="1200" dirty="0" smtClean="0">
                <a:solidFill>
                  <a:schemeClr val="tx1"/>
                </a:solidFill>
                <a:effectLst/>
                <a:latin typeface="+mn-lt"/>
                <a:ea typeface="+mn-ea"/>
                <a:cs typeface="+mn-cs"/>
              </a:rPr>
              <a:t>Lambda is the average number of events per interval</a:t>
            </a:r>
          </a:p>
          <a:p>
            <a:endParaRPr lang="en-IN" dirty="0"/>
          </a:p>
        </p:txBody>
      </p:sp>
      <p:sp>
        <p:nvSpPr>
          <p:cNvPr id="4" name="Slide Number Placeholder 3"/>
          <p:cNvSpPr>
            <a:spLocks noGrp="1"/>
          </p:cNvSpPr>
          <p:nvPr>
            <p:ph type="sldNum" sz="quarter" idx="10"/>
          </p:nvPr>
        </p:nvSpPr>
        <p:spPr/>
        <p:txBody>
          <a:bodyPr/>
          <a:lstStyle/>
          <a:p>
            <a:fld id="{AD8C033B-90D3-4E0C-AA43-074D824ED7AA}" type="slidenum">
              <a:rPr lang="en-IN" smtClean="0"/>
              <a:t>154</a:t>
            </a:fld>
            <a:endParaRPr lang="en-IN"/>
          </a:p>
        </p:txBody>
      </p:sp>
    </p:spTree>
    <p:extLst>
      <p:ext uri="{BB962C8B-B14F-4D97-AF65-F5344CB8AC3E}">
        <p14:creationId xmlns:p14="http://schemas.microsoft.com/office/powerpoint/2010/main" val="25074935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fld id="{B8ACB43D-2538-41D5-B6ED-FF44D9BCBD7F}" type="slidenum">
              <a:rPr lang="en-US" sz="1200" smtClean="0">
                <a:latin typeface="Times New Roman" pitchFamily="18" charset="0"/>
              </a:rPr>
              <a:pPr/>
              <a:t>157</a:t>
            </a:fld>
            <a:endParaRPr lang="en-US" sz="1200" smtClean="0">
              <a:latin typeface="Times New Roman"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fld id="{3AA53751-1B09-4E9C-8F8B-6D8D25F0178B}" type="slidenum">
              <a:rPr lang="en-US" sz="1200" smtClean="0">
                <a:latin typeface="Times New Roman" pitchFamily="18" charset="0"/>
              </a:rPr>
              <a:pPr/>
              <a:t>161</a:t>
            </a:fld>
            <a:endParaRPr lang="en-US" sz="1200" smtClean="0">
              <a:latin typeface="Times New Roman"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A58795A-04CA-4496-90D2-957E06F674AF}"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132797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58795A-04CA-4496-90D2-957E06F674AF}"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1323123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58795A-04CA-4496-90D2-957E06F674AF}"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78978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A58795A-04CA-4496-90D2-957E06F674AF}"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927634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A58795A-04CA-4496-90D2-957E06F674AF}" type="datetimeFigureOut">
              <a:rPr lang="en-US" smtClean="0"/>
              <a:t>9/4/2025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425418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A58795A-04CA-4496-90D2-957E06F674AF}" type="datetimeFigureOut">
              <a:rPr lang="en-US" smtClean="0"/>
              <a:t>9/4/2025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498949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58795A-04CA-4496-90D2-957E06F674AF}" type="datetimeFigureOut">
              <a:rPr lang="en-US" smtClean="0"/>
              <a:t>9/4/2025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1884594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8795A-04CA-4496-90D2-957E06F674AF}"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2899427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58795A-04CA-4496-90D2-957E06F674AF}" type="datetimeFigureOut">
              <a:rPr lang="en-US" smtClean="0"/>
              <a:t>9/4/2025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032322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58795A-04CA-4496-90D2-957E06F674AF}"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2098142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A58795A-04CA-4496-90D2-957E06F674AF}" type="datetimeFigureOut">
              <a:rPr lang="en-US" smtClean="0"/>
              <a:t>9/4/2025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591E8B-05E8-4600-AE73-551FAB7BECFD}" type="slidenum">
              <a:rPr lang="en-US" smtClean="0"/>
              <a:t>‹#›</a:t>
            </a:fld>
            <a:endParaRPr lang="en-US"/>
          </a:p>
        </p:txBody>
      </p:sp>
    </p:spTree>
    <p:extLst>
      <p:ext uri="{BB962C8B-B14F-4D97-AF65-F5344CB8AC3E}">
        <p14:creationId xmlns:p14="http://schemas.microsoft.com/office/powerpoint/2010/main" val="3976314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58795A-04CA-4496-90D2-957E06F674AF}" type="datetimeFigureOut">
              <a:rPr lang="en-US" smtClean="0"/>
              <a:t>9/4/2025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591E8B-05E8-4600-AE73-551FAB7BECFD}" type="slidenum">
              <a:rPr lang="en-US" smtClean="0"/>
              <a:t>‹#›</a:t>
            </a:fld>
            <a:endParaRPr lang="en-US"/>
          </a:p>
        </p:txBody>
      </p:sp>
    </p:spTree>
    <p:extLst>
      <p:ext uri="{BB962C8B-B14F-4D97-AF65-F5344CB8AC3E}">
        <p14:creationId xmlns:p14="http://schemas.microsoft.com/office/powerpoint/2010/main" val="73836839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jpeg"/><Relationship Id="rId4" Type="http://schemas.openxmlformats.org/officeDocument/2006/relationships/image" Target="../media/image37.png"/></Relationships>
</file>

<file path=ppt/slides/_rels/slide8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4.jpg"/><Relationship Id="rId5" Type="http://schemas.openxmlformats.org/officeDocument/2006/relationships/image" Target="../media/image43.png"/><Relationship Id="rId4" Type="http://schemas.openxmlformats.org/officeDocument/2006/relationships/image" Target="../media/image42.png"/></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jpg"/><Relationship Id="rId5" Type="http://schemas.openxmlformats.org/officeDocument/2006/relationships/image" Target="../media/image43.png"/><Relationship Id="rId4" Type="http://schemas.openxmlformats.org/officeDocument/2006/relationships/image" Target="../media/image42.png"/></Relationships>
</file>

<file path=ppt/slides/_rels/slide8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89.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image" Target="../media/image43.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image" Target="../media/image42.png"/><Relationship Id="rId16"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9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9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9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 Id="rId6" Type="http://schemas.openxmlformats.org/officeDocument/2006/relationships/image" Target="../media/image60.jpg"/><Relationship Id="rId5" Type="http://schemas.openxmlformats.org/officeDocument/2006/relationships/image" Target="../media/image43.png"/><Relationship Id="rId4" Type="http://schemas.openxmlformats.org/officeDocument/2006/relationships/image" Target="../media/image42.png"/></Relationships>
</file>

<file path=ppt/slides/_rels/slide9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62.jpg"/><Relationship Id="rId5" Type="http://schemas.openxmlformats.org/officeDocument/2006/relationships/image" Target="../media/image40.png"/><Relationship Id="rId4" Type="http://schemas.openxmlformats.org/officeDocument/2006/relationships/image" Target="../media/image61.png"/></Relationships>
</file>

<file path=ppt/slides/_rels/slide9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9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 Id="rId6" Type="http://schemas.openxmlformats.org/officeDocument/2006/relationships/image" Target="../media/image63.jpg"/><Relationship Id="rId5" Type="http://schemas.openxmlformats.org/officeDocument/2006/relationships/image" Target="../media/image43.png"/><Relationship Id="rId4" Type="http://schemas.openxmlformats.org/officeDocument/2006/relationships/image" Target="../media/image4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64.jpg"/><Relationship Id="rId4" Type="http://schemas.openxmlformats.org/officeDocument/2006/relationships/image" Target="../media/image61.png"/></Relationships>
</file>

<file path=ppt/slides/_rels/slide9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10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3.png"/></Relationships>
</file>

<file path=ppt/slides/_rels/slide10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6" Type="http://schemas.openxmlformats.org/officeDocument/2006/relationships/image" Target="../media/image65.jpg"/><Relationship Id="rId5" Type="http://schemas.openxmlformats.org/officeDocument/2006/relationships/image" Target="../media/image40.png"/><Relationship Id="rId4" Type="http://schemas.openxmlformats.org/officeDocument/2006/relationships/image" Target="../media/image43.png"/></Relationships>
</file>

<file path=ppt/slides/_rels/slide10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66.jpg"/></Relationships>
</file>

<file path=ppt/slides/_rels/slide10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10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68.jpg"/></Relationships>
</file>

<file path=ppt/slides/_rels/slide1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69.jpg"/></Relationships>
</file>

<file path=ppt/slides/_rels/slide1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70.jpg"/></Relationships>
</file>

<file path=ppt/slides/_rels/slide1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72.jpg"/><Relationship Id="rId4" Type="http://schemas.openxmlformats.org/officeDocument/2006/relationships/image" Target="../media/image71.png"/></Relationships>
</file>

<file path=ppt/slides/_rels/slide1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73.jpg"/></Relationships>
</file>

<file path=ppt/slides/_rels/slide1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5" Type="http://schemas.openxmlformats.org/officeDocument/2006/relationships/image" Target="../media/image75.jpg"/><Relationship Id="rId4" Type="http://schemas.openxmlformats.org/officeDocument/2006/relationships/image" Target="../media/image74.jpg"/></Relationships>
</file>

<file path=ppt/slides/_rels/slide1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75.jpg"/></Relationships>
</file>

<file path=ppt/slides/_rels/slide1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76.jpg"/></Relationships>
</file>

<file path=ppt/slides/_rels/slide1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77.jpg"/></Relationships>
</file>

<file path=ppt/slides/_rels/slide1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79.jpg"/></Relationships>
</file>

<file path=ppt/slides/_rels/slide1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80.jpg"/></Relationships>
</file>

<file path=ppt/slides/_rels/slide12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15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5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image" Target="../media/image113.jpeg"/><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
            <a:ext cx="7772400" cy="1470025"/>
          </a:xfrm>
        </p:spPr>
        <p:txBody>
          <a:bodyPr/>
          <a:lstStyle/>
          <a:p>
            <a:r>
              <a:rPr lang="en-US" dirty="0"/>
              <a:t>DATA LINK LAYER</a:t>
            </a:r>
          </a:p>
        </p:txBody>
      </p:sp>
      <p:sp>
        <p:nvSpPr>
          <p:cNvPr id="3" name="Subtitle 2"/>
          <p:cNvSpPr>
            <a:spLocks noGrp="1"/>
          </p:cNvSpPr>
          <p:nvPr>
            <p:ph type="subTitle" idx="1"/>
          </p:nvPr>
        </p:nvSpPr>
        <p:spPr>
          <a:xfrm>
            <a:off x="1371600" y="3886200"/>
            <a:ext cx="6400800" cy="1143000"/>
          </a:xfrm>
        </p:spPr>
        <p:txBody>
          <a:bodyPr>
            <a:noAutofit/>
          </a:bodyPr>
          <a:lstStyle/>
          <a:p>
            <a:r>
              <a:rPr lang="en-US" dirty="0" smtClean="0">
                <a:solidFill>
                  <a:schemeClr val="tx1"/>
                </a:solidFill>
              </a:rPr>
              <a:t>Compiled by- Mrs. Savita </a:t>
            </a:r>
            <a:r>
              <a:rPr lang="en-US" dirty="0" err="1" smtClean="0">
                <a:solidFill>
                  <a:schemeClr val="tx1"/>
                </a:solidFill>
              </a:rPr>
              <a:t>Raut</a:t>
            </a:r>
            <a:endParaRPr lang="en-US" dirty="0" smtClean="0">
              <a:solidFill>
                <a:schemeClr val="tx1"/>
              </a:solidFill>
            </a:endParaRPr>
          </a:p>
          <a:p>
            <a:r>
              <a:rPr lang="en-US" dirty="0" smtClean="0">
                <a:solidFill>
                  <a:schemeClr val="tx1"/>
                </a:solidFill>
              </a:rPr>
              <a:t>EXTC </a:t>
            </a:r>
            <a:r>
              <a:rPr lang="en-US" dirty="0" err="1" smtClean="0">
                <a:solidFill>
                  <a:schemeClr val="tx1"/>
                </a:solidFill>
              </a:rPr>
              <a:t>Dept</a:t>
            </a:r>
            <a:r>
              <a:rPr lang="en-US" smtClean="0">
                <a:solidFill>
                  <a:schemeClr val="tx1"/>
                </a:solidFill>
              </a:rPr>
              <a:t>, KJSCE</a:t>
            </a:r>
            <a:endParaRPr lang="en-US" dirty="0" smtClean="0">
              <a:solidFill>
                <a:schemeClr val="tx1"/>
              </a:solidFill>
            </a:endParaRPr>
          </a:p>
        </p:txBody>
      </p:sp>
    </p:spTree>
    <p:extLst>
      <p:ext uri="{BB962C8B-B14F-4D97-AF65-F5344CB8AC3E}">
        <p14:creationId xmlns:p14="http://schemas.microsoft.com/office/powerpoint/2010/main" val="2832094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Picture 1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81200" y="4953000"/>
            <a:ext cx="5378450" cy="1111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81000"/>
            <a:ext cx="7843838" cy="378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48610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2"/>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sz="3600" smtClean="0">
                <a:latin typeface="Times New Roman" pitchFamily="18" charset="0"/>
                <a:ea typeface="MS PGothic" pitchFamily="34" charset="-128"/>
                <a:cs typeface="Times New Roman" pitchFamily="18" charset="0"/>
              </a:rPr>
              <a:t>Where</a:t>
            </a:r>
            <a:r>
              <a:rPr lang="en-US" sz="3600" smtClean="0">
                <a:ea typeface="MS PGothic" pitchFamily="34" charset="-128"/>
                <a:cs typeface="Times New Roman" pitchFamily="18" charset="0"/>
              </a:rPr>
              <a:t> is the link layer implemented</a:t>
            </a:r>
            <a:endParaRPr lang="en-IN" sz="3600" smtClean="0">
              <a:ea typeface="MS PGothic" pitchFamily="34" charset="-128"/>
              <a:cs typeface="Times New Roman" pitchFamily="18" charset="0"/>
            </a:endParaRPr>
          </a:p>
        </p:txBody>
      </p:sp>
      <p:sp>
        <p:nvSpPr>
          <p:cNvPr id="4" name="Freeform 92"/>
          <p:cNvSpPr>
            <a:spLocks/>
          </p:cNvSpPr>
          <p:nvPr/>
        </p:nvSpPr>
        <p:spPr bwMode="auto">
          <a:xfrm>
            <a:off x="5656263" y="2616200"/>
            <a:ext cx="2308225" cy="3028950"/>
          </a:xfrm>
          <a:custGeom>
            <a:avLst/>
            <a:gdLst>
              <a:gd name="T0" fmla="*/ 0 w 1454"/>
              <a:gd name="T1" fmla="*/ 2147483647 h 1908"/>
              <a:gd name="T2" fmla="*/ 50403125 w 1454"/>
              <a:gd name="T3" fmla="*/ 2147483647 h 1908"/>
              <a:gd name="T4" fmla="*/ 708164700 w 1454"/>
              <a:gd name="T5" fmla="*/ 0 h 1908"/>
              <a:gd name="T6" fmla="*/ 2147483647 w 1454"/>
              <a:gd name="T7" fmla="*/ 758567825 h 1908"/>
              <a:gd name="T8" fmla="*/ 2147483647 w 1454"/>
              <a:gd name="T9" fmla="*/ 2147483647 h 1908"/>
              <a:gd name="T10" fmla="*/ 624998750 w 1454"/>
              <a:gd name="T11" fmla="*/ 2147483647 h 1908"/>
              <a:gd name="T12" fmla="*/ 0 w 1454"/>
              <a:gd name="T13" fmla="*/ 2147483647 h 19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54" h="1908">
                <a:moveTo>
                  <a:pt x="0" y="1728"/>
                </a:moveTo>
                <a:cubicBezTo>
                  <a:pt x="15" y="1684"/>
                  <a:pt x="4" y="1697"/>
                  <a:pt x="20" y="1681"/>
                </a:cubicBezTo>
                <a:lnTo>
                  <a:pt x="281" y="0"/>
                </a:lnTo>
                <a:lnTo>
                  <a:pt x="1246" y="301"/>
                </a:lnTo>
                <a:lnTo>
                  <a:pt x="1454" y="1493"/>
                </a:lnTo>
                <a:lnTo>
                  <a:pt x="248" y="1908"/>
                </a:lnTo>
                <a:lnTo>
                  <a:pt x="0" y="1728"/>
                </a:lnTo>
                <a:close/>
              </a:path>
            </a:pathLst>
          </a:custGeom>
          <a:gradFill rotWithShape="1">
            <a:gsLst>
              <a:gs pos="0">
                <a:srgbClr val="000099"/>
              </a:gs>
              <a:gs pos="50000">
                <a:schemeClr val="bg1"/>
              </a:gs>
              <a:gs pos="100000">
                <a:srgbClr val="000099"/>
              </a:gs>
            </a:gsLst>
            <a:lin ang="189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IN"/>
          </a:p>
        </p:txBody>
      </p:sp>
      <p:sp>
        <p:nvSpPr>
          <p:cNvPr id="10244" name="Rectangle 3"/>
          <p:cNvSpPr txBox="1">
            <a:spLocks noChangeArrowheads="1"/>
          </p:cNvSpPr>
          <p:nvPr/>
        </p:nvSpPr>
        <p:spPr bwMode="auto">
          <a:xfrm>
            <a:off x="419100" y="1504950"/>
            <a:ext cx="4075113" cy="465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defRPr b="1">
                <a:solidFill>
                  <a:schemeClr val="tx1"/>
                </a:solidFill>
                <a:latin typeface="Times New Roman" pitchFamily="18" charset="0"/>
              </a:defRPr>
            </a:lvl1pPr>
            <a:lvl2pPr marL="620713" indent="-22860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lnSpc>
                <a:spcPct val="90000"/>
              </a:lnSpc>
              <a:spcBef>
                <a:spcPts val="400"/>
              </a:spcBef>
              <a:buClr>
                <a:schemeClr val="accent1"/>
              </a:buClr>
              <a:buSzPct val="68000"/>
              <a:buFont typeface="Wingdings 3" pitchFamily="18" charset="2"/>
              <a:buChar char=""/>
            </a:pPr>
            <a:r>
              <a:rPr lang="en-US" altLang="en-US" sz="2200">
                <a:latin typeface="Tahoma" pitchFamily="34" charset="0"/>
              </a:rPr>
              <a:t>In each and every </a:t>
            </a:r>
            <a:r>
              <a:rPr lang="en-US" altLang="en-US" sz="2200">
                <a:solidFill>
                  <a:srgbClr val="0000FF"/>
                </a:solidFill>
                <a:latin typeface="Tahoma" pitchFamily="34" charset="0"/>
              </a:rPr>
              <a:t>host</a:t>
            </a:r>
          </a:p>
          <a:p>
            <a:pPr eaLnBrk="1" hangingPunct="1">
              <a:lnSpc>
                <a:spcPct val="90000"/>
              </a:lnSpc>
              <a:spcBef>
                <a:spcPts val="400"/>
              </a:spcBef>
              <a:buClr>
                <a:schemeClr val="accent1"/>
              </a:buClr>
              <a:buSzPct val="68000"/>
              <a:buFont typeface="Wingdings 3" pitchFamily="18" charset="2"/>
              <a:buChar char=""/>
            </a:pPr>
            <a:r>
              <a:rPr lang="en-US" altLang="en-US" sz="2200">
                <a:latin typeface="Tahoma" pitchFamily="34" charset="0"/>
              </a:rPr>
              <a:t>link layer implemented in </a:t>
            </a:r>
            <a:r>
              <a:rPr lang="ja-JP" altLang="en-US" sz="2200">
                <a:latin typeface="Tahoma" pitchFamily="34" charset="0"/>
                <a:ea typeface="MS PGothic" pitchFamily="34" charset="-128"/>
              </a:rPr>
              <a:t>“</a:t>
            </a:r>
            <a:r>
              <a:rPr lang="en-US" altLang="ja-JP" sz="2200">
                <a:latin typeface="Tahoma" pitchFamily="34" charset="0"/>
                <a:ea typeface="MS PGothic" pitchFamily="34" charset="-128"/>
              </a:rPr>
              <a:t>adaptor</a:t>
            </a:r>
            <a:r>
              <a:rPr lang="ja-JP" altLang="en-US" sz="2200">
                <a:latin typeface="Tahoma" pitchFamily="34" charset="0"/>
                <a:ea typeface="MS PGothic" pitchFamily="34" charset="-128"/>
              </a:rPr>
              <a:t>”</a:t>
            </a:r>
            <a:r>
              <a:rPr lang="en-US" altLang="ja-JP" sz="2200">
                <a:latin typeface="Tahoma" pitchFamily="34" charset="0"/>
                <a:ea typeface="MS PGothic" pitchFamily="34" charset="-128"/>
              </a:rPr>
              <a:t> (</a:t>
            </a:r>
            <a:r>
              <a:rPr lang="en-US" altLang="ja-JP" sz="2200" i="1">
                <a:solidFill>
                  <a:srgbClr val="CC0000"/>
                </a:solidFill>
                <a:latin typeface="Tahoma" pitchFamily="34" charset="0"/>
                <a:ea typeface="MS PGothic" pitchFamily="34" charset="-128"/>
              </a:rPr>
              <a:t>network interface card</a:t>
            </a:r>
            <a:r>
              <a:rPr lang="en-US" altLang="ja-JP" sz="2200">
                <a:latin typeface="Tahoma" pitchFamily="34" charset="0"/>
                <a:ea typeface="MS PGothic" pitchFamily="34" charset="-128"/>
              </a:rPr>
              <a:t> NIC) or on a chip</a:t>
            </a:r>
          </a:p>
          <a:p>
            <a:pPr lvl="1" eaLnBrk="1" hangingPunct="1">
              <a:lnSpc>
                <a:spcPct val="90000"/>
              </a:lnSpc>
              <a:spcBef>
                <a:spcPts val="325"/>
              </a:spcBef>
              <a:buClr>
                <a:schemeClr val="accent1"/>
              </a:buClr>
              <a:buFont typeface="Verdana" pitchFamily="34" charset="0"/>
              <a:buChar char="◦"/>
            </a:pPr>
            <a:r>
              <a:rPr lang="en-US" altLang="en-US" sz="2100">
                <a:solidFill>
                  <a:srgbClr val="006633"/>
                </a:solidFill>
                <a:latin typeface="Tahoma" pitchFamily="34" charset="0"/>
              </a:rPr>
              <a:t>Ethernet card, 802.11 card; Ethernet chipset</a:t>
            </a:r>
          </a:p>
          <a:p>
            <a:pPr lvl="1" eaLnBrk="1" hangingPunct="1">
              <a:lnSpc>
                <a:spcPct val="90000"/>
              </a:lnSpc>
              <a:spcBef>
                <a:spcPts val="325"/>
              </a:spcBef>
              <a:buClr>
                <a:schemeClr val="accent1"/>
              </a:buClr>
              <a:buFont typeface="Verdana" pitchFamily="34" charset="0"/>
              <a:buChar char="◦"/>
            </a:pPr>
            <a:r>
              <a:rPr lang="en-US" altLang="en-US" sz="2100">
                <a:latin typeface="Tahoma" pitchFamily="34" charset="0"/>
              </a:rPr>
              <a:t>implements link, physical layer</a:t>
            </a:r>
          </a:p>
          <a:p>
            <a:pPr eaLnBrk="1" hangingPunct="1">
              <a:lnSpc>
                <a:spcPct val="90000"/>
              </a:lnSpc>
              <a:spcBef>
                <a:spcPts val="400"/>
              </a:spcBef>
              <a:buClr>
                <a:schemeClr val="accent1"/>
              </a:buClr>
              <a:buSzPct val="68000"/>
              <a:buFont typeface="Wingdings 3" pitchFamily="18" charset="2"/>
              <a:buChar char=""/>
            </a:pPr>
            <a:r>
              <a:rPr lang="en-US" altLang="en-US" sz="2200">
                <a:latin typeface="Tahoma" pitchFamily="34" charset="0"/>
              </a:rPr>
              <a:t>attaches into host’s system buses</a:t>
            </a:r>
          </a:p>
          <a:p>
            <a:pPr eaLnBrk="1" hangingPunct="1">
              <a:lnSpc>
                <a:spcPct val="90000"/>
              </a:lnSpc>
              <a:spcBef>
                <a:spcPts val="400"/>
              </a:spcBef>
              <a:buClr>
                <a:schemeClr val="accent1"/>
              </a:buClr>
              <a:buSzPct val="68000"/>
              <a:buFont typeface="Wingdings 3" pitchFamily="18" charset="2"/>
              <a:buChar char=""/>
            </a:pPr>
            <a:r>
              <a:rPr lang="en-US" altLang="en-US" sz="2200">
                <a:latin typeface="Tahoma" pitchFamily="34" charset="0"/>
              </a:rPr>
              <a:t>combination of hardware, software, firmware</a:t>
            </a:r>
          </a:p>
          <a:p>
            <a:pPr lvl="1" eaLnBrk="1" hangingPunct="1">
              <a:lnSpc>
                <a:spcPct val="90000"/>
              </a:lnSpc>
              <a:spcBef>
                <a:spcPts val="325"/>
              </a:spcBef>
              <a:buClr>
                <a:schemeClr val="accent1"/>
              </a:buClr>
              <a:buFont typeface="Verdana" pitchFamily="34" charset="0"/>
              <a:buChar char="◦"/>
            </a:pPr>
            <a:endParaRPr lang="en-US" altLang="en-US" sz="2100">
              <a:latin typeface="Tahoma" pitchFamily="34" charset="0"/>
            </a:endParaRPr>
          </a:p>
        </p:txBody>
      </p:sp>
      <p:sp>
        <p:nvSpPr>
          <p:cNvPr id="6" name="Rectangle 42"/>
          <p:cNvSpPr>
            <a:spLocks noChangeArrowheads="1"/>
          </p:cNvSpPr>
          <p:nvPr/>
        </p:nvSpPr>
        <p:spPr bwMode="auto">
          <a:xfrm>
            <a:off x="6129338" y="2614613"/>
            <a:ext cx="1836737" cy="24018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sp>
        <p:nvSpPr>
          <p:cNvPr id="7" name="Rectangle 45"/>
          <p:cNvSpPr>
            <a:spLocks noChangeArrowheads="1"/>
          </p:cNvSpPr>
          <p:nvPr/>
        </p:nvSpPr>
        <p:spPr bwMode="auto">
          <a:xfrm>
            <a:off x="6578600" y="3965575"/>
            <a:ext cx="657225" cy="519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200">
                <a:latin typeface="Arial" charset="0"/>
                <a:ea typeface="ＭＳ Ｐゴシック" charset="0"/>
              </a:rPr>
              <a:t>controller</a:t>
            </a:r>
          </a:p>
        </p:txBody>
      </p:sp>
      <p:sp>
        <p:nvSpPr>
          <p:cNvPr id="8" name="Text Box 46"/>
          <p:cNvSpPr txBox="1">
            <a:spLocks noChangeArrowheads="1"/>
          </p:cNvSpPr>
          <p:nvPr/>
        </p:nvSpPr>
        <p:spPr bwMode="auto">
          <a:xfrm>
            <a:off x="6384925" y="4562475"/>
            <a:ext cx="103663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1" hangingPunct="1">
              <a:defRPr/>
            </a:pPr>
            <a:r>
              <a:rPr lang="en-US" sz="1200" i="0" smtClean="0">
                <a:latin typeface="Arial" charset="0"/>
              </a:rPr>
              <a:t>physical</a:t>
            </a:r>
          </a:p>
          <a:p>
            <a:pPr algn="ctr" eaLnBrk="1" hangingPunct="1">
              <a:defRPr/>
            </a:pPr>
            <a:r>
              <a:rPr lang="en-US" sz="1200" i="0" smtClean="0">
                <a:latin typeface="Arial" charset="0"/>
              </a:rPr>
              <a:t>transmission</a:t>
            </a:r>
          </a:p>
        </p:txBody>
      </p:sp>
      <p:sp>
        <p:nvSpPr>
          <p:cNvPr id="9" name="Line 48"/>
          <p:cNvSpPr>
            <a:spLocks noChangeShapeType="1"/>
          </p:cNvSpPr>
          <p:nvPr/>
        </p:nvSpPr>
        <p:spPr bwMode="auto">
          <a:xfrm>
            <a:off x="6496050" y="3657600"/>
            <a:ext cx="1358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10" name="Line 49"/>
          <p:cNvSpPr>
            <a:spLocks noChangeShapeType="1"/>
          </p:cNvSpPr>
          <p:nvPr/>
        </p:nvSpPr>
        <p:spPr bwMode="auto">
          <a:xfrm flipV="1">
            <a:off x="6891338" y="3665538"/>
            <a:ext cx="0" cy="300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11" name="Rectangle 50"/>
          <p:cNvSpPr>
            <a:spLocks noChangeArrowheads="1"/>
          </p:cNvSpPr>
          <p:nvPr/>
        </p:nvSpPr>
        <p:spPr bwMode="auto">
          <a:xfrm>
            <a:off x="6384925" y="2967038"/>
            <a:ext cx="657225" cy="519112"/>
          </a:xfrm>
          <a:prstGeom prst="rect">
            <a:avLst/>
          </a:prstGeom>
          <a:solidFill>
            <a:schemeClr val="bg1"/>
          </a:solidFill>
          <a:ln w="28575">
            <a:solidFill>
              <a:srgbClr val="FF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200">
                <a:latin typeface="Arial" charset="0"/>
                <a:ea typeface="ＭＳ Ｐゴシック" charset="0"/>
              </a:rPr>
              <a:t>cpu</a:t>
            </a:r>
          </a:p>
        </p:txBody>
      </p:sp>
      <p:sp>
        <p:nvSpPr>
          <p:cNvPr id="12" name="Rectangle 51"/>
          <p:cNvSpPr>
            <a:spLocks noChangeArrowheads="1"/>
          </p:cNvSpPr>
          <p:nvPr/>
        </p:nvSpPr>
        <p:spPr bwMode="auto">
          <a:xfrm>
            <a:off x="7204075" y="2968625"/>
            <a:ext cx="657225" cy="519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defRPr/>
            </a:pPr>
            <a:r>
              <a:rPr lang="en-US" sz="1200">
                <a:latin typeface="Arial" charset="0"/>
                <a:ea typeface="ＭＳ Ｐゴシック" charset="0"/>
              </a:rPr>
              <a:t>memory</a:t>
            </a:r>
          </a:p>
        </p:txBody>
      </p:sp>
      <p:sp>
        <p:nvSpPr>
          <p:cNvPr id="13" name="Line 53"/>
          <p:cNvSpPr>
            <a:spLocks noChangeShapeType="1"/>
          </p:cNvSpPr>
          <p:nvPr/>
        </p:nvSpPr>
        <p:spPr bwMode="auto">
          <a:xfrm flipH="1" flipV="1">
            <a:off x="7561263" y="3489325"/>
            <a:ext cx="1587" cy="171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14" name="Text Box 54"/>
          <p:cNvSpPr txBox="1">
            <a:spLocks noChangeArrowheads="1"/>
          </p:cNvSpPr>
          <p:nvPr/>
        </p:nvSpPr>
        <p:spPr bwMode="auto">
          <a:xfrm>
            <a:off x="8008938" y="3786188"/>
            <a:ext cx="879475"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1" hangingPunct="1">
              <a:defRPr/>
            </a:pPr>
            <a:r>
              <a:rPr lang="en-US" sz="1200" smtClean="0">
                <a:latin typeface="Arial" charset="0"/>
              </a:rPr>
              <a:t>host </a:t>
            </a:r>
          </a:p>
          <a:p>
            <a:pPr eaLnBrk="1" hangingPunct="1">
              <a:defRPr/>
            </a:pPr>
            <a:r>
              <a:rPr lang="en-US" sz="1200" smtClean="0">
                <a:latin typeface="Arial" charset="0"/>
              </a:rPr>
              <a:t>bus </a:t>
            </a:r>
          </a:p>
          <a:p>
            <a:pPr eaLnBrk="1" hangingPunct="1">
              <a:defRPr/>
            </a:pPr>
            <a:r>
              <a:rPr lang="en-US" sz="1200" smtClean="0">
                <a:latin typeface="Arial" charset="0"/>
              </a:rPr>
              <a:t>(e.g., PCI)</a:t>
            </a:r>
          </a:p>
        </p:txBody>
      </p:sp>
      <p:sp>
        <p:nvSpPr>
          <p:cNvPr id="15" name="Line 55"/>
          <p:cNvSpPr>
            <a:spLocks noChangeShapeType="1"/>
          </p:cNvSpPr>
          <p:nvPr/>
        </p:nvSpPr>
        <p:spPr bwMode="auto">
          <a:xfrm flipH="1">
            <a:off x="6891338" y="4273550"/>
            <a:ext cx="12700" cy="339725"/>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16" name="Text Box 58"/>
          <p:cNvSpPr txBox="1">
            <a:spLocks noChangeArrowheads="1"/>
          </p:cNvSpPr>
          <p:nvPr/>
        </p:nvSpPr>
        <p:spPr bwMode="auto">
          <a:xfrm>
            <a:off x="7296150" y="5356225"/>
            <a:ext cx="1273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1" hangingPunct="1">
              <a:defRPr/>
            </a:pPr>
            <a:r>
              <a:rPr lang="en-US" sz="1200" smtClean="0">
                <a:latin typeface="Arial" charset="0"/>
              </a:rPr>
              <a:t>network adapter</a:t>
            </a:r>
          </a:p>
          <a:p>
            <a:pPr eaLnBrk="1" hangingPunct="1">
              <a:defRPr/>
            </a:pPr>
            <a:r>
              <a:rPr lang="en-US" sz="1200" smtClean="0">
                <a:latin typeface="Arial" charset="0"/>
              </a:rPr>
              <a:t>card</a:t>
            </a:r>
          </a:p>
        </p:txBody>
      </p:sp>
      <p:grpSp>
        <p:nvGrpSpPr>
          <p:cNvPr id="17" name="Group 84"/>
          <p:cNvGrpSpPr>
            <a:grpSpLocks/>
          </p:cNvGrpSpPr>
          <p:nvPr/>
        </p:nvGrpSpPr>
        <p:grpSpPr bwMode="auto">
          <a:xfrm>
            <a:off x="5091113" y="2743200"/>
            <a:ext cx="1466850" cy="2065338"/>
            <a:chOff x="2691" y="1728"/>
            <a:chExt cx="924" cy="1301"/>
          </a:xfrm>
        </p:grpSpPr>
        <p:sp>
          <p:nvSpPr>
            <p:cNvPr id="10268" name="Freeform 62"/>
            <p:cNvSpPr>
              <a:spLocks/>
            </p:cNvSpPr>
            <p:nvPr/>
          </p:nvSpPr>
          <p:spPr bwMode="auto">
            <a:xfrm>
              <a:off x="3225" y="2509"/>
              <a:ext cx="390" cy="520"/>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0" h="520">
                  <a:moveTo>
                    <a:pt x="390" y="0"/>
                  </a:moveTo>
                  <a:lnTo>
                    <a:pt x="0" y="221"/>
                  </a:lnTo>
                  <a:lnTo>
                    <a:pt x="3" y="433"/>
                  </a:lnTo>
                  <a:lnTo>
                    <a:pt x="388" y="520"/>
                  </a:lnTo>
                  <a:lnTo>
                    <a:pt x="390" y="0"/>
                  </a:lnTo>
                  <a:close/>
                </a:path>
              </a:pathLst>
            </a:custGeom>
            <a:gradFill rotWithShape="1">
              <a:gsLst>
                <a:gs pos="0">
                  <a:srgbClr val="FF0000"/>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269" name="Freeform 63"/>
            <p:cNvSpPr>
              <a:spLocks/>
            </p:cNvSpPr>
            <p:nvPr/>
          </p:nvSpPr>
          <p:spPr bwMode="auto">
            <a:xfrm>
              <a:off x="3222" y="1767"/>
              <a:ext cx="275"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rgbClr val="FF0000"/>
                </a:gs>
                <a:gs pos="100000">
                  <a:srgbClr val="FFFF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0" name="Rectangle 64"/>
            <p:cNvSpPr>
              <a:spLocks noChangeArrowheads="1"/>
            </p:cNvSpPr>
            <p:nvPr/>
          </p:nvSpPr>
          <p:spPr bwMode="auto">
            <a:xfrm>
              <a:off x="2737" y="1775"/>
              <a:ext cx="489" cy="52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sp>
          <p:nvSpPr>
            <p:cNvPr id="21" name="Text Box 65"/>
            <p:cNvSpPr txBox="1">
              <a:spLocks noChangeArrowheads="1"/>
            </p:cNvSpPr>
            <p:nvPr/>
          </p:nvSpPr>
          <p:spPr bwMode="auto">
            <a:xfrm>
              <a:off x="2691" y="1728"/>
              <a:ext cx="57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1" hangingPunct="1">
                <a:defRPr/>
              </a:pPr>
              <a:r>
                <a:rPr lang="en-US" sz="1200" i="0" smtClean="0">
                  <a:latin typeface="Arial" charset="0"/>
                </a:rPr>
                <a:t>application</a:t>
              </a:r>
            </a:p>
            <a:p>
              <a:pPr algn="ctr" eaLnBrk="1" hangingPunct="1">
                <a:defRPr/>
              </a:pPr>
              <a:r>
                <a:rPr lang="en-US" sz="1200" i="0" smtClean="0">
                  <a:latin typeface="Arial" charset="0"/>
                </a:rPr>
                <a:t>transport</a:t>
              </a:r>
            </a:p>
            <a:p>
              <a:pPr algn="ctr" eaLnBrk="1" hangingPunct="1">
                <a:defRPr/>
              </a:pPr>
              <a:r>
                <a:rPr lang="en-US" sz="1200" i="0" smtClean="0">
                  <a:latin typeface="Arial" charset="0"/>
                </a:rPr>
                <a:t>network</a:t>
              </a:r>
            </a:p>
            <a:p>
              <a:pPr algn="ctr" eaLnBrk="1" hangingPunct="1">
                <a:defRPr/>
              </a:pPr>
              <a:r>
                <a:rPr lang="en-US" sz="1200" i="0" smtClean="0">
                  <a:latin typeface="Arial" charset="0"/>
                </a:rPr>
                <a:t>link</a:t>
              </a:r>
            </a:p>
          </p:txBody>
        </p:sp>
        <p:sp>
          <p:nvSpPr>
            <p:cNvPr id="22" name="Line 66"/>
            <p:cNvSpPr>
              <a:spLocks noChangeShapeType="1"/>
            </p:cNvSpPr>
            <p:nvPr/>
          </p:nvSpPr>
          <p:spPr bwMode="auto">
            <a:xfrm>
              <a:off x="2737" y="1886"/>
              <a:ext cx="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3" name="Line 67"/>
            <p:cNvSpPr>
              <a:spLocks noChangeShapeType="1"/>
            </p:cNvSpPr>
            <p:nvPr/>
          </p:nvSpPr>
          <p:spPr bwMode="auto">
            <a:xfrm>
              <a:off x="2737" y="1991"/>
              <a:ext cx="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4" name="Line 68"/>
            <p:cNvSpPr>
              <a:spLocks noChangeShapeType="1"/>
            </p:cNvSpPr>
            <p:nvPr/>
          </p:nvSpPr>
          <p:spPr bwMode="auto">
            <a:xfrm>
              <a:off x="2735" y="2098"/>
              <a:ext cx="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5" name="Line 69"/>
            <p:cNvSpPr>
              <a:spLocks noChangeShapeType="1"/>
            </p:cNvSpPr>
            <p:nvPr/>
          </p:nvSpPr>
          <p:spPr bwMode="auto">
            <a:xfrm>
              <a:off x="2738" y="2206"/>
              <a:ext cx="48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6" name="Rectangle 70"/>
            <p:cNvSpPr>
              <a:spLocks noChangeArrowheads="1"/>
            </p:cNvSpPr>
            <p:nvPr/>
          </p:nvSpPr>
          <p:spPr bwMode="auto">
            <a:xfrm>
              <a:off x="2695" y="2212"/>
              <a:ext cx="552" cy="11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sp>
          <p:nvSpPr>
            <p:cNvPr id="27" name="Line 71"/>
            <p:cNvSpPr>
              <a:spLocks noChangeShapeType="1"/>
            </p:cNvSpPr>
            <p:nvPr/>
          </p:nvSpPr>
          <p:spPr bwMode="auto">
            <a:xfrm>
              <a:off x="2738" y="2224"/>
              <a:ext cx="0" cy="6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8" name="Line 72"/>
            <p:cNvSpPr>
              <a:spLocks noChangeShapeType="1"/>
            </p:cNvSpPr>
            <p:nvPr/>
          </p:nvSpPr>
          <p:spPr bwMode="auto">
            <a:xfrm>
              <a:off x="3225" y="2218"/>
              <a:ext cx="0" cy="6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29" name="Rectangle 73"/>
            <p:cNvSpPr>
              <a:spLocks noChangeArrowheads="1"/>
            </p:cNvSpPr>
            <p:nvPr/>
          </p:nvSpPr>
          <p:spPr bwMode="auto">
            <a:xfrm>
              <a:off x="2737" y="2415"/>
              <a:ext cx="489" cy="5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sp>
          <p:nvSpPr>
            <p:cNvPr id="30" name="Text Box 74"/>
            <p:cNvSpPr txBox="1">
              <a:spLocks noChangeArrowheads="1"/>
            </p:cNvSpPr>
            <p:nvPr/>
          </p:nvSpPr>
          <p:spPr bwMode="auto">
            <a:xfrm>
              <a:off x="2745" y="2345"/>
              <a:ext cx="462"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defRPr/>
              </a:pPr>
              <a:endParaRPr lang="en-US" sz="1200" smtClean="0">
                <a:latin typeface="Arial" pitchFamily="34" charset="0"/>
                <a:ea typeface="MS PGothic" pitchFamily="34" charset="-128"/>
              </a:endParaRPr>
            </a:p>
            <a:p>
              <a:pPr algn="ctr" eaLnBrk="1" hangingPunct="1">
                <a:defRPr/>
              </a:pPr>
              <a:endParaRPr lang="en-US" sz="1200" smtClean="0">
                <a:latin typeface="Arial" pitchFamily="34" charset="0"/>
                <a:ea typeface="MS PGothic" pitchFamily="34" charset="-128"/>
              </a:endParaRPr>
            </a:p>
            <a:p>
              <a:pPr algn="ctr" eaLnBrk="1" hangingPunct="1">
                <a:defRPr/>
              </a:pPr>
              <a:endParaRPr lang="en-US" sz="1200" smtClean="0">
                <a:latin typeface="Arial" pitchFamily="34" charset="0"/>
                <a:ea typeface="MS PGothic" pitchFamily="34" charset="-128"/>
              </a:endParaRPr>
            </a:p>
            <a:p>
              <a:pPr algn="ctr" eaLnBrk="1" hangingPunct="1">
                <a:defRPr/>
              </a:pPr>
              <a:r>
                <a:rPr lang="en-US" sz="1200" smtClean="0">
                  <a:latin typeface="Arial" pitchFamily="34" charset="0"/>
                  <a:ea typeface="MS PGothic" pitchFamily="34" charset="-128"/>
                </a:rPr>
                <a:t>link</a:t>
              </a:r>
            </a:p>
            <a:p>
              <a:pPr algn="ctr" eaLnBrk="1" hangingPunct="1">
                <a:defRPr/>
              </a:pPr>
              <a:r>
                <a:rPr lang="en-US" sz="1200" smtClean="0">
                  <a:latin typeface="Arial" pitchFamily="34" charset="0"/>
                  <a:ea typeface="MS PGothic" pitchFamily="34" charset="-128"/>
                </a:rPr>
                <a:t>physical</a:t>
              </a:r>
            </a:p>
          </p:txBody>
        </p:sp>
        <p:sp>
          <p:nvSpPr>
            <p:cNvPr id="31" name="Line 75"/>
            <p:cNvSpPr>
              <a:spLocks noChangeShapeType="1"/>
            </p:cNvSpPr>
            <p:nvPr/>
          </p:nvSpPr>
          <p:spPr bwMode="auto">
            <a:xfrm>
              <a:off x="2737" y="2526"/>
              <a:ext cx="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2" name="Line 76"/>
            <p:cNvSpPr>
              <a:spLocks noChangeShapeType="1"/>
            </p:cNvSpPr>
            <p:nvPr/>
          </p:nvSpPr>
          <p:spPr bwMode="auto">
            <a:xfrm>
              <a:off x="2737" y="2632"/>
              <a:ext cx="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3" name="Line 77"/>
            <p:cNvSpPr>
              <a:spLocks noChangeShapeType="1"/>
            </p:cNvSpPr>
            <p:nvPr/>
          </p:nvSpPr>
          <p:spPr bwMode="auto">
            <a:xfrm>
              <a:off x="2735" y="2721"/>
              <a:ext cx="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4" name="Line 78"/>
            <p:cNvSpPr>
              <a:spLocks noChangeShapeType="1"/>
            </p:cNvSpPr>
            <p:nvPr/>
          </p:nvSpPr>
          <p:spPr bwMode="auto">
            <a:xfrm>
              <a:off x="2733" y="2836"/>
              <a:ext cx="4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5" name="Rectangle 79"/>
            <p:cNvSpPr>
              <a:spLocks noChangeArrowheads="1"/>
            </p:cNvSpPr>
            <p:nvPr/>
          </p:nvSpPr>
          <p:spPr bwMode="auto">
            <a:xfrm>
              <a:off x="2719" y="2390"/>
              <a:ext cx="518" cy="29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sp>
          <p:nvSpPr>
            <p:cNvPr id="36" name="Line 80"/>
            <p:cNvSpPr>
              <a:spLocks noChangeShapeType="1"/>
            </p:cNvSpPr>
            <p:nvPr/>
          </p:nvSpPr>
          <p:spPr bwMode="auto">
            <a:xfrm>
              <a:off x="2737" y="2614"/>
              <a:ext cx="0" cy="6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7" name="Line 81"/>
            <p:cNvSpPr>
              <a:spLocks noChangeShapeType="1"/>
            </p:cNvSpPr>
            <p:nvPr/>
          </p:nvSpPr>
          <p:spPr bwMode="auto">
            <a:xfrm>
              <a:off x="3226" y="2614"/>
              <a:ext cx="0" cy="6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38" name="Rectangle 82"/>
            <p:cNvSpPr>
              <a:spLocks noChangeArrowheads="1"/>
            </p:cNvSpPr>
            <p:nvPr/>
          </p:nvSpPr>
          <p:spPr bwMode="auto">
            <a:xfrm>
              <a:off x="2736" y="1778"/>
              <a:ext cx="490" cy="431"/>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sp>
          <p:nvSpPr>
            <p:cNvPr id="39" name="Rectangle 83"/>
            <p:cNvSpPr>
              <a:spLocks noChangeArrowheads="1"/>
            </p:cNvSpPr>
            <p:nvPr/>
          </p:nvSpPr>
          <p:spPr bwMode="auto">
            <a:xfrm>
              <a:off x="2733" y="2721"/>
              <a:ext cx="489" cy="219"/>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grpSp>
      <p:pic>
        <p:nvPicPr>
          <p:cNvPr id="40" name="Picture 86"/>
          <p:cNvPicPr>
            <a:picLocks noChangeAspect="1" noChangeArrowheads="1"/>
          </p:cNvPicPr>
          <p:nvPr/>
        </p:nvPicPr>
        <p:blipFill>
          <a:blip r:embed="rId2"/>
          <a:srcRect/>
          <a:stretch>
            <a:fillRect/>
          </a:stretch>
        </p:blipFill>
        <p:spPr bwMode="auto">
          <a:xfrm>
            <a:off x="7353300" y="1122363"/>
            <a:ext cx="1350963" cy="1350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41" name="Picture 87"/>
          <p:cNvPicPr>
            <a:picLocks noChangeAspect="1" noChangeArrowheads="1"/>
          </p:cNvPicPr>
          <p:nvPr/>
        </p:nvPicPr>
        <p:blipFill>
          <a:blip r:embed="rId3"/>
          <a:srcRect/>
          <a:stretch>
            <a:fillRect/>
          </a:stretch>
        </p:blipFill>
        <p:spPr bwMode="auto">
          <a:xfrm>
            <a:off x="5715000" y="1317625"/>
            <a:ext cx="1143000"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10259" name="Group 89"/>
          <p:cNvGrpSpPr>
            <a:grpSpLocks/>
          </p:cNvGrpSpPr>
          <p:nvPr/>
        </p:nvGrpSpPr>
        <p:grpSpPr bwMode="auto">
          <a:xfrm>
            <a:off x="5062538" y="5251450"/>
            <a:ext cx="1109662" cy="1095375"/>
            <a:chOff x="-44" y="1473"/>
            <a:chExt cx="981" cy="1105"/>
          </a:xfrm>
        </p:grpSpPr>
        <p:pic>
          <p:nvPicPr>
            <p:cNvPr id="10266" name="Picture 90"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7" name="Freeform 91"/>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
        <p:nvSpPr>
          <p:cNvPr id="45" name="Text Box 46"/>
          <p:cNvSpPr txBox="1">
            <a:spLocks noChangeArrowheads="1"/>
          </p:cNvSpPr>
          <p:nvPr/>
        </p:nvSpPr>
        <p:spPr bwMode="auto">
          <a:xfrm>
            <a:off x="6384925" y="4562475"/>
            <a:ext cx="1036638"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1" hangingPunct="1">
              <a:defRPr/>
            </a:pPr>
            <a:r>
              <a:rPr lang="en-US" sz="1200" i="0" dirty="0" smtClean="0">
                <a:latin typeface="Arial" charset="0"/>
              </a:rPr>
              <a:t>physical</a:t>
            </a:r>
          </a:p>
          <a:p>
            <a:pPr algn="ctr" eaLnBrk="1" hangingPunct="1">
              <a:defRPr/>
            </a:pPr>
            <a:r>
              <a:rPr lang="en-US" sz="1200" i="0" dirty="0" smtClean="0">
                <a:latin typeface="Arial" charset="0"/>
              </a:rPr>
              <a:t>transmission</a:t>
            </a:r>
          </a:p>
        </p:txBody>
      </p:sp>
      <p:sp>
        <p:nvSpPr>
          <p:cNvPr id="10261" name="Freeform 47"/>
          <p:cNvSpPr>
            <a:spLocks/>
          </p:cNvSpPr>
          <p:nvPr/>
        </p:nvSpPr>
        <p:spPr bwMode="auto">
          <a:xfrm>
            <a:off x="6630988" y="3484563"/>
            <a:ext cx="200025"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7" name="Line 48"/>
          <p:cNvSpPr>
            <a:spLocks noChangeShapeType="1"/>
          </p:cNvSpPr>
          <p:nvPr/>
        </p:nvSpPr>
        <p:spPr bwMode="auto">
          <a:xfrm>
            <a:off x="6496050" y="3657600"/>
            <a:ext cx="1358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8" name="Line 49"/>
          <p:cNvSpPr>
            <a:spLocks noChangeShapeType="1"/>
          </p:cNvSpPr>
          <p:nvPr/>
        </p:nvSpPr>
        <p:spPr bwMode="auto">
          <a:xfrm flipV="1">
            <a:off x="6891338" y="3665538"/>
            <a:ext cx="0" cy="300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49" name="Line 56"/>
          <p:cNvSpPr>
            <a:spLocks noChangeShapeType="1"/>
          </p:cNvSpPr>
          <p:nvPr/>
        </p:nvSpPr>
        <p:spPr bwMode="auto">
          <a:xfrm>
            <a:off x="6889750" y="4806950"/>
            <a:ext cx="0" cy="366713"/>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ea typeface="ＭＳ Ｐゴシック" charset="0"/>
            </a:endParaRPr>
          </a:p>
        </p:txBody>
      </p:sp>
      <p:sp>
        <p:nvSpPr>
          <p:cNvPr id="51" name="Rectangle 43"/>
          <p:cNvSpPr>
            <a:spLocks noChangeArrowheads="1"/>
          </p:cNvSpPr>
          <p:nvPr/>
        </p:nvSpPr>
        <p:spPr bwMode="auto">
          <a:xfrm>
            <a:off x="6351588" y="3854450"/>
            <a:ext cx="1122362" cy="1082675"/>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Comic Sans MS" pitchFamily="66" charset="0"/>
              <a:ea typeface="MS PGothic" pitchFamily="34" charset="-128"/>
            </a:endParaRPr>
          </a:p>
        </p:txBody>
      </p:sp>
    </p:spTree>
    <p:extLst>
      <p:ext uri="{BB962C8B-B14F-4D97-AF65-F5344CB8AC3E}">
        <p14:creationId xmlns:p14="http://schemas.microsoft.com/office/powerpoint/2010/main" val="2256439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DLL is divided into two </a:t>
            </a:r>
            <a:r>
              <a:rPr lang="en-US" dirty="0" err="1"/>
              <a:t>sublayers</a:t>
            </a:r>
            <a:r>
              <a:rPr lang="en-US" dirty="0" smtClean="0"/>
              <a:t>:</a:t>
            </a:r>
            <a:r>
              <a:rPr lang="en-US" dirty="0"/>
              <a:t/>
            </a:r>
            <a:br>
              <a:rPr lang="en-US" dirty="0"/>
            </a:br>
            <a:endParaRPr lang="en-IN" dirty="0"/>
          </a:p>
        </p:txBody>
      </p:sp>
      <p:sp>
        <p:nvSpPr>
          <p:cNvPr id="5" name="Text Placeholder 4"/>
          <p:cNvSpPr>
            <a:spLocks noGrp="1"/>
          </p:cNvSpPr>
          <p:nvPr>
            <p:ph type="body" idx="1"/>
          </p:nvPr>
        </p:nvSpPr>
        <p:spPr/>
        <p:txBody>
          <a:bodyPr/>
          <a:lstStyle/>
          <a:p>
            <a:endParaRPr lang="en-IN"/>
          </a:p>
        </p:txBody>
      </p:sp>
      <p:pic>
        <p:nvPicPr>
          <p:cNvPr id="4" name="Picture 1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195606" y="1676400"/>
            <a:ext cx="4149382"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Placeholder 5"/>
          <p:cNvSpPr>
            <a:spLocks noGrp="1"/>
          </p:cNvSpPr>
          <p:nvPr>
            <p:ph type="body" sz="quarter" idx="3"/>
          </p:nvPr>
        </p:nvSpPr>
        <p:spPr>
          <a:xfrm flipV="1">
            <a:off x="4645025" y="1371600"/>
            <a:ext cx="4041775" cy="163513"/>
          </a:xfrm>
        </p:spPr>
        <p:txBody>
          <a:bodyPr>
            <a:normAutofit fontScale="25000" lnSpcReduction="20000"/>
          </a:bodyPr>
          <a:lstStyle/>
          <a:p>
            <a:endParaRPr lang="en-IN" dirty="0"/>
          </a:p>
        </p:txBody>
      </p:sp>
      <p:sp>
        <p:nvSpPr>
          <p:cNvPr id="7" name="Content Placeholder 6"/>
          <p:cNvSpPr>
            <a:spLocks noGrp="1"/>
          </p:cNvSpPr>
          <p:nvPr>
            <p:ph sz="quarter" idx="4"/>
          </p:nvPr>
        </p:nvSpPr>
        <p:spPr>
          <a:xfrm>
            <a:off x="4648200" y="1905000"/>
            <a:ext cx="4041775" cy="4830763"/>
          </a:xfrm>
        </p:spPr>
        <p:txBody>
          <a:bodyPr/>
          <a:lstStyle/>
          <a:p>
            <a:r>
              <a:rPr lang="en-IN" dirty="0" smtClean="0"/>
              <a:t>LLC deals with all issues common to both point-to-point and broadcast links</a:t>
            </a:r>
          </a:p>
          <a:p>
            <a:r>
              <a:rPr lang="en-IN" dirty="0" smtClean="0"/>
              <a:t>MAC </a:t>
            </a:r>
            <a:r>
              <a:rPr lang="en-IN" dirty="0" err="1" smtClean="0"/>
              <a:t>sublayer</a:t>
            </a:r>
            <a:r>
              <a:rPr lang="en-IN" dirty="0" smtClean="0"/>
              <a:t> deals with only broadcast links</a:t>
            </a:r>
            <a:endParaRPr lang="en-IN" dirty="0"/>
          </a:p>
        </p:txBody>
      </p:sp>
    </p:spTree>
    <p:extLst>
      <p:ext uri="{BB962C8B-B14F-4D97-AF65-F5344CB8AC3E}">
        <p14:creationId xmlns:p14="http://schemas.microsoft.com/office/powerpoint/2010/main" val="2646082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7620000" cy="868362"/>
          </a:xfrm>
        </p:spPr>
        <p:txBody>
          <a:bodyPr>
            <a:normAutofit fontScale="90000"/>
          </a:bodyPr>
          <a:lstStyle/>
          <a:p>
            <a:r>
              <a:rPr lang="en-US" sz="2800" b="1" dirty="0">
                <a:solidFill>
                  <a:schemeClr val="tx1"/>
                </a:solidFill>
              </a:rPr>
              <a:t>DATA LINK LAYER </a:t>
            </a:r>
            <a:r>
              <a:rPr lang="en-US" sz="2800" dirty="0" smtClean="0">
                <a:solidFill>
                  <a:schemeClr val="tx1"/>
                </a:solidFill>
              </a:rPr>
              <a:t>:</a:t>
            </a:r>
            <a:r>
              <a:rPr lang="en-US" sz="2800" b="1" dirty="0" smtClean="0">
                <a:solidFill>
                  <a:schemeClr val="tx1"/>
                </a:solidFill>
              </a:rPr>
              <a:t>Functions</a:t>
            </a:r>
            <a:br>
              <a:rPr lang="en-US" sz="2800" b="1" dirty="0" smtClean="0">
                <a:solidFill>
                  <a:schemeClr val="tx1"/>
                </a:solidFill>
              </a:rPr>
            </a:br>
            <a:endParaRPr lang="en-IN" sz="2800" dirty="0"/>
          </a:p>
        </p:txBody>
      </p:sp>
      <p:sp>
        <p:nvSpPr>
          <p:cNvPr id="2" name="Subtitle 1"/>
          <p:cNvSpPr>
            <a:spLocks noGrp="1"/>
          </p:cNvSpPr>
          <p:nvPr>
            <p:ph idx="1"/>
          </p:nvPr>
        </p:nvSpPr>
        <p:spPr>
          <a:xfrm>
            <a:off x="457200" y="1143000"/>
            <a:ext cx="7620000" cy="5257800"/>
          </a:xfrm>
        </p:spPr>
        <p:txBody>
          <a:bodyPr>
            <a:normAutofit fontScale="70000" lnSpcReduction="20000"/>
          </a:bodyPr>
          <a:lstStyle/>
          <a:p>
            <a:pPr algn="l"/>
            <a:r>
              <a:rPr lang="en-US" dirty="0" smtClean="0">
                <a:solidFill>
                  <a:schemeClr val="tx1"/>
                </a:solidFill>
              </a:rPr>
              <a:t>It </a:t>
            </a:r>
            <a:r>
              <a:rPr lang="en-US" dirty="0">
                <a:solidFill>
                  <a:schemeClr val="tx1"/>
                </a:solidFill>
              </a:rPr>
              <a:t>is responsible for transmitting frames from one node to the next. </a:t>
            </a:r>
            <a:endParaRPr lang="en-US" dirty="0" smtClean="0">
              <a:solidFill>
                <a:schemeClr val="tx1"/>
              </a:solidFill>
            </a:endParaRPr>
          </a:p>
          <a:p>
            <a:pPr algn="l"/>
            <a:r>
              <a:rPr lang="en-US" b="1" i="1" dirty="0" smtClean="0">
                <a:solidFill>
                  <a:schemeClr val="tx1"/>
                </a:solidFill>
              </a:rPr>
              <a:t>Service </a:t>
            </a:r>
            <a:r>
              <a:rPr lang="en-US" b="1" i="1" dirty="0">
                <a:solidFill>
                  <a:schemeClr val="tx1"/>
                </a:solidFill>
              </a:rPr>
              <a:t>to the N/w layer</a:t>
            </a:r>
            <a:r>
              <a:rPr lang="en-US" dirty="0">
                <a:solidFill>
                  <a:schemeClr val="tx1"/>
                </a:solidFill>
              </a:rPr>
              <a:t>:  To transfer data from N/w layer on source m/c to the N/w layer on destination m/c.</a:t>
            </a:r>
          </a:p>
          <a:p>
            <a:pPr algn="l"/>
            <a:r>
              <a:rPr lang="en-US" b="1" i="1" dirty="0">
                <a:solidFill>
                  <a:schemeClr val="tx1"/>
                </a:solidFill>
              </a:rPr>
              <a:t>Framing</a:t>
            </a:r>
            <a:r>
              <a:rPr lang="en-US" dirty="0">
                <a:solidFill>
                  <a:schemeClr val="tx1"/>
                </a:solidFill>
              </a:rPr>
              <a:t> :  The data received from network layer is divided into manageable data units called frames</a:t>
            </a:r>
            <a:r>
              <a:rPr lang="en-US" dirty="0" smtClean="0">
                <a:solidFill>
                  <a:schemeClr val="tx1"/>
                </a:solidFill>
              </a:rPr>
              <a:t>.</a:t>
            </a:r>
          </a:p>
          <a:p>
            <a:pPr algn="l"/>
            <a:r>
              <a:rPr lang="en-US" dirty="0" smtClean="0">
                <a:solidFill>
                  <a:schemeClr val="tx1"/>
                </a:solidFill>
              </a:rPr>
              <a:t> </a:t>
            </a:r>
            <a:r>
              <a:rPr lang="en-US" b="1" i="1" dirty="0" smtClean="0">
                <a:solidFill>
                  <a:schemeClr val="tx1"/>
                </a:solidFill>
              </a:rPr>
              <a:t>Physical </a:t>
            </a:r>
            <a:r>
              <a:rPr lang="en-US" b="1" i="1" dirty="0">
                <a:solidFill>
                  <a:schemeClr val="tx1"/>
                </a:solidFill>
              </a:rPr>
              <a:t>addressing  </a:t>
            </a:r>
            <a:r>
              <a:rPr lang="en-US" dirty="0">
                <a:solidFill>
                  <a:schemeClr val="tx1"/>
                </a:solidFill>
              </a:rPr>
              <a:t>[MAC (Media access control) or H/w address]:  When frames are to be sent to different LAN’s , the data link layer adds a header to the frame to define sender or receiver</a:t>
            </a:r>
            <a:r>
              <a:rPr lang="en-US" dirty="0" smtClean="0">
                <a:solidFill>
                  <a:schemeClr val="tx1"/>
                </a:solidFill>
              </a:rPr>
              <a:t>.</a:t>
            </a:r>
          </a:p>
          <a:p>
            <a:r>
              <a:rPr lang="en-US" b="1" i="1" dirty="0">
                <a:solidFill>
                  <a:schemeClr val="tx1"/>
                </a:solidFill>
              </a:rPr>
              <a:t>Flow control </a:t>
            </a:r>
            <a:r>
              <a:rPr lang="en-US" dirty="0">
                <a:solidFill>
                  <a:schemeClr val="tx1"/>
                </a:solidFill>
              </a:rPr>
              <a:t>:  When data transmitted rate and data received is not same; some data may be lost.</a:t>
            </a:r>
          </a:p>
          <a:p>
            <a:r>
              <a:rPr lang="en-US" dirty="0">
                <a:solidFill>
                  <a:schemeClr val="tx1"/>
                </a:solidFill>
              </a:rPr>
              <a:t>The Data link layer imposes a flow control mechanism to prevent loss of data.</a:t>
            </a:r>
          </a:p>
          <a:p>
            <a:r>
              <a:rPr lang="en-US" b="1" i="1" dirty="0">
                <a:solidFill>
                  <a:schemeClr val="tx1"/>
                </a:solidFill>
              </a:rPr>
              <a:t>Error control </a:t>
            </a:r>
            <a:r>
              <a:rPr lang="en-US" dirty="0">
                <a:solidFill>
                  <a:schemeClr val="tx1"/>
                </a:solidFill>
              </a:rPr>
              <a:t>:  It helps to detect the error and retransmit the damaged frame or the lost frame. </a:t>
            </a:r>
          </a:p>
          <a:p>
            <a:pPr algn="l"/>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8940688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7620000" cy="868362"/>
          </a:xfrm>
        </p:spPr>
        <p:txBody>
          <a:bodyPr>
            <a:normAutofit fontScale="90000"/>
          </a:bodyPr>
          <a:lstStyle/>
          <a:p>
            <a:r>
              <a:rPr lang="en-US" sz="2800" b="1" dirty="0">
                <a:solidFill>
                  <a:schemeClr val="tx1"/>
                </a:solidFill>
              </a:rPr>
              <a:t>DATA LINK LAYER </a:t>
            </a:r>
            <a:r>
              <a:rPr lang="en-US" sz="2800" dirty="0" smtClean="0">
                <a:solidFill>
                  <a:schemeClr val="tx1"/>
                </a:solidFill>
              </a:rPr>
              <a:t>:</a:t>
            </a:r>
            <a:r>
              <a:rPr lang="en-US" sz="2800" b="1" dirty="0" smtClean="0">
                <a:solidFill>
                  <a:schemeClr val="tx1"/>
                </a:solidFill>
              </a:rPr>
              <a:t>Functions …</a:t>
            </a:r>
            <a:r>
              <a:rPr lang="en-US" sz="2800" b="1" dirty="0" err="1" smtClean="0">
                <a:solidFill>
                  <a:schemeClr val="tx1"/>
                </a:solidFill>
              </a:rPr>
              <a:t>cntd</a:t>
            </a:r>
            <a:r>
              <a:rPr lang="en-US" sz="2800" b="1" dirty="0" smtClean="0">
                <a:solidFill>
                  <a:schemeClr val="tx1"/>
                </a:solidFill>
              </a:rPr>
              <a:t/>
            </a:r>
            <a:br>
              <a:rPr lang="en-US" sz="2800" b="1" dirty="0" smtClean="0">
                <a:solidFill>
                  <a:schemeClr val="tx1"/>
                </a:solidFill>
              </a:rPr>
            </a:br>
            <a:endParaRPr lang="en-IN" sz="2800" dirty="0"/>
          </a:p>
        </p:txBody>
      </p:sp>
      <p:sp>
        <p:nvSpPr>
          <p:cNvPr id="2" name="Subtitle 1"/>
          <p:cNvSpPr>
            <a:spLocks noGrp="1"/>
          </p:cNvSpPr>
          <p:nvPr>
            <p:ph idx="1"/>
          </p:nvPr>
        </p:nvSpPr>
        <p:spPr>
          <a:xfrm>
            <a:off x="457200" y="1143000"/>
            <a:ext cx="7620000" cy="5257800"/>
          </a:xfrm>
        </p:spPr>
        <p:txBody>
          <a:bodyPr>
            <a:normAutofit/>
          </a:bodyPr>
          <a:lstStyle/>
          <a:p>
            <a:r>
              <a:rPr lang="en-US" b="1" i="1" dirty="0"/>
              <a:t>Medium Access Control (Link Management) </a:t>
            </a:r>
            <a:r>
              <a:rPr lang="en-US" dirty="0"/>
              <a:t>:  The nodes are connected by transmission medium (cable or Air).The DLL controls how medium is used .The link can be point-to point (dedicated)or Broadcast (</a:t>
            </a:r>
            <a:r>
              <a:rPr lang="en-US" dirty="0" smtClean="0"/>
              <a:t>shared)link.</a:t>
            </a:r>
          </a:p>
          <a:p>
            <a:endParaRPr lang="en-US" sz="2800" i="1" dirty="0"/>
          </a:p>
          <a:p>
            <a:pPr marL="0" indent="0">
              <a:buNone/>
            </a:pPr>
            <a:r>
              <a:rPr lang="en-US" sz="2800" i="1" dirty="0" smtClean="0"/>
              <a:t>Protocols </a:t>
            </a:r>
            <a:r>
              <a:rPr lang="en-US" sz="2800" i="1" dirty="0"/>
              <a:t>and procedures are required for Link management.</a:t>
            </a:r>
          </a:p>
          <a:p>
            <a:pPr marL="114300" indent="0" algn="l">
              <a:buNone/>
            </a:pPr>
            <a:endParaRPr lang="en-US"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48746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2400" y="228600"/>
            <a:ext cx="8534400" cy="6477000"/>
          </a:xfrm>
        </p:spPr>
        <p:txBody>
          <a:bodyPr>
            <a:normAutofit lnSpcReduction="10000"/>
          </a:bodyPr>
          <a:lstStyle/>
          <a:p>
            <a:pPr algn="l"/>
            <a:r>
              <a:rPr lang="en-US" dirty="0">
                <a:solidFill>
                  <a:schemeClr val="tx1"/>
                </a:solidFill>
              </a:rPr>
              <a:t>FRAMING :</a:t>
            </a:r>
          </a:p>
          <a:p>
            <a:pPr marL="342900" indent="-342900" algn="l">
              <a:buFont typeface="Arial" panose="020B0604020202020204" pitchFamily="34" charset="0"/>
              <a:buChar char="•"/>
            </a:pPr>
            <a:r>
              <a:rPr lang="en-US" dirty="0" smtClean="0">
                <a:solidFill>
                  <a:schemeClr val="tx1"/>
                </a:solidFill>
              </a:rPr>
              <a:t>Bits </a:t>
            </a:r>
            <a:r>
              <a:rPr lang="en-US" dirty="0">
                <a:solidFill>
                  <a:schemeClr val="tx1"/>
                </a:solidFill>
              </a:rPr>
              <a:t>to be transmitted is broken into Frames at DLL.  </a:t>
            </a:r>
            <a:endParaRPr lang="en-US" dirty="0" smtClean="0">
              <a:solidFill>
                <a:schemeClr val="tx1"/>
              </a:solidFill>
            </a:endParaRPr>
          </a:p>
          <a:p>
            <a:pPr marL="342900" indent="-342900" algn="l">
              <a:buFont typeface="Arial" panose="020B0604020202020204" pitchFamily="34" charset="0"/>
              <a:buChar char="•"/>
            </a:pPr>
            <a:r>
              <a:rPr lang="en-US" dirty="0" smtClean="0">
                <a:solidFill>
                  <a:schemeClr val="tx1"/>
                </a:solidFill>
              </a:rPr>
              <a:t>To </a:t>
            </a:r>
            <a:r>
              <a:rPr lang="en-US" dirty="0">
                <a:solidFill>
                  <a:schemeClr val="tx1"/>
                </a:solidFill>
              </a:rPr>
              <a:t>guarantee the bit stream is error </a:t>
            </a:r>
            <a:r>
              <a:rPr lang="en-US" dirty="0" smtClean="0">
                <a:solidFill>
                  <a:schemeClr val="tx1"/>
                </a:solidFill>
              </a:rPr>
              <a:t>free , the </a:t>
            </a:r>
            <a:r>
              <a:rPr lang="en-US" dirty="0">
                <a:solidFill>
                  <a:schemeClr val="tx1"/>
                </a:solidFill>
              </a:rPr>
              <a:t>Checksum of each frame is computed.  </a:t>
            </a:r>
            <a:endParaRPr lang="en-US" dirty="0" smtClean="0">
              <a:solidFill>
                <a:schemeClr val="tx1"/>
              </a:solidFill>
            </a:endParaRPr>
          </a:p>
          <a:p>
            <a:pPr marL="342900" indent="-342900" algn="l">
              <a:buFont typeface="Arial" panose="020B0604020202020204" pitchFamily="34" charset="0"/>
              <a:buChar char="•"/>
            </a:pPr>
            <a:r>
              <a:rPr lang="en-US" dirty="0" smtClean="0">
                <a:solidFill>
                  <a:schemeClr val="tx1"/>
                </a:solidFill>
              </a:rPr>
              <a:t>When </a:t>
            </a:r>
            <a:r>
              <a:rPr lang="en-US" dirty="0">
                <a:solidFill>
                  <a:schemeClr val="tx1"/>
                </a:solidFill>
              </a:rPr>
              <a:t>the frame is received, the DLL re-computes the checksum, and compares with the one present in the frame.  </a:t>
            </a:r>
            <a:r>
              <a:rPr lang="en-US" dirty="0" smtClean="0">
                <a:solidFill>
                  <a:schemeClr val="tx1"/>
                </a:solidFill>
              </a:rPr>
              <a:t>If </a:t>
            </a:r>
            <a:r>
              <a:rPr lang="en-US" dirty="0">
                <a:solidFill>
                  <a:schemeClr val="tx1"/>
                </a:solidFill>
              </a:rPr>
              <a:t>the checksum is different, then the DLL comes to know that an error has occurred.  It discards the frame, and sends back a request for retransmission. </a:t>
            </a:r>
            <a:endParaRPr lang="en-US" dirty="0" smtClean="0">
              <a:solidFill>
                <a:schemeClr val="tx1"/>
              </a:solidFill>
            </a:endParaRPr>
          </a:p>
          <a:p>
            <a:pPr marL="342900" indent="-342900" algn="l">
              <a:buFont typeface="Arial" panose="020B0604020202020204" pitchFamily="34" charset="0"/>
              <a:buChar char="•"/>
            </a:pPr>
            <a:r>
              <a:rPr lang="en-US" dirty="0" smtClean="0">
                <a:solidFill>
                  <a:schemeClr val="tx1"/>
                </a:solidFill>
              </a:rPr>
              <a:t>Breaking </a:t>
            </a:r>
            <a:r>
              <a:rPr lang="en-US" dirty="0">
                <a:solidFill>
                  <a:schemeClr val="tx1"/>
                </a:solidFill>
              </a:rPr>
              <a:t>bit stream in frames is called as “Framing”.  </a:t>
            </a:r>
            <a:endParaRPr lang="en-US" dirty="0" smtClean="0">
              <a:solidFill>
                <a:schemeClr val="tx1"/>
              </a:solidFill>
            </a:endParaRPr>
          </a:p>
          <a:p>
            <a:pPr marL="342900" indent="-342900" algn="l">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286000"/>
            <a:ext cx="6400800" cy="3605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44323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r>
              <a:rPr lang="en-US" b="1" dirty="0">
                <a:solidFill>
                  <a:schemeClr val="tx1"/>
                </a:solidFill>
              </a:rPr>
              <a:t>FRAMING METHODS </a:t>
            </a:r>
            <a:r>
              <a:rPr lang="en-US" dirty="0">
                <a:solidFill>
                  <a:schemeClr val="tx1"/>
                </a:solidFill>
              </a:rPr>
              <a:t>:</a:t>
            </a:r>
          </a:p>
          <a:p>
            <a:pPr algn="l"/>
            <a:r>
              <a:rPr lang="en-US" u="sng" dirty="0" smtClean="0">
                <a:solidFill>
                  <a:schemeClr val="tx1"/>
                </a:solidFill>
              </a:rPr>
              <a:t>1.</a:t>
            </a:r>
            <a:r>
              <a:rPr lang="en-US" b="1" i="1" u="sng" dirty="0" smtClean="0">
                <a:solidFill>
                  <a:schemeClr val="tx1"/>
                </a:solidFill>
              </a:rPr>
              <a:t>Character </a:t>
            </a:r>
            <a:r>
              <a:rPr lang="en-US" b="1" i="1" u="sng" dirty="0">
                <a:solidFill>
                  <a:schemeClr val="tx1"/>
                </a:solidFill>
              </a:rPr>
              <a:t>Count </a:t>
            </a:r>
            <a:r>
              <a:rPr lang="en-US" dirty="0">
                <a:solidFill>
                  <a:schemeClr val="tx1"/>
                </a:solidFill>
              </a:rPr>
              <a:t>:</a:t>
            </a:r>
          </a:p>
          <a:p>
            <a:pPr algn="l"/>
            <a:r>
              <a:rPr lang="en-US" dirty="0">
                <a:solidFill>
                  <a:schemeClr val="tx1"/>
                </a:solidFill>
              </a:rPr>
              <a:t>A field in header is used to specify the number of characters in the Frame.  </a:t>
            </a:r>
            <a:endParaRPr lang="en-US" dirty="0" smtClean="0">
              <a:solidFill>
                <a:schemeClr val="tx1"/>
              </a:solidFill>
            </a:endParaRPr>
          </a:p>
          <a:p>
            <a:pPr algn="l"/>
            <a:r>
              <a:rPr lang="en-US" dirty="0" smtClean="0">
                <a:solidFill>
                  <a:schemeClr val="tx1"/>
                </a:solidFill>
              </a:rPr>
              <a:t>This </a:t>
            </a:r>
            <a:r>
              <a:rPr lang="en-US" dirty="0">
                <a:solidFill>
                  <a:schemeClr val="tx1"/>
                </a:solidFill>
              </a:rPr>
              <a:t>number helps the receiver </a:t>
            </a:r>
            <a:r>
              <a:rPr lang="en-US" dirty="0" smtClean="0">
                <a:solidFill>
                  <a:schemeClr val="tx1"/>
                </a:solidFill>
              </a:rPr>
              <a:t>to know </a:t>
            </a:r>
            <a:r>
              <a:rPr lang="en-US" dirty="0">
                <a:solidFill>
                  <a:schemeClr val="tx1"/>
                </a:solidFill>
              </a:rPr>
              <a:t>the no. of characters in the frame, following this count. </a:t>
            </a:r>
          </a:p>
          <a:p>
            <a:pPr algn="l"/>
            <a:r>
              <a:rPr lang="en-US" dirty="0" smtClean="0">
                <a:solidFill>
                  <a:schemeClr val="tx1"/>
                </a:solidFill>
              </a:rPr>
              <a:t>Five </a:t>
            </a:r>
            <a:r>
              <a:rPr lang="en-US" dirty="0">
                <a:solidFill>
                  <a:schemeClr val="tx1"/>
                </a:solidFill>
              </a:rPr>
              <a:t>frames are of 4, 6, 4, 5, and 3 characters respectively.  </a:t>
            </a:r>
          </a:p>
          <a:p>
            <a:pPr algn="l"/>
            <a:r>
              <a:rPr lang="en-US" dirty="0">
                <a:solidFill>
                  <a:schemeClr val="tx1"/>
                </a:solidFill>
              </a:rPr>
              <a:t>If wrong character count number is received, then the receiver will get </a:t>
            </a:r>
            <a:r>
              <a:rPr lang="en-US" dirty="0" smtClean="0">
                <a:solidFill>
                  <a:schemeClr val="tx1"/>
                </a:solidFill>
              </a:rPr>
              <a:t>out of </a:t>
            </a:r>
            <a:r>
              <a:rPr lang="en-US" dirty="0">
                <a:solidFill>
                  <a:schemeClr val="tx1"/>
                </a:solidFill>
              </a:rPr>
              <a:t>synchronization and will be unable to locate the start of next frame.  </a:t>
            </a:r>
          </a:p>
          <a:p>
            <a:pPr algn="l"/>
            <a:r>
              <a:rPr lang="en-US" b="1" i="1" dirty="0">
                <a:solidFill>
                  <a:schemeClr val="tx1"/>
                </a:solidFill>
              </a:rPr>
              <a:t>Disadvantage</a:t>
            </a:r>
            <a:r>
              <a:rPr lang="en-US" dirty="0">
                <a:solidFill>
                  <a:schemeClr val="tx1"/>
                </a:solidFill>
              </a:rPr>
              <a:t>:   an error can change the character count.  This method is rarely used in practice. </a:t>
            </a: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r>
              <a:rPr lang="en-US" sz="3600" b="1" u="sng" dirty="0">
                <a:solidFill>
                  <a:schemeClr val="tx1"/>
                </a:solidFill>
              </a:rPr>
              <a:t>2.	Starting and Ending character with Character Stuffing </a:t>
            </a:r>
            <a:r>
              <a:rPr lang="en-US" sz="3600" dirty="0">
                <a:solidFill>
                  <a:schemeClr val="tx1"/>
                </a:solidFill>
              </a:rPr>
              <a:t>:</a:t>
            </a:r>
          </a:p>
          <a:p>
            <a:pPr algn="l"/>
            <a:r>
              <a:rPr lang="en-US" sz="3200" dirty="0" smtClean="0">
                <a:solidFill>
                  <a:schemeClr val="tx1"/>
                </a:solidFill>
              </a:rPr>
              <a:t>The problem of character count method is solved here.  </a:t>
            </a:r>
          </a:p>
          <a:p>
            <a:pPr algn="l"/>
            <a:r>
              <a:rPr lang="en-US" sz="3200" dirty="0" smtClean="0">
                <a:solidFill>
                  <a:schemeClr val="tx1"/>
                </a:solidFill>
              </a:rPr>
              <a:t>It uses a starting character before the start of each frame and an ending character at the end of each frame.  </a:t>
            </a:r>
          </a:p>
          <a:p>
            <a:pPr algn="l"/>
            <a:r>
              <a:rPr lang="en-US" sz="3200" dirty="0" smtClean="0">
                <a:solidFill>
                  <a:schemeClr val="tx1"/>
                </a:solidFill>
              </a:rPr>
              <a:t>Each frame is preceded by the transmission of ASCII character sequence  DLE STX.</a:t>
            </a:r>
          </a:p>
          <a:p>
            <a:pPr algn="l"/>
            <a:endParaRPr lang="en-US" sz="3200" dirty="0">
              <a:solidFill>
                <a:schemeClr val="tx1"/>
              </a:solidFill>
            </a:endParaRP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r>
              <a:rPr lang="en-US" sz="4800" b="1" dirty="0" smtClean="0">
                <a:solidFill>
                  <a:schemeClr val="tx1"/>
                </a:solidFill>
              </a:rPr>
              <a:t>DLE  </a:t>
            </a:r>
            <a:r>
              <a:rPr lang="en-US" sz="4800" b="1" dirty="0">
                <a:solidFill>
                  <a:schemeClr val="tx1"/>
                </a:solidFill>
                <a:sym typeface="Wingdings"/>
              </a:rPr>
              <a:t></a:t>
            </a:r>
            <a:r>
              <a:rPr lang="en-US" sz="4800" b="1" dirty="0">
                <a:solidFill>
                  <a:schemeClr val="tx1"/>
                </a:solidFill>
              </a:rPr>
              <a:t>  Data Link Escape.        </a:t>
            </a:r>
            <a:endParaRPr lang="en-US" sz="4800" b="1" dirty="0" smtClean="0">
              <a:solidFill>
                <a:schemeClr val="tx1"/>
              </a:solidFill>
            </a:endParaRPr>
          </a:p>
          <a:p>
            <a:r>
              <a:rPr lang="en-US" sz="4800" b="1" dirty="0" smtClean="0">
                <a:solidFill>
                  <a:schemeClr val="tx1"/>
                </a:solidFill>
              </a:rPr>
              <a:t>STX  </a:t>
            </a:r>
            <a:r>
              <a:rPr lang="en-US" sz="4800" b="1" dirty="0">
                <a:solidFill>
                  <a:schemeClr val="tx1"/>
                </a:solidFill>
                <a:sym typeface="Wingdings"/>
              </a:rPr>
              <a:t></a:t>
            </a:r>
            <a:r>
              <a:rPr lang="en-US" sz="4800" b="1" dirty="0">
                <a:solidFill>
                  <a:schemeClr val="tx1"/>
                </a:solidFill>
              </a:rPr>
              <a:t> Start of text</a:t>
            </a:r>
            <a:r>
              <a:rPr lang="en-US" sz="4800" b="1" dirty="0" smtClean="0">
                <a:solidFill>
                  <a:schemeClr val="tx1"/>
                </a:solidFill>
              </a:rPr>
              <a:t>.</a:t>
            </a:r>
          </a:p>
          <a:p>
            <a:endParaRPr lang="en-US" sz="4800" dirty="0">
              <a:solidFill>
                <a:schemeClr val="tx1"/>
              </a:solidFill>
            </a:endParaRPr>
          </a:p>
          <a:p>
            <a:pPr algn="l"/>
            <a:r>
              <a:rPr lang="en-US" sz="4000" dirty="0">
                <a:solidFill>
                  <a:schemeClr val="tx1"/>
                </a:solidFill>
              </a:rPr>
              <a:t>After the frame, the ASCII character sequence DLE ETX is transmitted</a:t>
            </a:r>
            <a:r>
              <a:rPr lang="en-US" sz="4000" dirty="0" smtClean="0">
                <a:solidFill>
                  <a:schemeClr val="tx1"/>
                </a:solidFill>
              </a:rPr>
              <a:t>.</a:t>
            </a:r>
          </a:p>
          <a:p>
            <a:pPr algn="l"/>
            <a:endParaRPr lang="en-US" sz="4000" dirty="0">
              <a:solidFill>
                <a:schemeClr val="tx1"/>
              </a:solidFill>
            </a:endParaRPr>
          </a:p>
          <a:p>
            <a:r>
              <a:rPr lang="en-US" sz="4800" b="1" dirty="0">
                <a:solidFill>
                  <a:schemeClr val="tx1"/>
                </a:solidFill>
              </a:rPr>
              <a:t>DLE  </a:t>
            </a:r>
            <a:r>
              <a:rPr lang="en-US" sz="4800" b="1" dirty="0">
                <a:solidFill>
                  <a:schemeClr val="tx1"/>
                </a:solidFill>
                <a:sym typeface="Wingdings"/>
              </a:rPr>
              <a:t></a:t>
            </a:r>
            <a:r>
              <a:rPr lang="en-US" sz="4800" b="1" dirty="0">
                <a:solidFill>
                  <a:schemeClr val="tx1"/>
                </a:solidFill>
              </a:rPr>
              <a:t>  Data Link Escape.        </a:t>
            </a:r>
            <a:endParaRPr lang="en-US" sz="4800" b="1" dirty="0" smtClean="0">
              <a:solidFill>
                <a:schemeClr val="tx1"/>
              </a:solidFill>
            </a:endParaRPr>
          </a:p>
          <a:p>
            <a:r>
              <a:rPr lang="en-US" sz="4800" b="1" dirty="0" smtClean="0">
                <a:solidFill>
                  <a:schemeClr val="tx1"/>
                </a:solidFill>
              </a:rPr>
              <a:t>ETX  </a:t>
            </a:r>
            <a:r>
              <a:rPr lang="en-US" sz="4800" b="1" dirty="0">
                <a:solidFill>
                  <a:schemeClr val="tx1"/>
                </a:solidFill>
                <a:sym typeface="Wingdings"/>
              </a:rPr>
              <a:t></a:t>
            </a:r>
            <a:r>
              <a:rPr lang="en-US" sz="4800" b="1" dirty="0">
                <a:solidFill>
                  <a:schemeClr val="tx1"/>
                </a:solidFill>
              </a:rPr>
              <a:t>   End of text.</a:t>
            </a:r>
            <a:endParaRPr lang="en-US" sz="4800" dirty="0">
              <a:solidFill>
                <a:schemeClr val="tx1"/>
              </a:solidFill>
            </a:endParaRPr>
          </a:p>
          <a:p>
            <a:pPr algn="l"/>
            <a:endParaRPr lang="en-US" dirty="0">
              <a:solidFill>
                <a:schemeClr val="tx1"/>
              </a:solidFill>
            </a:endParaRP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marL="228600" marR="0" algn="l">
              <a:lnSpc>
                <a:spcPct val="115000"/>
              </a:lnSpc>
              <a:spcBef>
                <a:spcPts val="0"/>
              </a:spcBef>
              <a:spcAft>
                <a:spcPts val="1000"/>
              </a:spcAft>
            </a:pPr>
            <a:r>
              <a:rPr lang="en-US" dirty="0">
                <a:solidFill>
                  <a:schemeClr val="tx1"/>
                </a:solidFill>
                <a:ea typeface="Calibri"/>
                <a:cs typeface="Times New Roman"/>
              </a:rPr>
              <a:t>So if the receiver looses the synchronization, it just has to search for the DLE STX or DLE ETX, characters to return back on track</a:t>
            </a:r>
            <a:r>
              <a:rPr lang="en-US" dirty="0" smtClean="0">
                <a:solidFill>
                  <a:schemeClr val="tx1"/>
                </a:solidFill>
                <a:ea typeface="Calibri"/>
                <a:cs typeface="Times New Roman"/>
              </a:rPr>
              <a:t>..</a:t>
            </a:r>
          </a:p>
          <a:p>
            <a:pPr marL="228600" marR="0" algn="l">
              <a:lnSpc>
                <a:spcPct val="115000"/>
              </a:lnSpc>
              <a:spcBef>
                <a:spcPts val="0"/>
              </a:spcBef>
              <a:spcAft>
                <a:spcPts val="1000"/>
              </a:spcAft>
            </a:pPr>
            <a:r>
              <a:rPr lang="en-US" dirty="0" smtClean="0">
                <a:solidFill>
                  <a:schemeClr val="tx1"/>
                </a:solidFill>
                <a:ea typeface="Calibri"/>
                <a:cs typeface="Times New Roman"/>
              </a:rPr>
              <a:t>Data </a:t>
            </a:r>
            <a:r>
              <a:rPr lang="en-US" dirty="0">
                <a:solidFill>
                  <a:schemeClr val="tx1"/>
                </a:solidFill>
                <a:ea typeface="Calibri"/>
                <a:cs typeface="Times New Roman"/>
              </a:rPr>
              <a:t>to be transferred is          </a:t>
            </a:r>
            <a:r>
              <a:rPr lang="en-US" sz="4000" dirty="0" smtClean="0">
                <a:solidFill>
                  <a:schemeClr val="tx1"/>
                </a:solidFill>
                <a:ea typeface="Calibri"/>
                <a:cs typeface="Times New Roman"/>
              </a:rPr>
              <a:t>KJSCE</a:t>
            </a:r>
            <a:endParaRPr lang="en-US" dirty="0">
              <a:solidFill>
                <a:schemeClr val="tx1"/>
              </a:solidFill>
              <a:ea typeface="Calibri"/>
              <a:cs typeface="Times New Roman"/>
            </a:endParaRPr>
          </a:p>
          <a:p>
            <a:pPr marL="228600" marR="0" algn="l">
              <a:lnSpc>
                <a:spcPct val="115000"/>
              </a:lnSpc>
              <a:spcBef>
                <a:spcPts val="0"/>
              </a:spcBef>
              <a:spcAft>
                <a:spcPts val="1000"/>
              </a:spcAft>
            </a:pPr>
            <a:endParaRPr lang="en-US" dirty="0" smtClean="0">
              <a:solidFill>
                <a:schemeClr val="tx1"/>
              </a:solidFill>
              <a:ea typeface="Calibri"/>
              <a:cs typeface="Times New Roman"/>
            </a:endParaRPr>
          </a:p>
          <a:p>
            <a:pPr marL="228600" marR="0" algn="l">
              <a:lnSpc>
                <a:spcPct val="115000"/>
              </a:lnSpc>
              <a:spcBef>
                <a:spcPts val="0"/>
              </a:spcBef>
              <a:spcAft>
                <a:spcPts val="1000"/>
              </a:spcAft>
            </a:pPr>
            <a:r>
              <a:rPr lang="en-US" dirty="0" smtClean="0">
                <a:solidFill>
                  <a:schemeClr val="tx1"/>
                </a:solidFill>
                <a:ea typeface="Calibri"/>
                <a:cs typeface="Times New Roman"/>
              </a:rPr>
              <a:t>Frame </a:t>
            </a:r>
            <a:r>
              <a:rPr lang="en-US" dirty="0">
                <a:solidFill>
                  <a:schemeClr val="tx1"/>
                </a:solidFill>
                <a:ea typeface="Calibri"/>
                <a:cs typeface="Times New Roman"/>
              </a:rPr>
              <a:t>will be </a:t>
            </a:r>
          </a:p>
          <a:p>
            <a:pPr marL="228600" marR="0" algn="l">
              <a:lnSpc>
                <a:spcPct val="115000"/>
              </a:lnSpc>
              <a:spcBef>
                <a:spcPts val="0"/>
              </a:spcBef>
              <a:spcAft>
                <a:spcPts val="1000"/>
              </a:spcAft>
            </a:pPr>
            <a:r>
              <a:rPr lang="en-US" dirty="0">
                <a:solidFill>
                  <a:schemeClr val="tx1"/>
                </a:solidFill>
                <a:ea typeface="Calibri"/>
                <a:cs typeface="Times New Roman"/>
              </a:rPr>
              <a:t>        </a:t>
            </a:r>
            <a:r>
              <a:rPr lang="en-US" sz="4400" dirty="0">
                <a:solidFill>
                  <a:schemeClr val="tx1"/>
                </a:solidFill>
                <a:highlight>
                  <a:srgbClr val="00FFFF"/>
                </a:highlight>
                <a:ea typeface="Calibri"/>
                <a:cs typeface="Times New Roman"/>
              </a:rPr>
              <a:t>STX  DLE   </a:t>
            </a:r>
            <a:r>
              <a:rPr lang="en-US" sz="4400" dirty="0" smtClean="0">
                <a:solidFill>
                  <a:schemeClr val="tx1"/>
                </a:solidFill>
                <a:highlight>
                  <a:srgbClr val="00FFFF"/>
                </a:highlight>
                <a:ea typeface="Calibri"/>
                <a:cs typeface="Times New Roman"/>
              </a:rPr>
              <a:t>KJSCE    </a:t>
            </a:r>
            <a:r>
              <a:rPr lang="en-US" sz="4400" dirty="0">
                <a:solidFill>
                  <a:schemeClr val="tx1"/>
                </a:solidFill>
                <a:highlight>
                  <a:srgbClr val="00FFFF"/>
                </a:highlight>
                <a:ea typeface="Calibri"/>
                <a:cs typeface="Times New Roman"/>
              </a:rPr>
              <a:t>DLE  ETX</a:t>
            </a:r>
            <a:r>
              <a:rPr lang="en-US" sz="4400" dirty="0">
                <a:solidFill>
                  <a:schemeClr val="tx1"/>
                </a:solidFill>
                <a:ea typeface="Calibri"/>
                <a:cs typeface="Times New Roman"/>
              </a:rPr>
              <a:t>  </a:t>
            </a:r>
            <a:r>
              <a:rPr lang="en-US" dirty="0">
                <a:solidFill>
                  <a:schemeClr val="tx1"/>
                </a:solidFill>
                <a:ea typeface="Calibri"/>
                <a:cs typeface="Times New Roman"/>
              </a:rPr>
              <a:t>	</a:t>
            </a:r>
            <a:endParaRPr lang="en-US" dirty="0" smtClean="0">
              <a:solidFill>
                <a:schemeClr val="tx1"/>
              </a:solidFill>
              <a:ea typeface="Calibri"/>
              <a:cs typeface="Times New Roman"/>
            </a:endParaRPr>
          </a:p>
          <a:p>
            <a:pPr marL="228600" marR="0" algn="l">
              <a:lnSpc>
                <a:spcPct val="115000"/>
              </a:lnSpc>
              <a:spcBef>
                <a:spcPts val="0"/>
              </a:spcBef>
              <a:spcAft>
                <a:spcPts val="1000"/>
              </a:spcAft>
            </a:pPr>
            <a:r>
              <a:rPr lang="en-US" dirty="0" smtClean="0">
                <a:solidFill>
                  <a:schemeClr val="tx1"/>
                </a:solidFill>
                <a:ea typeface="Calibri"/>
                <a:cs typeface="Times New Roman"/>
              </a:rPr>
              <a:t>after </a:t>
            </a:r>
            <a:r>
              <a:rPr lang="en-US" dirty="0">
                <a:solidFill>
                  <a:schemeClr val="tx1"/>
                </a:solidFill>
                <a:ea typeface="Calibri"/>
                <a:cs typeface="Times New Roman"/>
              </a:rPr>
              <a:t>adding start and end Character.</a:t>
            </a:r>
          </a:p>
          <a:p>
            <a:pPr algn="l"/>
            <a:endParaRPr lang="en-US" dirty="0">
              <a:solidFill>
                <a:schemeClr val="tx1"/>
              </a:solidFill>
            </a:endParaRP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marL="228600" marR="0" algn="l">
              <a:lnSpc>
                <a:spcPct val="115000"/>
              </a:lnSpc>
              <a:spcBef>
                <a:spcPts val="0"/>
              </a:spcBef>
              <a:spcAft>
                <a:spcPts val="1000"/>
              </a:spcAft>
            </a:pPr>
            <a:r>
              <a:rPr lang="en-US" sz="3600" b="1" dirty="0">
                <a:solidFill>
                  <a:schemeClr val="tx1"/>
                </a:solidFill>
                <a:ea typeface="Calibri"/>
                <a:cs typeface="Times New Roman"/>
              </a:rPr>
              <a:t>Problem :</a:t>
            </a:r>
            <a:endParaRPr lang="en-US" dirty="0">
              <a:solidFill>
                <a:schemeClr val="tx1"/>
              </a:solidFill>
              <a:ea typeface="Calibri"/>
              <a:cs typeface="Times New Roman"/>
            </a:endParaRPr>
          </a:p>
          <a:p>
            <a:pPr marL="228600" marR="0" algn="l">
              <a:lnSpc>
                <a:spcPct val="115000"/>
              </a:lnSpc>
              <a:spcBef>
                <a:spcPts val="0"/>
              </a:spcBef>
              <a:spcAft>
                <a:spcPts val="1000"/>
              </a:spcAft>
            </a:pPr>
            <a:r>
              <a:rPr lang="en-US" dirty="0">
                <a:solidFill>
                  <a:schemeClr val="tx1"/>
                </a:solidFill>
                <a:ea typeface="Calibri"/>
                <a:cs typeface="Times New Roman"/>
              </a:rPr>
              <a:t>If the syntax is a part of data.  It would be interpreted as start or end. </a:t>
            </a:r>
          </a:p>
          <a:p>
            <a:pPr marL="228600" marR="0" algn="l">
              <a:lnSpc>
                <a:spcPct val="115000"/>
              </a:lnSpc>
              <a:spcBef>
                <a:spcPts val="0"/>
              </a:spcBef>
              <a:spcAft>
                <a:spcPts val="1000"/>
              </a:spcAft>
            </a:pPr>
            <a:r>
              <a:rPr lang="en-US" dirty="0" smtClean="0">
                <a:solidFill>
                  <a:schemeClr val="tx1"/>
                </a:solidFill>
                <a:ea typeface="Calibri"/>
                <a:cs typeface="Times New Roman"/>
              </a:rPr>
              <a:t>This </a:t>
            </a:r>
            <a:r>
              <a:rPr lang="en-US" dirty="0">
                <a:solidFill>
                  <a:schemeClr val="tx1"/>
                </a:solidFill>
                <a:ea typeface="Calibri"/>
                <a:cs typeface="Times New Roman"/>
              </a:rPr>
              <a:t>problem is solved by using a technique called “</a:t>
            </a:r>
            <a:r>
              <a:rPr lang="en-US" b="1" dirty="0">
                <a:solidFill>
                  <a:schemeClr val="tx1"/>
                </a:solidFill>
                <a:ea typeface="Calibri"/>
                <a:cs typeface="Times New Roman"/>
              </a:rPr>
              <a:t>Character Stuffing</a:t>
            </a:r>
            <a:r>
              <a:rPr lang="en-US" dirty="0">
                <a:solidFill>
                  <a:schemeClr val="tx1"/>
                </a:solidFill>
                <a:ea typeface="Calibri"/>
                <a:cs typeface="Times New Roman"/>
              </a:rPr>
              <a:t>”. </a:t>
            </a:r>
            <a:endParaRPr lang="en-US" dirty="0" smtClean="0">
              <a:solidFill>
                <a:schemeClr val="tx1"/>
              </a:solidFill>
              <a:ea typeface="Calibri"/>
              <a:cs typeface="Times New Roman"/>
            </a:endParaRPr>
          </a:p>
          <a:p>
            <a:pPr marL="228600" marR="0" algn="l">
              <a:lnSpc>
                <a:spcPct val="115000"/>
              </a:lnSpc>
              <a:spcBef>
                <a:spcPts val="0"/>
              </a:spcBef>
              <a:spcAft>
                <a:spcPts val="1000"/>
              </a:spcAft>
            </a:pPr>
            <a:r>
              <a:rPr lang="en-US" dirty="0" smtClean="0">
                <a:solidFill>
                  <a:schemeClr val="tx1"/>
                </a:solidFill>
                <a:ea typeface="Calibri"/>
                <a:cs typeface="Times New Roman"/>
              </a:rPr>
              <a:t>The </a:t>
            </a:r>
            <a:r>
              <a:rPr lang="en-US" dirty="0">
                <a:solidFill>
                  <a:schemeClr val="tx1"/>
                </a:solidFill>
                <a:ea typeface="Calibri"/>
                <a:cs typeface="Times New Roman"/>
              </a:rPr>
              <a:t>DLL at the sending side, inserts an ASCII DLE character, just before any accidental DLE character in the data.   </a:t>
            </a:r>
            <a:endParaRPr lang="en-US" dirty="0" smtClean="0">
              <a:solidFill>
                <a:schemeClr val="tx1"/>
              </a:solidFill>
              <a:ea typeface="Calibri"/>
              <a:cs typeface="Times New Roman"/>
            </a:endParaRPr>
          </a:p>
          <a:p>
            <a:pPr marL="228600" marR="0" algn="l">
              <a:lnSpc>
                <a:spcPct val="115000"/>
              </a:lnSpc>
              <a:spcBef>
                <a:spcPts val="0"/>
              </a:spcBef>
              <a:spcAft>
                <a:spcPts val="1000"/>
              </a:spcAft>
            </a:pPr>
            <a:r>
              <a:rPr lang="en-US" dirty="0" smtClean="0">
                <a:solidFill>
                  <a:schemeClr val="tx1"/>
                </a:solidFill>
                <a:ea typeface="Calibri"/>
                <a:cs typeface="Times New Roman"/>
              </a:rPr>
              <a:t>The </a:t>
            </a:r>
            <a:r>
              <a:rPr lang="en-US" dirty="0">
                <a:solidFill>
                  <a:schemeClr val="tx1"/>
                </a:solidFill>
                <a:ea typeface="Calibri"/>
                <a:cs typeface="Times New Roman"/>
              </a:rPr>
              <a:t>DLL at the receiving end will remove these additional DLE character before handing over the data to the N/w layer</a:t>
            </a:r>
            <a:r>
              <a:rPr lang="en-US" dirty="0" smtClean="0">
                <a:solidFill>
                  <a:schemeClr val="tx1"/>
                </a:solidFill>
                <a:ea typeface="Calibri"/>
                <a:cs typeface="Times New Roman"/>
              </a:rPr>
              <a:t>.</a:t>
            </a:r>
            <a:r>
              <a:rPr lang="en-US" dirty="0">
                <a:solidFill>
                  <a:schemeClr val="tx1"/>
                </a:solidFill>
                <a:ea typeface="Calibri"/>
                <a:cs typeface="Times New Roman"/>
              </a:rPr>
              <a:t> </a:t>
            </a:r>
          </a:p>
          <a:p>
            <a:pPr marL="228600" marR="0" algn="l">
              <a:lnSpc>
                <a:spcPct val="115000"/>
              </a:lnSpc>
              <a:spcBef>
                <a:spcPts val="0"/>
              </a:spcBef>
              <a:spcAft>
                <a:spcPts val="1000"/>
              </a:spcAft>
            </a:pPr>
            <a:r>
              <a:rPr lang="en-US" dirty="0">
                <a:solidFill>
                  <a:schemeClr val="tx1"/>
                </a:solidFill>
                <a:ea typeface="Calibri"/>
                <a:cs typeface="Times New Roman"/>
              </a:rPr>
              <a:t>Data to be sent    </a:t>
            </a:r>
            <a:r>
              <a:rPr lang="en-US" sz="4600" dirty="0" smtClean="0">
                <a:solidFill>
                  <a:schemeClr val="tx1"/>
                </a:solidFill>
                <a:highlight>
                  <a:srgbClr val="FFFF00"/>
                </a:highlight>
                <a:ea typeface="Calibri"/>
                <a:cs typeface="Times New Roman"/>
              </a:rPr>
              <a:t>A  DLE  B</a:t>
            </a:r>
            <a:endParaRPr lang="en-US" sz="4600" dirty="0">
              <a:solidFill>
                <a:schemeClr val="tx1"/>
              </a:solidFill>
              <a:ea typeface="Calibri"/>
              <a:cs typeface="Times New Roman"/>
            </a:endParaRPr>
          </a:p>
          <a:p>
            <a:pPr algn="l"/>
            <a:endParaRPr lang="en-US" dirty="0">
              <a:solidFill>
                <a:schemeClr val="tx1"/>
              </a:solidFill>
            </a:endParaRP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marL="228600" lvl="0" algn="l">
              <a:lnSpc>
                <a:spcPct val="115000"/>
              </a:lnSpc>
              <a:spcBef>
                <a:spcPts val="0"/>
              </a:spcBef>
              <a:spcAft>
                <a:spcPts val="1000"/>
              </a:spcAft>
            </a:pPr>
            <a:r>
              <a:rPr lang="en-US" sz="2800" dirty="0">
                <a:solidFill>
                  <a:prstClr val="black"/>
                </a:solidFill>
                <a:ea typeface="Calibri"/>
                <a:cs typeface="Times New Roman"/>
              </a:rPr>
              <a:t>Frame will be </a:t>
            </a:r>
          </a:p>
          <a:p>
            <a:pPr marL="228600" lvl="0" algn="l">
              <a:lnSpc>
                <a:spcPct val="115000"/>
              </a:lnSpc>
              <a:spcBef>
                <a:spcPts val="0"/>
              </a:spcBef>
              <a:spcAft>
                <a:spcPts val="1000"/>
              </a:spcAft>
            </a:pPr>
            <a:r>
              <a:rPr lang="en-US" sz="2800" dirty="0">
                <a:solidFill>
                  <a:prstClr val="black"/>
                </a:solidFill>
                <a:ea typeface="Calibri"/>
                <a:cs typeface="Times New Roman"/>
              </a:rPr>
              <a:t>        </a:t>
            </a:r>
            <a:r>
              <a:rPr lang="en-US" sz="2800" dirty="0">
                <a:solidFill>
                  <a:prstClr val="black"/>
                </a:solidFill>
                <a:highlight>
                  <a:srgbClr val="00FFFF"/>
                </a:highlight>
                <a:ea typeface="Calibri"/>
                <a:cs typeface="Times New Roman"/>
              </a:rPr>
              <a:t>STX  DLE   A  </a:t>
            </a:r>
            <a:r>
              <a:rPr lang="en-US" sz="2800" dirty="0">
                <a:solidFill>
                  <a:prstClr val="black"/>
                </a:solidFill>
                <a:highlight>
                  <a:srgbClr val="FF00FF"/>
                </a:highlight>
                <a:ea typeface="Calibri"/>
                <a:cs typeface="Times New Roman"/>
              </a:rPr>
              <a:t>DLE</a:t>
            </a:r>
            <a:r>
              <a:rPr lang="en-US" sz="2800" dirty="0">
                <a:solidFill>
                  <a:prstClr val="black"/>
                </a:solidFill>
                <a:highlight>
                  <a:srgbClr val="00FFFF"/>
                </a:highlight>
                <a:ea typeface="Calibri"/>
                <a:cs typeface="Times New Roman"/>
              </a:rPr>
              <a:t>  </a:t>
            </a:r>
            <a:r>
              <a:rPr lang="en-US" sz="2800" dirty="0" err="1">
                <a:solidFill>
                  <a:prstClr val="black"/>
                </a:solidFill>
                <a:highlight>
                  <a:srgbClr val="00FFFF"/>
                </a:highlight>
                <a:ea typeface="Calibri"/>
                <a:cs typeface="Times New Roman"/>
              </a:rPr>
              <a:t>DLE</a:t>
            </a:r>
            <a:r>
              <a:rPr lang="en-US" sz="2800" dirty="0">
                <a:solidFill>
                  <a:prstClr val="black"/>
                </a:solidFill>
                <a:highlight>
                  <a:srgbClr val="00FFFF"/>
                </a:highlight>
                <a:ea typeface="Calibri"/>
                <a:cs typeface="Times New Roman"/>
              </a:rPr>
              <a:t>  B    DLE  ETX</a:t>
            </a:r>
            <a:r>
              <a:rPr lang="en-US" sz="2800" dirty="0">
                <a:solidFill>
                  <a:prstClr val="black"/>
                </a:solidFill>
                <a:ea typeface="Calibri"/>
                <a:cs typeface="Times New Roman"/>
              </a:rPr>
              <a:t>  	</a:t>
            </a:r>
            <a:endParaRPr lang="en-US" sz="2800" dirty="0" smtClean="0">
              <a:solidFill>
                <a:prstClr val="black"/>
              </a:solidFill>
              <a:ea typeface="Calibri"/>
              <a:cs typeface="Times New Roman"/>
            </a:endParaRPr>
          </a:p>
          <a:p>
            <a:pPr marL="228600" lvl="0" algn="l">
              <a:lnSpc>
                <a:spcPct val="115000"/>
              </a:lnSpc>
              <a:spcBef>
                <a:spcPts val="0"/>
              </a:spcBef>
              <a:spcAft>
                <a:spcPts val="1000"/>
              </a:spcAft>
            </a:pPr>
            <a:endParaRPr lang="en-US" sz="2800" dirty="0">
              <a:solidFill>
                <a:prstClr val="black"/>
              </a:solidFill>
              <a:ea typeface="Calibri"/>
              <a:cs typeface="Times New Roman"/>
            </a:endParaRPr>
          </a:p>
          <a:p>
            <a:pPr marL="228600" lvl="0" algn="l">
              <a:lnSpc>
                <a:spcPct val="115000"/>
              </a:lnSpc>
              <a:spcBef>
                <a:spcPts val="0"/>
              </a:spcBef>
              <a:spcAft>
                <a:spcPts val="1000"/>
              </a:spcAft>
            </a:pPr>
            <a:r>
              <a:rPr lang="en-US" sz="2800" dirty="0">
                <a:solidFill>
                  <a:prstClr val="black"/>
                </a:solidFill>
                <a:ea typeface="Calibri"/>
                <a:cs typeface="Times New Roman"/>
              </a:rPr>
              <a:t>after adding start and end Character + DLE stuffed before DLE in the Data.</a:t>
            </a:r>
          </a:p>
          <a:p>
            <a:pPr marL="228600" lvl="0" algn="l">
              <a:lnSpc>
                <a:spcPct val="115000"/>
              </a:lnSpc>
              <a:spcBef>
                <a:spcPts val="0"/>
              </a:spcBef>
              <a:spcAft>
                <a:spcPts val="1000"/>
              </a:spcAft>
            </a:pPr>
            <a:r>
              <a:rPr lang="en-US" sz="2800" dirty="0">
                <a:solidFill>
                  <a:prstClr val="black"/>
                </a:solidFill>
                <a:ea typeface="Calibri"/>
                <a:cs typeface="Times New Roman"/>
              </a:rPr>
              <a:t>At the receiver side additional DLE will be removed, and   A  DLE  B  will be given to the N/w layer.  </a:t>
            </a:r>
          </a:p>
          <a:p>
            <a:pPr marL="228600" lvl="0" algn="l">
              <a:lnSpc>
                <a:spcPct val="115000"/>
              </a:lnSpc>
              <a:spcBef>
                <a:spcPts val="0"/>
              </a:spcBef>
              <a:spcAft>
                <a:spcPts val="1000"/>
              </a:spcAft>
            </a:pPr>
            <a:r>
              <a:rPr lang="en-US" sz="2800" dirty="0">
                <a:solidFill>
                  <a:prstClr val="black"/>
                </a:solidFill>
                <a:ea typeface="Calibri"/>
                <a:cs typeface="Times New Roman"/>
              </a:rPr>
              <a:t>Thus framing DLE STX and DLE ETX can be easily distinguished from  the one in data, because DLE’s in the data is always Doubled.</a:t>
            </a:r>
          </a:p>
          <a:p>
            <a:endParaRPr lang="en-US" dirty="0"/>
          </a:p>
        </p:txBody>
      </p:sp>
    </p:spTree>
    <p:extLst>
      <p:ext uri="{BB962C8B-B14F-4D97-AF65-F5344CB8AC3E}">
        <p14:creationId xmlns:p14="http://schemas.microsoft.com/office/powerpoint/2010/main" val="34850761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a:ln>
            <a:noFill/>
          </a:ln>
        </p:spPr>
        <p:txBody>
          <a:bodyPr>
            <a:normAutofit/>
          </a:bodyPr>
          <a:lstStyle/>
          <a:p>
            <a:pPr marR="0" lvl="0" algn="l">
              <a:lnSpc>
                <a:spcPct val="115000"/>
              </a:lnSpc>
              <a:spcBef>
                <a:spcPts val="0"/>
              </a:spcBef>
              <a:spcAft>
                <a:spcPts val="1000"/>
              </a:spcAft>
            </a:pPr>
            <a:r>
              <a:rPr lang="en-US" sz="3600" b="1" dirty="0">
                <a:solidFill>
                  <a:schemeClr val="tx1"/>
                </a:solidFill>
                <a:ea typeface="Calibri"/>
                <a:cs typeface="Times New Roman"/>
              </a:rPr>
              <a:t>Starting and Ending Flags with Bit Stuffing :</a:t>
            </a:r>
            <a:endParaRPr lang="en-US" dirty="0">
              <a:solidFill>
                <a:schemeClr val="tx1"/>
              </a:solidFill>
              <a:ea typeface="Calibri"/>
              <a:cs typeface="Times New Roman"/>
            </a:endParaRPr>
          </a:p>
          <a:p>
            <a:pPr algn="l">
              <a:lnSpc>
                <a:spcPct val="115000"/>
              </a:lnSpc>
              <a:spcBef>
                <a:spcPts val="0"/>
              </a:spcBef>
              <a:spcAft>
                <a:spcPts val="1000"/>
              </a:spcAft>
            </a:pPr>
            <a:r>
              <a:rPr lang="en-US" sz="2400" dirty="0">
                <a:solidFill>
                  <a:schemeClr val="tx1"/>
                </a:solidFill>
                <a:ea typeface="Calibri"/>
                <a:cs typeface="Times New Roman"/>
              </a:rPr>
              <a:t>It allows frames to contain an arbitrary no of bits and codes different from ASCII code.  </a:t>
            </a:r>
            <a:endParaRPr lang="en-US" sz="2400" dirty="0" smtClean="0">
              <a:solidFill>
                <a:schemeClr val="tx1"/>
              </a:solidFill>
              <a:ea typeface="Calibri"/>
              <a:cs typeface="Times New Roman"/>
            </a:endParaRPr>
          </a:p>
          <a:p>
            <a:pPr algn="l">
              <a:lnSpc>
                <a:spcPct val="115000"/>
              </a:lnSpc>
              <a:spcBef>
                <a:spcPts val="0"/>
              </a:spcBef>
              <a:spcAft>
                <a:spcPts val="1000"/>
              </a:spcAft>
            </a:pPr>
            <a:r>
              <a:rPr lang="en-US" sz="2400" dirty="0" smtClean="0">
                <a:solidFill>
                  <a:schemeClr val="tx1"/>
                </a:solidFill>
                <a:ea typeface="Calibri"/>
                <a:cs typeface="Times New Roman"/>
              </a:rPr>
              <a:t>At </a:t>
            </a:r>
            <a:r>
              <a:rPr lang="en-US" sz="2400" dirty="0">
                <a:solidFill>
                  <a:schemeClr val="tx1"/>
                </a:solidFill>
                <a:ea typeface="Calibri"/>
                <a:cs typeface="Times New Roman"/>
              </a:rPr>
              <a:t>the beginning and end of each frames a specific bit pattern “ 01111110 “, called “</a:t>
            </a:r>
            <a:r>
              <a:rPr lang="en-US" sz="2400" dirty="0" smtClean="0">
                <a:solidFill>
                  <a:schemeClr val="tx1"/>
                </a:solidFill>
                <a:ea typeface="Calibri"/>
                <a:cs typeface="Times New Roman"/>
              </a:rPr>
              <a:t>Flag-byte</a:t>
            </a:r>
            <a:r>
              <a:rPr lang="en-US" sz="2400" dirty="0">
                <a:solidFill>
                  <a:schemeClr val="tx1"/>
                </a:solidFill>
                <a:ea typeface="Calibri"/>
                <a:cs typeface="Times New Roman"/>
              </a:rPr>
              <a:t>” is transmitted.  A concept of bit stuffing.  ( as there are 6 consecutive 1’s</a:t>
            </a:r>
            <a:r>
              <a:rPr lang="en-US" sz="2400" dirty="0" smtClean="0">
                <a:solidFill>
                  <a:schemeClr val="tx1"/>
                </a:solidFill>
                <a:ea typeface="Calibri"/>
                <a:cs typeface="Times New Roman"/>
              </a:rPr>
              <a:t>).</a:t>
            </a:r>
          </a:p>
          <a:p>
            <a:pPr algn="l">
              <a:lnSpc>
                <a:spcPct val="115000"/>
              </a:lnSpc>
              <a:spcBef>
                <a:spcPts val="0"/>
              </a:spcBef>
              <a:spcAft>
                <a:spcPts val="1000"/>
              </a:spcAft>
            </a:pPr>
            <a:endParaRPr lang="en-US" sz="2400" dirty="0">
              <a:solidFill>
                <a:schemeClr val="tx1"/>
              </a:solidFill>
              <a:ea typeface="Calibri"/>
              <a:cs typeface="Times New Roman"/>
            </a:endParaRPr>
          </a:p>
          <a:p>
            <a:pPr algn="l">
              <a:lnSpc>
                <a:spcPct val="115000"/>
              </a:lnSpc>
              <a:spcBef>
                <a:spcPts val="0"/>
              </a:spcBef>
              <a:spcAft>
                <a:spcPts val="1000"/>
              </a:spcAft>
            </a:pPr>
            <a:endParaRPr lang="en-US" sz="2400" dirty="0" smtClean="0">
              <a:solidFill>
                <a:schemeClr val="tx1"/>
              </a:solidFill>
              <a:ea typeface="Calibri"/>
              <a:cs typeface="Times New Roman"/>
            </a:endParaRPr>
          </a:p>
          <a:p>
            <a:pPr algn="l">
              <a:lnSpc>
                <a:spcPct val="115000"/>
              </a:lnSpc>
              <a:spcBef>
                <a:spcPts val="0"/>
              </a:spcBef>
              <a:spcAft>
                <a:spcPts val="1000"/>
              </a:spcAft>
            </a:pPr>
            <a:r>
              <a:rPr lang="en-US" sz="2400" dirty="0" smtClean="0">
                <a:solidFill>
                  <a:schemeClr val="tx1"/>
                </a:solidFill>
                <a:ea typeface="Calibri"/>
                <a:cs typeface="Times New Roman"/>
              </a:rPr>
              <a:t>Data </a:t>
            </a:r>
            <a:r>
              <a:rPr lang="en-US" sz="2400" dirty="0">
                <a:solidFill>
                  <a:schemeClr val="tx1"/>
                </a:solidFill>
                <a:ea typeface="Calibri"/>
                <a:cs typeface="Times New Roman"/>
              </a:rPr>
              <a:t>to be transferred :      </a:t>
            </a:r>
            <a:endParaRPr lang="en-US" sz="2400" dirty="0" smtClean="0">
              <a:solidFill>
                <a:schemeClr val="tx1"/>
              </a:solidFill>
              <a:ea typeface="Calibri"/>
              <a:cs typeface="Times New Roman"/>
            </a:endParaRPr>
          </a:p>
          <a:p>
            <a:pPr algn="ctr">
              <a:lnSpc>
                <a:spcPct val="115000"/>
              </a:lnSpc>
              <a:spcBef>
                <a:spcPts val="0"/>
              </a:spcBef>
              <a:spcAft>
                <a:spcPts val="1000"/>
              </a:spcAft>
            </a:pPr>
            <a:r>
              <a:rPr lang="en-US" sz="2400" dirty="0" smtClean="0">
                <a:solidFill>
                  <a:schemeClr val="tx1"/>
                </a:solidFill>
                <a:ea typeface="Calibri"/>
                <a:cs typeface="Times New Roman"/>
              </a:rPr>
              <a:t>0 </a:t>
            </a:r>
            <a:r>
              <a:rPr lang="en-US" sz="2400" dirty="0">
                <a:solidFill>
                  <a:schemeClr val="tx1"/>
                </a:solidFill>
                <a:ea typeface="Calibri"/>
                <a:cs typeface="Times New Roman"/>
              </a:rPr>
              <a:t>1 0 0 1 1 1 1 1 1 0 0 </a:t>
            </a:r>
            <a:r>
              <a:rPr lang="en-US" sz="2400" dirty="0">
                <a:solidFill>
                  <a:srgbClr val="00B0F0"/>
                </a:solidFill>
                <a:ea typeface="Calibri"/>
                <a:cs typeface="Times New Roman"/>
              </a:rPr>
              <a:t>1 1 1 1 1 1 </a:t>
            </a:r>
            <a:r>
              <a:rPr lang="en-US" sz="2400" dirty="0">
                <a:solidFill>
                  <a:schemeClr val="tx1"/>
                </a:solidFill>
                <a:ea typeface="Calibri"/>
                <a:cs typeface="Times New Roman"/>
              </a:rPr>
              <a:t>0 1 0 1 1 0.</a:t>
            </a:r>
          </a:p>
          <a:p>
            <a:pPr algn="l">
              <a:lnSpc>
                <a:spcPct val="115000"/>
              </a:lnSpc>
              <a:spcBef>
                <a:spcPts val="0"/>
              </a:spcBef>
              <a:spcAft>
                <a:spcPts val="1000"/>
              </a:spcAft>
            </a:pPr>
            <a:r>
              <a:rPr lang="en-US" sz="2400" dirty="0">
                <a:solidFill>
                  <a:schemeClr val="tx1"/>
                </a:solidFill>
                <a:ea typeface="Calibri"/>
                <a:cs typeface="Times New Roman"/>
              </a:rPr>
              <a:t>The above data has 6 consecutive 1’s.  So the sender adds a ‘0’ bit after continuous 5,  1’s.</a:t>
            </a:r>
          </a:p>
          <a:p>
            <a:pPr algn="l"/>
            <a:endParaRPr lang="en-US" dirty="0">
              <a:solidFill>
                <a:schemeClr val="tx1"/>
              </a:solidFill>
            </a:endParaRP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3472072"/>
            <a:ext cx="7620000" cy="1056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lnSpc>
                <a:spcPct val="115000"/>
              </a:lnSpc>
              <a:spcBef>
                <a:spcPts val="0"/>
              </a:spcBef>
              <a:spcAft>
                <a:spcPts val="1000"/>
              </a:spcAft>
            </a:pPr>
            <a:r>
              <a:rPr lang="en-US" sz="2400" dirty="0" smtClean="0">
                <a:solidFill>
                  <a:schemeClr val="tx1"/>
                </a:solidFill>
                <a:ea typeface="Calibri"/>
                <a:cs typeface="Times New Roman"/>
              </a:rPr>
              <a:t>Data:0 </a:t>
            </a:r>
            <a:r>
              <a:rPr lang="en-US" sz="2400" dirty="0">
                <a:solidFill>
                  <a:schemeClr val="tx1"/>
                </a:solidFill>
                <a:ea typeface="Calibri"/>
                <a:cs typeface="Times New Roman"/>
              </a:rPr>
              <a:t>1 0 0 1 1 1 1 1 1 0 0 1 1 1 1 1 1 0 1 0 1 1 0.</a:t>
            </a:r>
          </a:p>
          <a:p>
            <a:pPr algn="l">
              <a:lnSpc>
                <a:spcPct val="115000"/>
              </a:lnSpc>
              <a:spcBef>
                <a:spcPts val="0"/>
              </a:spcBef>
              <a:spcAft>
                <a:spcPts val="1000"/>
              </a:spcAft>
            </a:pPr>
            <a:r>
              <a:rPr lang="en-US" sz="2400" dirty="0" smtClean="0">
                <a:solidFill>
                  <a:schemeClr val="tx1"/>
                </a:solidFill>
                <a:ea typeface="Calibri"/>
                <a:cs typeface="Times New Roman"/>
              </a:rPr>
              <a:t>New </a:t>
            </a:r>
            <a:r>
              <a:rPr lang="en-US" sz="2400" dirty="0">
                <a:solidFill>
                  <a:schemeClr val="tx1"/>
                </a:solidFill>
                <a:ea typeface="Calibri"/>
                <a:cs typeface="Times New Roman"/>
              </a:rPr>
              <a:t>data created    </a:t>
            </a:r>
            <a:endParaRPr lang="en-US" sz="2400" dirty="0" smtClean="0">
              <a:solidFill>
                <a:schemeClr val="tx1"/>
              </a:solidFill>
              <a:ea typeface="Calibri"/>
              <a:cs typeface="Times New Roman"/>
            </a:endParaRPr>
          </a:p>
          <a:p>
            <a:pPr algn="l">
              <a:lnSpc>
                <a:spcPct val="115000"/>
              </a:lnSpc>
              <a:spcBef>
                <a:spcPts val="0"/>
              </a:spcBef>
              <a:spcAft>
                <a:spcPts val="1000"/>
              </a:spcAft>
            </a:pPr>
            <a:r>
              <a:rPr lang="en-US" sz="2400" u="sng" dirty="0" smtClean="0">
                <a:solidFill>
                  <a:schemeClr val="tx1"/>
                </a:solidFill>
                <a:highlight>
                  <a:srgbClr val="FFFF00"/>
                </a:highlight>
                <a:ea typeface="Calibri"/>
                <a:cs typeface="Times New Roman"/>
              </a:rPr>
              <a:t>01111110</a:t>
            </a:r>
            <a:r>
              <a:rPr lang="en-US" sz="2400" dirty="0" smtClean="0">
                <a:solidFill>
                  <a:schemeClr val="tx1"/>
                </a:solidFill>
                <a:ea typeface="Calibri"/>
                <a:cs typeface="Times New Roman"/>
              </a:rPr>
              <a:t>  </a:t>
            </a:r>
            <a:r>
              <a:rPr lang="en-US" sz="2400" dirty="0">
                <a:solidFill>
                  <a:schemeClr val="accent1"/>
                </a:solidFill>
                <a:ea typeface="Calibri"/>
                <a:cs typeface="Times New Roman"/>
              </a:rPr>
              <a:t>0 1 0 0 1 1 1 1 1 </a:t>
            </a:r>
            <a:r>
              <a:rPr lang="en-US" sz="2400" dirty="0">
                <a:solidFill>
                  <a:schemeClr val="accent1"/>
                </a:solidFill>
                <a:highlight>
                  <a:srgbClr val="FF00FF"/>
                </a:highlight>
                <a:ea typeface="Calibri"/>
                <a:cs typeface="Times New Roman"/>
              </a:rPr>
              <a:t>0</a:t>
            </a:r>
            <a:r>
              <a:rPr lang="en-US" sz="2400" dirty="0">
                <a:solidFill>
                  <a:schemeClr val="accent1"/>
                </a:solidFill>
                <a:ea typeface="Calibri"/>
                <a:cs typeface="Times New Roman"/>
              </a:rPr>
              <a:t> 1 0 0 1 1 1 1 1 </a:t>
            </a:r>
            <a:r>
              <a:rPr lang="en-US" sz="2400" dirty="0">
                <a:solidFill>
                  <a:schemeClr val="accent1"/>
                </a:solidFill>
                <a:highlight>
                  <a:srgbClr val="FF00FF"/>
                </a:highlight>
                <a:ea typeface="Calibri"/>
                <a:cs typeface="Times New Roman"/>
              </a:rPr>
              <a:t>0</a:t>
            </a:r>
            <a:r>
              <a:rPr lang="en-US" sz="2400" dirty="0">
                <a:solidFill>
                  <a:schemeClr val="accent1"/>
                </a:solidFill>
                <a:ea typeface="Calibri"/>
                <a:cs typeface="Times New Roman"/>
              </a:rPr>
              <a:t> 1 0 1 0 1 1 0   </a:t>
            </a:r>
            <a:r>
              <a:rPr lang="en-US" sz="2400" u="sng" dirty="0">
                <a:solidFill>
                  <a:schemeClr val="tx1"/>
                </a:solidFill>
                <a:highlight>
                  <a:srgbClr val="FFFF00"/>
                </a:highlight>
                <a:ea typeface="Calibri"/>
                <a:cs typeface="Times New Roman"/>
              </a:rPr>
              <a:t>01111110</a:t>
            </a:r>
            <a:r>
              <a:rPr lang="en-US" sz="2400" dirty="0">
                <a:solidFill>
                  <a:schemeClr val="tx1"/>
                </a:solidFill>
                <a:ea typeface="Calibri"/>
                <a:cs typeface="Times New Roman"/>
              </a:rPr>
              <a:t>.</a:t>
            </a:r>
          </a:p>
          <a:p>
            <a:pPr algn="l">
              <a:lnSpc>
                <a:spcPct val="115000"/>
              </a:lnSpc>
              <a:spcBef>
                <a:spcPts val="0"/>
              </a:spcBef>
              <a:spcAft>
                <a:spcPts val="1000"/>
              </a:spcAft>
            </a:pPr>
            <a:r>
              <a:rPr lang="en-US" sz="2400" dirty="0">
                <a:solidFill>
                  <a:schemeClr val="tx1"/>
                </a:solidFill>
                <a:ea typeface="Calibri"/>
                <a:cs typeface="Times New Roman"/>
              </a:rPr>
              <a:t>Pink </a:t>
            </a:r>
            <a:r>
              <a:rPr lang="en-US" sz="2400" dirty="0">
                <a:solidFill>
                  <a:schemeClr val="tx1"/>
                </a:solidFill>
                <a:highlight>
                  <a:srgbClr val="FF00FF"/>
                </a:highlight>
                <a:ea typeface="Calibri"/>
                <a:cs typeface="Times New Roman"/>
              </a:rPr>
              <a:t>0</a:t>
            </a:r>
            <a:r>
              <a:rPr lang="en-US" sz="2400" dirty="0">
                <a:solidFill>
                  <a:schemeClr val="tx1"/>
                </a:solidFill>
                <a:ea typeface="Calibri"/>
                <a:cs typeface="Times New Roman"/>
              </a:rPr>
              <a:t>  </a:t>
            </a:r>
            <a:r>
              <a:rPr lang="en-US" sz="2400" dirty="0">
                <a:solidFill>
                  <a:schemeClr val="tx1"/>
                </a:solidFill>
                <a:ea typeface="Calibri"/>
                <a:cs typeface="Times New Roman"/>
                <a:sym typeface="Wingdings"/>
              </a:rPr>
              <a:t></a:t>
            </a:r>
            <a:r>
              <a:rPr lang="en-US" sz="2400" dirty="0">
                <a:solidFill>
                  <a:schemeClr val="tx1"/>
                </a:solidFill>
                <a:ea typeface="Calibri"/>
                <a:cs typeface="Times New Roman"/>
              </a:rPr>
              <a:t>   indicates the ‘0’ bit stiffed, after consecutive 1’s, in the data.</a:t>
            </a:r>
          </a:p>
          <a:p>
            <a:pPr algn="l">
              <a:lnSpc>
                <a:spcPct val="115000"/>
              </a:lnSpc>
              <a:spcBef>
                <a:spcPts val="0"/>
              </a:spcBef>
              <a:spcAft>
                <a:spcPts val="1000"/>
              </a:spcAft>
            </a:pPr>
            <a:r>
              <a:rPr lang="en-US" sz="2400" dirty="0">
                <a:solidFill>
                  <a:schemeClr val="tx1"/>
                </a:solidFill>
                <a:ea typeface="Calibri"/>
                <a:cs typeface="Times New Roman"/>
              </a:rPr>
              <a:t>When the receiver receives this new data, with 5 consecutive 1’s, it automatically deletes the ‘0’ following the 5</a:t>
            </a:r>
            <a:r>
              <a:rPr lang="en-US" sz="2400" baseline="30000" dirty="0">
                <a:solidFill>
                  <a:schemeClr val="tx1"/>
                </a:solidFill>
                <a:ea typeface="Calibri"/>
                <a:cs typeface="Times New Roman"/>
              </a:rPr>
              <a:t>th</a:t>
            </a:r>
            <a:r>
              <a:rPr lang="en-US" sz="2400" dirty="0">
                <a:solidFill>
                  <a:schemeClr val="tx1"/>
                </a:solidFill>
                <a:ea typeface="Calibri"/>
                <a:cs typeface="Times New Roman"/>
              </a:rPr>
              <a:t> bit.  </a:t>
            </a:r>
            <a:endParaRPr lang="en-US" sz="2400" dirty="0" smtClean="0">
              <a:solidFill>
                <a:schemeClr val="tx1"/>
              </a:solidFill>
              <a:ea typeface="Calibri"/>
              <a:cs typeface="Times New Roman"/>
            </a:endParaRPr>
          </a:p>
          <a:p>
            <a:pPr algn="l">
              <a:lnSpc>
                <a:spcPct val="115000"/>
              </a:lnSpc>
              <a:spcBef>
                <a:spcPts val="0"/>
              </a:spcBef>
              <a:spcAft>
                <a:spcPts val="1000"/>
              </a:spcAft>
            </a:pPr>
            <a:r>
              <a:rPr lang="en-US" sz="2400" dirty="0" smtClean="0">
                <a:solidFill>
                  <a:schemeClr val="tx1"/>
                </a:solidFill>
                <a:ea typeface="Calibri"/>
                <a:cs typeface="Times New Roman"/>
              </a:rPr>
              <a:t>This </a:t>
            </a:r>
            <a:r>
              <a:rPr lang="en-US" sz="2400" dirty="0">
                <a:solidFill>
                  <a:schemeClr val="tx1"/>
                </a:solidFill>
                <a:ea typeface="Calibri"/>
                <a:cs typeface="Times New Roman"/>
              </a:rPr>
              <a:t>is called “</a:t>
            </a:r>
            <a:r>
              <a:rPr lang="en-US" sz="2400" b="1" dirty="0">
                <a:solidFill>
                  <a:schemeClr val="tx1"/>
                </a:solidFill>
                <a:ea typeface="Calibri"/>
                <a:cs typeface="Times New Roman"/>
              </a:rPr>
              <a:t>De-stuffing</a:t>
            </a:r>
            <a:r>
              <a:rPr lang="en-US" sz="2400" dirty="0">
                <a:solidFill>
                  <a:schemeClr val="tx1"/>
                </a:solidFill>
                <a:ea typeface="Calibri"/>
                <a:cs typeface="Times New Roman"/>
              </a:rPr>
              <a:t>”.  Due to bit stuffing, the problem of flag arising in the data is eliminated.  </a:t>
            </a:r>
          </a:p>
          <a:p>
            <a:pPr algn="l"/>
            <a:endParaRPr lang="en-US" dirty="0">
              <a:solidFill>
                <a:schemeClr val="tx1"/>
              </a:solidFill>
            </a:endParaRP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algn="l"/>
            <a:endParaRPr lang="en-US" dirty="0">
              <a:solidFill>
                <a:schemeClr val="tx1"/>
              </a:solidFill>
            </a:endParaRPr>
          </a:p>
        </p:txBody>
      </p:sp>
      <p:pic>
        <p:nvPicPr>
          <p:cNvPr id="3" name="Picture 2" descr="C:\Users\Admin\AppData\Local\Microsoft\Windows\Temporary Internet Files\Content.Word\New Picture (13).bmp"/>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381000"/>
            <a:ext cx="8382000" cy="6248399"/>
          </a:xfrm>
          <a:prstGeom prst="rect">
            <a:avLst/>
          </a:prstGeom>
          <a:noFill/>
          <a:ln>
            <a:noFill/>
          </a:ln>
        </p:spPr>
      </p:pic>
    </p:spTree>
    <p:extLst>
      <p:ext uri="{BB962C8B-B14F-4D97-AF65-F5344CB8AC3E}">
        <p14:creationId xmlns:p14="http://schemas.microsoft.com/office/powerpoint/2010/main" val="31883826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r>
              <a:rPr lang="en-US" sz="3200" b="1" u="sng" dirty="0" smtClean="0">
                <a:solidFill>
                  <a:schemeClr val="tx1"/>
                </a:solidFill>
              </a:rPr>
              <a:t>BYTE </a:t>
            </a:r>
            <a:r>
              <a:rPr lang="en-US" sz="3200" b="1" u="sng" dirty="0">
                <a:solidFill>
                  <a:schemeClr val="tx1"/>
                </a:solidFill>
              </a:rPr>
              <a:t>STUFFING </a:t>
            </a:r>
            <a:r>
              <a:rPr lang="en-US" sz="3200" dirty="0">
                <a:solidFill>
                  <a:schemeClr val="tx1"/>
                </a:solidFill>
              </a:rPr>
              <a:t>:  “ </a:t>
            </a:r>
            <a:r>
              <a:rPr lang="en-US" sz="3200" dirty="0" smtClean="0">
                <a:solidFill>
                  <a:schemeClr val="tx1"/>
                </a:solidFill>
              </a:rPr>
              <a:t>Escape </a:t>
            </a:r>
            <a:r>
              <a:rPr lang="en-US" sz="3200" dirty="0">
                <a:solidFill>
                  <a:schemeClr val="tx1"/>
                </a:solidFill>
              </a:rPr>
              <a:t>character” :</a:t>
            </a:r>
          </a:p>
          <a:p>
            <a:pPr algn="l"/>
            <a:r>
              <a:rPr lang="en-US" sz="3200" dirty="0">
                <a:solidFill>
                  <a:schemeClr val="tx1"/>
                </a:solidFill>
              </a:rPr>
              <a:t>A special byte is added to the data section of the frame, when there is a character with the same pattern as the flag.  </a:t>
            </a:r>
            <a:endParaRPr lang="en-US" sz="3200" dirty="0" smtClean="0">
              <a:solidFill>
                <a:schemeClr val="tx1"/>
              </a:solidFill>
            </a:endParaRPr>
          </a:p>
          <a:p>
            <a:pPr algn="l"/>
            <a:r>
              <a:rPr lang="en-US" sz="3200" dirty="0" smtClean="0">
                <a:solidFill>
                  <a:schemeClr val="tx1"/>
                </a:solidFill>
              </a:rPr>
              <a:t>The </a:t>
            </a:r>
            <a:r>
              <a:rPr lang="en-US" sz="3200" dirty="0">
                <a:solidFill>
                  <a:schemeClr val="tx1"/>
                </a:solidFill>
              </a:rPr>
              <a:t>data section is stuffed with an extra byte.  </a:t>
            </a:r>
            <a:endParaRPr lang="en-US" sz="3200" dirty="0" smtClean="0">
              <a:solidFill>
                <a:schemeClr val="tx1"/>
              </a:solidFill>
            </a:endParaRPr>
          </a:p>
          <a:p>
            <a:pPr algn="l"/>
            <a:r>
              <a:rPr lang="en-US" sz="3200" dirty="0" smtClean="0">
                <a:solidFill>
                  <a:schemeClr val="tx1"/>
                </a:solidFill>
              </a:rPr>
              <a:t>This </a:t>
            </a:r>
            <a:r>
              <a:rPr lang="en-US" sz="3200" dirty="0">
                <a:solidFill>
                  <a:schemeClr val="tx1"/>
                </a:solidFill>
              </a:rPr>
              <a:t>byte is called Escape character.  (ESC).   </a:t>
            </a:r>
            <a:endParaRPr lang="en-US" sz="3200" dirty="0" smtClean="0">
              <a:solidFill>
                <a:schemeClr val="tx1"/>
              </a:solidFill>
            </a:endParaRPr>
          </a:p>
          <a:p>
            <a:pPr algn="l"/>
            <a:r>
              <a:rPr lang="en-US" sz="3200" dirty="0" smtClean="0">
                <a:solidFill>
                  <a:schemeClr val="tx1"/>
                </a:solidFill>
              </a:rPr>
              <a:t>At </a:t>
            </a:r>
            <a:r>
              <a:rPr lang="en-US" sz="3200" dirty="0">
                <a:solidFill>
                  <a:schemeClr val="tx1"/>
                </a:solidFill>
              </a:rPr>
              <a:t>receiver these ESC bytes are removed from the data section and the next character is treated as data. </a:t>
            </a:r>
          </a:p>
          <a:p>
            <a:pPr algn="l"/>
            <a:endParaRPr lang="en-US" dirty="0">
              <a:solidFill>
                <a:schemeClr val="tx1"/>
              </a:solidFill>
            </a:endParaRPr>
          </a:p>
        </p:txBody>
      </p:sp>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838200"/>
            <a:ext cx="7894807" cy="520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1235880" y="1546560"/>
              <a:ext cx="5760" cy="18720"/>
            </p14:xfrm>
          </p:contentPart>
        </mc:Choice>
        <mc:Fallback xmlns="">
          <p:pic>
            <p:nvPicPr>
              <p:cNvPr id="3" name="Ink 2"/>
              <p:cNvPicPr/>
              <p:nvPr/>
            </p:nvPicPr>
            <p:blipFill>
              <a:blip r:embed="rId4"/>
              <a:stretch>
                <a:fillRect/>
              </a:stretch>
            </p:blipFill>
            <p:spPr>
              <a:xfrm>
                <a:off x="1229400" y="1540440"/>
                <a:ext cx="15480" cy="28080"/>
              </a:xfrm>
              <a:prstGeom prst="rect">
                <a:avLst/>
              </a:prstGeom>
            </p:spPr>
          </p:pic>
        </mc:Fallback>
      </mc:AlternateContent>
    </p:spTree>
    <p:extLst>
      <p:ext uri="{BB962C8B-B14F-4D97-AF65-F5344CB8AC3E}">
        <p14:creationId xmlns:p14="http://schemas.microsoft.com/office/powerpoint/2010/main" val="3445931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3"/>
          <p:cNvSpPr txBox="1">
            <a:spLocks noChangeArrowheads="1"/>
          </p:cNvSpPr>
          <p:nvPr/>
        </p:nvSpPr>
        <p:spPr bwMode="auto">
          <a:xfrm>
            <a:off x="1231900" y="1295400"/>
            <a:ext cx="6816725"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r>
              <a:rPr lang="en-US" altLang="en-US" sz="8000" i="1">
                <a:solidFill>
                  <a:srgbClr val="FF0066"/>
                </a:solidFill>
              </a:rPr>
              <a:t>Error Detection</a:t>
            </a:r>
            <a:br>
              <a:rPr lang="en-US" altLang="en-US" sz="8000" i="1">
                <a:solidFill>
                  <a:srgbClr val="FF0066"/>
                </a:solidFill>
              </a:rPr>
            </a:br>
            <a:r>
              <a:rPr lang="en-US" altLang="en-US" sz="8000" i="1">
                <a:solidFill>
                  <a:srgbClr val="FF0066"/>
                </a:solidFill>
              </a:rPr>
              <a:t>and</a:t>
            </a:r>
            <a:br>
              <a:rPr lang="en-US" altLang="en-US" sz="8000" i="1">
                <a:solidFill>
                  <a:srgbClr val="FF0066"/>
                </a:solidFill>
              </a:rPr>
            </a:br>
            <a:r>
              <a:rPr lang="en-US" altLang="en-US" sz="8000" i="1">
                <a:solidFill>
                  <a:srgbClr val="FF0066"/>
                </a:solidFill>
              </a:rPr>
              <a:t>Correction</a:t>
            </a:r>
            <a:endParaRPr lang="en-US" altLang="en-US" sz="6000" i="1"/>
          </a:p>
        </p:txBody>
      </p:sp>
    </p:spTree>
    <p:extLst>
      <p:ext uri="{BB962C8B-B14F-4D97-AF65-F5344CB8AC3E}">
        <p14:creationId xmlns:p14="http://schemas.microsoft.com/office/powerpoint/2010/main" val="507488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838200" y="2195513"/>
            <a:ext cx="7543800" cy="234632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a:t>Data can be corrupted during transmission. For reliable communication, errors must be detected and corrected.</a:t>
            </a:r>
          </a:p>
        </p:txBody>
      </p:sp>
      <p:sp>
        <p:nvSpPr>
          <p:cNvPr id="34819" name="PubRRectCallout"/>
          <p:cNvSpPr>
            <a:spLocks noEditPoints="1" noChangeArrowheads="1"/>
          </p:cNvSpPr>
          <p:nvPr/>
        </p:nvSpPr>
        <p:spPr bwMode="auto">
          <a:xfrm>
            <a:off x="838200" y="990600"/>
            <a:ext cx="2743200" cy="1143000"/>
          </a:xfrm>
          <a:custGeom>
            <a:avLst/>
            <a:gdLst>
              <a:gd name="T0" fmla="*/ 174193200 w 21600"/>
              <a:gd name="T1" fmla="*/ 0 h 21600"/>
              <a:gd name="T2" fmla="*/ 0 w 21600"/>
              <a:gd name="T3" fmla="*/ 24187891 h 21600"/>
              <a:gd name="T4" fmla="*/ 138822303 w 21600"/>
              <a:gd name="T5" fmla="*/ 60483750 h 21600"/>
              <a:gd name="T6" fmla="*/ 174193200 w 21600"/>
              <a:gd name="T7" fmla="*/ 48378586 h 21600"/>
              <a:gd name="T8" fmla="*/ 348386400 w 21600"/>
              <a:gd name="T9" fmla="*/ 24187891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3482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885" name="Text Box 5"/>
          <p:cNvSpPr txBox="1">
            <a:spLocks noChangeArrowheads="1"/>
          </p:cNvSpPr>
          <p:nvPr/>
        </p:nvSpPr>
        <p:spPr bwMode="auto">
          <a:xfrm>
            <a:off x="2133600" y="114300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600">
                <a:effectLst>
                  <a:outerShdw blurRad="38100" dist="38100" dir="2700000" algn="tl">
                    <a:srgbClr val="FFFFFF"/>
                  </a:outerShdw>
                </a:effectLst>
              </a:rPr>
              <a:t>Note</a:t>
            </a:r>
            <a:r>
              <a:rPr lang="en-US" altLang="en-US" sz="3600" b="0">
                <a:effectLst>
                  <a:outerShdw blurRad="38100" dist="38100" dir="2700000" algn="tl">
                    <a:srgbClr val="FFFFFF"/>
                  </a:outerShdw>
                </a:effectLst>
              </a:rPr>
              <a:t>:</a:t>
            </a:r>
          </a:p>
        </p:txBody>
      </p:sp>
    </p:spTree>
    <p:extLst>
      <p:ext uri="{BB962C8B-B14F-4D97-AF65-F5344CB8AC3E}">
        <p14:creationId xmlns:p14="http://schemas.microsoft.com/office/powerpoint/2010/main" val="286691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0" y="0"/>
            <a:ext cx="8686800" cy="6553200"/>
            <a:chOff x="0" y="96"/>
            <a:chExt cx="5472" cy="3840"/>
          </a:xfrm>
        </p:grpSpPr>
        <p:sp>
          <p:nvSpPr>
            <p:cNvPr id="35845"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p>
          </p:txBody>
        </p:sp>
        <p:sp>
          <p:nvSpPr>
            <p:cNvPr id="35846" name="AutoShape 4"/>
            <p:cNvSpPr>
              <a:spLocks noChangeArrowheads="1"/>
            </p:cNvSpPr>
            <p:nvPr/>
          </p:nvSpPr>
          <p:spPr bwMode="blackWhite">
            <a:xfrm>
              <a:off x="0" y="96"/>
              <a:ext cx="5376" cy="768"/>
            </a:xfrm>
            <a:custGeom>
              <a:avLst/>
              <a:gdLst>
                <a:gd name="T0" fmla="*/ 0 w 7000"/>
                <a:gd name="T1" fmla="*/ 0 h 1000"/>
                <a:gd name="T2" fmla="*/ 24802 w 7000"/>
                <a:gd name="T3" fmla="*/ 0 h 1000"/>
                <a:gd name="T4" fmla="*/ 26870 w 7000"/>
                <a:gd name="T5" fmla="*/ 295 h 1000"/>
                <a:gd name="T6" fmla="*/ 24806 w 7000"/>
                <a:gd name="T7" fmla="*/ 590 h 1000"/>
                <a:gd name="T8" fmla="*/ 0 w 7000"/>
                <a:gd name="T9" fmla="*/ 590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007" y="0"/>
                  </a:lnTo>
                  <a:cubicBezTo>
                    <a:pt x="6284" y="0"/>
                    <a:pt x="6508" y="223"/>
                    <a:pt x="6508" y="500"/>
                  </a:cubicBezTo>
                  <a:cubicBezTo>
                    <a:pt x="6508" y="776"/>
                    <a:pt x="6284" y="999"/>
                    <a:pt x="6008"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5847"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285702" name="Text Box 6"/>
          <p:cNvSpPr txBox="1">
            <a:spLocks noChangeArrowheads="1"/>
          </p:cNvSpPr>
          <p:nvPr/>
        </p:nvSpPr>
        <p:spPr bwMode="auto">
          <a:xfrm>
            <a:off x="228600" y="304800"/>
            <a:ext cx="382598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4000" dirty="0" smtClean="0">
                <a:solidFill>
                  <a:schemeClr val="bg1"/>
                </a:solidFill>
                <a:effectLst>
                  <a:outerShdw blurRad="38100" dist="38100" dir="2700000" algn="tl">
                    <a:srgbClr val="000000"/>
                  </a:outerShdw>
                </a:effectLst>
                <a:latin typeface="Arial" pitchFamily="34" charset="0"/>
              </a:rPr>
              <a:t>   </a:t>
            </a:r>
            <a:r>
              <a:rPr lang="en-US" altLang="en-US" sz="4000" dirty="0">
                <a:solidFill>
                  <a:schemeClr val="bg1"/>
                </a:solidFill>
                <a:effectLst>
                  <a:outerShdw blurRad="38100" dist="38100" dir="2700000" algn="tl">
                    <a:srgbClr val="000000"/>
                  </a:outerShdw>
                </a:effectLst>
                <a:latin typeface="Arial" pitchFamily="34" charset="0"/>
              </a:rPr>
              <a:t>Types of Error</a:t>
            </a:r>
          </a:p>
        </p:txBody>
      </p:sp>
      <p:sp>
        <p:nvSpPr>
          <p:cNvPr id="285708" name="Rectangle 12"/>
          <p:cNvSpPr>
            <a:spLocks noChangeArrowheads="1"/>
          </p:cNvSpPr>
          <p:nvPr/>
        </p:nvSpPr>
        <p:spPr bwMode="auto">
          <a:xfrm>
            <a:off x="1371600" y="2590800"/>
            <a:ext cx="45720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4000"/>
              <a:t>Single-Bit Error</a:t>
            </a:r>
          </a:p>
          <a:p>
            <a:endParaRPr lang="en-US" altLang="en-US" sz="4000"/>
          </a:p>
          <a:p>
            <a:r>
              <a:rPr lang="en-US" altLang="en-US" sz="4000"/>
              <a:t>Burst Error</a:t>
            </a:r>
          </a:p>
        </p:txBody>
      </p:sp>
    </p:spTree>
    <p:extLst>
      <p:ext uri="{BB962C8B-B14F-4D97-AF65-F5344CB8AC3E}">
        <p14:creationId xmlns:p14="http://schemas.microsoft.com/office/powerpoint/2010/main" val="1487338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285708">
                                            <p:txEl>
                                              <p:pRg st="0" end="0"/>
                                            </p:txEl>
                                          </p:spTgt>
                                        </p:tgtEl>
                                        <p:attrNameLst>
                                          <p:attrName>style.visibility</p:attrName>
                                        </p:attrNameLst>
                                      </p:cBhvr>
                                      <p:to>
                                        <p:strVal val="visible"/>
                                      </p:to>
                                    </p:set>
                                    <p:animEffect transition="in" filter="diamond(in)">
                                      <p:cBhvr>
                                        <p:cTn id="7" dur="1000"/>
                                        <p:tgtEl>
                                          <p:spTgt spid="2857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85708">
                                            <p:txEl>
                                              <p:pRg st="2" end="2"/>
                                            </p:txEl>
                                          </p:spTgt>
                                        </p:tgtEl>
                                        <p:attrNameLst>
                                          <p:attrName>style.visibility</p:attrName>
                                        </p:attrNameLst>
                                      </p:cBhvr>
                                      <p:to>
                                        <p:strVal val="visible"/>
                                      </p:to>
                                    </p:set>
                                    <p:animEffect transition="in" filter="diamond(in)">
                                      <p:cBhvr>
                                        <p:cTn id="12" dur="1000"/>
                                        <p:tgtEl>
                                          <p:spTgt spid="28570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838200" y="2195513"/>
            <a:ext cx="7543800" cy="12477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a:t>In a single-bit error, only one bit in the data unit has changed.</a:t>
            </a:r>
          </a:p>
        </p:txBody>
      </p:sp>
      <p:sp>
        <p:nvSpPr>
          <p:cNvPr id="36867" name="PubRRectCallout"/>
          <p:cNvSpPr>
            <a:spLocks noEditPoints="1" noChangeArrowheads="1"/>
          </p:cNvSpPr>
          <p:nvPr/>
        </p:nvSpPr>
        <p:spPr bwMode="auto">
          <a:xfrm>
            <a:off x="838200" y="990600"/>
            <a:ext cx="2743200" cy="1143000"/>
          </a:xfrm>
          <a:custGeom>
            <a:avLst/>
            <a:gdLst>
              <a:gd name="T0" fmla="*/ 174193200 w 21600"/>
              <a:gd name="T1" fmla="*/ 0 h 21600"/>
              <a:gd name="T2" fmla="*/ 0 w 21600"/>
              <a:gd name="T3" fmla="*/ 24187891 h 21600"/>
              <a:gd name="T4" fmla="*/ 138822303 w 21600"/>
              <a:gd name="T5" fmla="*/ 60483750 h 21600"/>
              <a:gd name="T6" fmla="*/ 174193200 w 21600"/>
              <a:gd name="T7" fmla="*/ 48378586 h 21600"/>
              <a:gd name="T8" fmla="*/ 348386400 w 21600"/>
              <a:gd name="T9" fmla="*/ 24187891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3686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909" name="Text Box 5"/>
          <p:cNvSpPr txBox="1">
            <a:spLocks noChangeArrowheads="1"/>
          </p:cNvSpPr>
          <p:nvPr/>
        </p:nvSpPr>
        <p:spPr bwMode="auto">
          <a:xfrm>
            <a:off x="2133600" y="114300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600">
                <a:effectLst>
                  <a:outerShdw blurRad="38100" dist="38100" dir="2700000" algn="tl">
                    <a:srgbClr val="FFFFFF"/>
                  </a:outerShdw>
                </a:effectLst>
              </a:rPr>
              <a:t>Note</a:t>
            </a:r>
            <a:r>
              <a:rPr lang="en-US" altLang="en-US" sz="3600" b="0">
                <a:effectLst>
                  <a:outerShdw blurRad="38100" dist="38100" dir="2700000" algn="tl">
                    <a:srgbClr val="FFFFFF"/>
                  </a:outerShdw>
                </a:effectLst>
              </a:rPr>
              <a:t>:</a:t>
            </a:r>
          </a:p>
        </p:txBody>
      </p:sp>
    </p:spTree>
    <p:extLst>
      <p:ext uri="{BB962C8B-B14F-4D97-AF65-F5344CB8AC3E}">
        <p14:creationId xmlns:p14="http://schemas.microsoft.com/office/powerpoint/2010/main" val="14482721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Single-bit error</a:t>
            </a:r>
          </a:p>
        </p:txBody>
      </p:sp>
      <p:sp>
        <p:nvSpPr>
          <p:cNvPr id="37891"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789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7893"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789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789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7896"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789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pic>
        <p:nvPicPr>
          <p:cNvPr id="3789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625" y="2724150"/>
            <a:ext cx="6507163"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582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838200" y="2195513"/>
            <a:ext cx="7543800" cy="3698448"/>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i="1" dirty="0"/>
              <a:t>A burst error means that 2 or more bits in the data unit have changed</a:t>
            </a:r>
            <a:r>
              <a:rPr lang="en-US" altLang="en-US" sz="3600" i="1" dirty="0" smtClean="0"/>
              <a:t>.</a:t>
            </a:r>
          </a:p>
          <a:p>
            <a:pPr algn="ctr" eaLnBrk="1" hangingPunct="1">
              <a:spcBef>
                <a:spcPts val="1200"/>
              </a:spcBef>
              <a:spcAft>
                <a:spcPts val="1000"/>
              </a:spcAft>
            </a:pPr>
            <a:r>
              <a:rPr lang="en-US" altLang="en-US" sz="3600" i="1" dirty="0" smtClean="0"/>
              <a:t>The central concept in detecting or correcting errors is redundancy.</a:t>
            </a:r>
            <a:endParaRPr lang="en-US" altLang="en-US" sz="3600" i="1" dirty="0"/>
          </a:p>
        </p:txBody>
      </p:sp>
      <p:sp>
        <p:nvSpPr>
          <p:cNvPr id="38915" name="PubRRectCallout"/>
          <p:cNvSpPr>
            <a:spLocks noEditPoints="1" noChangeArrowheads="1"/>
          </p:cNvSpPr>
          <p:nvPr/>
        </p:nvSpPr>
        <p:spPr bwMode="auto">
          <a:xfrm>
            <a:off x="838200" y="990600"/>
            <a:ext cx="2743200" cy="1143000"/>
          </a:xfrm>
          <a:custGeom>
            <a:avLst/>
            <a:gdLst>
              <a:gd name="T0" fmla="*/ 174193200 w 21600"/>
              <a:gd name="T1" fmla="*/ 0 h 21600"/>
              <a:gd name="T2" fmla="*/ 0 w 21600"/>
              <a:gd name="T3" fmla="*/ 24187891 h 21600"/>
              <a:gd name="T4" fmla="*/ 138822303 w 21600"/>
              <a:gd name="T5" fmla="*/ 60483750 h 21600"/>
              <a:gd name="T6" fmla="*/ 174193200 w 21600"/>
              <a:gd name="T7" fmla="*/ 48378586 h 21600"/>
              <a:gd name="T8" fmla="*/ 348386400 w 21600"/>
              <a:gd name="T9" fmla="*/ 24187891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3891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0933" name="Text Box 5"/>
          <p:cNvSpPr txBox="1">
            <a:spLocks noChangeArrowheads="1"/>
          </p:cNvSpPr>
          <p:nvPr/>
        </p:nvSpPr>
        <p:spPr bwMode="auto">
          <a:xfrm>
            <a:off x="2133600" y="114300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600">
                <a:effectLst>
                  <a:outerShdw blurRad="38100" dist="38100" dir="2700000" algn="tl">
                    <a:srgbClr val="FFFFFF"/>
                  </a:outerShdw>
                </a:effectLst>
              </a:rPr>
              <a:t>Note</a:t>
            </a:r>
            <a:r>
              <a:rPr lang="en-US" altLang="en-US" sz="3600" b="0">
                <a:effectLst>
                  <a:outerShdw blurRad="38100" dist="38100" dir="2700000" algn="tl">
                    <a:srgbClr val="FFFFFF"/>
                  </a:outerShdw>
                </a:effectLst>
              </a:rPr>
              <a:t>:</a:t>
            </a:r>
          </a:p>
        </p:txBody>
      </p:sp>
    </p:spTree>
    <p:extLst>
      <p:ext uri="{BB962C8B-B14F-4D97-AF65-F5344CB8AC3E}">
        <p14:creationId xmlns:p14="http://schemas.microsoft.com/office/powerpoint/2010/main" val="13482455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Burst error of length 5</a:t>
            </a:r>
          </a:p>
        </p:txBody>
      </p:sp>
      <p:sp>
        <p:nvSpPr>
          <p:cNvPr id="3993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994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994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994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994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994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3994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pic>
        <p:nvPicPr>
          <p:cNvPr id="3994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575" y="1978025"/>
            <a:ext cx="6291263" cy="290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290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64"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65" name="Text Box 4"/>
          <p:cNvSpPr txBox="1">
            <a:spLocks noChangeArrowheads="1"/>
          </p:cNvSpPr>
          <p:nvPr/>
        </p:nvSpPr>
        <p:spPr bwMode="auto">
          <a:xfrm>
            <a:off x="304800" y="762000"/>
            <a:ext cx="43027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400" dirty="0" smtClean="0">
                <a:solidFill>
                  <a:schemeClr val="folHlink"/>
                </a:solidFill>
              </a:rPr>
              <a:t>  </a:t>
            </a:r>
            <a:r>
              <a:rPr lang="en-US" altLang="en-US" sz="2000" i="1" dirty="0"/>
              <a:t>The structure of encoder and decoder</a:t>
            </a:r>
          </a:p>
        </p:txBody>
      </p:sp>
      <p:sp>
        <p:nvSpPr>
          <p:cNvPr id="40966"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967" name="Text Box 7"/>
          <p:cNvSpPr txBox="1">
            <a:spLocks noChangeArrowheads="1"/>
          </p:cNvSpPr>
          <p:nvPr/>
        </p:nvSpPr>
        <p:spPr bwMode="auto">
          <a:xfrm>
            <a:off x="1127125" y="5649913"/>
            <a:ext cx="7318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000">
                <a:latin typeface="Arial" pitchFamily="34" charset="0"/>
              </a:rPr>
              <a:t>To detect or correct errors, we need to send redundant bits</a:t>
            </a:r>
          </a:p>
        </p:txBody>
      </p:sp>
      <p:pic>
        <p:nvPicPr>
          <p:cNvPr id="4096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13" y="1873250"/>
            <a:ext cx="8802687"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741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8114"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effectLst>
                <a:outerShdw blurRad="38100" dist="38100" dir="2700000" algn="tl">
                  <a:srgbClr val="FFFFFF"/>
                </a:outerShdw>
              </a:effectLst>
            </a:endParaRPr>
          </a:p>
        </p:txBody>
      </p:sp>
      <p:sp>
        <p:nvSpPr>
          <p:cNvPr id="858115" name="Text Box 3"/>
          <p:cNvSpPr txBox="1">
            <a:spLocks noChangeArrowheads="1"/>
          </p:cNvSpPr>
          <p:nvPr/>
        </p:nvSpPr>
        <p:spPr bwMode="auto">
          <a:xfrm>
            <a:off x="228600" y="406400"/>
            <a:ext cx="2095445" cy="369332"/>
          </a:xfrm>
          <a:prstGeom prst="rect">
            <a:avLst/>
          </a:prstGeom>
          <a:noFill/>
          <a:ln w="9525">
            <a:noFill/>
            <a:miter lim="800000"/>
            <a:headEnd/>
            <a:tailEnd/>
          </a:ln>
          <a:effectLst/>
        </p:spPr>
        <p:txBody>
          <a:bodyPr wrap="none">
            <a:spAutoFit/>
          </a:bodyPr>
          <a:lstStyle/>
          <a:p>
            <a:pPr>
              <a:defRPr/>
            </a:pPr>
            <a:r>
              <a:rPr lang="en-US" dirty="0" smtClean="0">
                <a:effectLst>
                  <a:outerShdw blurRad="38100" dist="38100" dir="2700000" algn="tl">
                    <a:srgbClr val="C0C0C0"/>
                  </a:outerShdw>
                </a:effectLst>
                <a:latin typeface="Times" pitchFamily="18" charset="0"/>
              </a:rPr>
              <a:t>   </a:t>
            </a:r>
            <a:r>
              <a:rPr lang="en-US" dirty="0">
                <a:effectLst>
                  <a:outerShdw blurRad="38100" dist="38100" dir="2700000" algn="tl">
                    <a:srgbClr val="C0C0C0"/>
                  </a:outerShdw>
                </a:effectLst>
                <a:latin typeface="Times" pitchFamily="18" charset="0"/>
              </a:rPr>
              <a:t>BLOCK CODING</a:t>
            </a:r>
          </a:p>
        </p:txBody>
      </p:sp>
      <p:sp>
        <p:nvSpPr>
          <p:cNvPr id="41989"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endParaRPr lang="en-US" altLang="en-US"/>
          </a:p>
        </p:txBody>
      </p:sp>
      <p:sp>
        <p:nvSpPr>
          <p:cNvPr id="858117" name="Rectangle 5"/>
          <p:cNvSpPr>
            <a:spLocks noChangeArrowheads="1"/>
          </p:cNvSpPr>
          <p:nvPr/>
        </p:nvSpPr>
        <p:spPr bwMode="auto">
          <a:xfrm>
            <a:off x="304800" y="1628775"/>
            <a:ext cx="8229600" cy="1800225"/>
          </a:xfrm>
          <a:prstGeom prst="rect">
            <a:avLst/>
          </a:prstGeom>
          <a:noFill/>
          <a:ln w="9525">
            <a:noFill/>
            <a:miter lim="800000"/>
            <a:headEnd/>
            <a:tailEnd/>
          </a:ln>
          <a:effectLst/>
        </p:spPr>
        <p:txBody>
          <a:bodyPr anchor="ctr">
            <a:spAutoFit/>
          </a:bodyPr>
          <a:lstStyle/>
          <a:p>
            <a:pPr algn="just" eaLnBrk="1" hangingPunct="1">
              <a:defRPr/>
            </a:pPr>
            <a:r>
              <a:rPr lang="en-US" sz="2800" i="1" dirty="0">
                <a:effectLst>
                  <a:outerShdw blurRad="38100" dist="38100" dir="2700000" algn="tl">
                    <a:srgbClr val="C0C0C0"/>
                  </a:outerShdw>
                </a:effectLst>
              </a:rPr>
              <a:t>In block coding, we divide our message into blocks, each of k bits, called </a:t>
            </a:r>
            <a:r>
              <a:rPr lang="en-US" sz="2800" i="1" dirty="0" err="1">
                <a:solidFill>
                  <a:schemeClr val="hlink"/>
                </a:solidFill>
                <a:effectLst>
                  <a:outerShdw blurRad="38100" dist="38100" dir="2700000" algn="tl">
                    <a:srgbClr val="C0C0C0"/>
                  </a:outerShdw>
                </a:effectLst>
              </a:rPr>
              <a:t>datawords</a:t>
            </a:r>
            <a:r>
              <a:rPr lang="en-US" sz="2800" i="1" dirty="0">
                <a:effectLst>
                  <a:outerShdw blurRad="38100" dist="38100" dir="2700000" algn="tl">
                    <a:srgbClr val="C0C0C0"/>
                  </a:outerShdw>
                </a:effectLst>
              </a:rPr>
              <a:t>. We add r redundant bits to each block to make the length n = k + r. The resulting n-bit blocks are called </a:t>
            </a:r>
            <a:r>
              <a:rPr lang="en-US" sz="2800" i="1" dirty="0" err="1">
                <a:solidFill>
                  <a:schemeClr val="hlink"/>
                </a:solidFill>
                <a:effectLst>
                  <a:outerShdw blurRad="38100" dist="38100" dir="2700000" algn="tl">
                    <a:srgbClr val="C0C0C0"/>
                  </a:outerShdw>
                </a:effectLst>
              </a:rPr>
              <a:t>codewords</a:t>
            </a:r>
            <a:r>
              <a:rPr lang="en-US" sz="2800" i="1" dirty="0">
                <a:effectLst>
                  <a:outerShdw blurRad="38100" dist="38100" dir="2700000" algn="tl">
                    <a:srgbClr val="C0C0C0"/>
                  </a:outerShdw>
                </a:effectLst>
              </a:rPr>
              <a:t>.</a:t>
            </a:r>
          </a:p>
        </p:txBody>
      </p:sp>
      <p:sp>
        <p:nvSpPr>
          <p:cNvPr id="41991" name="Rectangle 6"/>
          <p:cNvSpPr>
            <a:spLocks noChangeArrowheads="1"/>
          </p:cNvSpPr>
          <p:nvPr/>
        </p:nvSpPr>
        <p:spPr bwMode="auto">
          <a:xfrm>
            <a:off x="381000" y="4679950"/>
            <a:ext cx="6705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tx1"/>
              </a:buClr>
              <a:buSzPct val="117000"/>
              <a:buFont typeface="Wingdings" pitchFamily="2" charset="2"/>
              <a:buNone/>
            </a:pPr>
            <a:r>
              <a:rPr lang="en-US" altLang="en-US" sz="2400" dirty="0">
                <a:solidFill>
                  <a:srgbClr val="0033CC"/>
                </a:solidFill>
              </a:rPr>
              <a:t>Error Detection</a:t>
            </a:r>
            <a:r>
              <a:rPr lang="fr-FR" altLang="en-US" sz="2400" dirty="0">
                <a:solidFill>
                  <a:srgbClr val="0033CC"/>
                </a:solidFill>
              </a:rPr>
              <a:t/>
            </a:r>
            <a:br>
              <a:rPr lang="fr-FR" altLang="en-US" sz="2400" dirty="0">
                <a:solidFill>
                  <a:srgbClr val="0033CC"/>
                </a:solidFill>
              </a:rPr>
            </a:br>
            <a:r>
              <a:rPr lang="fr-FR" altLang="en-US" sz="2400" dirty="0" err="1">
                <a:solidFill>
                  <a:srgbClr val="0033CC"/>
                </a:solidFill>
              </a:rPr>
              <a:t>Error</a:t>
            </a:r>
            <a:r>
              <a:rPr lang="fr-FR" altLang="en-US" sz="2400" dirty="0">
                <a:solidFill>
                  <a:srgbClr val="0033CC"/>
                </a:solidFill>
              </a:rPr>
              <a:t> Correction</a:t>
            </a:r>
            <a:br>
              <a:rPr lang="fr-FR" altLang="en-US" sz="2400" dirty="0">
                <a:solidFill>
                  <a:srgbClr val="0033CC"/>
                </a:solidFill>
              </a:rPr>
            </a:br>
            <a:r>
              <a:rPr lang="fr-FR" altLang="en-US" sz="2400" dirty="0" err="1">
                <a:solidFill>
                  <a:srgbClr val="0033CC"/>
                </a:solidFill>
              </a:rPr>
              <a:t>Hamming</a:t>
            </a:r>
            <a:r>
              <a:rPr lang="fr-FR" altLang="en-US" sz="2400" dirty="0">
                <a:solidFill>
                  <a:srgbClr val="0033CC"/>
                </a:solidFill>
              </a:rPr>
              <a:t> Distance</a:t>
            </a:r>
          </a:p>
          <a:p>
            <a:pPr>
              <a:buClr>
                <a:schemeClr val="tx1"/>
              </a:buClr>
              <a:buSzPct val="117000"/>
              <a:buFont typeface="Wingdings" pitchFamily="2" charset="2"/>
              <a:buNone/>
            </a:pPr>
            <a:r>
              <a:rPr lang="en-US" altLang="en-US" sz="2400" dirty="0">
                <a:solidFill>
                  <a:srgbClr val="0033CC"/>
                </a:solidFill>
              </a:rPr>
              <a:t>Minimum Hamming Distance</a:t>
            </a:r>
          </a:p>
        </p:txBody>
      </p:sp>
      <p:sp>
        <p:nvSpPr>
          <p:cNvPr id="858119" name="Text Box 7"/>
          <p:cNvSpPr txBox="1">
            <a:spLocks noChangeArrowheads="1"/>
          </p:cNvSpPr>
          <p:nvPr/>
        </p:nvSpPr>
        <p:spPr bwMode="auto">
          <a:xfrm>
            <a:off x="395287" y="4203700"/>
            <a:ext cx="4862513" cy="519113"/>
          </a:xfrm>
          <a:prstGeom prst="rect">
            <a:avLst/>
          </a:prstGeom>
          <a:noFill/>
          <a:ln w="76200" algn="ctr">
            <a:noFill/>
            <a:miter lim="800000"/>
            <a:headEnd/>
            <a:tailEnd/>
          </a:ln>
          <a:effectLst/>
        </p:spPr>
        <p:txBody>
          <a:bodyPr wrap="none">
            <a:spAutoFit/>
          </a:bodyPr>
          <a:lstStyle/>
          <a:p>
            <a:pPr algn="ctr">
              <a:defRPr/>
            </a:pPr>
            <a:r>
              <a:rPr lang="en-US" sz="2800" i="1" u="sng" dirty="0">
                <a:solidFill>
                  <a:schemeClr val="hlink"/>
                </a:solidFill>
                <a:effectLst>
                  <a:outerShdw blurRad="38100" dist="38100" dir="2700000" algn="tl">
                    <a:srgbClr val="C0C0C0"/>
                  </a:outerShdw>
                </a:effectLst>
              </a:rPr>
              <a:t>Topics discussed in this section:</a:t>
            </a:r>
          </a:p>
        </p:txBody>
      </p:sp>
    </p:spTree>
    <p:extLst>
      <p:ext uri="{BB962C8B-B14F-4D97-AF65-F5344CB8AC3E}">
        <p14:creationId xmlns:p14="http://schemas.microsoft.com/office/powerpoint/2010/main" val="2166585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2"/>
          <p:cNvSpPr txBox="1">
            <a:spLocks noChangeArrowheads="1"/>
          </p:cNvSpPr>
          <p:nvPr/>
        </p:nvSpPr>
        <p:spPr bwMode="auto">
          <a:xfrm>
            <a:off x="654050" y="914400"/>
            <a:ext cx="31905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400" dirty="0" smtClean="0">
                <a:solidFill>
                  <a:schemeClr val="folHlink"/>
                </a:solidFill>
              </a:rPr>
              <a:t>  </a:t>
            </a:r>
            <a:r>
              <a:rPr lang="en-US" altLang="en-US" sz="2000" i="1" dirty="0"/>
              <a:t>A code for error detection </a:t>
            </a:r>
          </a:p>
        </p:txBody>
      </p:sp>
      <p:sp>
        <p:nvSpPr>
          <p:cNvPr id="43012" name="Picture 4"/>
          <p:cNvSpPr>
            <a:spLocks noChangeAspect="1" noChangeArrowheads="1"/>
          </p:cNvSpPr>
          <p:nvPr/>
        </p:nvSpPr>
        <p:spPr bwMode="auto">
          <a:xfrm>
            <a:off x="225425" y="1374775"/>
            <a:ext cx="8537575"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3013" name="Text Box 6"/>
          <p:cNvSpPr txBox="1">
            <a:spLocks noChangeArrowheads="1"/>
          </p:cNvSpPr>
          <p:nvPr/>
        </p:nvSpPr>
        <p:spPr bwMode="auto">
          <a:xfrm>
            <a:off x="898524" y="4465638"/>
            <a:ext cx="75010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000" dirty="0">
                <a:latin typeface="Arial" pitchFamily="34" charset="0"/>
              </a:rPr>
              <a:t>What if we want to send 01?  We code it as 011.  If 011</a:t>
            </a:r>
          </a:p>
          <a:p>
            <a:r>
              <a:rPr lang="en-US" altLang="en-US" sz="2000" dirty="0" err="1" smtClean="0">
                <a:latin typeface="Arial" pitchFamily="34" charset="0"/>
              </a:rPr>
              <a:t>Codeword</a:t>
            </a:r>
            <a:r>
              <a:rPr lang="en-US" altLang="en-US" sz="2000" dirty="0" smtClean="0">
                <a:latin typeface="Arial" pitchFamily="34" charset="0"/>
              </a:rPr>
              <a:t> 01011 is </a:t>
            </a:r>
            <a:r>
              <a:rPr lang="en-US" altLang="en-US" sz="2000" dirty="0">
                <a:latin typeface="Arial" pitchFamily="34" charset="0"/>
              </a:rPr>
              <a:t>received, no problem.</a:t>
            </a:r>
          </a:p>
          <a:p>
            <a:r>
              <a:rPr lang="en-US" altLang="en-US" sz="2000" dirty="0">
                <a:latin typeface="Arial" pitchFamily="34" charset="0"/>
              </a:rPr>
              <a:t>What if </a:t>
            </a:r>
            <a:r>
              <a:rPr lang="en-US" altLang="en-US" sz="2000" dirty="0" smtClean="0">
                <a:latin typeface="Arial" pitchFamily="34" charset="0"/>
              </a:rPr>
              <a:t>01111 </a:t>
            </a:r>
            <a:r>
              <a:rPr lang="en-US" altLang="en-US" sz="2000" dirty="0">
                <a:latin typeface="Arial" pitchFamily="34" charset="0"/>
              </a:rPr>
              <a:t>is received?  Error detected.</a:t>
            </a:r>
          </a:p>
          <a:p>
            <a:r>
              <a:rPr lang="en-US" altLang="en-US" sz="2000" dirty="0">
                <a:latin typeface="Arial" pitchFamily="34" charset="0"/>
              </a:rPr>
              <a:t>What if </a:t>
            </a:r>
            <a:r>
              <a:rPr lang="en-US" altLang="en-US" sz="2000" dirty="0" smtClean="0">
                <a:latin typeface="Arial" pitchFamily="34" charset="0"/>
              </a:rPr>
              <a:t>00000 </a:t>
            </a:r>
            <a:r>
              <a:rPr lang="en-US" altLang="en-US" sz="2000" dirty="0">
                <a:latin typeface="Arial" pitchFamily="34" charset="0"/>
              </a:rPr>
              <a:t>is received?  Error occurred, but not detected.</a:t>
            </a:r>
          </a:p>
        </p:txBody>
      </p:sp>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1728788"/>
            <a:ext cx="8410575" cy="314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1806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2"/>
          <p:cNvSpPr txBox="1">
            <a:spLocks noChangeArrowheads="1"/>
          </p:cNvSpPr>
          <p:nvPr/>
        </p:nvSpPr>
        <p:spPr bwMode="auto">
          <a:xfrm>
            <a:off x="533400" y="1295400"/>
            <a:ext cx="30799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000" i="1" dirty="0" smtClean="0"/>
              <a:t>A </a:t>
            </a:r>
            <a:r>
              <a:rPr lang="en-US" altLang="en-US" sz="2000" i="1" dirty="0"/>
              <a:t>code for error correction </a:t>
            </a:r>
          </a:p>
        </p:txBody>
      </p:sp>
      <p:pic>
        <p:nvPicPr>
          <p:cNvPr id="440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1728788"/>
            <a:ext cx="8410575" cy="314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8" name="Text Box 6"/>
          <p:cNvSpPr txBox="1">
            <a:spLocks noChangeArrowheads="1"/>
          </p:cNvSpPr>
          <p:nvPr/>
        </p:nvSpPr>
        <p:spPr bwMode="auto">
          <a:xfrm>
            <a:off x="974725" y="4887913"/>
            <a:ext cx="67643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000">
                <a:latin typeface="Arial" pitchFamily="34" charset="0"/>
              </a:rPr>
              <a:t>Let’s say we want to send 01.  We then transmit 01011.</a:t>
            </a:r>
          </a:p>
          <a:p>
            <a:r>
              <a:rPr lang="en-US" altLang="en-US" sz="2000">
                <a:latin typeface="Arial" pitchFamily="34" charset="0"/>
              </a:rPr>
              <a:t>What if an error occurs and we receive 01001.  If we</a:t>
            </a:r>
          </a:p>
          <a:p>
            <a:r>
              <a:rPr lang="en-US" altLang="en-US" sz="2000">
                <a:latin typeface="Arial" pitchFamily="34" charset="0"/>
              </a:rPr>
              <a:t>assume one bit was in error, we can correct. </a:t>
            </a:r>
          </a:p>
        </p:txBody>
      </p:sp>
    </p:spTree>
    <p:extLst>
      <p:ext uri="{BB962C8B-B14F-4D97-AF65-F5344CB8AC3E}">
        <p14:creationId xmlns:p14="http://schemas.microsoft.com/office/powerpoint/2010/main" val="37432858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5060"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5061"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5062"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5063"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5064"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5065"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5066"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67" name="Line 10"/>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68" name="Rectangle 11"/>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altLang="en-US" sz="3200">
                <a:latin typeface="Arial" pitchFamily="34" charset="0"/>
              </a:rPr>
              <a:t>The Hamming distance between two words is the number of differences between corresponding bits.</a:t>
            </a:r>
          </a:p>
        </p:txBody>
      </p:sp>
      <p:grpSp>
        <p:nvGrpSpPr>
          <p:cNvPr id="45069" name="Group 12"/>
          <p:cNvGrpSpPr>
            <a:grpSpLocks/>
          </p:cNvGrpSpPr>
          <p:nvPr/>
        </p:nvGrpSpPr>
        <p:grpSpPr bwMode="auto">
          <a:xfrm>
            <a:off x="533400" y="2024063"/>
            <a:ext cx="1143000" cy="566737"/>
            <a:chOff x="1200" y="1248"/>
            <a:chExt cx="720" cy="357"/>
          </a:xfrm>
        </p:grpSpPr>
        <p:pic>
          <p:nvPicPr>
            <p:cNvPr id="4507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1"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800" i="1">
                  <a:solidFill>
                    <a:schemeClr val="hlink"/>
                  </a:solidFill>
                </a:rPr>
                <a:t>Note</a:t>
              </a:r>
            </a:p>
          </p:txBody>
        </p:sp>
      </p:grpSp>
    </p:spTree>
    <p:extLst>
      <p:ext uri="{BB962C8B-B14F-4D97-AF65-F5344CB8AC3E}">
        <p14:creationId xmlns:p14="http://schemas.microsoft.com/office/powerpoint/2010/main" val="215306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6084"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6085"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6086"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6087"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6088"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6089"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6090" name="Rectangle 9"/>
          <p:cNvSpPr>
            <a:spLocks noChangeArrowheads="1"/>
          </p:cNvSpPr>
          <p:nvPr/>
        </p:nvSpPr>
        <p:spPr bwMode="auto">
          <a:xfrm>
            <a:off x="228600" y="1143000"/>
            <a:ext cx="8686800" cy="2227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i="1" dirty="0"/>
              <a:t>Let us find the Hamming distance between two pairs of words.</a:t>
            </a:r>
          </a:p>
          <a:p>
            <a:pPr algn="just"/>
            <a:endParaRPr lang="en-US" altLang="en-US" sz="2800" i="1" dirty="0"/>
          </a:p>
          <a:p>
            <a:pPr algn="just"/>
            <a:r>
              <a:rPr lang="en-US" altLang="en-US" sz="2800" i="1" dirty="0">
                <a:solidFill>
                  <a:schemeClr val="hlink"/>
                </a:solidFill>
              </a:rPr>
              <a:t>1</a:t>
            </a:r>
            <a:r>
              <a:rPr lang="en-US" altLang="en-US" sz="2800" i="1" dirty="0"/>
              <a:t>. The Hamming distance d(000, 011) is 2 because </a:t>
            </a:r>
            <a:br>
              <a:rPr lang="en-US" altLang="en-US" sz="2800" i="1" dirty="0"/>
            </a:br>
            <a:r>
              <a:rPr lang="en-US" altLang="en-US" sz="2800" i="1" dirty="0"/>
              <a:t>    </a:t>
            </a:r>
          </a:p>
        </p:txBody>
      </p:sp>
      <p:sp>
        <p:nvSpPr>
          <p:cNvPr id="46091" name="Text Box 11"/>
          <p:cNvSpPr txBox="1">
            <a:spLocks noChangeArrowheads="1"/>
          </p:cNvSpPr>
          <p:nvPr/>
        </p:nvSpPr>
        <p:spPr bwMode="auto">
          <a:xfrm>
            <a:off x="1143000" y="0"/>
            <a:ext cx="17924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dirty="0">
                <a:solidFill>
                  <a:schemeClr val="hlink"/>
                </a:solidFill>
              </a:rPr>
              <a:t>Example </a:t>
            </a:r>
          </a:p>
        </p:txBody>
      </p:sp>
      <p:sp>
        <p:nvSpPr>
          <p:cNvPr id="46092" name="Rectangle 13"/>
          <p:cNvSpPr>
            <a:spLocks noChangeArrowheads="1"/>
          </p:cNvSpPr>
          <p:nvPr/>
        </p:nvSpPr>
        <p:spPr bwMode="auto">
          <a:xfrm>
            <a:off x="304800" y="4114800"/>
            <a:ext cx="86868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i="1">
                <a:solidFill>
                  <a:schemeClr val="hlink"/>
                </a:solidFill>
              </a:rPr>
              <a:t>2.</a:t>
            </a:r>
            <a:r>
              <a:rPr lang="en-US" altLang="en-US" sz="2800" i="1"/>
              <a:t> The Hamming distance d(10101, 11110) is 3 because</a:t>
            </a:r>
          </a:p>
        </p:txBody>
      </p:sp>
      <p:pic>
        <p:nvPicPr>
          <p:cNvPr id="46093"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9288" y="3257550"/>
            <a:ext cx="2906712" cy="34131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46094"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5027613"/>
            <a:ext cx="3811588" cy="30797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091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710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7109"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711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711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7112"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711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7114"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5" name="Line 10"/>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6" name="Rectangle 11"/>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altLang="en-US" sz="3200">
                <a:latin typeface="Arial" pitchFamily="34" charset="0"/>
              </a:rPr>
              <a:t>The minimum Hamming distance is the smallest Hamming distance between</a:t>
            </a:r>
            <a:br>
              <a:rPr lang="en-US" altLang="en-US" sz="3200">
                <a:latin typeface="Arial" pitchFamily="34" charset="0"/>
              </a:rPr>
            </a:br>
            <a:r>
              <a:rPr lang="en-US" altLang="en-US" sz="3200">
                <a:latin typeface="Arial" pitchFamily="34" charset="0"/>
              </a:rPr>
              <a:t> all possible pairs in a set of words.</a:t>
            </a:r>
          </a:p>
        </p:txBody>
      </p:sp>
      <p:grpSp>
        <p:nvGrpSpPr>
          <p:cNvPr id="47117" name="Group 12"/>
          <p:cNvGrpSpPr>
            <a:grpSpLocks/>
          </p:cNvGrpSpPr>
          <p:nvPr/>
        </p:nvGrpSpPr>
        <p:grpSpPr bwMode="auto">
          <a:xfrm>
            <a:off x="533400" y="2024063"/>
            <a:ext cx="1143000" cy="566737"/>
            <a:chOff x="1200" y="1248"/>
            <a:chExt cx="720" cy="357"/>
          </a:xfrm>
        </p:grpSpPr>
        <p:pic>
          <p:nvPicPr>
            <p:cNvPr id="47118"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9"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800" i="1">
                  <a:solidFill>
                    <a:schemeClr val="hlink"/>
                  </a:solidFill>
                </a:rPr>
                <a:t>Note</a:t>
              </a:r>
            </a:p>
          </p:txBody>
        </p:sp>
      </p:grpSp>
    </p:spTree>
    <p:extLst>
      <p:ext uri="{BB962C8B-B14F-4D97-AF65-F5344CB8AC3E}">
        <p14:creationId xmlns:p14="http://schemas.microsoft.com/office/powerpoint/2010/main" val="22188713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8132"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8133"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8134"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8135"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8136"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8137"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8138" name="Rectangle 9"/>
          <p:cNvSpPr>
            <a:spLocks noChangeArrowheads="1"/>
          </p:cNvSpPr>
          <p:nvPr/>
        </p:nvSpPr>
        <p:spPr bwMode="auto">
          <a:xfrm>
            <a:off x="228600" y="11430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i="1" dirty="0"/>
              <a:t>Find the minimum Hamming distance of the coding scheme in Table </a:t>
            </a:r>
          </a:p>
        </p:txBody>
      </p:sp>
      <p:sp>
        <p:nvSpPr>
          <p:cNvPr id="48139" name="Rectangle 10"/>
          <p:cNvSpPr>
            <a:spLocks noChangeArrowheads="1"/>
          </p:cNvSpPr>
          <p:nvPr/>
        </p:nvSpPr>
        <p:spPr bwMode="auto">
          <a:xfrm>
            <a:off x="228600" y="22098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800" i="1">
                <a:solidFill>
                  <a:schemeClr val="hlink"/>
                </a:solidFill>
              </a:rPr>
              <a:t>Solution</a:t>
            </a:r>
          </a:p>
          <a:p>
            <a:r>
              <a:rPr lang="en-US" altLang="en-US" sz="2800" i="1">
                <a:latin typeface="Times" pitchFamily="18" charset="0"/>
              </a:rPr>
              <a:t>We first find all Hamming distances.</a:t>
            </a:r>
          </a:p>
        </p:txBody>
      </p:sp>
      <p:sp>
        <p:nvSpPr>
          <p:cNvPr id="48140" name="Text Box 13"/>
          <p:cNvSpPr txBox="1">
            <a:spLocks noChangeArrowheads="1"/>
          </p:cNvSpPr>
          <p:nvPr/>
        </p:nvSpPr>
        <p:spPr bwMode="auto">
          <a:xfrm>
            <a:off x="1143000" y="0"/>
            <a:ext cx="17924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dirty="0">
                <a:solidFill>
                  <a:schemeClr val="hlink"/>
                </a:solidFill>
              </a:rPr>
              <a:t>Example </a:t>
            </a:r>
          </a:p>
        </p:txBody>
      </p:sp>
      <p:pic>
        <p:nvPicPr>
          <p:cNvPr id="48141"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3341688"/>
            <a:ext cx="8558213" cy="620712"/>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48142" name="Rectangle 16"/>
          <p:cNvSpPr>
            <a:spLocks noChangeArrowheads="1"/>
          </p:cNvSpPr>
          <p:nvPr/>
        </p:nvSpPr>
        <p:spPr bwMode="auto">
          <a:xfrm>
            <a:off x="228600" y="4267200"/>
            <a:ext cx="868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800" i="1">
                <a:latin typeface="Times" pitchFamily="18" charset="0"/>
              </a:rPr>
              <a:t>The d</a:t>
            </a:r>
            <a:r>
              <a:rPr lang="en-US" altLang="en-US" sz="2800" i="1" baseline="-25000">
                <a:latin typeface="Times" pitchFamily="18" charset="0"/>
              </a:rPr>
              <a:t>min</a:t>
            </a:r>
            <a:r>
              <a:rPr lang="en-US" altLang="en-US" sz="2800" i="1">
                <a:latin typeface="Times" pitchFamily="18" charset="0"/>
              </a:rPr>
              <a:t> in this case is 2.</a:t>
            </a:r>
          </a:p>
        </p:txBody>
      </p:sp>
    </p:spTree>
    <p:extLst>
      <p:ext uri="{BB962C8B-B14F-4D97-AF65-F5344CB8AC3E}">
        <p14:creationId xmlns:p14="http://schemas.microsoft.com/office/powerpoint/2010/main" val="24884803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915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9157"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915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915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9160"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916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49162" name="Rectangle 9"/>
          <p:cNvSpPr>
            <a:spLocks noChangeArrowheads="1"/>
          </p:cNvSpPr>
          <p:nvPr/>
        </p:nvSpPr>
        <p:spPr bwMode="auto">
          <a:xfrm>
            <a:off x="228600" y="11430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i="1" dirty="0"/>
              <a:t>Find the minimum Hamming distance of the coding scheme in Table </a:t>
            </a:r>
          </a:p>
        </p:txBody>
      </p:sp>
      <p:sp>
        <p:nvSpPr>
          <p:cNvPr id="49163" name="Rectangle 10"/>
          <p:cNvSpPr>
            <a:spLocks noChangeArrowheads="1"/>
          </p:cNvSpPr>
          <p:nvPr/>
        </p:nvSpPr>
        <p:spPr bwMode="auto">
          <a:xfrm>
            <a:off x="228600" y="24384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800" i="1">
                <a:solidFill>
                  <a:schemeClr val="hlink"/>
                </a:solidFill>
              </a:rPr>
              <a:t>Solution</a:t>
            </a:r>
          </a:p>
          <a:p>
            <a:r>
              <a:rPr lang="en-US" altLang="en-US" sz="2800" i="1">
                <a:latin typeface="Times" pitchFamily="18" charset="0"/>
              </a:rPr>
              <a:t>We first find all the Hamming distances.</a:t>
            </a:r>
          </a:p>
        </p:txBody>
      </p:sp>
      <p:sp>
        <p:nvSpPr>
          <p:cNvPr id="49164" name="Rectangle 12"/>
          <p:cNvSpPr>
            <a:spLocks noChangeArrowheads="1"/>
          </p:cNvSpPr>
          <p:nvPr/>
        </p:nvSpPr>
        <p:spPr bwMode="auto">
          <a:xfrm>
            <a:off x="304800" y="4724400"/>
            <a:ext cx="868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800" i="1"/>
              <a:t>The d</a:t>
            </a:r>
            <a:r>
              <a:rPr lang="en-US" altLang="en-US" sz="2800" i="1" baseline="-25000"/>
              <a:t>min</a:t>
            </a:r>
            <a:r>
              <a:rPr lang="en-US" altLang="en-US" sz="2800" i="1"/>
              <a:t> in this case is 3.</a:t>
            </a:r>
          </a:p>
        </p:txBody>
      </p:sp>
      <p:sp>
        <p:nvSpPr>
          <p:cNvPr id="49165" name="Text Box 13"/>
          <p:cNvSpPr txBox="1">
            <a:spLocks noChangeArrowheads="1"/>
          </p:cNvSpPr>
          <p:nvPr/>
        </p:nvSpPr>
        <p:spPr bwMode="auto">
          <a:xfrm>
            <a:off x="1143000" y="0"/>
            <a:ext cx="17924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dirty="0">
                <a:solidFill>
                  <a:schemeClr val="hlink"/>
                </a:solidFill>
              </a:rPr>
              <a:t>Example </a:t>
            </a:r>
          </a:p>
        </p:txBody>
      </p:sp>
      <p:pic>
        <p:nvPicPr>
          <p:cNvPr id="49166"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3771900"/>
            <a:ext cx="7945437" cy="64770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0705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0180"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0181"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0182"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0183"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0184"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0185"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0186"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7" name="Line 10"/>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8" name="Rectangle 11"/>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altLang="en-US" sz="3200">
                <a:latin typeface="Arial" pitchFamily="34" charset="0"/>
              </a:rPr>
              <a:t>To guarantee the </a:t>
            </a:r>
            <a:r>
              <a:rPr lang="en-US" altLang="en-US" sz="3200" i="1">
                <a:latin typeface="Arial" pitchFamily="34" charset="0"/>
              </a:rPr>
              <a:t>detection</a:t>
            </a:r>
            <a:r>
              <a:rPr lang="en-US" altLang="en-US" sz="3200">
                <a:latin typeface="Arial" pitchFamily="34" charset="0"/>
              </a:rPr>
              <a:t> of up to s errors in all cases, the minimum</a:t>
            </a:r>
          </a:p>
          <a:p>
            <a:pPr algn="ctr"/>
            <a:r>
              <a:rPr lang="en-US" altLang="en-US" sz="3200">
                <a:latin typeface="Arial" pitchFamily="34" charset="0"/>
              </a:rPr>
              <a:t>Hamming distance in a block </a:t>
            </a:r>
            <a:br>
              <a:rPr lang="en-US" altLang="en-US" sz="3200">
                <a:latin typeface="Arial" pitchFamily="34" charset="0"/>
              </a:rPr>
            </a:br>
            <a:r>
              <a:rPr lang="en-US" altLang="en-US" sz="3200">
                <a:latin typeface="Arial" pitchFamily="34" charset="0"/>
              </a:rPr>
              <a:t>code must be d</a:t>
            </a:r>
            <a:r>
              <a:rPr lang="en-US" altLang="en-US" sz="3200" baseline="-18000">
                <a:latin typeface="Arial" pitchFamily="34" charset="0"/>
              </a:rPr>
              <a:t>min</a:t>
            </a:r>
            <a:r>
              <a:rPr lang="en-US" altLang="en-US" sz="3200">
                <a:latin typeface="Arial" pitchFamily="34" charset="0"/>
              </a:rPr>
              <a:t> = s + 1.</a:t>
            </a:r>
          </a:p>
        </p:txBody>
      </p:sp>
      <p:grpSp>
        <p:nvGrpSpPr>
          <p:cNvPr id="50189" name="Group 12"/>
          <p:cNvGrpSpPr>
            <a:grpSpLocks/>
          </p:cNvGrpSpPr>
          <p:nvPr/>
        </p:nvGrpSpPr>
        <p:grpSpPr bwMode="auto">
          <a:xfrm>
            <a:off x="533400" y="2024063"/>
            <a:ext cx="1143000" cy="566737"/>
            <a:chOff x="1200" y="1248"/>
            <a:chExt cx="720" cy="357"/>
          </a:xfrm>
        </p:grpSpPr>
        <p:pic>
          <p:nvPicPr>
            <p:cNvPr id="50190"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91"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800" i="1">
                  <a:solidFill>
                    <a:schemeClr val="hlink"/>
                  </a:solidFill>
                </a:rPr>
                <a:t>Note</a:t>
              </a:r>
            </a:p>
          </p:txBody>
        </p:sp>
      </p:grpSp>
    </p:spTree>
    <p:extLst>
      <p:ext uri="{BB962C8B-B14F-4D97-AF65-F5344CB8AC3E}">
        <p14:creationId xmlns:p14="http://schemas.microsoft.com/office/powerpoint/2010/main" val="5741210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1204"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1205"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1206"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1207"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1208"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1209"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1210" name="Rectangle 9"/>
          <p:cNvSpPr>
            <a:spLocks noChangeArrowheads="1"/>
          </p:cNvSpPr>
          <p:nvPr/>
        </p:nvSpPr>
        <p:spPr bwMode="auto">
          <a:xfrm>
            <a:off x="228600" y="1143000"/>
            <a:ext cx="868680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dirty="0"/>
              <a:t>The minimum Hamming distance for our first code scheme </a:t>
            </a:r>
            <a:r>
              <a:rPr lang="en-US" altLang="en-US" sz="2800" dirty="0" smtClean="0"/>
              <a:t>is </a:t>
            </a:r>
            <a:r>
              <a:rPr lang="en-US" altLang="en-US" sz="2800" dirty="0"/>
              <a:t>2. This code guarantees detection of only a single error. For example, if the third </a:t>
            </a:r>
            <a:r>
              <a:rPr lang="en-US" altLang="en-US" sz="2800" dirty="0" err="1"/>
              <a:t>codeword</a:t>
            </a:r>
            <a:r>
              <a:rPr lang="en-US" altLang="en-US" sz="2800" dirty="0"/>
              <a:t> (101) is sent and one error occurs, the received </a:t>
            </a:r>
            <a:r>
              <a:rPr lang="en-US" altLang="en-US" sz="2800" dirty="0" err="1"/>
              <a:t>codeword</a:t>
            </a:r>
            <a:r>
              <a:rPr lang="en-US" altLang="en-US" sz="2800" dirty="0"/>
              <a:t> does not match any valid </a:t>
            </a:r>
            <a:r>
              <a:rPr lang="en-US" altLang="en-US" sz="2800" dirty="0" err="1"/>
              <a:t>codeword</a:t>
            </a:r>
            <a:r>
              <a:rPr lang="en-US" altLang="en-US" sz="2800" dirty="0"/>
              <a:t>. If two errors occur, however, the received </a:t>
            </a:r>
            <a:r>
              <a:rPr lang="en-US" altLang="en-US" sz="2800" dirty="0" err="1"/>
              <a:t>codeword</a:t>
            </a:r>
            <a:r>
              <a:rPr lang="en-US" altLang="en-US" sz="2800" dirty="0"/>
              <a:t> may match a valid </a:t>
            </a:r>
            <a:r>
              <a:rPr lang="en-US" altLang="en-US" sz="2800" dirty="0" err="1"/>
              <a:t>codeword</a:t>
            </a:r>
            <a:r>
              <a:rPr lang="en-US" altLang="en-US" sz="2800" dirty="0"/>
              <a:t> and the errors are not detected.</a:t>
            </a:r>
          </a:p>
        </p:txBody>
      </p:sp>
      <p:sp>
        <p:nvSpPr>
          <p:cNvPr id="51211" name="Text Box 11"/>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a:solidFill>
                  <a:schemeClr val="hlink"/>
                </a:solidFill>
              </a:rPr>
              <a:t>Example 10.7</a:t>
            </a:r>
          </a:p>
        </p:txBody>
      </p:sp>
    </p:spTree>
    <p:extLst>
      <p:ext uri="{BB962C8B-B14F-4D97-AF65-F5344CB8AC3E}">
        <p14:creationId xmlns:p14="http://schemas.microsoft.com/office/powerpoint/2010/main" val="1568189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222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2229"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223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223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2232"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223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2234" name="Rectangle 9"/>
          <p:cNvSpPr>
            <a:spLocks noChangeArrowheads="1"/>
          </p:cNvSpPr>
          <p:nvPr/>
        </p:nvSpPr>
        <p:spPr bwMode="auto">
          <a:xfrm>
            <a:off x="228600" y="1143000"/>
            <a:ext cx="8686800"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dirty="0"/>
              <a:t>Our second block code scheme </a:t>
            </a:r>
            <a:r>
              <a:rPr lang="en-US" altLang="en-US" sz="2800" dirty="0" smtClean="0"/>
              <a:t>has </a:t>
            </a:r>
            <a:r>
              <a:rPr lang="en-US" altLang="en-US" sz="2800" dirty="0" err="1"/>
              <a:t>d</a:t>
            </a:r>
            <a:r>
              <a:rPr lang="en-US" altLang="en-US" sz="2800" baseline="-25000" dirty="0" err="1"/>
              <a:t>min</a:t>
            </a:r>
            <a:r>
              <a:rPr lang="en-US" altLang="en-US" sz="2800" dirty="0"/>
              <a:t> = 3. This code can detect up to two errors. Again, we see that when any of the valid </a:t>
            </a:r>
            <a:r>
              <a:rPr lang="en-US" altLang="en-US" sz="2800" dirty="0" err="1"/>
              <a:t>codewords</a:t>
            </a:r>
            <a:r>
              <a:rPr lang="en-US" altLang="en-US" sz="2800" dirty="0"/>
              <a:t> is sent, two errors create a </a:t>
            </a:r>
            <a:r>
              <a:rPr lang="en-US" altLang="en-US" sz="2800" dirty="0" err="1"/>
              <a:t>codeword</a:t>
            </a:r>
            <a:r>
              <a:rPr lang="en-US" altLang="en-US" sz="2800" dirty="0"/>
              <a:t> which is not in the table of valid </a:t>
            </a:r>
            <a:r>
              <a:rPr lang="en-US" altLang="en-US" sz="2800" dirty="0" err="1"/>
              <a:t>codewords</a:t>
            </a:r>
            <a:r>
              <a:rPr lang="en-US" altLang="en-US" sz="2800" dirty="0"/>
              <a:t>. The receiver cannot be fooled. </a:t>
            </a:r>
          </a:p>
          <a:p>
            <a:pPr algn="just"/>
            <a:endParaRPr lang="en-US" altLang="en-US" sz="2800" dirty="0"/>
          </a:p>
          <a:p>
            <a:pPr algn="just"/>
            <a:r>
              <a:rPr lang="en-US" altLang="en-US" sz="2800" dirty="0"/>
              <a:t>However, some combinations of three errors change a valid </a:t>
            </a:r>
            <a:r>
              <a:rPr lang="en-US" altLang="en-US" sz="2800" dirty="0" err="1"/>
              <a:t>codeword</a:t>
            </a:r>
            <a:r>
              <a:rPr lang="en-US" altLang="en-US" sz="2800" dirty="0"/>
              <a:t> to another valid </a:t>
            </a:r>
            <a:r>
              <a:rPr lang="en-US" altLang="en-US" sz="2800" dirty="0" err="1"/>
              <a:t>codeword</a:t>
            </a:r>
            <a:r>
              <a:rPr lang="en-US" altLang="en-US" sz="2800" dirty="0"/>
              <a:t>. The receiver accepts the received </a:t>
            </a:r>
            <a:r>
              <a:rPr lang="en-US" altLang="en-US" sz="2800" dirty="0" err="1"/>
              <a:t>codeword</a:t>
            </a:r>
            <a:r>
              <a:rPr lang="en-US" altLang="en-US" sz="2800" dirty="0"/>
              <a:t> and the errors are undetected.</a:t>
            </a:r>
          </a:p>
        </p:txBody>
      </p:sp>
      <p:sp>
        <p:nvSpPr>
          <p:cNvPr id="52235" name="Text Box 11"/>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a:solidFill>
                  <a:schemeClr val="hlink"/>
                </a:solidFill>
              </a:rPr>
              <a:t>Example 10.8</a:t>
            </a:r>
          </a:p>
        </p:txBody>
      </p:sp>
    </p:spTree>
    <p:extLst>
      <p:ext uri="{BB962C8B-B14F-4D97-AF65-F5344CB8AC3E}">
        <p14:creationId xmlns:p14="http://schemas.microsoft.com/office/powerpoint/2010/main" val="36279944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2"/>
          <p:cNvGrpSpPr>
            <a:grpSpLocks/>
          </p:cNvGrpSpPr>
          <p:nvPr/>
        </p:nvGrpSpPr>
        <p:grpSpPr bwMode="auto">
          <a:xfrm>
            <a:off x="0" y="0"/>
            <a:ext cx="8686800" cy="6553200"/>
            <a:chOff x="0" y="96"/>
            <a:chExt cx="5472" cy="3840"/>
          </a:xfrm>
        </p:grpSpPr>
        <p:sp>
          <p:nvSpPr>
            <p:cNvPr id="53253"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p>
          </p:txBody>
        </p:sp>
        <p:sp>
          <p:nvSpPr>
            <p:cNvPr id="53254" name="AutoShape 4"/>
            <p:cNvSpPr>
              <a:spLocks noChangeArrowheads="1"/>
            </p:cNvSpPr>
            <p:nvPr/>
          </p:nvSpPr>
          <p:spPr bwMode="blackWhite">
            <a:xfrm>
              <a:off x="0" y="96"/>
              <a:ext cx="5376" cy="768"/>
            </a:xfrm>
            <a:custGeom>
              <a:avLst/>
              <a:gdLst>
                <a:gd name="T0" fmla="*/ 0 w 7000"/>
                <a:gd name="T1" fmla="*/ 0 h 1000"/>
                <a:gd name="T2" fmla="*/ 24802 w 7000"/>
                <a:gd name="T3" fmla="*/ 0 h 1000"/>
                <a:gd name="T4" fmla="*/ 26870 w 7000"/>
                <a:gd name="T5" fmla="*/ 295 h 1000"/>
                <a:gd name="T6" fmla="*/ 24806 w 7000"/>
                <a:gd name="T7" fmla="*/ 590 h 1000"/>
                <a:gd name="T8" fmla="*/ 0 w 7000"/>
                <a:gd name="T9" fmla="*/ 590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007" y="0"/>
                  </a:lnTo>
                  <a:cubicBezTo>
                    <a:pt x="6284" y="0"/>
                    <a:pt x="6508" y="223"/>
                    <a:pt x="6508" y="500"/>
                  </a:cubicBezTo>
                  <a:cubicBezTo>
                    <a:pt x="6508" y="776"/>
                    <a:pt x="6284" y="999"/>
                    <a:pt x="6008"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53255"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23590" name="Text Box 6"/>
          <p:cNvSpPr txBox="1">
            <a:spLocks noChangeArrowheads="1"/>
          </p:cNvSpPr>
          <p:nvPr/>
        </p:nvSpPr>
        <p:spPr bwMode="auto">
          <a:xfrm>
            <a:off x="228600" y="304800"/>
            <a:ext cx="34083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4000" dirty="0" smtClean="0">
                <a:solidFill>
                  <a:schemeClr val="bg1"/>
                </a:solidFill>
                <a:effectLst>
                  <a:outerShdw blurRad="38100" dist="38100" dir="2700000" algn="tl">
                    <a:srgbClr val="000000"/>
                  </a:outerShdw>
                </a:effectLst>
                <a:latin typeface="Arial" pitchFamily="34" charset="0"/>
              </a:rPr>
              <a:t>  </a:t>
            </a:r>
            <a:r>
              <a:rPr lang="en-US" altLang="en-US" sz="4000" dirty="0">
                <a:solidFill>
                  <a:schemeClr val="bg1"/>
                </a:solidFill>
                <a:effectLst>
                  <a:outerShdw blurRad="38100" dist="38100" dir="2700000" algn="tl">
                    <a:srgbClr val="000000"/>
                  </a:outerShdw>
                </a:effectLst>
                <a:latin typeface="Arial" pitchFamily="34" charset="0"/>
              </a:rPr>
              <a:t>Error Control</a:t>
            </a:r>
          </a:p>
        </p:txBody>
      </p:sp>
      <p:sp>
        <p:nvSpPr>
          <p:cNvPr id="323596" name="Rectangle 12"/>
          <p:cNvSpPr>
            <a:spLocks noChangeArrowheads="1"/>
          </p:cNvSpPr>
          <p:nvPr/>
        </p:nvSpPr>
        <p:spPr bwMode="auto">
          <a:xfrm>
            <a:off x="838200" y="1828800"/>
            <a:ext cx="76200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4000"/>
              <a:t>Error Control comprises of Error Detection and Error Correction</a:t>
            </a:r>
          </a:p>
        </p:txBody>
      </p:sp>
    </p:spTree>
    <p:extLst>
      <p:ext uri="{BB962C8B-B14F-4D97-AF65-F5344CB8AC3E}">
        <p14:creationId xmlns:p14="http://schemas.microsoft.com/office/powerpoint/2010/main" val="4028451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23596">
                                            <p:txEl>
                                              <p:pRg st="0" end="0"/>
                                            </p:txEl>
                                          </p:spTgt>
                                        </p:tgtEl>
                                        <p:attrNameLst>
                                          <p:attrName>style.visibility</p:attrName>
                                        </p:attrNameLst>
                                      </p:cBhvr>
                                      <p:to>
                                        <p:strVal val="visible"/>
                                      </p:to>
                                    </p:set>
                                    <p:animEffect transition="in" filter="diamond(in)">
                                      <p:cBhvr>
                                        <p:cTn id="7" dur="1000"/>
                                        <p:tgtEl>
                                          <p:spTgt spid="3235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
          <p:cNvGrpSpPr>
            <a:grpSpLocks/>
          </p:cNvGrpSpPr>
          <p:nvPr/>
        </p:nvGrpSpPr>
        <p:grpSpPr bwMode="auto">
          <a:xfrm>
            <a:off x="0" y="0"/>
            <a:ext cx="8686800" cy="6553200"/>
            <a:chOff x="0" y="96"/>
            <a:chExt cx="5472" cy="3840"/>
          </a:xfrm>
        </p:grpSpPr>
        <p:sp>
          <p:nvSpPr>
            <p:cNvPr id="54277"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p>
          </p:txBody>
        </p:sp>
        <p:sp>
          <p:nvSpPr>
            <p:cNvPr id="54278" name="AutoShape 4"/>
            <p:cNvSpPr>
              <a:spLocks noChangeArrowheads="1"/>
            </p:cNvSpPr>
            <p:nvPr/>
          </p:nvSpPr>
          <p:spPr bwMode="blackWhite">
            <a:xfrm>
              <a:off x="0" y="96"/>
              <a:ext cx="5376" cy="768"/>
            </a:xfrm>
            <a:custGeom>
              <a:avLst/>
              <a:gdLst>
                <a:gd name="T0" fmla="*/ 0 w 7000"/>
                <a:gd name="T1" fmla="*/ 0 h 1000"/>
                <a:gd name="T2" fmla="*/ 24802 w 7000"/>
                <a:gd name="T3" fmla="*/ 0 h 1000"/>
                <a:gd name="T4" fmla="*/ 26870 w 7000"/>
                <a:gd name="T5" fmla="*/ 295 h 1000"/>
                <a:gd name="T6" fmla="*/ 24806 w 7000"/>
                <a:gd name="T7" fmla="*/ 590 h 1000"/>
                <a:gd name="T8" fmla="*/ 0 w 7000"/>
                <a:gd name="T9" fmla="*/ 590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007" y="0"/>
                  </a:lnTo>
                  <a:cubicBezTo>
                    <a:pt x="6284" y="0"/>
                    <a:pt x="6508" y="223"/>
                    <a:pt x="6508" y="500"/>
                  </a:cubicBezTo>
                  <a:cubicBezTo>
                    <a:pt x="6508" y="776"/>
                    <a:pt x="6284" y="999"/>
                    <a:pt x="6008"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54279"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23590" name="Text Box 6"/>
          <p:cNvSpPr txBox="1">
            <a:spLocks noChangeArrowheads="1"/>
          </p:cNvSpPr>
          <p:nvPr/>
        </p:nvSpPr>
        <p:spPr bwMode="auto">
          <a:xfrm>
            <a:off x="228600" y="304800"/>
            <a:ext cx="66491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4000" dirty="0" smtClean="0">
                <a:solidFill>
                  <a:schemeClr val="bg1"/>
                </a:solidFill>
                <a:effectLst>
                  <a:outerShdw blurRad="38100" dist="38100" dir="2700000" algn="tl">
                    <a:srgbClr val="000000"/>
                  </a:outerShdw>
                </a:effectLst>
                <a:latin typeface="Arial" pitchFamily="34" charset="0"/>
              </a:rPr>
              <a:t> </a:t>
            </a:r>
            <a:r>
              <a:rPr lang="en-US" altLang="en-US" sz="4000" dirty="0">
                <a:solidFill>
                  <a:schemeClr val="bg1"/>
                </a:solidFill>
                <a:effectLst>
                  <a:outerShdw blurRad="38100" dist="38100" dir="2700000" algn="tl">
                    <a:srgbClr val="000000"/>
                  </a:outerShdw>
                </a:effectLst>
                <a:latin typeface="Arial" pitchFamily="34" charset="0"/>
              </a:rPr>
              <a:t>Error Detection Techniques</a:t>
            </a:r>
          </a:p>
        </p:txBody>
      </p:sp>
      <p:sp>
        <p:nvSpPr>
          <p:cNvPr id="323596" name="Rectangle 12"/>
          <p:cNvSpPr>
            <a:spLocks noChangeArrowheads="1"/>
          </p:cNvSpPr>
          <p:nvPr/>
        </p:nvSpPr>
        <p:spPr bwMode="auto">
          <a:xfrm>
            <a:off x="838200" y="1828800"/>
            <a:ext cx="762000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4000"/>
              <a:t>Redundancy</a:t>
            </a:r>
          </a:p>
          <a:p>
            <a:endParaRPr lang="en-US" altLang="en-US" sz="4000"/>
          </a:p>
          <a:p>
            <a:r>
              <a:rPr lang="en-US" altLang="en-US" sz="4000"/>
              <a:t>Parity Check</a:t>
            </a:r>
          </a:p>
          <a:p>
            <a:endParaRPr lang="en-US" altLang="en-US" sz="4000"/>
          </a:p>
          <a:p>
            <a:r>
              <a:rPr lang="en-US" altLang="en-US" sz="4000"/>
              <a:t>Cyclic Redundancy Check (CRC)</a:t>
            </a:r>
          </a:p>
          <a:p>
            <a:endParaRPr lang="en-US" altLang="en-US" sz="4000"/>
          </a:p>
          <a:p>
            <a:r>
              <a:rPr lang="en-US" altLang="en-US" sz="4000"/>
              <a:t>Checksum</a:t>
            </a:r>
          </a:p>
        </p:txBody>
      </p:sp>
    </p:spTree>
    <p:extLst>
      <p:ext uri="{BB962C8B-B14F-4D97-AF65-F5344CB8AC3E}">
        <p14:creationId xmlns:p14="http://schemas.microsoft.com/office/powerpoint/2010/main" val="1389431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23596">
                                            <p:txEl>
                                              <p:pRg st="0" end="0"/>
                                            </p:txEl>
                                          </p:spTgt>
                                        </p:tgtEl>
                                        <p:attrNameLst>
                                          <p:attrName>style.visibility</p:attrName>
                                        </p:attrNameLst>
                                      </p:cBhvr>
                                      <p:to>
                                        <p:strVal val="visible"/>
                                      </p:to>
                                    </p:set>
                                    <p:animEffect transition="in" filter="diamond(in)">
                                      <p:cBhvr>
                                        <p:cTn id="7" dur="1000"/>
                                        <p:tgtEl>
                                          <p:spTgt spid="3235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23596">
                                            <p:txEl>
                                              <p:pRg st="2" end="2"/>
                                            </p:txEl>
                                          </p:spTgt>
                                        </p:tgtEl>
                                        <p:attrNameLst>
                                          <p:attrName>style.visibility</p:attrName>
                                        </p:attrNameLst>
                                      </p:cBhvr>
                                      <p:to>
                                        <p:strVal val="visible"/>
                                      </p:to>
                                    </p:set>
                                    <p:animEffect transition="in" filter="diamond(in)">
                                      <p:cBhvr>
                                        <p:cTn id="12" dur="1000"/>
                                        <p:tgtEl>
                                          <p:spTgt spid="32359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23596">
                                            <p:txEl>
                                              <p:pRg st="4" end="4"/>
                                            </p:txEl>
                                          </p:spTgt>
                                        </p:tgtEl>
                                        <p:attrNameLst>
                                          <p:attrName>style.visibility</p:attrName>
                                        </p:attrNameLst>
                                      </p:cBhvr>
                                      <p:to>
                                        <p:strVal val="visible"/>
                                      </p:to>
                                    </p:set>
                                    <p:animEffect transition="in" filter="diamond(in)">
                                      <p:cBhvr>
                                        <p:cTn id="17" dur="1000"/>
                                        <p:tgtEl>
                                          <p:spTgt spid="323596">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323596">
                                            <p:txEl>
                                              <p:pRg st="6" end="6"/>
                                            </p:txEl>
                                          </p:spTgt>
                                        </p:tgtEl>
                                        <p:attrNameLst>
                                          <p:attrName>style.visibility</p:attrName>
                                        </p:attrNameLst>
                                      </p:cBhvr>
                                      <p:to>
                                        <p:strVal val="visible"/>
                                      </p:to>
                                    </p:set>
                                    <p:animEffect transition="in" filter="diamond(in)">
                                      <p:cBhvr>
                                        <p:cTn id="22" dur="1000"/>
                                        <p:tgtEl>
                                          <p:spTgt spid="3235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Redundancy</a:t>
            </a:r>
          </a:p>
        </p:txBody>
      </p:sp>
      <p:sp>
        <p:nvSpPr>
          <p:cNvPr id="56323"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5632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56325"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5632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5632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56328"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5632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pic>
        <p:nvPicPr>
          <p:cNvPr id="5633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7696200" cy="4008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2935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effectLst>
                <a:outerShdw blurRad="38100" dist="38100" dir="2700000" algn="tl">
                  <a:srgbClr val="FFFFFF"/>
                </a:outerShdw>
              </a:effectLst>
            </a:endParaRPr>
          </a:p>
        </p:txBody>
      </p:sp>
      <p:sp>
        <p:nvSpPr>
          <p:cNvPr id="859139" name="Text Box 3"/>
          <p:cNvSpPr txBox="1">
            <a:spLocks noChangeArrowheads="1"/>
          </p:cNvSpPr>
          <p:nvPr/>
        </p:nvSpPr>
        <p:spPr bwMode="auto">
          <a:xfrm>
            <a:off x="228600" y="406400"/>
            <a:ext cx="2858475" cy="369332"/>
          </a:xfrm>
          <a:prstGeom prst="rect">
            <a:avLst/>
          </a:prstGeom>
          <a:noFill/>
          <a:ln w="9525">
            <a:noFill/>
            <a:miter lim="800000"/>
            <a:headEnd/>
            <a:tailEnd/>
          </a:ln>
          <a:effectLst/>
        </p:spPr>
        <p:txBody>
          <a:bodyPr wrap="none">
            <a:spAutoFit/>
          </a:bodyPr>
          <a:lstStyle/>
          <a:p>
            <a:pPr>
              <a:defRPr/>
            </a:pPr>
            <a:r>
              <a:rPr lang="en-US" dirty="0" smtClean="0">
                <a:effectLst>
                  <a:outerShdw blurRad="38100" dist="38100" dir="2700000" algn="tl">
                    <a:srgbClr val="C0C0C0"/>
                  </a:outerShdw>
                </a:effectLst>
                <a:latin typeface="Times" pitchFamily="18" charset="0"/>
              </a:rPr>
              <a:t>   </a:t>
            </a:r>
            <a:r>
              <a:rPr lang="en-US" dirty="0">
                <a:effectLst>
                  <a:outerShdw blurRad="38100" dist="38100" dir="2700000" algn="tl">
                    <a:srgbClr val="C0C0C0"/>
                  </a:outerShdw>
                </a:effectLst>
                <a:latin typeface="Times" pitchFamily="18" charset="0"/>
              </a:rPr>
              <a:t>LINEAR BLOCK CODES</a:t>
            </a:r>
          </a:p>
        </p:txBody>
      </p:sp>
      <p:sp>
        <p:nvSpPr>
          <p:cNvPr id="57349"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endParaRPr lang="en-US" altLang="en-US"/>
          </a:p>
        </p:txBody>
      </p:sp>
      <p:sp>
        <p:nvSpPr>
          <p:cNvPr id="859141" name="Rectangle 5"/>
          <p:cNvSpPr>
            <a:spLocks noChangeArrowheads="1"/>
          </p:cNvSpPr>
          <p:nvPr/>
        </p:nvSpPr>
        <p:spPr bwMode="auto">
          <a:xfrm>
            <a:off x="228600" y="1329303"/>
            <a:ext cx="8229600" cy="2246769"/>
          </a:xfrm>
          <a:prstGeom prst="rect">
            <a:avLst/>
          </a:prstGeom>
          <a:noFill/>
          <a:ln w="9525">
            <a:noFill/>
            <a:miter lim="800000"/>
            <a:headEnd/>
            <a:tailEnd/>
          </a:ln>
          <a:effectLst/>
        </p:spPr>
        <p:txBody>
          <a:bodyPr anchor="ctr">
            <a:spAutoFit/>
          </a:bodyPr>
          <a:lstStyle/>
          <a:p>
            <a:pPr algn="just" eaLnBrk="1" hangingPunct="1">
              <a:defRPr/>
            </a:pPr>
            <a:r>
              <a:rPr lang="en-US" sz="2800" dirty="0">
                <a:effectLst>
                  <a:outerShdw blurRad="38100" dist="38100" dir="2700000" algn="tl">
                    <a:srgbClr val="C0C0C0"/>
                  </a:outerShdw>
                </a:effectLst>
              </a:rPr>
              <a:t>Almost all block codes used today belong to a subset called </a:t>
            </a:r>
            <a:r>
              <a:rPr lang="en-US" sz="2800" dirty="0">
                <a:solidFill>
                  <a:schemeClr val="hlink"/>
                </a:solidFill>
                <a:effectLst>
                  <a:outerShdw blurRad="38100" dist="38100" dir="2700000" algn="tl">
                    <a:srgbClr val="C0C0C0"/>
                  </a:outerShdw>
                </a:effectLst>
              </a:rPr>
              <a:t>linear block codes</a:t>
            </a:r>
            <a:r>
              <a:rPr lang="en-US" sz="2800" dirty="0">
                <a:effectLst>
                  <a:outerShdw blurRad="38100" dist="38100" dir="2700000" algn="tl">
                    <a:srgbClr val="C0C0C0"/>
                  </a:outerShdw>
                </a:effectLst>
              </a:rPr>
              <a:t>. A linear block code is a code in which </a:t>
            </a:r>
            <a:r>
              <a:rPr lang="en-US" sz="2800" dirty="0" smtClean="0">
                <a:effectLst>
                  <a:outerShdw blurRad="38100" dist="38100" dir="2700000" algn="tl">
                    <a:srgbClr val="C0C0C0"/>
                  </a:outerShdw>
                </a:effectLst>
              </a:rPr>
              <a:t>is the </a:t>
            </a:r>
            <a:r>
              <a:rPr lang="en-US" sz="2800" dirty="0">
                <a:effectLst>
                  <a:outerShdw blurRad="38100" dist="38100" dir="2700000" algn="tl">
                    <a:srgbClr val="C0C0C0"/>
                  </a:outerShdw>
                </a:effectLst>
              </a:rPr>
              <a:t>exclusive OR (addition modulo-2) of two valid </a:t>
            </a:r>
            <a:r>
              <a:rPr lang="en-US" sz="2800" dirty="0" err="1">
                <a:effectLst>
                  <a:outerShdw blurRad="38100" dist="38100" dir="2700000" algn="tl">
                    <a:srgbClr val="C0C0C0"/>
                  </a:outerShdw>
                </a:effectLst>
              </a:rPr>
              <a:t>codewords</a:t>
            </a:r>
            <a:r>
              <a:rPr lang="en-US" sz="2800" dirty="0">
                <a:effectLst>
                  <a:outerShdw blurRad="38100" dist="38100" dir="2700000" algn="tl">
                    <a:srgbClr val="C0C0C0"/>
                  </a:outerShdw>
                </a:effectLst>
              </a:rPr>
              <a:t> creates another valid </a:t>
            </a:r>
            <a:r>
              <a:rPr lang="en-US" sz="2800" dirty="0" err="1">
                <a:effectLst>
                  <a:outerShdw blurRad="38100" dist="38100" dir="2700000" algn="tl">
                    <a:srgbClr val="C0C0C0"/>
                  </a:outerShdw>
                </a:effectLst>
              </a:rPr>
              <a:t>codeword</a:t>
            </a:r>
            <a:r>
              <a:rPr lang="en-US" sz="2800" dirty="0">
                <a:effectLst>
                  <a:outerShdw blurRad="38100" dist="38100" dir="2700000" algn="tl">
                    <a:srgbClr val="C0C0C0"/>
                  </a:outerShdw>
                </a:effectLst>
              </a:rPr>
              <a:t>.</a:t>
            </a:r>
          </a:p>
        </p:txBody>
      </p:sp>
      <p:sp>
        <p:nvSpPr>
          <p:cNvPr id="57351" name="Rectangle 6"/>
          <p:cNvSpPr>
            <a:spLocks noChangeArrowheads="1"/>
          </p:cNvSpPr>
          <p:nvPr/>
        </p:nvSpPr>
        <p:spPr bwMode="auto">
          <a:xfrm>
            <a:off x="152400" y="4679950"/>
            <a:ext cx="6705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tx1"/>
              </a:buClr>
              <a:buSzPct val="117000"/>
              <a:buFont typeface="Wingdings" pitchFamily="2" charset="2"/>
              <a:buNone/>
            </a:pPr>
            <a:r>
              <a:rPr lang="en-US" altLang="en-US" sz="2400" dirty="0">
                <a:solidFill>
                  <a:srgbClr val="0033CC"/>
                </a:solidFill>
              </a:rPr>
              <a:t>Minimum Distance for Linear Block Codes</a:t>
            </a:r>
            <a:r>
              <a:rPr lang="fr-FR" altLang="en-US" sz="2400" dirty="0">
                <a:solidFill>
                  <a:srgbClr val="0033CC"/>
                </a:solidFill>
              </a:rPr>
              <a:t/>
            </a:r>
            <a:br>
              <a:rPr lang="fr-FR" altLang="en-US" sz="2400" dirty="0">
                <a:solidFill>
                  <a:srgbClr val="0033CC"/>
                </a:solidFill>
              </a:rPr>
            </a:br>
            <a:r>
              <a:rPr lang="fr-FR" altLang="en-US" sz="2400" dirty="0" err="1">
                <a:solidFill>
                  <a:srgbClr val="0033CC"/>
                </a:solidFill>
              </a:rPr>
              <a:t>Some</a:t>
            </a:r>
            <a:r>
              <a:rPr lang="fr-FR" altLang="en-US" sz="2400" dirty="0">
                <a:solidFill>
                  <a:srgbClr val="0033CC"/>
                </a:solidFill>
              </a:rPr>
              <a:t> </a:t>
            </a:r>
            <a:r>
              <a:rPr lang="fr-FR" altLang="en-US" sz="2400" dirty="0" err="1">
                <a:solidFill>
                  <a:srgbClr val="0033CC"/>
                </a:solidFill>
              </a:rPr>
              <a:t>Linear</a:t>
            </a:r>
            <a:r>
              <a:rPr lang="fr-FR" altLang="en-US" sz="2400" dirty="0">
                <a:solidFill>
                  <a:srgbClr val="0033CC"/>
                </a:solidFill>
              </a:rPr>
              <a:t> Block Codes</a:t>
            </a:r>
            <a:endParaRPr lang="en-US" altLang="en-US" sz="2400" dirty="0">
              <a:solidFill>
                <a:srgbClr val="0033CC"/>
              </a:solidFill>
            </a:endParaRPr>
          </a:p>
        </p:txBody>
      </p:sp>
      <p:sp>
        <p:nvSpPr>
          <p:cNvPr id="859143" name="Text Box 7"/>
          <p:cNvSpPr txBox="1">
            <a:spLocks noChangeArrowheads="1"/>
          </p:cNvSpPr>
          <p:nvPr/>
        </p:nvSpPr>
        <p:spPr bwMode="auto">
          <a:xfrm>
            <a:off x="547687" y="4203700"/>
            <a:ext cx="4862513" cy="519113"/>
          </a:xfrm>
          <a:prstGeom prst="rect">
            <a:avLst/>
          </a:prstGeom>
          <a:noFill/>
          <a:ln w="76200" algn="ctr">
            <a:noFill/>
            <a:miter lim="800000"/>
            <a:headEnd/>
            <a:tailEnd/>
          </a:ln>
          <a:effectLst/>
        </p:spPr>
        <p:txBody>
          <a:bodyPr wrap="none">
            <a:spAutoFit/>
          </a:bodyPr>
          <a:lstStyle/>
          <a:p>
            <a:pPr algn="ctr">
              <a:defRPr/>
            </a:pPr>
            <a:r>
              <a:rPr lang="en-US" sz="2800" i="1" u="sng" dirty="0">
                <a:solidFill>
                  <a:schemeClr val="hlink"/>
                </a:solidFill>
                <a:effectLst>
                  <a:outerShdw blurRad="38100" dist="38100" dir="2700000" algn="tl">
                    <a:srgbClr val="C0C0C0"/>
                  </a:outerShdw>
                </a:effectLst>
              </a:rPr>
              <a:t>Topics discussed in this section:</a:t>
            </a:r>
          </a:p>
        </p:txBody>
      </p:sp>
    </p:spTree>
    <p:extLst>
      <p:ext uri="{BB962C8B-B14F-4D97-AF65-F5344CB8AC3E}">
        <p14:creationId xmlns:p14="http://schemas.microsoft.com/office/powerpoint/2010/main" val="17119720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8372"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8373"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8374"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8375"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8376"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8377"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58378"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79" name="Line 10"/>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8380" name="Rectangle 11"/>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altLang="en-US" sz="3200">
                <a:latin typeface="Arial" pitchFamily="34" charset="0"/>
              </a:rPr>
              <a:t>A simple parity-check code is a </a:t>
            </a:r>
            <a:br>
              <a:rPr lang="en-US" altLang="en-US" sz="3200">
                <a:latin typeface="Arial" pitchFamily="34" charset="0"/>
              </a:rPr>
            </a:br>
            <a:r>
              <a:rPr lang="en-US" altLang="en-US" sz="3200">
                <a:latin typeface="Arial" pitchFamily="34" charset="0"/>
              </a:rPr>
              <a:t>single-bit error-detecting </a:t>
            </a:r>
            <a:br>
              <a:rPr lang="en-US" altLang="en-US" sz="3200">
                <a:latin typeface="Arial" pitchFamily="34" charset="0"/>
              </a:rPr>
            </a:br>
            <a:r>
              <a:rPr lang="en-US" altLang="en-US" sz="3200">
                <a:latin typeface="Arial" pitchFamily="34" charset="0"/>
              </a:rPr>
              <a:t>code in which </a:t>
            </a:r>
            <a:br>
              <a:rPr lang="en-US" altLang="en-US" sz="3200">
                <a:latin typeface="Arial" pitchFamily="34" charset="0"/>
              </a:rPr>
            </a:br>
            <a:r>
              <a:rPr lang="en-US" altLang="en-US" sz="3200" i="1">
                <a:latin typeface="Arial" pitchFamily="34" charset="0"/>
              </a:rPr>
              <a:t>n</a:t>
            </a:r>
            <a:r>
              <a:rPr lang="en-US" altLang="en-US" sz="3200">
                <a:latin typeface="Arial" pitchFamily="34" charset="0"/>
              </a:rPr>
              <a:t> = </a:t>
            </a:r>
            <a:r>
              <a:rPr lang="en-US" altLang="en-US" sz="3200" i="1">
                <a:latin typeface="Arial" pitchFamily="34" charset="0"/>
              </a:rPr>
              <a:t>k</a:t>
            </a:r>
            <a:r>
              <a:rPr lang="en-US" altLang="en-US" sz="3200">
                <a:latin typeface="Arial" pitchFamily="34" charset="0"/>
              </a:rPr>
              <a:t> + 1 with </a:t>
            </a:r>
            <a:r>
              <a:rPr lang="en-US" altLang="en-US" sz="3200" i="1">
                <a:latin typeface="Arial" pitchFamily="34" charset="0"/>
              </a:rPr>
              <a:t>d</a:t>
            </a:r>
            <a:r>
              <a:rPr lang="en-US" altLang="en-US" sz="3200" baseline="-18000">
                <a:latin typeface="Arial" pitchFamily="34" charset="0"/>
              </a:rPr>
              <a:t>min</a:t>
            </a:r>
            <a:r>
              <a:rPr lang="en-US" altLang="en-US" sz="3200">
                <a:latin typeface="Arial" pitchFamily="34" charset="0"/>
              </a:rPr>
              <a:t> = 2.</a:t>
            </a:r>
          </a:p>
        </p:txBody>
      </p:sp>
      <p:grpSp>
        <p:nvGrpSpPr>
          <p:cNvPr id="58381" name="Group 12"/>
          <p:cNvGrpSpPr>
            <a:grpSpLocks/>
          </p:cNvGrpSpPr>
          <p:nvPr/>
        </p:nvGrpSpPr>
        <p:grpSpPr bwMode="auto">
          <a:xfrm>
            <a:off x="533400" y="2024063"/>
            <a:ext cx="1143000" cy="566737"/>
            <a:chOff x="1200" y="1248"/>
            <a:chExt cx="720" cy="357"/>
          </a:xfrm>
        </p:grpSpPr>
        <p:pic>
          <p:nvPicPr>
            <p:cNvPr id="58382"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83"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800" i="1">
                  <a:solidFill>
                    <a:schemeClr val="hlink"/>
                  </a:solidFill>
                </a:rPr>
                <a:t>Note</a:t>
              </a:r>
            </a:p>
          </p:txBody>
        </p:sp>
      </p:grpSp>
    </p:spTree>
    <p:extLst>
      <p:ext uri="{BB962C8B-B14F-4D97-AF65-F5344CB8AC3E}">
        <p14:creationId xmlns:p14="http://schemas.microsoft.com/office/powerpoint/2010/main" val="31929282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2"/>
          <p:cNvSpPr txBox="1">
            <a:spLocks noChangeArrowheads="1"/>
          </p:cNvSpPr>
          <p:nvPr/>
        </p:nvSpPr>
        <p:spPr bwMode="auto">
          <a:xfrm>
            <a:off x="381000" y="914400"/>
            <a:ext cx="37737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400" dirty="0" smtClean="0">
                <a:solidFill>
                  <a:schemeClr val="folHlink"/>
                </a:solidFill>
              </a:rPr>
              <a:t>  </a:t>
            </a:r>
            <a:r>
              <a:rPr lang="en-US" altLang="en-US" sz="2000" i="1" dirty="0"/>
              <a:t>Simple parity-check code C(5, 4)</a:t>
            </a:r>
          </a:p>
        </p:txBody>
      </p:sp>
      <p:pic>
        <p:nvPicPr>
          <p:cNvPr id="593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1303338"/>
            <a:ext cx="8520112"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0693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Line 2"/>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0" name="Line 3"/>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0421" name="Text Box 4"/>
          <p:cNvSpPr txBox="1">
            <a:spLocks noChangeArrowheads="1"/>
          </p:cNvSpPr>
          <p:nvPr/>
        </p:nvSpPr>
        <p:spPr bwMode="auto">
          <a:xfrm>
            <a:off x="304800" y="762000"/>
            <a:ext cx="55547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400" dirty="0" smtClean="0">
                <a:solidFill>
                  <a:schemeClr val="folHlink"/>
                </a:solidFill>
              </a:rPr>
              <a:t> </a:t>
            </a:r>
            <a:r>
              <a:rPr lang="en-US" altLang="en-US" sz="2000" i="1" dirty="0"/>
              <a:t>Encoder and decoder for simple parity-check code</a:t>
            </a:r>
          </a:p>
        </p:txBody>
      </p:sp>
      <p:sp>
        <p:nvSpPr>
          <p:cNvPr id="60422"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604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75" y="1474788"/>
            <a:ext cx="8099425" cy="437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9492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1444"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1445"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1446"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1447"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1448"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1449"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1450" name="Rectangle 9"/>
          <p:cNvSpPr>
            <a:spLocks noChangeArrowheads="1"/>
          </p:cNvSpPr>
          <p:nvPr/>
        </p:nvSpPr>
        <p:spPr bwMode="auto">
          <a:xfrm>
            <a:off x="228600" y="1143000"/>
            <a:ext cx="86868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dirty="0">
                <a:latin typeface="Times New Roman" pitchFamily="18" charset="0"/>
                <a:cs typeface="Times New Roman" pitchFamily="18" charset="0"/>
              </a:rPr>
              <a:t>Let us look at some transmission scenarios. Assume the sender sends the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1011. The </a:t>
            </a:r>
            <a:r>
              <a:rPr lang="en-US" altLang="en-US" sz="2800" dirty="0" err="1">
                <a:latin typeface="Times New Roman" pitchFamily="18" charset="0"/>
                <a:cs typeface="Times New Roman" pitchFamily="18" charset="0"/>
              </a:rPr>
              <a:t>codeword</a:t>
            </a:r>
            <a:r>
              <a:rPr lang="en-US" altLang="en-US" sz="2800" dirty="0">
                <a:latin typeface="Times New Roman" pitchFamily="18" charset="0"/>
                <a:cs typeface="Times New Roman" pitchFamily="18" charset="0"/>
              </a:rPr>
              <a:t> created from this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is 10111, which is sent to the receiver. We examine five cases:</a:t>
            </a:r>
          </a:p>
          <a:p>
            <a:pPr algn="just"/>
            <a:endParaRPr lang="en-US" altLang="en-US" sz="2800" dirty="0">
              <a:latin typeface="Times New Roman" pitchFamily="18" charset="0"/>
              <a:cs typeface="Times New Roman" pitchFamily="18" charset="0"/>
            </a:endParaRPr>
          </a:p>
          <a:p>
            <a:r>
              <a:rPr lang="en-US" altLang="en-US" sz="2800" dirty="0">
                <a:solidFill>
                  <a:schemeClr val="hlink"/>
                </a:solidFill>
                <a:latin typeface="Times New Roman" pitchFamily="18" charset="0"/>
                <a:cs typeface="Times New Roman" pitchFamily="18" charset="0"/>
              </a:rPr>
              <a:t>1.</a:t>
            </a:r>
            <a:r>
              <a:rPr lang="en-US" altLang="en-US" sz="2800" dirty="0">
                <a:latin typeface="Times New Roman" pitchFamily="18" charset="0"/>
                <a:cs typeface="Times New Roman" pitchFamily="18" charset="0"/>
              </a:rPr>
              <a:t>  No error occurs; the received </a:t>
            </a:r>
            <a:r>
              <a:rPr lang="en-US" altLang="en-US" sz="2800" dirty="0" err="1">
                <a:latin typeface="Times New Roman" pitchFamily="18" charset="0"/>
                <a:cs typeface="Times New Roman" pitchFamily="18" charset="0"/>
              </a:rPr>
              <a:t>codeword</a:t>
            </a:r>
            <a:r>
              <a:rPr lang="en-US" altLang="en-US" sz="2800" dirty="0">
                <a:latin typeface="Times New Roman" pitchFamily="18" charset="0"/>
                <a:cs typeface="Times New Roman" pitchFamily="18" charset="0"/>
              </a:rPr>
              <a:t> is 10111. The</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syndrome is 0. The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1011 is created.</a:t>
            </a:r>
          </a:p>
          <a:p>
            <a:r>
              <a:rPr lang="en-US" altLang="en-US" sz="2800" dirty="0">
                <a:solidFill>
                  <a:schemeClr val="hlink"/>
                </a:solidFill>
                <a:latin typeface="Times New Roman" pitchFamily="18" charset="0"/>
                <a:cs typeface="Times New Roman" pitchFamily="18" charset="0"/>
              </a:rPr>
              <a:t>2.</a:t>
            </a:r>
            <a:r>
              <a:rPr lang="en-US" altLang="en-US" sz="2800" dirty="0">
                <a:latin typeface="Times New Roman" pitchFamily="18" charset="0"/>
                <a:cs typeface="Times New Roman" pitchFamily="18" charset="0"/>
              </a:rPr>
              <a:t>  One single-bit error changes a</a:t>
            </a:r>
            <a:r>
              <a:rPr lang="en-US" altLang="en-US" sz="2800" baseline="-14000" dirty="0">
                <a:latin typeface="Times New Roman" pitchFamily="18" charset="0"/>
                <a:cs typeface="Times New Roman" pitchFamily="18" charset="0"/>
              </a:rPr>
              <a:t>1 </a:t>
            </a:r>
            <a:r>
              <a:rPr lang="en-US" altLang="en-US" sz="2800" dirty="0">
                <a:latin typeface="Times New Roman" pitchFamily="18" charset="0"/>
                <a:cs typeface="Times New Roman" pitchFamily="18" charset="0"/>
              </a:rPr>
              <a:t>. The received</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a:t>
            </a:r>
            <a:r>
              <a:rPr lang="en-US" altLang="en-US" sz="2800" dirty="0" err="1">
                <a:latin typeface="Times New Roman" pitchFamily="18" charset="0"/>
                <a:cs typeface="Times New Roman" pitchFamily="18" charset="0"/>
              </a:rPr>
              <a:t>codeword</a:t>
            </a:r>
            <a:r>
              <a:rPr lang="en-US" altLang="en-US" sz="2800" dirty="0">
                <a:latin typeface="Times New Roman" pitchFamily="18" charset="0"/>
                <a:cs typeface="Times New Roman" pitchFamily="18" charset="0"/>
              </a:rPr>
              <a:t> is 10011. The syndrome is 1. No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is created.</a:t>
            </a:r>
          </a:p>
          <a:p>
            <a:r>
              <a:rPr lang="en-US" altLang="en-US" sz="2800" dirty="0">
                <a:solidFill>
                  <a:schemeClr val="hlink"/>
                </a:solidFill>
                <a:latin typeface="Times New Roman" pitchFamily="18" charset="0"/>
                <a:cs typeface="Times New Roman" pitchFamily="18" charset="0"/>
              </a:rPr>
              <a:t>3.</a:t>
            </a:r>
            <a:r>
              <a:rPr lang="en-US" altLang="en-US" sz="2800" dirty="0">
                <a:latin typeface="Times New Roman" pitchFamily="18" charset="0"/>
                <a:cs typeface="Times New Roman" pitchFamily="18" charset="0"/>
              </a:rPr>
              <a:t> One single-bit error changes r</a:t>
            </a:r>
            <a:r>
              <a:rPr lang="en-US" altLang="en-US" sz="2800" baseline="-14000" dirty="0">
                <a:latin typeface="Times New Roman" pitchFamily="18" charset="0"/>
                <a:cs typeface="Times New Roman" pitchFamily="18" charset="0"/>
              </a:rPr>
              <a:t>0 </a:t>
            </a:r>
            <a:r>
              <a:rPr lang="en-US" altLang="en-US" sz="2800" dirty="0">
                <a:latin typeface="Times New Roman" pitchFamily="18" charset="0"/>
                <a:cs typeface="Times New Roman" pitchFamily="18" charset="0"/>
              </a:rPr>
              <a:t>. The received </a:t>
            </a:r>
            <a:r>
              <a:rPr lang="en-US" altLang="en-US" sz="2800" dirty="0" err="1">
                <a:latin typeface="Times New Roman" pitchFamily="18" charset="0"/>
                <a:cs typeface="Times New Roman" pitchFamily="18" charset="0"/>
              </a:rPr>
              <a:t>codeword</a:t>
            </a:r>
            <a:r>
              <a:rPr lang="en-US" altLang="en-US" sz="2800" dirty="0">
                <a:latin typeface="Times New Roman" pitchFamily="18" charset="0"/>
                <a:cs typeface="Times New Roman" pitchFamily="18" charset="0"/>
              </a:rPr>
              <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is 10110. The syndrome is 1. No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is created. </a:t>
            </a:r>
          </a:p>
        </p:txBody>
      </p:sp>
      <p:sp>
        <p:nvSpPr>
          <p:cNvPr id="61451" name="Text Box 11"/>
          <p:cNvSpPr txBox="1">
            <a:spLocks noChangeArrowheads="1"/>
          </p:cNvSpPr>
          <p:nvPr/>
        </p:nvSpPr>
        <p:spPr bwMode="auto">
          <a:xfrm>
            <a:off x="1143000" y="0"/>
            <a:ext cx="26908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a:solidFill>
                  <a:schemeClr val="hlink"/>
                </a:solidFill>
              </a:rPr>
              <a:t>Example 10.12</a:t>
            </a:r>
          </a:p>
        </p:txBody>
      </p:sp>
    </p:spTree>
    <p:extLst>
      <p:ext uri="{BB962C8B-B14F-4D97-AF65-F5344CB8AC3E}">
        <p14:creationId xmlns:p14="http://schemas.microsoft.com/office/powerpoint/2010/main" val="26003804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246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2469"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247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247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2472"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247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2474" name="Rectangle 9"/>
          <p:cNvSpPr>
            <a:spLocks noChangeArrowheads="1"/>
          </p:cNvSpPr>
          <p:nvPr/>
        </p:nvSpPr>
        <p:spPr bwMode="auto">
          <a:xfrm>
            <a:off x="228600" y="1143000"/>
            <a:ext cx="87630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sz="2800" dirty="0">
                <a:solidFill>
                  <a:schemeClr val="hlink"/>
                </a:solidFill>
                <a:latin typeface="Times New Roman" pitchFamily="18" charset="0"/>
                <a:cs typeface="Times New Roman" pitchFamily="18" charset="0"/>
              </a:rPr>
              <a:t>4</a:t>
            </a:r>
            <a:r>
              <a:rPr lang="en-US" altLang="en-US" sz="2800" dirty="0">
                <a:latin typeface="Times New Roman" pitchFamily="18" charset="0"/>
                <a:cs typeface="Times New Roman" pitchFamily="18" charset="0"/>
              </a:rPr>
              <a:t>. An error changes r</a:t>
            </a:r>
            <a:r>
              <a:rPr lang="en-US" altLang="en-US" sz="2800" baseline="-14000" dirty="0">
                <a:latin typeface="Times New Roman" pitchFamily="18" charset="0"/>
                <a:cs typeface="Times New Roman" pitchFamily="18" charset="0"/>
              </a:rPr>
              <a:t>0</a:t>
            </a:r>
            <a:r>
              <a:rPr lang="en-US" altLang="en-US" sz="2800" dirty="0">
                <a:latin typeface="Times New Roman" pitchFamily="18" charset="0"/>
                <a:cs typeface="Times New Roman" pitchFamily="18" charset="0"/>
              </a:rPr>
              <a:t> and a second error changes a</a:t>
            </a:r>
            <a:r>
              <a:rPr lang="en-US" altLang="en-US" sz="2800" baseline="-14000" dirty="0">
                <a:latin typeface="Times New Roman" pitchFamily="18" charset="0"/>
                <a:cs typeface="Times New Roman" pitchFamily="18" charset="0"/>
              </a:rPr>
              <a:t>3 </a:t>
            </a:r>
            <a:r>
              <a:rPr lang="en-US" altLang="en-US" sz="2800" dirty="0">
                <a:latin typeface="Times New Roman" pitchFamily="18" charset="0"/>
                <a:cs typeface="Times New Roman" pitchFamily="18" charset="0"/>
              </a:rPr>
              <a:t>.</a:t>
            </a:r>
          </a:p>
          <a:p>
            <a:r>
              <a:rPr lang="en-US" altLang="en-US" sz="2800" dirty="0">
                <a:latin typeface="Times New Roman" pitchFamily="18" charset="0"/>
                <a:cs typeface="Times New Roman" pitchFamily="18" charset="0"/>
              </a:rPr>
              <a:t>    The received </a:t>
            </a:r>
            <a:r>
              <a:rPr lang="en-US" altLang="en-US" sz="2800" dirty="0" err="1">
                <a:latin typeface="Times New Roman" pitchFamily="18" charset="0"/>
                <a:cs typeface="Times New Roman" pitchFamily="18" charset="0"/>
              </a:rPr>
              <a:t>codeword</a:t>
            </a:r>
            <a:r>
              <a:rPr lang="en-US" altLang="en-US" sz="2800" dirty="0">
                <a:latin typeface="Times New Roman" pitchFamily="18" charset="0"/>
                <a:cs typeface="Times New Roman" pitchFamily="18" charset="0"/>
              </a:rPr>
              <a:t> is 00110. The syndrome is 0.</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The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0011 is created at the receiver. Note that</a:t>
            </a:r>
          </a:p>
          <a:p>
            <a:r>
              <a:rPr lang="en-US" altLang="en-US" sz="2800" dirty="0">
                <a:latin typeface="Times New Roman" pitchFamily="18" charset="0"/>
                <a:cs typeface="Times New Roman" pitchFamily="18" charset="0"/>
              </a:rPr>
              <a:t>    here the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is  wrongly created due to the</a:t>
            </a:r>
          </a:p>
          <a:p>
            <a:r>
              <a:rPr lang="en-US" altLang="en-US" sz="2800" dirty="0">
                <a:latin typeface="Times New Roman" pitchFamily="18" charset="0"/>
                <a:cs typeface="Times New Roman" pitchFamily="18" charset="0"/>
              </a:rPr>
              <a:t>    syndrome value. </a:t>
            </a:r>
          </a:p>
          <a:p>
            <a:r>
              <a:rPr lang="en-US" altLang="en-US" sz="2800" dirty="0">
                <a:solidFill>
                  <a:schemeClr val="hlink"/>
                </a:solidFill>
                <a:latin typeface="Times New Roman" pitchFamily="18" charset="0"/>
                <a:cs typeface="Times New Roman" pitchFamily="18" charset="0"/>
              </a:rPr>
              <a:t>5</a:t>
            </a:r>
            <a:r>
              <a:rPr lang="en-US" altLang="en-US" sz="2800" dirty="0">
                <a:latin typeface="Times New Roman" pitchFamily="18" charset="0"/>
                <a:cs typeface="Times New Roman" pitchFamily="18" charset="0"/>
              </a:rPr>
              <a:t>. Three bits—a</a:t>
            </a:r>
            <a:r>
              <a:rPr lang="en-US" altLang="en-US" sz="2800" baseline="-14000" dirty="0">
                <a:latin typeface="Times New Roman" pitchFamily="18" charset="0"/>
                <a:cs typeface="Times New Roman" pitchFamily="18" charset="0"/>
              </a:rPr>
              <a:t>3</a:t>
            </a:r>
            <a:r>
              <a:rPr lang="en-US" altLang="en-US" sz="2800" dirty="0">
                <a:latin typeface="Times New Roman" pitchFamily="18" charset="0"/>
                <a:cs typeface="Times New Roman" pitchFamily="18" charset="0"/>
              </a:rPr>
              <a:t>, a</a:t>
            </a:r>
            <a:r>
              <a:rPr lang="en-US" altLang="en-US" sz="2800" baseline="-14000" dirty="0">
                <a:latin typeface="Times New Roman" pitchFamily="18" charset="0"/>
                <a:cs typeface="Times New Roman" pitchFamily="18" charset="0"/>
              </a:rPr>
              <a:t>2</a:t>
            </a:r>
            <a:r>
              <a:rPr lang="en-US" altLang="en-US" sz="2800" dirty="0">
                <a:latin typeface="Times New Roman" pitchFamily="18" charset="0"/>
                <a:cs typeface="Times New Roman" pitchFamily="18" charset="0"/>
              </a:rPr>
              <a:t>, and a</a:t>
            </a:r>
            <a:r>
              <a:rPr lang="en-US" altLang="en-US" sz="2800" baseline="-14000" dirty="0">
                <a:latin typeface="Times New Roman" pitchFamily="18" charset="0"/>
                <a:cs typeface="Times New Roman" pitchFamily="18" charset="0"/>
              </a:rPr>
              <a:t>1</a:t>
            </a:r>
            <a:r>
              <a:rPr lang="en-US" altLang="en-US" sz="2800" dirty="0">
                <a:latin typeface="Times New Roman" pitchFamily="18" charset="0"/>
                <a:cs typeface="Times New Roman" pitchFamily="18" charset="0"/>
              </a:rPr>
              <a:t>—are changed by errors.</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The received </a:t>
            </a:r>
            <a:r>
              <a:rPr lang="en-US" altLang="en-US" sz="2800" dirty="0" err="1">
                <a:latin typeface="Times New Roman" pitchFamily="18" charset="0"/>
                <a:cs typeface="Times New Roman" pitchFamily="18" charset="0"/>
              </a:rPr>
              <a:t>codeword</a:t>
            </a:r>
            <a:r>
              <a:rPr lang="en-US" altLang="en-US" sz="2800" dirty="0">
                <a:latin typeface="Times New Roman" pitchFamily="18" charset="0"/>
                <a:cs typeface="Times New Roman" pitchFamily="18" charset="0"/>
              </a:rPr>
              <a:t> is 01011. The syndrome is 1.</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The </a:t>
            </a:r>
            <a:r>
              <a:rPr lang="en-US" altLang="en-US" sz="2800" dirty="0" err="1">
                <a:latin typeface="Times New Roman" pitchFamily="18" charset="0"/>
                <a:cs typeface="Times New Roman" pitchFamily="18" charset="0"/>
              </a:rPr>
              <a:t>dataword</a:t>
            </a:r>
            <a:r>
              <a:rPr lang="en-US" altLang="en-US" sz="2800" dirty="0">
                <a:latin typeface="Times New Roman" pitchFamily="18" charset="0"/>
                <a:cs typeface="Times New Roman" pitchFamily="18" charset="0"/>
              </a:rPr>
              <a:t> is not created. This shows that the simple</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parity check, guaranteed to detect one single error, can</a:t>
            </a:r>
            <a:br>
              <a:rPr lang="en-US" altLang="en-US" sz="2800" dirty="0">
                <a:latin typeface="Times New Roman" pitchFamily="18" charset="0"/>
                <a:cs typeface="Times New Roman" pitchFamily="18" charset="0"/>
              </a:rPr>
            </a:br>
            <a:r>
              <a:rPr lang="en-US" altLang="en-US" sz="2800" dirty="0">
                <a:latin typeface="Times New Roman" pitchFamily="18" charset="0"/>
                <a:cs typeface="Times New Roman" pitchFamily="18" charset="0"/>
              </a:rPr>
              <a:t>    also find any odd number of errors.</a:t>
            </a:r>
          </a:p>
        </p:txBody>
      </p:sp>
      <p:sp>
        <p:nvSpPr>
          <p:cNvPr id="62475" name="Text Box 10"/>
          <p:cNvSpPr txBox="1">
            <a:spLocks noChangeArrowheads="1"/>
          </p:cNvSpPr>
          <p:nvPr/>
        </p:nvSpPr>
        <p:spPr bwMode="auto">
          <a:xfrm>
            <a:off x="1143000" y="0"/>
            <a:ext cx="48339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a:solidFill>
                  <a:schemeClr val="hlink"/>
                </a:solidFill>
              </a:rPr>
              <a:t>Example 10.12  (continued)</a:t>
            </a:r>
          </a:p>
        </p:txBody>
      </p:sp>
    </p:spTree>
    <p:extLst>
      <p:ext uri="{BB962C8B-B14F-4D97-AF65-F5344CB8AC3E}">
        <p14:creationId xmlns:p14="http://schemas.microsoft.com/office/powerpoint/2010/main" val="4263738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3492"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3493"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3494"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3495"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3496"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3497"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a:latin typeface="Tahoma" pitchFamily="34" charset="0"/>
            </a:endParaRPr>
          </a:p>
        </p:txBody>
      </p:sp>
      <p:sp>
        <p:nvSpPr>
          <p:cNvPr id="63498"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3499" name="Line 10"/>
          <p:cNvSpPr>
            <a:spLocks noChangeShapeType="1"/>
          </p:cNvSpPr>
          <p:nvPr/>
        </p:nvSpPr>
        <p:spPr bwMode="auto">
          <a:xfrm>
            <a:off x="458788"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63500" name="Rectangle 11"/>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altLang="en-US" sz="3200">
                <a:latin typeface="Arial" pitchFamily="34" charset="0"/>
              </a:rPr>
              <a:t>A simple parity-check code can detect an odd number of errors.</a:t>
            </a:r>
          </a:p>
        </p:txBody>
      </p:sp>
      <p:grpSp>
        <p:nvGrpSpPr>
          <p:cNvPr id="63501" name="Group 12"/>
          <p:cNvGrpSpPr>
            <a:grpSpLocks/>
          </p:cNvGrpSpPr>
          <p:nvPr/>
        </p:nvGrpSpPr>
        <p:grpSpPr bwMode="auto">
          <a:xfrm>
            <a:off x="533400" y="2024063"/>
            <a:ext cx="1143000" cy="566737"/>
            <a:chOff x="1200" y="1248"/>
            <a:chExt cx="720" cy="357"/>
          </a:xfrm>
        </p:grpSpPr>
        <p:pic>
          <p:nvPicPr>
            <p:cNvPr id="63502"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3"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2800" i="1">
                  <a:solidFill>
                    <a:schemeClr val="hlink"/>
                  </a:solidFill>
                </a:rPr>
                <a:t>Note</a:t>
              </a:r>
            </a:p>
          </p:txBody>
        </p:sp>
      </p:grpSp>
    </p:spTree>
    <p:extLst>
      <p:ext uri="{BB962C8B-B14F-4D97-AF65-F5344CB8AC3E}">
        <p14:creationId xmlns:p14="http://schemas.microsoft.com/office/powerpoint/2010/main" val="4211722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Even-parity concept</a:t>
            </a:r>
          </a:p>
        </p:txBody>
      </p:sp>
      <p:sp>
        <p:nvSpPr>
          <p:cNvPr id="6758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6758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6758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6759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6759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6759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6759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pic>
        <p:nvPicPr>
          <p:cNvPr id="6759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788" y="1295400"/>
            <a:ext cx="6754812" cy="47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49321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ChangeArrowheads="1"/>
          </p:cNvSpPr>
          <p:nvPr/>
        </p:nvSpPr>
        <p:spPr bwMode="auto">
          <a:xfrm>
            <a:off x="838200" y="2195513"/>
            <a:ext cx="7543800" cy="234632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pPr>
            <a:r>
              <a:rPr lang="en-US" altLang="en-US" sz="3600" dirty="0"/>
              <a:t>In parity check, a parity bit is added to every data unit so that the total number of 1s is even </a:t>
            </a:r>
            <a:br>
              <a:rPr lang="en-US" altLang="en-US" sz="3600" dirty="0"/>
            </a:br>
            <a:r>
              <a:rPr lang="en-US" altLang="en-US" sz="3600" dirty="0"/>
              <a:t>(or odd for odd-parity).</a:t>
            </a:r>
          </a:p>
        </p:txBody>
      </p:sp>
      <p:sp>
        <p:nvSpPr>
          <p:cNvPr id="68611" name="PubRRectCallout"/>
          <p:cNvSpPr>
            <a:spLocks noEditPoints="1" noChangeArrowheads="1"/>
          </p:cNvSpPr>
          <p:nvPr/>
        </p:nvSpPr>
        <p:spPr bwMode="auto">
          <a:xfrm>
            <a:off x="838200" y="990600"/>
            <a:ext cx="2743200" cy="1143000"/>
          </a:xfrm>
          <a:custGeom>
            <a:avLst/>
            <a:gdLst>
              <a:gd name="T0" fmla="*/ 174193200 w 21600"/>
              <a:gd name="T1" fmla="*/ 0 h 21600"/>
              <a:gd name="T2" fmla="*/ 0 w 21600"/>
              <a:gd name="T3" fmla="*/ 24187891 h 21600"/>
              <a:gd name="T4" fmla="*/ 138822303 w 21600"/>
              <a:gd name="T5" fmla="*/ 60483750 h 21600"/>
              <a:gd name="T6" fmla="*/ 174193200 w 21600"/>
              <a:gd name="T7" fmla="*/ 48378586 h 21600"/>
              <a:gd name="T8" fmla="*/ 348386400 w 21600"/>
              <a:gd name="T9" fmla="*/ 24187891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6861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2981" name="Text Box 1029"/>
          <p:cNvSpPr txBox="1">
            <a:spLocks noChangeArrowheads="1"/>
          </p:cNvSpPr>
          <p:nvPr/>
        </p:nvSpPr>
        <p:spPr bwMode="auto">
          <a:xfrm>
            <a:off x="2133600" y="114300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600">
                <a:effectLst>
                  <a:outerShdw blurRad="38100" dist="38100" dir="2700000" algn="tl">
                    <a:srgbClr val="FFFFFF"/>
                  </a:outerShdw>
                </a:effectLst>
              </a:rPr>
              <a:t>Note</a:t>
            </a:r>
            <a:r>
              <a:rPr lang="en-US" altLang="en-US" sz="3600" b="0">
                <a:effectLst>
                  <a:outerShdw blurRad="38100" dist="38100" dir="2700000" algn="tl">
                    <a:srgbClr val="FFFFFF"/>
                  </a:outerShdw>
                </a:effectLst>
              </a:rPr>
              <a:t>:</a:t>
            </a:r>
          </a:p>
        </p:txBody>
      </p:sp>
    </p:spTree>
    <p:extLst>
      <p:ext uri="{BB962C8B-B14F-4D97-AF65-F5344CB8AC3E}">
        <p14:creationId xmlns:p14="http://schemas.microsoft.com/office/powerpoint/2010/main" val="684564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Text Box 2"/>
          <p:cNvSpPr txBox="1">
            <a:spLocks noChangeArrowheads="1"/>
          </p:cNvSpPr>
          <p:nvPr/>
        </p:nvSpPr>
        <p:spPr bwMode="auto">
          <a:xfrm>
            <a:off x="144463" y="249238"/>
            <a:ext cx="2263761" cy="584775"/>
          </a:xfrm>
          <a:prstGeom prst="rect">
            <a:avLst/>
          </a:prstGeom>
          <a:solidFill>
            <a:schemeClr val="bg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200" dirty="0">
                <a:effectLst>
                  <a:outerShdw blurRad="38100" dist="38100" dir="2700000" algn="tl">
                    <a:srgbClr val="C0C0C0"/>
                  </a:outerShdw>
                </a:effectLst>
              </a:rPr>
              <a:t>Example 1</a:t>
            </a:r>
          </a:p>
        </p:txBody>
      </p:sp>
      <p:sp>
        <p:nvSpPr>
          <p:cNvPr id="69635" name="Rectangle 3"/>
          <p:cNvSpPr>
            <a:spLocks noChangeArrowheads="1"/>
          </p:cNvSpPr>
          <p:nvPr/>
        </p:nvSpPr>
        <p:spPr bwMode="auto">
          <a:xfrm>
            <a:off x="228600" y="1079500"/>
            <a:ext cx="8458200" cy="2870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800" b="0" dirty="0">
                <a:latin typeface="Times" pitchFamily="18" charset="0"/>
              </a:rPr>
              <a:t>Suppose the sender wants to send the word </a:t>
            </a:r>
            <a:r>
              <a:rPr lang="en-US" altLang="en-US" sz="2800" b="0" i="1" dirty="0">
                <a:latin typeface="Times" pitchFamily="18" charset="0"/>
              </a:rPr>
              <a:t>world</a:t>
            </a:r>
            <a:r>
              <a:rPr lang="en-US" altLang="en-US" sz="2800" b="0" dirty="0">
                <a:latin typeface="Times" pitchFamily="18" charset="0"/>
              </a:rPr>
              <a:t>. In ASCII the five characters are coded as </a:t>
            </a:r>
          </a:p>
          <a:p>
            <a:pPr eaLnBrk="1" hangingPunct="1">
              <a:spcBef>
                <a:spcPct val="50000"/>
              </a:spcBef>
            </a:pPr>
            <a:r>
              <a:rPr lang="en-US" altLang="en-US" sz="2800" b="0" dirty="0">
                <a:latin typeface="Times" pitchFamily="18" charset="0"/>
              </a:rPr>
              <a:t> </a:t>
            </a:r>
            <a:r>
              <a:rPr lang="en-US" altLang="en-US" sz="2800" dirty="0"/>
              <a:t>1110111   1101111   1110010   1101100   1100100</a:t>
            </a:r>
          </a:p>
          <a:p>
            <a:pPr eaLnBrk="1" hangingPunct="1">
              <a:spcBef>
                <a:spcPct val="50000"/>
              </a:spcBef>
            </a:pPr>
            <a:r>
              <a:rPr lang="en-US" altLang="en-US" sz="2800" b="0" dirty="0">
                <a:latin typeface="Times" pitchFamily="18" charset="0"/>
              </a:rPr>
              <a:t>The following shows the actual bits sent</a:t>
            </a:r>
          </a:p>
          <a:p>
            <a:pPr eaLnBrk="1" hangingPunct="1">
              <a:spcBef>
                <a:spcPct val="50000"/>
              </a:spcBef>
            </a:pPr>
            <a:r>
              <a:rPr lang="en-US" altLang="en-US" sz="2800" b="0" dirty="0">
                <a:latin typeface="Times" pitchFamily="18" charset="0"/>
              </a:rPr>
              <a:t> </a:t>
            </a:r>
            <a:r>
              <a:rPr lang="en-US" altLang="en-US" sz="2400" b="0" dirty="0">
                <a:latin typeface="Times" pitchFamily="18" charset="0"/>
              </a:rPr>
              <a:t>1110111</a:t>
            </a:r>
            <a:r>
              <a:rPr lang="en-US" altLang="en-US" sz="2400" u="sng" dirty="0">
                <a:solidFill>
                  <a:schemeClr val="hlink"/>
                </a:solidFill>
                <a:latin typeface="Times" pitchFamily="18" charset="0"/>
              </a:rPr>
              <a:t>0</a:t>
            </a:r>
            <a:r>
              <a:rPr lang="en-US" altLang="en-US" sz="2400" b="0" dirty="0">
                <a:latin typeface="Times" pitchFamily="18" charset="0"/>
              </a:rPr>
              <a:t>   1101111</a:t>
            </a:r>
            <a:r>
              <a:rPr lang="en-US" altLang="en-US" sz="2400" u="sng" dirty="0">
                <a:solidFill>
                  <a:schemeClr val="hlink"/>
                </a:solidFill>
                <a:latin typeface="Times" pitchFamily="18" charset="0"/>
              </a:rPr>
              <a:t>0</a:t>
            </a:r>
            <a:r>
              <a:rPr lang="en-US" altLang="en-US" sz="2400" b="0" dirty="0">
                <a:latin typeface="Times" pitchFamily="18" charset="0"/>
              </a:rPr>
              <a:t>   1110010</a:t>
            </a:r>
            <a:r>
              <a:rPr lang="en-US" altLang="en-US" sz="2400" u="sng" dirty="0">
                <a:solidFill>
                  <a:schemeClr val="hlink"/>
                </a:solidFill>
                <a:latin typeface="Times" pitchFamily="18" charset="0"/>
              </a:rPr>
              <a:t>0</a:t>
            </a:r>
            <a:r>
              <a:rPr lang="en-US" altLang="en-US" sz="2400" b="0" dirty="0">
                <a:latin typeface="Times" pitchFamily="18" charset="0"/>
              </a:rPr>
              <a:t>   1101100</a:t>
            </a:r>
            <a:r>
              <a:rPr lang="en-US" altLang="en-US" sz="2400" u="sng" dirty="0">
                <a:solidFill>
                  <a:schemeClr val="hlink"/>
                </a:solidFill>
                <a:latin typeface="Times" pitchFamily="18" charset="0"/>
              </a:rPr>
              <a:t>0</a:t>
            </a:r>
            <a:r>
              <a:rPr lang="en-US" altLang="en-US" sz="2400" b="0" dirty="0">
                <a:latin typeface="Times" pitchFamily="18" charset="0"/>
              </a:rPr>
              <a:t>   1100100</a:t>
            </a:r>
            <a:r>
              <a:rPr lang="en-US" altLang="en-US" sz="2400" u="sng" dirty="0">
                <a:solidFill>
                  <a:schemeClr val="hlink"/>
                </a:solidFill>
                <a:latin typeface="Times" pitchFamily="18" charset="0"/>
              </a:rPr>
              <a:t>1</a:t>
            </a:r>
          </a:p>
        </p:txBody>
      </p:sp>
    </p:spTree>
    <p:extLst>
      <p:ext uri="{BB962C8B-B14F-4D97-AF65-F5344CB8AC3E}">
        <p14:creationId xmlns:p14="http://schemas.microsoft.com/office/powerpoint/2010/main" val="648516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Text Box 2"/>
          <p:cNvSpPr txBox="1">
            <a:spLocks noChangeArrowheads="1"/>
          </p:cNvSpPr>
          <p:nvPr/>
        </p:nvSpPr>
        <p:spPr bwMode="auto">
          <a:xfrm>
            <a:off x="144463" y="249238"/>
            <a:ext cx="2263761" cy="584775"/>
          </a:xfrm>
          <a:prstGeom prst="rect">
            <a:avLst/>
          </a:prstGeom>
          <a:solidFill>
            <a:schemeClr val="bg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200" dirty="0">
                <a:effectLst>
                  <a:outerShdw blurRad="38100" dist="38100" dir="2700000" algn="tl">
                    <a:srgbClr val="C0C0C0"/>
                  </a:outerShdw>
                </a:effectLst>
              </a:rPr>
              <a:t>Example 2</a:t>
            </a:r>
          </a:p>
        </p:txBody>
      </p:sp>
      <p:sp>
        <p:nvSpPr>
          <p:cNvPr id="70659" name="Rectangle 3"/>
          <p:cNvSpPr>
            <a:spLocks noChangeArrowheads="1"/>
          </p:cNvSpPr>
          <p:nvPr/>
        </p:nvSpPr>
        <p:spPr bwMode="auto">
          <a:xfrm>
            <a:off x="228600" y="1079500"/>
            <a:ext cx="8458200" cy="26558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800" b="0">
                <a:latin typeface="Times" pitchFamily="18" charset="0"/>
              </a:rPr>
              <a:t>Now suppose the word world in Example 1 is received by the receiver without being corrupted in transmission. </a:t>
            </a:r>
          </a:p>
          <a:p>
            <a:pPr eaLnBrk="1" hangingPunct="1">
              <a:spcBef>
                <a:spcPct val="50000"/>
              </a:spcBef>
            </a:pPr>
            <a:r>
              <a:rPr lang="en-US" altLang="en-US" sz="2800" b="0">
                <a:latin typeface="Times" pitchFamily="18" charset="0"/>
              </a:rPr>
              <a:t> 11101110   11011110   11100100   11011000   11001001</a:t>
            </a:r>
          </a:p>
          <a:p>
            <a:pPr eaLnBrk="1" hangingPunct="1">
              <a:spcBef>
                <a:spcPct val="50000"/>
              </a:spcBef>
            </a:pPr>
            <a:r>
              <a:rPr lang="en-US" altLang="en-US" sz="2800" b="0">
                <a:latin typeface="Times" pitchFamily="18" charset="0"/>
              </a:rPr>
              <a:t>The receiver counts the 1s in each character and comes up with even numbers (6, 6, 4, 4, 4). The data are accepted. </a:t>
            </a:r>
          </a:p>
        </p:txBody>
      </p:sp>
    </p:spTree>
    <p:extLst>
      <p:ext uri="{BB962C8B-B14F-4D97-AF65-F5344CB8AC3E}">
        <p14:creationId xmlns:p14="http://schemas.microsoft.com/office/powerpoint/2010/main" val="2309177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Text Box 2"/>
          <p:cNvSpPr txBox="1">
            <a:spLocks noChangeArrowheads="1"/>
          </p:cNvSpPr>
          <p:nvPr/>
        </p:nvSpPr>
        <p:spPr bwMode="auto">
          <a:xfrm>
            <a:off x="144463" y="249238"/>
            <a:ext cx="2263761" cy="584775"/>
          </a:xfrm>
          <a:prstGeom prst="rect">
            <a:avLst/>
          </a:prstGeom>
          <a:solidFill>
            <a:schemeClr val="bg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200" dirty="0">
                <a:effectLst>
                  <a:outerShdw blurRad="38100" dist="38100" dir="2700000" algn="tl">
                    <a:srgbClr val="C0C0C0"/>
                  </a:outerShdw>
                </a:effectLst>
              </a:rPr>
              <a:t>Example 3</a:t>
            </a:r>
          </a:p>
        </p:txBody>
      </p:sp>
      <p:sp>
        <p:nvSpPr>
          <p:cNvPr id="71683" name="Rectangle 3"/>
          <p:cNvSpPr>
            <a:spLocks noChangeArrowheads="1"/>
          </p:cNvSpPr>
          <p:nvPr/>
        </p:nvSpPr>
        <p:spPr bwMode="auto">
          <a:xfrm>
            <a:off x="228600" y="1079500"/>
            <a:ext cx="8458200" cy="35099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800" b="0">
                <a:latin typeface="Times" pitchFamily="18" charset="0"/>
              </a:rPr>
              <a:t>Now suppose the word world in Example 1 is corrupted during transmission. </a:t>
            </a:r>
          </a:p>
          <a:p>
            <a:pPr eaLnBrk="1" hangingPunct="1">
              <a:spcBef>
                <a:spcPct val="50000"/>
              </a:spcBef>
            </a:pPr>
            <a:r>
              <a:rPr lang="en-US" altLang="en-US" sz="2800" b="0">
                <a:latin typeface="Times" pitchFamily="18" charset="0"/>
              </a:rPr>
              <a:t> 11111110   11011110   11101100   11011000   11001001</a:t>
            </a:r>
          </a:p>
          <a:p>
            <a:pPr eaLnBrk="1" hangingPunct="1">
              <a:spcBef>
                <a:spcPct val="50000"/>
              </a:spcBef>
            </a:pPr>
            <a:r>
              <a:rPr lang="en-US" altLang="en-US" sz="2800" b="0">
                <a:latin typeface="Times" pitchFamily="18" charset="0"/>
              </a:rPr>
              <a:t>The receiver counts the 1s in each character and comes up with even and odd numbers (7, 6, 5, 4, 4). The receiver knows that the data are corrupted, discards them, and asks for retransmission.</a:t>
            </a:r>
          </a:p>
        </p:txBody>
      </p:sp>
    </p:spTree>
    <p:extLst>
      <p:ext uri="{BB962C8B-B14F-4D97-AF65-F5344CB8AC3E}">
        <p14:creationId xmlns:p14="http://schemas.microsoft.com/office/powerpoint/2010/main" val="305554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1026"/>
          <p:cNvSpPr>
            <a:spLocks noChangeArrowheads="1"/>
          </p:cNvSpPr>
          <p:nvPr/>
        </p:nvSpPr>
        <p:spPr bwMode="auto">
          <a:xfrm>
            <a:off x="838200" y="2195513"/>
            <a:ext cx="7543800" cy="2862322"/>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ts val="1200"/>
              </a:spcBef>
              <a:spcAft>
                <a:spcPts val="1000"/>
              </a:spcAft>
              <a:defRPr/>
            </a:pPr>
            <a:r>
              <a:rPr lang="en-US" altLang="en-US" sz="3600" dirty="0">
                <a:effectLst>
                  <a:outerShdw blurRad="38100" dist="38100" dir="2700000" algn="tl">
                    <a:srgbClr val="C0C0C0"/>
                  </a:outerShdw>
                </a:effectLst>
              </a:rPr>
              <a:t>Simple parity check can detect all single-bit errors. It can detect burst errors only if the total number of errors in each data unit is odd</a:t>
            </a:r>
            <a:r>
              <a:rPr lang="en-US" altLang="en-US" sz="3600" i="1" dirty="0">
                <a:effectLst>
                  <a:outerShdw blurRad="38100" dist="38100" dir="2700000" algn="tl">
                    <a:srgbClr val="C0C0C0"/>
                  </a:outerShdw>
                </a:effectLst>
              </a:rPr>
              <a:t>.</a:t>
            </a:r>
          </a:p>
        </p:txBody>
      </p:sp>
      <p:sp>
        <p:nvSpPr>
          <p:cNvPr id="72707" name="PubRRectCallout"/>
          <p:cNvSpPr>
            <a:spLocks noEditPoints="1" noChangeArrowheads="1"/>
          </p:cNvSpPr>
          <p:nvPr/>
        </p:nvSpPr>
        <p:spPr bwMode="auto">
          <a:xfrm>
            <a:off x="838200" y="990600"/>
            <a:ext cx="2743200" cy="1143000"/>
          </a:xfrm>
          <a:custGeom>
            <a:avLst/>
            <a:gdLst>
              <a:gd name="T0" fmla="*/ 174193200 w 21600"/>
              <a:gd name="T1" fmla="*/ 0 h 21600"/>
              <a:gd name="T2" fmla="*/ 0 w 21600"/>
              <a:gd name="T3" fmla="*/ 24187891 h 21600"/>
              <a:gd name="T4" fmla="*/ 138822303 w 21600"/>
              <a:gd name="T5" fmla="*/ 60483750 h 21600"/>
              <a:gd name="T6" fmla="*/ 174193200 w 21600"/>
              <a:gd name="T7" fmla="*/ 48378586 h 21600"/>
              <a:gd name="T8" fmla="*/ 348386400 w 21600"/>
              <a:gd name="T9" fmla="*/ 24187891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72708"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4005" name="Text Box 1029"/>
          <p:cNvSpPr txBox="1">
            <a:spLocks noChangeArrowheads="1"/>
          </p:cNvSpPr>
          <p:nvPr/>
        </p:nvSpPr>
        <p:spPr bwMode="auto">
          <a:xfrm>
            <a:off x="2133600" y="114300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600">
                <a:effectLst>
                  <a:outerShdw blurRad="38100" dist="38100" dir="2700000" algn="tl">
                    <a:srgbClr val="FFFFFF"/>
                  </a:outerShdw>
                </a:effectLst>
              </a:rPr>
              <a:t>Note</a:t>
            </a:r>
            <a:r>
              <a:rPr lang="en-US" altLang="en-US" sz="3600" b="0">
                <a:effectLst>
                  <a:outerShdw blurRad="38100" dist="38100" dir="2700000" algn="tl">
                    <a:srgbClr val="FFFFFF"/>
                  </a:outerShdw>
                </a:effectLst>
              </a:rPr>
              <a:t>:</a:t>
            </a:r>
          </a:p>
        </p:txBody>
      </p:sp>
    </p:spTree>
    <p:extLst>
      <p:ext uri="{BB962C8B-B14F-4D97-AF65-F5344CB8AC3E}">
        <p14:creationId xmlns:p14="http://schemas.microsoft.com/office/powerpoint/2010/main" val="150729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altLang="en-US" dirty="0"/>
              <a:t>Cyclic Redundancy Checksum</a:t>
            </a:r>
            <a:br>
              <a:rPr lang="en-US" altLang="en-US" dirty="0"/>
            </a:br>
            <a:endParaRPr lang="en-IN" dirty="0"/>
          </a:p>
        </p:txBody>
      </p:sp>
      <p:sp>
        <p:nvSpPr>
          <p:cNvPr id="6" name="Content Placeholder 5"/>
          <p:cNvSpPr>
            <a:spLocks noGrp="1"/>
          </p:cNvSpPr>
          <p:nvPr>
            <p:ph idx="1"/>
          </p:nvPr>
        </p:nvSpPr>
        <p:spPr/>
        <p:txBody>
          <a:bodyPr>
            <a:normAutofit fontScale="85000" lnSpcReduction="20000"/>
          </a:bodyPr>
          <a:lstStyle/>
          <a:p>
            <a:r>
              <a:rPr lang="en-US" dirty="0"/>
              <a:t>Is a type of polynomial code, in which bit string is represented in the form of Polynomials, with coefficients of ‘0’ and ‘1’.  </a:t>
            </a:r>
          </a:p>
          <a:p>
            <a:r>
              <a:rPr lang="en-US" dirty="0"/>
              <a:t>Polynomial arithmetic uses a modulo-2 arithmetic.  i.e. Addition and Subtraction are identical to “ E-XOR ”.  </a:t>
            </a:r>
          </a:p>
          <a:p>
            <a:r>
              <a:rPr lang="en-US" dirty="0"/>
              <a:t>For CRC code; sender and receiver should agree upon a </a:t>
            </a:r>
            <a:r>
              <a:rPr lang="en-US" b="1" i="1" dirty="0"/>
              <a:t>generator polynomial  </a:t>
            </a:r>
            <a:r>
              <a:rPr lang="en-US" dirty="0"/>
              <a:t>G(x).  </a:t>
            </a:r>
          </a:p>
          <a:p>
            <a:r>
              <a:rPr lang="en-US" dirty="0"/>
              <a:t>A code-word can be generated for a given </a:t>
            </a:r>
            <a:r>
              <a:rPr lang="en-US" b="1" i="1" dirty="0"/>
              <a:t>data word </a:t>
            </a:r>
            <a:r>
              <a:rPr lang="en-US" dirty="0"/>
              <a:t>(message)  </a:t>
            </a:r>
            <a:r>
              <a:rPr lang="en-US" b="1" i="1" dirty="0"/>
              <a:t>Polynomial</a:t>
            </a:r>
            <a:r>
              <a:rPr lang="en-US" dirty="0"/>
              <a:t> M(x), with the help of Long Division.  </a:t>
            </a:r>
          </a:p>
          <a:p>
            <a:r>
              <a:rPr lang="en-US" dirty="0"/>
              <a:t>This technique is more powerful than parity check or checksum error detection. </a:t>
            </a:r>
          </a:p>
          <a:p>
            <a:endParaRPr lang="en-US" dirty="0"/>
          </a:p>
          <a:p>
            <a:endParaRPr lang="en-IN" dirty="0"/>
          </a:p>
        </p:txBody>
      </p:sp>
    </p:spTree>
    <p:extLst>
      <p:ext uri="{BB962C8B-B14F-4D97-AF65-F5344CB8AC3E}">
        <p14:creationId xmlns:p14="http://schemas.microsoft.com/office/powerpoint/2010/main" val="2899781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ChangeArrowheads="1"/>
          </p:cNvSpPr>
          <p:nvPr/>
        </p:nvSpPr>
        <p:spPr bwMode="auto">
          <a:xfrm>
            <a:off x="381000" y="395288"/>
            <a:ext cx="1098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sz="2800">
                <a:solidFill>
                  <a:srgbClr val="820288"/>
                </a:solidFill>
              </a:rPr>
              <a:t>	</a:t>
            </a:r>
            <a:endParaRPr lang="en-US" altLang="en-US" sz="2800">
              <a:solidFill>
                <a:srgbClr val="A703AF"/>
              </a:solidFill>
            </a:endParaRPr>
          </a:p>
        </p:txBody>
      </p:sp>
      <p:sp>
        <p:nvSpPr>
          <p:cNvPr id="77828" name="Rectangle 3"/>
          <p:cNvSpPr>
            <a:spLocks noChangeArrowheads="1"/>
          </p:cNvSpPr>
          <p:nvPr/>
        </p:nvSpPr>
        <p:spPr bwMode="auto">
          <a:xfrm>
            <a:off x="457200" y="1524000"/>
            <a:ext cx="8305800" cy="286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Font typeface="Wingdings" pitchFamily="2" charset="2"/>
              <a:buNone/>
            </a:pPr>
            <a:endParaRPr lang="en-US" altLang="en-US" sz="4000">
              <a:solidFill>
                <a:srgbClr val="76027C"/>
              </a:solidFill>
            </a:endParaRPr>
          </a:p>
          <a:p>
            <a:pPr eaLnBrk="1" hangingPunct="1">
              <a:spcBef>
                <a:spcPct val="50000"/>
              </a:spcBef>
              <a:buFont typeface="Wingdings" pitchFamily="2" charset="2"/>
              <a:buNone/>
            </a:pPr>
            <a:endParaRPr lang="en-US" altLang="en-US" sz="4000">
              <a:solidFill>
                <a:srgbClr val="76027C"/>
              </a:solidFill>
            </a:endParaRPr>
          </a:p>
          <a:p>
            <a:pPr eaLnBrk="1" hangingPunct="1">
              <a:spcBef>
                <a:spcPct val="50000"/>
              </a:spcBef>
              <a:buFont typeface="Wingdings" pitchFamily="2" charset="2"/>
              <a:buNone/>
            </a:pPr>
            <a:endParaRPr lang="en-US" altLang="en-US" sz="4000">
              <a:solidFill>
                <a:srgbClr val="76027C"/>
              </a:solidFill>
            </a:endParaRPr>
          </a:p>
          <a:p>
            <a:pPr eaLnBrk="1" hangingPunct="1">
              <a:spcBef>
                <a:spcPct val="50000"/>
              </a:spcBef>
              <a:buFont typeface="Wingdings" pitchFamily="2" charset="2"/>
              <a:buNone/>
            </a:pPr>
            <a:endParaRPr lang="en-US" altLang="en-US" sz="2200"/>
          </a:p>
        </p:txBody>
      </p:sp>
      <p:sp>
        <p:nvSpPr>
          <p:cNvPr id="77829" name="Text Box 4"/>
          <p:cNvSpPr txBox="1">
            <a:spLocks noChangeArrowheads="1"/>
          </p:cNvSpPr>
          <p:nvPr/>
        </p:nvSpPr>
        <p:spPr bwMode="auto">
          <a:xfrm>
            <a:off x="609600" y="990600"/>
            <a:ext cx="7772400"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spcBef>
                <a:spcPct val="50000"/>
              </a:spcBef>
            </a:pPr>
            <a:r>
              <a:rPr lang="en-US" altLang="en-US" sz="4400" b="0" dirty="0"/>
              <a:t>Cyclic Redundancy Checksum</a:t>
            </a:r>
          </a:p>
          <a:p>
            <a:pPr eaLnBrk="1" hangingPunct="1">
              <a:spcBef>
                <a:spcPct val="50000"/>
              </a:spcBef>
            </a:pPr>
            <a:r>
              <a:rPr lang="en-US" altLang="en-US" sz="2400" b="0" dirty="0"/>
              <a:t>The CRC error detection method treats the packet of data to be transmitted as a large polynomial.</a:t>
            </a:r>
          </a:p>
          <a:p>
            <a:pPr eaLnBrk="1" hangingPunct="1">
              <a:spcBef>
                <a:spcPct val="50000"/>
              </a:spcBef>
            </a:pPr>
            <a:r>
              <a:rPr lang="en-US" altLang="en-US" sz="2400" b="0" dirty="0"/>
              <a:t>The transmitter takes the message polynomial and using polynomial arithmetic, divides it by a given generating polynomial.</a:t>
            </a:r>
          </a:p>
          <a:p>
            <a:pPr eaLnBrk="1" hangingPunct="1">
              <a:spcBef>
                <a:spcPct val="50000"/>
              </a:spcBef>
            </a:pPr>
            <a:r>
              <a:rPr lang="en-US" altLang="en-US" sz="2400" b="0" dirty="0"/>
              <a:t>The quotient is discarded but the remainder is “attached” to the end of the message.</a:t>
            </a:r>
          </a:p>
        </p:txBody>
      </p:sp>
    </p:spTree>
    <p:extLst>
      <p:ext uri="{BB962C8B-B14F-4D97-AF65-F5344CB8AC3E}">
        <p14:creationId xmlns:p14="http://schemas.microsoft.com/office/powerpoint/2010/main" val="2305011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ChangeArrowheads="1"/>
          </p:cNvSpPr>
          <p:nvPr/>
        </p:nvSpPr>
        <p:spPr bwMode="auto">
          <a:xfrm>
            <a:off x="381000" y="395288"/>
            <a:ext cx="2012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sz="2800">
                <a:solidFill>
                  <a:srgbClr val="820288"/>
                </a:solidFill>
              </a:rPr>
              <a:t>	   </a:t>
            </a:r>
            <a:r>
              <a:rPr lang="en-US" altLang="en-US" sz="2800">
                <a:solidFill>
                  <a:srgbClr val="A703AF"/>
                </a:solidFill>
              </a:rPr>
              <a:t>	</a:t>
            </a:r>
          </a:p>
        </p:txBody>
      </p:sp>
      <p:sp>
        <p:nvSpPr>
          <p:cNvPr id="78852" name="Rectangle 3"/>
          <p:cNvSpPr>
            <a:spLocks noChangeArrowheads="1"/>
          </p:cNvSpPr>
          <p:nvPr/>
        </p:nvSpPr>
        <p:spPr bwMode="auto">
          <a:xfrm>
            <a:off x="457200" y="1524000"/>
            <a:ext cx="8305800" cy="286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buFont typeface="Wingdings" pitchFamily="2" charset="2"/>
              <a:buNone/>
            </a:pPr>
            <a:endParaRPr lang="en-US" altLang="en-US" sz="4000">
              <a:solidFill>
                <a:srgbClr val="76027C"/>
              </a:solidFill>
            </a:endParaRPr>
          </a:p>
          <a:p>
            <a:pPr eaLnBrk="1" hangingPunct="1">
              <a:spcBef>
                <a:spcPct val="50000"/>
              </a:spcBef>
              <a:buFont typeface="Wingdings" pitchFamily="2" charset="2"/>
              <a:buNone/>
            </a:pPr>
            <a:endParaRPr lang="en-US" altLang="en-US" sz="4000">
              <a:solidFill>
                <a:srgbClr val="76027C"/>
              </a:solidFill>
            </a:endParaRPr>
          </a:p>
          <a:p>
            <a:pPr eaLnBrk="1" hangingPunct="1">
              <a:spcBef>
                <a:spcPct val="50000"/>
              </a:spcBef>
              <a:buFont typeface="Wingdings" pitchFamily="2" charset="2"/>
              <a:buNone/>
            </a:pPr>
            <a:endParaRPr lang="en-US" altLang="en-US" sz="4000">
              <a:solidFill>
                <a:srgbClr val="76027C"/>
              </a:solidFill>
            </a:endParaRPr>
          </a:p>
          <a:p>
            <a:pPr eaLnBrk="1" hangingPunct="1">
              <a:spcBef>
                <a:spcPct val="50000"/>
              </a:spcBef>
              <a:buFont typeface="Wingdings" pitchFamily="2" charset="2"/>
              <a:buNone/>
            </a:pPr>
            <a:endParaRPr lang="en-US" altLang="en-US" sz="2200"/>
          </a:p>
        </p:txBody>
      </p:sp>
      <p:sp>
        <p:nvSpPr>
          <p:cNvPr id="78853" name="Text Box 4"/>
          <p:cNvSpPr txBox="1">
            <a:spLocks noChangeArrowheads="1"/>
          </p:cNvSpPr>
          <p:nvPr/>
        </p:nvSpPr>
        <p:spPr bwMode="auto">
          <a:xfrm>
            <a:off x="762000" y="990600"/>
            <a:ext cx="7772400"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spcBef>
                <a:spcPct val="50000"/>
              </a:spcBef>
            </a:pPr>
            <a:r>
              <a:rPr lang="en-US" altLang="en-US" sz="4400" b="0" dirty="0"/>
              <a:t>Cyclic Redundancy Checksum</a:t>
            </a:r>
          </a:p>
          <a:p>
            <a:pPr eaLnBrk="1" hangingPunct="1">
              <a:spcBef>
                <a:spcPct val="50000"/>
              </a:spcBef>
            </a:pPr>
            <a:r>
              <a:rPr lang="en-US" altLang="en-US" sz="2400" b="0" dirty="0"/>
              <a:t>The message (with the remainder) is transmitted to the receiver.</a:t>
            </a:r>
          </a:p>
          <a:p>
            <a:pPr eaLnBrk="1" hangingPunct="1">
              <a:spcBef>
                <a:spcPct val="50000"/>
              </a:spcBef>
            </a:pPr>
            <a:r>
              <a:rPr lang="en-US" altLang="en-US" sz="2400" b="0" dirty="0"/>
              <a:t>The receiver divides the message and remainder by the same generating polynomial.</a:t>
            </a:r>
          </a:p>
          <a:p>
            <a:pPr eaLnBrk="1" hangingPunct="1">
              <a:spcBef>
                <a:spcPct val="50000"/>
              </a:spcBef>
            </a:pPr>
            <a:r>
              <a:rPr lang="en-US" altLang="en-US" sz="2400" b="0" dirty="0"/>
              <a:t>If a remainder not equal to zero results, there was an error during transmission.</a:t>
            </a:r>
          </a:p>
          <a:p>
            <a:pPr eaLnBrk="1" hangingPunct="1">
              <a:spcBef>
                <a:spcPct val="50000"/>
              </a:spcBef>
            </a:pPr>
            <a:r>
              <a:rPr lang="en-US" altLang="en-US" sz="2400" b="0" dirty="0"/>
              <a:t>If a remainder of zero results, there was no error during transmission.</a:t>
            </a:r>
          </a:p>
        </p:txBody>
      </p:sp>
    </p:spTree>
    <p:extLst>
      <p:ext uri="{BB962C8B-B14F-4D97-AF65-F5344CB8AC3E}">
        <p14:creationId xmlns:p14="http://schemas.microsoft.com/office/powerpoint/2010/main" val="41594114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t>CRC Encoder and Decoder</a:t>
            </a:r>
            <a:endParaRPr lang="en-IN" dirty="0"/>
          </a:p>
        </p:txBody>
      </p:sp>
      <p:sp>
        <p:nvSpPr>
          <p:cNvPr id="2" name="Content Placeholder 1"/>
          <p:cNvSpPr>
            <a:spLocks noGrp="1"/>
          </p:cNvSpPr>
          <p:nvPr>
            <p:ph idx="1"/>
          </p:nvPr>
        </p:nvSpPr>
        <p:spPr/>
        <p:txBody>
          <a:bodyPr>
            <a:normAutofit fontScale="77500" lnSpcReduction="20000"/>
          </a:bodyPr>
          <a:lstStyle/>
          <a:p>
            <a:r>
              <a:rPr lang="en-IN" dirty="0" smtClean="0">
                <a:latin typeface="Times New Roman" pitchFamily="18" charset="0"/>
                <a:cs typeface="Times New Roman" pitchFamily="18" charset="0"/>
              </a:rPr>
              <a:t>Encoder</a:t>
            </a:r>
          </a:p>
          <a:p>
            <a:pPr lvl="1"/>
            <a:r>
              <a:rPr lang="en-IN" dirty="0" err="1" smtClean="0">
                <a:latin typeface="Times New Roman" pitchFamily="18" charset="0"/>
                <a:cs typeface="Times New Roman" pitchFamily="18" charset="0"/>
              </a:rPr>
              <a:t>Dataword</a:t>
            </a:r>
            <a:r>
              <a:rPr lang="en-IN" dirty="0" smtClean="0">
                <a:latin typeface="Times New Roman" pitchFamily="18" charset="0"/>
                <a:cs typeface="Times New Roman" pitchFamily="18" charset="0"/>
              </a:rPr>
              <a:t> has k bits</a:t>
            </a:r>
          </a:p>
          <a:p>
            <a:pPr lvl="1"/>
            <a:r>
              <a:rPr lang="en-IN" dirty="0" err="1" smtClean="0">
                <a:latin typeface="Times New Roman" pitchFamily="18" charset="0"/>
                <a:cs typeface="Times New Roman" pitchFamily="18" charset="0"/>
              </a:rPr>
              <a:t>Codeword</a:t>
            </a:r>
            <a:r>
              <a:rPr lang="en-IN" dirty="0" smtClean="0">
                <a:latin typeface="Times New Roman" pitchFamily="18" charset="0"/>
                <a:cs typeface="Times New Roman" pitchFamily="18" charset="0"/>
              </a:rPr>
              <a:t> has n bits</a:t>
            </a:r>
          </a:p>
          <a:p>
            <a:pPr lvl="1"/>
            <a:r>
              <a:rPr lang="en-IN" dirty="0" smtClean="0">
                <a:latin typeface="Times New Roman" pitchFamily="18" charset="0"/>
                <a:cs typeface="Times New Roman" pitchFamily="18" charset="0"/>
              </a:rPr>
              <a:t>Size of </a:t>
            </a:r>
            <a:r>
              <a:rPr lang="en-IN" dirty="0" err="1" smtClean="0">
                <a:latin typeface="Times New Roman" pitchFamily="18" charset="0"/>
                <a:cs typeface="Times New Roman" pitchFamily="18" charset="0"/>
              </a:rPr>
              <a:t>dataword</a:t>
            </a:r>
            <a:r>
              <a:rPr lang="en-IN" dirty="0" smtClean="0">
                <a:latin typeface="Times New Roman" pitchFamily="18" charset="0"/>
                <a:cs typeface="Times New Roman" pitchFamily="18" charset="0"/>
              </a:rPr>
              <a:t> is augmented by adding n-k 0’s to RHS of the word</a:t>
            </a:r>
          </a:p>
          <a:p>
            <a:pPr lvl="1"/>
            <a:r>
              <a:rPr lang="en-IN" dirty="0" smtClean="0">
                <a:latin typeface="Times New Roman" pitchFamily="18" charset="0"/>
                <a:cs typeface="Times New Roman" pitchFamily="18" charset="0"/>
              </a:rPr>
              <a:t>The n bit field is fed into generator</a:t>
            </a:r>
          </a:p>
          <a:p>
            <a:pPr lvl="1"/>
            <a:r>
              <a:rPr lang="en-IN" dirty="0" smtClean="0">
                <a:latin typeface="Times New Roman" pitchFamily="18" charset="0"/>
                <a:cs typeface="Times New Roman" pitchFamily="18" charset="0"/>
              </a:rPr>
              <a:t>The generator uses a divisor of size n-k+1</a:t>
            </a:r>
          </a:p>
          <a:p>
            <a:pPr lvl="1"/>
            <a:r>
              <a:rPr lang="en-IN" dirty="0" smtClean="0">
                <a:latin typeface="Times New Roman" pitchFamily="18" charset="0"/>
                <a:cs typeface="Times New Roman" pitchFamily="18" charset="0"/>
              </a:rPr>
              <a:t>The generator divided the </a:t>
            </a:r>
            <a:r>
              <a:rPr lang="en-IN" dirty="0">
                <a:latin typeface="Times New Roman" pitchFamily="18" charset="0"/>
                <a:cs typeface="Times New Roman" pitchFamily="18" charset="0"/>
              </a:rPr>
              <a:t>a</a:t>
            </a:r>
            <a:r>
              <a:rPr lang="en-IN" dirty="0" smtClean="0">
                <a:latin typeface="Times New Roman" pitchFamily="18" charset="0"/>
                <a:cs typeface="Times New Roman" pitchFamily="18" charset="0"/>
              </a:rPr>
              <a:t>ugmented </a:t>
            </a:r>
            <a:r>
              <a:rPr lang="en-IN" dirty="0" err="1" smtClean="0">
                <a:latin typeface="Times New Roman" pitchFamily="18" charset="0"/>
                <a:cs typeface="Times New Roman" pitchFamily="18" charset="0"/>
              </a:rPr>
              <a:t>dataword</a:t>
            </a:r>
            <a:r>
              <a:rPr lang="en-IN" dirty="0" smtClean="0">
                <a:latin typeface="Times New Roman" pitchFamily="18" charset="0"/>
                <a:cs typeface="Times New Roman" pitchFamily="18" charset="0"/>
              </a:rPr>
              <a:t> by the divisor (modulo-2) division</a:t>
            </a:r>
          </a:p>
          <a:p>
            <a:pPr lvl="1"/>
            <a:r>
              <a:rPr lang="en-IN" dirty="0" smtClean="0">
                <a:latin typeface="Times New Roman" pitchFamily="18" charset="0"/>
                <a:cs typeface="Times New Roman" pitchFamily="18" charset="0"/>
              </a:rPr>
              <a:t>Quotient of the division is discarded</a:t>
            </a:r>
          </a:p>
          <a:p>
            <a:pPr lvl="1"/>
            <a:r>
              <a:rPr lang="en-IN" dirty="0" smtClean="0">
                <a:latin typeface="Times New Roman" pitchFamily="18" charset="0"/>
                <a:cs typeface="Times New Roman" pitchFamily="18" charset="0"/>
              </a:rPr>
              <a:t>The remainder r2,r1,r0 is appended to the data word to create the </a:t>
            </a:r>
            <a:r>
              <a:rPr lang="en-IN" dirty="0" err="1" smtClean="0">
                <a:latin typeface="Times New Roman" pitchFamily="18" charset="0"/>
                <a:cs typeface="Times New Roman" pitchFamily="18" charset="0"/>
              </a:rPr>
              <a:t>codeword</a:t>
            </a:r>
            <a:endParaRPr lang="en-IN" dirty="0" smtClean="0">
              <a:latin typeface="Times New Roman" pitchFamily="18" charset="0"/>
              <a:cs typeface="Times New Roman" pitchFamily="18" charset="0"/>
            </a:endParaRPr>
          </a:p>
          <a:p>
            <a:pPr lvl="1"/>
            <a:r>
              <a:rPr lang="en-IN" dirty="0" err="1" smtClean="0">
                <a:latin typeface="Times New Roman" pitchFamily="18" charset="0"/>
                <a:cs typeface="Times New Roman" pitchFamily="18" charset="0"/>
              </a:rPr>
              <a:t>E.g</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Dataword</a:t>
            </a:r>
            <a:r>
              <a:rPr lang="en-IN" dirty="0" smtClean="0">
                <a:latin typeface="Times New Roman" pitchFamily="18" charset="0"/>
                <a:cs typeface="Times New Roman" pitchFamily="18" charset="0"/>
              </a:rPr>
              <a:t> is 1001 and divisor is 1011</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988623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CRC Encoder and Decoder</a:t>
            </a:r>
          </a:p>
        </p:txBody>
      </p:sp>
      <p:sp>
        <p:nvSpPr>
          <p:cNvPr id="2" name="Content Placeholder 1"/>
          <p:cNvSpPr>
            <a:spLocks noGrp="1"/>
          </p:cNvSpPr>
          <p:nvPr>
            <p:ph idx="1"/>
          </p:nvPr>
        </p:nvSpPr>
        <p:spPr/>
        <p:txBody>
          <a:bodyPr/>
          <a:lstStyle/>
          <a:p>
            <a:r>
              <a:rPr lang="en-IN" dirty="0" smtClean="0">
                <a:latin typeface="Times New Roman" pitchFamily="18" charset="0"/>
                <a:cs typeface="Times New Roman" pitchFamily="18" charset="0"/>
              </a:rPr>
              <a:t>Decoder</a:t>
            </a:r>
          </a:p>
          <a:p>
            <a:pPr lvl="1"/>
            <a:r>
              <a:rPr lang="en-IN" dirty="0" smtClean="0">
                <a:latin typeface="Times New Roman" pitchFamily="18" charset="0"/>
                <a:cs typeface="Times New Roman" pitchFamily="18" charset="0"/>
              </a:rPr>
              <a:t>Copy of all bits is fed to checker (replica of generator)</a:t>
            </a:r>
          </a:p>
          <a:p>
            <a:pPr lvl="1"/>
            <a:r>
              <a:rPr lang="en-IN" dirty="0" smtClean="0">
                <a:latin typeface="Times New Roman" pitchFamily="18" charset="0"/>
                <a:cs typeface="Times New Roman" pitchFamily="18" charset="0"/>
              </a:rPr>
              <a:t>The remainder produced by the checker is a syndrome of n-k</a:t>
            </a:r>
          </a:p>
          <a:p>
            <a:pPr lvl="1"/>
            <a:r>
              <a:rPr lang="en-IN" dirty="0" smtClean="0">
                <a:latin typeface="Times New Roman" pitchFamily="18" charset="0"/>
                <a:cs typeface="Times New Roman" pitchFamily="18" charset="0"/>
              </a:rPr>
              <a:t>The result is fed to decision </a:t>
            </a:r>
            <a:r>
              <a:rPr lang="en-IN" dirty="0" err="1" smtClean="0">
                <a:latin typeface="Times New Roman" pitchFamily="18" charset="0"/>
                <a:cs typeface="Times New Roman" pitchFamily="18" charset="0"/>
              </a:rPr>
              <a:t>analyzer</a:t>
            </a:r>
            <a:endParaRPr lang="en-IN" dirty="0" smtClean="0">
              <a:latin typeface="Times New Roman" pitchFamily="18" charset="0"/>
              <a:cs typeface="Times New Roman" pitchFamily="18" charset="0"/>
            </a:endParaRPr>
          </a:p>
          <a:p>
            <a:pPr lvl="1"/>
            <a:r>
              <a:rPr lang="en-IN" dirty="0" smtClean="0">
                <a:latin typeface="Times New Roman" pitchFamily="18" charset="0"/>
                <a:cs typeface="Times New Roman" pitchFamily="18" charset="0"/>
              </a:rPr>
              <a:t>If syndrome bits are all 0’s, the 4 left-most bits of the </a:t>
            </a:r>
            <a:r>
              <a:rPr lang="en-IN" dirty="0" err="1" smtClean="0">
                <a:latin typeface="Times New Roman" pitchFamily="18" charset="0"/>
                <a:cs typeface="Times New Roman" pitchFamily="18" charset="0"/>
              </a:rPr>
              <a:t>codeword</a:t>
            </a:r>
            <a:r>
              <a:rPr lang="en-IN" dirty="0" smtClean="0">
                <a:latin typeface="Times New Roman" pitchFamily="18" charset="0"/>
                <a:cs typeface="Times New Roman" pitchFamily="18" charset="0"/>
              </a:rPr>
              <a:t> are accepted as </a:t>
            </a:r>
            <a:r>
              <a:rPr lang="en-IN" dirty="0" err="1" smtClean="0">
                <a:latin typeface="Times New Roman" pitchFamily="18" charset="0"/>
                <a:cs typeface="Times New Roman" pitchFamily="18" charset="0"/>
              </a:rPr>
              <a:t>dataword</a:t>
            </a:r>
            <a:r>
              <a:rPr lang="en-IN" dirty="0" smtClean="0">
                <a:latin typeface="Times New Roman" pitchFamily="18" charset="0"/>
                <a:cs typeface="Times New Roman" pitchFamily="18" charset="0"/>
              </a:rPr>
              <a:t> (no error); otherwise the four bits are discarded</a:t>
            </a:r>
          </a:p>
        </p:txBody>
      </p:sp>
    </p:spTree>
    <p:extLst>
      <p:ext uri="{BB962C8B-B14F-4D97-AF65-F5344CB8AC3E}">
        <p14:creationId xmlns:p14="http://schemas.microsoft.com/office/powerpoint/2010/main" val="4091710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r>
              <a:rPr lang="en-US" b="1" dirty="0">
                <a:solidFill>
                  <a:schemeClr val="tx1"/>
                </a:solidFill>
              </a:rPr>
              <a:t>ERROR DETECTION </a:t>
            </a:r>
            <a:r>
              <a:rPr lang="en-US" dirty="0" smtClean="0">
                <a:solidFill>
                  <a:schemeClr val="tx1"/>
                </a:solidFill>
              </a:rPr>
              <a:t>:</a:t>
            </a:r>
            <a:endParaRPr lang="en-US" dirty="0">
              <a:solidFill>
                <a:schemeClr val="tx1"/>
              </a:solidFill>
            </a:endParaRPr>
          </a:p>
          <a:p>
            <a:pPr algn="l"/>
            <a:r>
              <a:rPr lang="en-US" b="1" dirty="0">
                <a:solidFill>
                  <a:schemeClr val="tx1"/>
                </a:solidFill>
              </a:rPr>
              <a:t>CYCLIC REDUNDANCY CHECK </a:t>
            </a:r>
            <a:r>
              <a:rPr lang="en-US" dirty="0" smtClean="0">
                <a:solidFill>
                  <a:schemeClr val="tx1"/>
                </a:solidFill>
              </a:rPr>
              <a:t>:</a:t>
            </a:r>
          </a:p>
          <a:p>
            <a:pPr algn="l"/>
            <a:r>
              <a:rPr lang="en-US" dirty="0">
                <a:solidFill>
                  <a:schemeClr val="tx1"/>
                </a:solidFill>
              </a:rPr>
              <a:t>Is a type of polynomial code, in which bit string is represented in the form of Polynomials, with coefficients of ‘0’ and ‘1’.  </a:t>
            </a:r>
            <a:endParaRPr lang="en-US" dirty="0" smtClean="0">
              <a:solidFill>
                <a:schemeClr val="tx1"/>
              </a:solidFill>
            </a:endParaRPr>
          </a:p>
          <a:p>
            <a:pPr algn="l"/>
            <a:r>
              <a:rPr lang="en-US" dirty="0" smtClean="0">
                <a:solidFill>
                  <a:schemeClr val="tx1"/>
                </a:solidFill>
              </a:rPr>
              <a:t>Polynomial </a:t>
            </a:r>
            <a:r>
              <a:rPr lang="en-US" dirty="0">
                <a:solidFill>
                  <a:schemeClr val="tx1"/>
                </a:solidFill>
              </a:rPr>
              <a:t>arithmetic uses a modulo-2 arithmetic.  i.e. Addition and Subtraction are identical to “ E-XOR ”.  </a:t>
            </a:r>
            <a:endParaRPr lang="en-US" dirty="0" smtClean="0">
              <a:solidFill>
                <a:schemeClr val="tx1"/>
              </a:solidFill>
            </a:endParaRPr>
          </a:p>
          <a:p>
            <a:pPr algn="l"/>
            <a:r>
              <a:rPr lang="en-US" dirty="0" smtClean="0">
                <a:solidFill>
                  <a:schemeClr val="tx1"/>
                </a:solidFill>
              </a:rPr>
              <a:t>For </a:t>
            </a:r>
            <a:r>
              <a:rPr lang="en-US" dirty="0">
                <a:solidFill>
                  <a:schemeClr val="tx1"/>
                </a:solidFill>
              </a:rPr>
              <a:t>CRC code; sender and receiver should agree upon a </a:t>
            </a:r>
            <a:r>
              <a:rPr lang="en-US" b="1" i="1" dirty="0">
                <a:solidFill>
                  <a:schemeClr val="tx1"/>
                </a:solidFill>
              </a:rPr>
              <a:t>generator polynomial </a:t>
            </a:r>
            <a:r>
              <a:rPr lang="en-US" b="1" i="1" dirty="0" smtClean="0">
                <a:solidFill>
                  <a:schemeClr val="tx1"/>
                </a:solidFill>
              </a:rPr>
              <a:t> </a:t>
            </a:r>
            <a:r>
              <a:rPr lang="en-US" dirty="0" smtClean="0">
                <a:solidFill>
                  <a:schemeClr val="tx1"/>
                </a:solidFill>
              </a:rPr>
              <a:t>G(x</a:t>
            </a:r>
            <a:r>
              <a:rPr lang="en-US" dirty="0">
                <a:solidFill>
                  <a:schemeClr val="tx1"/>
                </a:solidFill>
              </a:rPr>
              <a:t>).  </a:t>
            </a:r>
            <a:endParaRPr lang="en-US" dirty="0" smtClean="0">
              <a:solidFill>
                <a:schemeClr val="tx1"/>
              </a:solidFill>
            </a:endParaRPr>
          </a:p>
          <a:p>
            <a:pPr algn="l"/>
            <a:r>
              <a:rPr lang="en-US" dirty="0" smtClean="0">
                <a:solidFill>
                  <a:schemeClr val="tx1"/>
                </a:solidFill>
              </a:rPr>
              <a:t>A </a:t>
            </a:r>
            <a:r>
              <a:rPr lang="en-US" dirty="0">
                <a:solidFill>
                  <a:schemeClr val="tx1"/>
                </a:solidFill>
              </a:rPr>
              <a:t>code-word can be generated for a given </a:t>
            </a:r>
            <a:r>
              <a:rPr lang="en-US" b="1" i="1" dirty="0">
                <a:solidFill>
                  <a:schemeClr val="tx1"/>
                </a:solidFill>
              </a:rPr>
              <a:t>data word </a:t>
            </a:r>
            <a:r>
              <a:rPr lang="en-US" dirty="0">
                <a:solidFill>
                  <a:schemeClr val="tx1"/>
                </a:solidFill>
              </a:rPr>
              <a:t>(message)  </a:t>
            </a:r>
            <a:r>
              <a:rPr lang="en-US" b="1" i="1" dirty="0">
                <a:solidFill>
                  <a:schemeClr val="tx1"/>
                </a:solidFill>
              </a:rPr>
              <a:t>Polynomial</a:t>
            </a:r>
            <a:r>
              <a:rPr lang="en-US" dirty="0">
                <a:solidFill>
                  <a:schemeClr val="tx1"/>
                </a:solidFill>
              </a:rPr>
              <a:t> M(x), with the help of Long Division.  </a:t>
            </a:r>
            <a:endParaRPr lang="en-US" dirty="0" smtClean="0">
              <a:solidFill>
                <a:schemeClr val="tx1"/>
              </a:solidFill>
            </a:endParaRPr>
          </a:p>
          <a:p>
            <a:pPr algn="l"/>
            <a:r>
              <a:rPr lang="en-US" dirty="0" smtClean="0">
                <a:solidFill>
                  <a:schemeClr val="tx1"/>
                </a:solidFill>
              </a:rPr>
              <a:t>This </a:t>
            </a:r>
            <a:r>
              <a:rPr lang="en-US" dirty="0">
                <a:solidFill>
                  <a:schemeClr val="tx1"/>
                </a:solidFill>
              </a:rPr>
              <a:t>technique is more powerful than parity check or checksum error detection. </a:t>
            </a:r>
          </a:p>
          <a:p>
            <a:pPr algn="l"/>
            <a:endParaRPr lang="en-US" dirty="0">
              <a:solidFill>
                <a:schemeClr val="tx1"/>
              </a:solidFill>
            </a:endParaRPr>
          </a:p>
        </p:txBody>
      </p:sp>
    </p:spTree>
    <p:extLst>
      <p:ext uri="{BB962C8B-B14F-4D97-AF65-F5344CB8AC3E}">
        <p14:creationId xmlns:p14="http://schemas.microsoft.com/office/powerpoint/2010/main" val="1922986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r>
              <a:rPr lang="en-US" b="1" dirty="0">
                <a:solidFill>
                  <a:schemeClr val="tx1"/>
                </a:solidFill>
              </a:rPr>
              <a:t>CRC Generator </a:t>
            </a:r>
            <a:r>
              <a:rPr lang="en-US" dirty="0">
                <a:solidFill>
                  <a:schemeClr val="tx1"/>
                </a:solidFill>
              </a:rPr>
              <a:t>:</a:t>
            </a:r>
          </a:p>
          <a:p>
            <a:pPr algn="l"/>
            <a:r>
              <a:rPr lang="en-US" i="1" dirty="0">
                <a:solidFill>
                  <a:schemeClr val="tx1"/>
                </a:solidFill>
              </a:rPr>
              <a:t>Step wise procedure</a:t>
            </a:r>
            <a:r>
              <a:rPr lang="en-US" dirty="0">
                <a:solidFill>
                  <a:schemeClr val="tx1"/>
                </a:solidFill>
              </a:rPr>
              <a:t>:</a:t>
            </a:r>
          </a:p>
          <a:p>
            <a:pPr algn="l"/>
            <a:r>
              <a:rPr lang="en-US" dirty="0">
                <a:solidFill>
                  <a:schemeClr val="tx1"/>
                </a:solidFill>
              </a:rPr>
              <a:t>1.	 Append a string of “n” 0’s to the data unit, where n is “1” less than the number of bits in the pre-decided divisor. ( n+1 bits long ).</a:t>
            </a:r>
          </a:p>
          <a:p>
            <a:pPr algn="l"/>
            <a:r>
              <a:rPr lang="en-US" dirty="0">
                <a:solidFill>
                  <a:schemeClr val="tx1"/>
                </a:solidFill>
              </a:rPr>
              <a:t>2.	Divide the newly generated data unit in step 1 by the divisor.  This is binary division.  </a:t>
            </a:r>
          </a:p>
          <a:p>
            <a:pPr algn="l"/>
            <a:r>
              <a:rPr lang="en-US" dirty="0">
                <a:solidFill>
                  <a:schemeClr val="tx1"/>
                </a:solidFill>
              </a:rPr>
              <a:t>3.	The remainder obtained after the division in step 2 is the n bit CRC. </a:t>
            </a:r>
          </a:p>
          <a:p>
            <a:pPr algn="l"/>
            <a:r>
              <a:rPr lang="en-US" dirty="0">
                <a:solidFill>
                  <a:schemeClr val="tx1"/>
                </a:solidFill>
              </a:rPr>
              <a:t>4.	The CRC will replace the “n”  0’s appended to the data unit in step 1, to get the code-word to be transmitted. </a:t>
            </a:r>
          </a:p>
          <a:p>
            <a:pPr algn="l"/>
            <a:endParaRPr lang="en-US" dirty="0">
              <a:solidFill>
                <a:schemeClr val="tx1"/>
              </a:solidFill>
            </a:endParaRPr>
          </a:p>
        </p:txBody>
      </p:sp>
    </p:spTree>
    <p:extLst>
      <p:ext uri="{BB962C8B-B14F-4D97-AF65-F5344CB8AC3E}">
        <p14:creationId xmlns:p14="http://schemas.microsoft.com/office/powerpoint/2010/main" val="23929855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38137"/>
            <a:ext cx="9144000" cy="4781725"/>
          </a:xfrm>
          <a:prstGeom prst="rect">
            <a:avLst/>
          </a:prstGeom>
        </p:spPr>
      </p:pic>
      <p:sp>
        <p:nvSpPr>
          <p:cNvPr id="3" name="Title 2"/>
          <p:cNvSpPr txBox="1">
            <a:spLocks/>
          </p:cNvSpPr>
          <p:nvPr/>
        </p:nvSpPr>
        <p:spPr>
          <a:xfrm>
            <a:off x="457200" y="274638"/>
            <a:ext cx="8229600" cy="1143000"/>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en-IN" smtClean="0"/>
              <a:t>CRC Encoder and Decoder</a:t>
            </a:r>
            <a:endParaRPr lang="en-IN" dirty="0"/>
          </a:p>
        </p:txBody>
      </p:sp>
    </p:spTree>
    <p:extLst>
      <p:ext uri="{BB962C8B-B14F-4D97-AF65-F5344CB8AC3E}">
        <p14:creationId xmlns:p14="http://schemas.microsoft.com/office/powerpoint/2010/main" val="8521405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CRC generator and checker</a:t>
            </a:r>
          </a:p>
        </p:txBody>
      </p:sp>
      <p:sp>
        <p:nvSpPr>
          <p:cNvPr id="80899"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8090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80901"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8090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8090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80904"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sp>
        <p:nvSpPr>
          <p:cNvPr id="8090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latin typeface="Tahoma" pitchFamily="34" charset="0"/>
            </a:endParaRPr>
          </a:p>
        </p:txBody>
      </p:sp>
      <p:pic>
        <p:nvPicPr>
          <p:cNvPr id="8090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088" y="2376488"/>
            <a:ext cx="8520112" cy="2805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0659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Binary division in a CRC generator</a:t>
            </a:r>
          </a:p>
        </p:txBody>
      </p:sp>
      <p:sp>
        <p:nvSpPr>
          <p:cNvPr id="81923"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192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1925"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192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192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1928"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192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582613"/>
            <a:ext cx="9144000" cy="5948815"/>
          </a:xfrm>
          <a:prstGeom prst="rect">
            <a:avLst/>
          </a:prstGeom>
        </p:spPr>
      </p:pic>
    </p:spTree>
    <p:extLst>
      <p:ext uri="{BB962C8B-B14F-4D97-AF65-F5344CB8AC3E}">
        <p14:creationId xmlns:p14="http://schemas.microsoft.com/office/powerpoint/2010/main" val="2390941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Binary division in CRC checker</a:t>
            </a:r>
          </a:p>
        </p:txBody>
      </p:sp>
      <p:sp>
        <p:nvSpPr>
          <p:cNvPr id="82947"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294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2949"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295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295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2952"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295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913" y="1004888"/>
            <a:ext cx="8320088" cy="5143723"/>
          </a:xfrm>
          <a:prstGeom prst="rect">
            <a:avLst/>
          </a:prstGeom>
        </p:spPr>
      </p:pic>
    </p:spTree>
    <p:extLst>
      <p:ext uri="{BB962C8B-B14F-4D97-AF65-F5344CB8AC3E}">
        <p14:creationId xmlns:p14="http://schemas.microsoft.com/office/powerpoint/2010/main" val="2146419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A polynomial representing a divisor</a:t>
            </a:r>
          </a:p>
        </p:txBody>
      </p:sp>
      <p:sp>
        <p:nvSpPr>
          <p:cNvPr id="84995"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499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4997"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499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499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5000"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8500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pic>
        <p:nvPicPr>
          <p:cNvPr id="8500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388" y="1889125"/>
            <a:ext cx="2943225"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0822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Text Box 2"/>
          <p:cNvSpPr txBox="1">
            <a:spLocks noChangeArrowheads="1"/>
          </p:cNvSpPr>
          <p:nvPr/>
        </p:nvSpPr>
        <p:spPr bwMode="auto">
          <a:xfrm>
            <a:off x="774700" y="1371600"/>
            <a:ext cx="3512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2400" i="1" dirty="0" smtClean="0">
                <a:solidFill>
                  <a:srgbClr val="FF0066"/>
                </a:solidFill>
                <a:effectLst>
                  <a:outerShdw blurRad="38100" dist="38100" dir="2700000" algn="tl">
                    <a:srgbClr val="C0C0C0"/>
                  </a:outerShdw>
                </a:effectLst>
              </a:rPr>
              <a:t> </a:t>
            </a:r>
            <a:r>
              <a:rPr lang="en-US" altLang="en-US" sz="2400" i="1" dirty="0">
                <a:solidFill>
                  <a:srgbClr val="FF0066"/>
                </a:solidFill>
                <a:effectLst>
                  <a:outerShdw blurRad="38100" dist="38100" dir="2700000" algn="tl">
                    <a:srgbClr val="C0C0C0"/>
                  </a:outerShdw>
                </a:effectLst>
              </a:rPr>
              <a:t>Standard polynomials</a:t>
            </a:r>
          </a:p>
        </p:txBody>
      </p:sp>
      <p:graphicFrame>
        <p:nvGraphicFramePr>
          <p:cNvPr id="399465" name="Group 105"/>
          <p:cNvGraphicFramePr>
            <a:graphicFrameLocks noGrp="1"/>
          </p:cNvGraphicFramePr>
          <p:nvPr/>
        </p:nvGraphicFramePr>
        <p:xfrm>
          <a:off x="914400" y="1893888"/>
          <a:ext cx="7162800" cy="2525728"/>
        </p:xfrm>
        <a:graphic>
          <a:graphicData uri="http://schemas.openxmlformats.org/drawingml/2006/table">
            <a:tbl>
              <a:tblPr/>
              <a:tblGrid>
                <a:gridCol w="1447800"/>
                <a:gridCol w="4038600"/>
                <a:gridCol w="1676400"/>
              </a:tblGrid>
              <a:tr h="685695">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bg1"/>
                          </a:solidFill>
                          <a:effectLst/>
                          <a:latin typeface="Times New Roman" pitchFamily="18" charset="0"/>
                        </a:rPr>
                        <a:t>Name</a:t>
                      </a:r>
                    </a:p>
                  </a:txBody>
                  <a:tcPr marT="45713" marB="45713"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bg1"/>
                          </a:solidFill>
                          <a:effectLst/>
                          <a:latin typeface="Times New Roman" pitchFamily="18" charset="0"/>
                        </a:rPr>
                        <a:t>Polynomial</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bg1"/>
                          </a:solidFill>
                          <a:effectLst/>
                          <a:latin typeface="Times New Roman" pitchFamily="18" charset="0"/>
                        </a:rPr>
                        <a:t>Application</a:t>
                      </a:r>
                    </a:p>
                  </a:txBody>
                  <a:tcPr marT="45713" marB="45713"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38100" cap="flat" cmpd="sng" algn="ctr">
                      <a:solidFill>
                        <a:schemeClr val="hlink"/>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r>
              <a:tr h="373006">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hlink"/>
                          </a:solidFill>
                          <a:effectLst>
                            <a:outerShdw blurRad="38100" dist="38100" dir="2700000" algn="tl">
                              <a:srgbClr val="C0C0C0"/>
                            </a:outerShdw>
                          </a:effectLst>
                          <a:latin typeface="Times New Roman" pitchFamily="18" charset="0"/>
                        </a:rPr>
                        <a:t>CRC-8</a:t>
                      </a:r>
                    </a:p>
                  </a:txBody>
                  <a:tcPr marT="45713" marB="45713"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0" i="1" u="none" strike="noStrike" cap="none" normalizeH="0" baseline="0" dirty="0" smtClean="0">
                          <a:ln>
                            <a:noFill/>
                          </a:ln>
                          <a:solidFill>
                            <a:schemeClr val="bg1"/>
                          </a:solidFill>
                          <a:effectLst/>
                          <a:latin typeface="Times New Roman" pitchFamily="18" charset="0"/>
                        </a:rPr>
                        <a:t>x</a:t>
                      </a:r>
                      <a:r>
                        <a:rPr kumimoji="0" lang="en-US" altLang="en-US" sz="1800" b="0" i="0" u="none" strike="noStrike" cap="none" normalizeH="0" baseline="30000" dirty="0" smtClean="0">
                          <a:ln>
                            <a:noFill/>
                          </a:ln>
                          <a:solidFill>
                            <a:schemeClr val="bg1"/>
                          </a:solidFill>
                          <a:effectLst/>
                          <a:latin typeface="Times New Roman" pitchFamily="18" charset="0"/>
                        </a:rPr>
                        <a:t>8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2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1</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bg1"/>
                          </a:solidFill>
                          <a:effectLst/>
                          <a:latin typeface="Times New Roman" pitchFamily="18" charset="0"/>
                        </a:rPr>
                        <a:t>ATM header</a:t>
                      </a:r>
                    </a:p>
                  </a:txBody>
                  <a:tcPr marT="45713" marB="45713"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r>
              <a:tr h="369831">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hlink"/>
                          </a:solidFill>
                          <a:effectLst>
                            <a:outerShdw blurRad="38100" dist="38100" dir="2700000" algn="tl">
                              <a:srgbClr val="C0C0C0"/>
                            </a:outerShdw>
                          </a:effectLst>
                          <a:latin typeface="Times New Roman" pitchFamily="18" charset="0"/>
                        </a:rPr>
                        <a:t>CRC-10</a:t>
                      </a:r>
                    </a:p>
                  </a:txBody>
                  <a:tcPr marT="45713" marB="45713"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10</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9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5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4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 2</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1</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bg1"/>
                          </a:solidFill>
                          <a:effectLst/>
                          <a:latin typeface="Times New Roman" pitchFamily="18" charset="0"/>
                        </a:rPr>
                        <a:t>ATM AAL</a:t>
                      </a:r>
                    </a:p>
                  </a:txBody>
                  <a:tcPr marT="45713" marB="45713"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r>
              <a:tr h="457130">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hlink"/>
                          </a:solidFill>
                          <a:effectLst>
                            <a:outerShdw blurRad="38100" dist="38100" dir="2700000" algn="tl">
                              <a:srgbClr val="C0C0C0"/>
                            </a:outerShdw>
                          </a:effectLst>
                          <a:latin typeface="Times New Roman" pitchFamily="18" charset="0"/>
                        </a:rPr>
                        <a:t>ITU-16</a:t>
                      </a:r>
                    </a:p>
                  </a:txBody>
                  <a:tcPr marT="45713" marB="45713"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16</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12</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5 </a:t>
                      </a:r>
                      <a:r>
                        <a:rPr kumimoji="0" lang="en-US" altLang="en-US" sz="1800" b="0" i="0" u="none" strike="noStrike" cap="none" normalizeH="0" baseline="0" dirty="0" smtClean="0">
                          <a:ln>
                            <a:noFill/>
                          </a:ln>
                          <a:solidFill>
                            <a:schemeClr val="bg1"/>
                          </a:solidFill>
                          <a:effectLst/>
                          <a:latin typeface="Times New Roman" pitchFamily="18" charset="0"/>
                        </a:rPr>
                        <a:t>+ </a:t>
                      </a:r>
                      <a:r>
                        <a:rPr kumimoji="0" lang="en-US" altLang="en-US" sz="1800" b="1" i="0" u="none" strike="noStrike" cap="none" normalizeH="0" baseline="0" dirty="0" smtClean="0">
                          <a:ln>
                            <a:noFill/>
                          </a:ln>
                          <a:solidFill>
                            <a:schemeClr val="bg1"/>
                          </a:solidFill>
                          <a:effectLst/>
                          <a:latin typeface="Times New Roman" pitchFamily="18" charset="0"/>
                        </a:rPr>
                        <a:t>1</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bg1"/>
                          </a:solidFill>
                          <a:effectLst/>
                          <a:latin typeface="Times New Roman" pitchFamily="18" charset="0"/>
                        </a:rPr>
                        <a:t>HDLC</a:t>
                      </a:r>
                    </a:p>
                  </a:txBody>
                  <a:tcPr marT="45713" marB="45713"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66FF"/>
                    </a:solidFill>
                  </a:tcPr>
                </a:tc>
              </a:tr>
              <a:tr h="640051">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hlink"/>
                          </a:solidFill>
                          <a:effectLst>
                            <a:outerShdw blurRad="38100" dist="38100" dir="2700000" algn="tl">
                              <a:srgbClr val="C0C0C0"/>
                            </a:outerShdw>
                          </a:effectLst>
                          <a:latin typeface="Times New Roman" pitchFamily="18" charset="0"/>
                        </a:rPr>
                        <a:t>ITU-32</a:t>
                      </a:r>
                    </a:p>
                  </a:txBody>
                  <a:tcPr marT="45713" marB="45713" anchor="ctr" horzOverflow="overflow">
                    <a:lnL w="38100" cap="flat" cmpd="sng" algn="ctr">
                      <a:solidFill>
                        <a:schemeClr val="hlink"/>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32</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26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23</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22</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16</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12</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11</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10</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 </a:t>
                      </a:r>
                      <a:r>
                        <a:rPr kumimoji="0" lang="en-US" altLang="en-US" sz="1800" b="0" i="1" u="none" strike="noStrike" cap="none" normalizeH="0" baseline="0" dirty="0" smtClean="0">
                          <a:ln>
                            <a:noFill/>
                          </a:ln>
                          <a:solidFill>
                            <a:schemeClr val="bg1"/>
                          </a:solidFill>
                          <a:effectLst/>
                          <a:latin typeface="Times New Roman" pitchFamily="18" charset="0"/>
                        </a:rPr>
                        <a:t>x</a:t>
                      </a:r>
                      <a:r>
                        <a:rPr kumimoji="0" lang="en-US" altLang="en-US" sz="1800" b="0" i="0" u="none" strike="noStrike" cap="none" normalizeH="0" baseline="30000" dirty="0" smtClean="0">
                          <a:ln>
                            <a:noFill/>
                          </a:ln>
                          <a:solidFill>
                            <a:schemeClr val="bg1"/>
                          </a:solidFill>
                          <a:effectLst/>
                          <a:latin typeface="Times New Roman" pitchFamily="18" charset="0"/>
                        </a:rPr>
                        <a:t>8</a:t>
                      </a:r>
                      <a:r>
                        <a:rPr kumimoji="0" lang="en-US" altLang="en-US" sz="1800" b="0" i="0" u="none" strike="noStrike" cap="none" normalizeH="0" baseline="0" dirty="0" smtClean="0">
                          <a:ln>
                            <a:noFill/>
                          </a:ln>
                          <a:solidFill>
                            <a:schemeClr val="bg1"/>
                          </a:solidFill>
                          <a:effectLst/>
                          <a:latin typeface="Times New Roman" pitchFamily="18" charset="0"/>
                        </a:rPr>
                        <a:t> +</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7</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5</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4</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a:t>
                      </a:r>
                      <a:r>
                        <a:rPr kumimoji="0" lang="en-US" altLang="en-US" sz="1800" b="1" i="0" u="none" strike="noStrike" cap="none" normalizeH="0" baseline="30000" dirty="0" smtClean="0">
                          <a:ln>
                            <a:noFill/>
                          </a:ln>
                          <a:solidFill>
                            <a:schemeClr val="bg1"/>
                          </a:solidFill>
                          <a:effectLst/>
                          <a:latin typeface="Times New Roman" pitchFamily="18" charset="0"/>
                        </a:rPr>
                        <a:t>2</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a:t>
                      </a:r>
                      <a:r>
                        <a:rPr kumimoji="0" lang="en-US" altLang="en-US" sz="1800" b="1" i="1" u="none" strike="noStrike" cap="none" normalizeH="0" baseline="0" dirty="0" smtClean="0">
                          <a:ln>
                            <a:noFill/>
                          </a:ln>
                          <a:solidFill>
                            <a:schemeClr val="bg1"/>
                          </a:solidFill>
                          <a:effectLst/>
                          <a:latin typeface="Times New Roman" pitchFamily="18" charset="0"/>
                        </a:rPr>
                        <a:t>x </a:t>
                      </a:r>
                      <a:r>
                        <a:rPr kumimoji="0" lang="en-US" altLang="en-US" sz="1800" b="0" i="0" u="none" strike="noStrike" cap="none" normalizeH="0" baseline="0" dirty="0" smtClean="0">
                          <a:ln>
                            <a:noFill/>
                          </a:ln>
                          <a:solidFill>
                            <a:schemeClr val="bg1"/>
                          </a:solidFill>
                          <a:effectLst/>
                          <a:latin typeface="Times New Roman" pitchFamily="18" charset="0"/>
                        </a:rPr>
                        <a:t>+</a:t>
                      </a:r>
                      <a:r>
                        <a:rPr kumimoji="0" lang="en-US" altLang="en-US" sz="1800" b="1" i="0" u="none" strike="noStrike" cap="none" normalizeH="0" baseline="0" dirty="0" smtClean="0">
                          <a:ln>
                            <a:noFill/>
                          </a:ln>
                          <a:solidFill>
                            <a:schemeClr val="bg1"/>
                          </a:solidFill>
                          <a:effectLst/>
                          <a:latin typeface="Times New Roman" pitchFamily="18" charset="0"/>
                        </a:rPr>
                        <a:t> 1</a:t>
                      </a:r>
                    </a:p>
                  </a:txBody>
                  <a:tcPr marT="45713" marB="4571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rgbClr val="6666FF"/>
                    </a:solidFill>
                  </a:tcPr>
                </a:tc>
                <a:tc>
                  <a:txBody>
                    <a:bodyPr/>
                    <a:lstStyle>
                      <a:lvl1pPr>
                        <a:spcBef>
                          <a:spcPct val="20000"/>
                        </a:spcBef>
                        <a:buClr>
                          <a:schemeClr val="folHlink"/>
                        </a:buClr>
                        <a:buSzPct val="60000"/>
                        <a:buFont typeface="Wingdings" pitchFamily="2" charset="2"/>
                        <a:defRPr sz="2800">
                          <a:solidFill>
                            <a:schemeClr val="tx1"/>
                          </a:solidFill>
                          <a:latin typeface="Tahoma" pitchFamily="34" charset="0"/>
                        </a:defRPr>
                      </a:lvl1pPr>
                      <a:lvl2pPr>
                        <a:spcBef>
                          <a:spcPct val="20000"/>
                        </a:spcBef>
                        <a:buClr>
                          <a:schemeClr val="hlink"/>
                        </a:buClr>
                        <a:buSzPct val="55000"/>
                        <a:buFont typeface="Wingdings" pitchFamily="2" charset="2"/>
                        <a:defRPr sz="2400">
                          <a:solidFill>
                            <a:schemeClr val="tx1"/>
                          </a:solidFill>
                          <a:latin typeface="Tahoma" pitchFamily="34" charset="0"/>
                        </a:defRPr>
                      </a:lvl2pPr>
                      <a:lvl3pPr>
                        <a:spcBef>
                          <a:spcPct val="20000"/>
                        </a:spcBef>
                        <a:buClr>
                          <a:schemeClr val="folHlink"/>
                        </a:buClr>
                        <a:buSzPct val="50000"/>
                        <a:buFont typeface="Wingdings" pitchFamily="2" charset="2"/>
                        <a:defRPr sz="2000">
                          <a:solidFill>
                            <a:schemeClr val="tx1"/>
                          </a:solidFill>
                          <a:latin typeface="Tahoma" pitchFamily="34" charset="0"/>
                        </a:defRPr>
                      </a:lvl3pPr>
                      <a:lvl4pPr>
                        <a:spcBef>
                          <a:spcPct val="20000"/>
                        </a:spcBef>
                        <a:buClr>
                          <a:schemeClr val="accent2"/>
                        </a:buClr>
                        <a:buSzPct val="55000"/>
                        <a:buFont typeface="Wingdings" pitchFamily="2" charset="2"/>
                        <a:defRPr>
                          <a:solidFill>
                            <a:schemeClr val="tx1"/>
                          </a:solidFill>
                          <a:latin typeface="Tahoma" pitchFamily="34" charset="0"/>
                        </a:defRPr>
                      </a:lvl4pPr>
                      <a:lvl5pPr>
                        <a:spcBef>
                          <a:spcPct val="20000"/>
                        </a:spcBef>
                        <a:buClr>
                          <a:schemeClr val="accent1"/>
                        </a:buClr>
                        <a:buSzPct val="50000"/>
                        <a:buFont typeface="Wingdings" pitchFamily="2" charset="2"/>
                        <a:defRPr>
                          <a:solidFill>
                            <a:schemeClr val="tx1"/>
                          </a:solidFill>
                          <a:latin typeface="Tahoma"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itchFamily="34" charset="0"/>
                        </a:defRPr>
                      </a:lvl9pPr>
                    </a:lstStyle>
                    <a:p>
                      <a:pPr marL="0" marR="0" lvl="0" indent="0" algn="ctr" defTabSz="914400" rtl="0" eaLnBrk="1" fontAlgn="base" latinLnBrk="0" hangingPunct="1">
                        <a:lnSpc>
                          <a:spcPct val="100000"/>
                        </a:lnSpc>
                        <a:spcBef>
                          <a:spcPct val="20000"/>
                        </a:spcBef>
                        <a:spcAft>
                          <a:spcPts val="300"/>
                        </a:spcAft>
                        <a:buClr>
                          <a:schemeClr val="folHlink"/>
                        </a:buClr>
                        <a:buSzPct val="60000"/>
                        <a:buFont typeface="Wingdings" pitchFamily="2" charset="2"/>
                        <a:buNone/>
                        <a:tabLst/>
                      </a:pPr>
                      <a:r>
                        <a:rPr kumimoji="0" lang="en-US" altLang="en-US" sz="1800" b="1" i="0" u="none" strike="noStrike" cap="none" normalizeH="0" baseline="0" dirty="0" smtClean="0">
                          <a:ln>
                            <a:noFill/>
                          </a:ln>
                          <a:solidFill>
                            <a:schemeClr val="bg1"/>
                          </a:solidFill>
                          <a:effectLst/>
                          <a:latin typeface="Times New Roman" pitchFamily="18" charset="0"/>
                        </a:rPr>
                        <a:t>LANs</a:t>
                      </a:r>
                    </a:p>
                  </a:txBody>
                  <a:tcPr marT="45713" marB="45713" anchor="ctr" horzOverflow="overflow">
                    <a:lnL w="12700" cap="flat" cmpd="sng" algn="ctr">
                      <a:solidFill>
                        <a:schemeClr val="tx1"/>
                      </a:solidFill>
                      <a:prstDash val="solid"/>
                      <a:round/>
                      <a:headEnd type="none" w="med" len="med"/>
                      <a:tailEnd type="none" w="med" len="med"/>
                    </a:lnL>
                    <a:lnR w="381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hlink"/>
                      </a:solidFill>
                      <a:prstDash val="solid"/>
                      <a:round/>
                      <a:headEnd type="none" w="med" len="med"/>
                      <a:tailEnd type="none" w="med" len="med"/>
                    </a:lnB>
                    <a:lnTlToBr>
                      <a:noFill/>
                    </a:lnTlToBr>
                    <a:lnBlToTr>
                      <a:noFill/>
                    </a:lnBlToTr>
                    <a:solidFill>
                      <a:srgbClr val="6666FF"/>
                    </a:solidFill>
                  </a:tcPr>
                </a:tc>
              </a:tr>
            </a:tbl>
          </a:graphicData>
        </a:graphic>
      </p:graphicFrame>
    </p:spTree>
    <p:extLst>
      <p:ext uri="{BB962C8B-B14F-4D97-AF65-F5344CB8AC3E}">
        <p14:creationId xmlns:p14="http://schemas.microsoft.com/office/powerpoint/2010/main" val="2925569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118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dirty="0">
              <a:effectLst>
                <a:outerShdw blurRad="38100" dist="38100" dir="2700000" algn="tl">
                  <a:srgbClr val="FFFFFF"/>
                </a:outerShdw>
              </a:effectLst>
            </a:endParaRPr>
          </a:p>
        </p:txBody>
      </p:sp>
      <p:sp>
        <p:nvSpPr>
          <p:cNvPr id="861187" name="Text Box 3"/>
          <p:cNvSpPr txBox="1">
            <a:spLocks noChangeArrowheads="1"/>
          </p:cNvSpPr>
          <p:nvPr/>
        </p:nvSpPr>
        <p:spPr bwMode="auto">
          <a:xfrm>
            <a:off x="228600" y="406400"/>
            <a:ext cx="1582484" cy="369332"/>
          </a:xfrm>
          <a:prstGeom prst="rect">
            <a:avLst/>
          </a:prstGeom>
          <a:noFill/>
          <a:ln w="9525">
            <a:noFill/>
            <a:miter lim="800000"/>
            <a:headEnd/>
            <a:tailEnd/>
          </a:ln>
          <a:effectLst/>
        </p:spPr>
        <p:txBody>
          <a:bodyPr wrap="none">
            <a:spAutoFit/>
          </a:bodyPr>
          <a:lstStyle/>
          <a:p>
            <a:pPr>
              <a:defRPr/>
            </a:pPr>
            <a:r>
              <a:rPr lang="en-US" dirty="0" smtClean="0">
                <a:effectLst>
                  <a:outerShdw blurRad="38100" dist="38100" dir="2700000" algn="tl">
                    <a:srgbClr val="C0C0C0"/>
                  </a:outerShdw>
                </a:effectLst>
                <a:latin typeface="Times" pitchFamily="18" charset="0"/>
              </a:rPr>
              <a:t>  </a:t>
            </a:r>
            <a:r>
              <a:rPr lang="en-US" dirty="0">
                <a:effectLst>
                  <a:outerShdw blurRad="38100" dist="38100" dir="2700000" algn="tl">
                    <a:srgbClr val="C0C0C0"/>
                  </a:outerShdw>
                </a:effectLst>
                <a:latin typeface="Times" pitchFamily="18" charset="0"/>
              </a:rPr>
              <a:t>CHECKSUM</a:t>
            </a:r>
          </a:p>
        </p:txBody>
      </p:sp>
      <p:sp>
        <p:nvSpPr>
          <p:cNvPr id="89093"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endParaRPr lang="en-US" altLang="en-US" dirty="0"/>
          </a:p>
        </p:txBody>
      </p:sp>
      <p:sp>
        <p:nvSpPr>
          <p:cNvPr id="861189" name="Rectangle 5"/>
          <p:cNvSpPr>
            <a:spLocks noChangeArrowheads="1"/>
          </p:cNvSpPr>
          <p:nvPr/>
        </p:nvSpPr>
        <p:spPr bwMode="auto">
          <a:xfrm>
            <a:off x="152400" y="1892866"/>
            <a:ext cx="8229600" cy="2246769"/>
          </a:xfrm>
          <a:prstGeom prst="rect">
            <a:avLst/>
          </a:prstGeom>
          <a:noFill/>
          <a:ln w="9525">
            <a:noFill/>
            <a:miter lim="800000"/>
            <a:headEnd/>
            <a:tailEnd/>
          </a:ln>
          <a:effectLst/>
        </p:spPr>
        <p:txBody>
          <a:bodyPr anchor="ctr">
            <a:spAutoFit/>
          </a:bodyPr>
          <a:lstStyle/>
          <a:p>
            <a:pPr algn="just" eaLnBrk="1" hangingPunct="1">
              <a:defRPr/>
            </a:pPr>
            <a:r>
              <a:rPr lang="en-US" sz="2800" dirty="0">
                <a:effectLst>
                  <a:outerShdw blurRad="38100" dist="38100" dir="2700000" algn="tl">
                    <a:srgbClr val="C0C0C0"/>
                  </a:outerShdw>
                </a:effectLst>
                <a:latin typeface="Times New Roman" pitchFamily="18" charset="0"/>
                <a:cs typeface="Times New Roman" pitchFamily="18" charset="0"/>
              </a:rPr>
              <a:t>The last error detection method we discuss here is called the checksum, or arithmetic checksum. The checksum is used in the Internet by several protocols although not at the data link layer. However, we briefly discuss it here to complete our discussion on error checking</a:t>
            </a:r>
          </a:p>
        </p:txBody>
      </p:sp>
    </p:spTree>
    <p:extLst>
      <p:ext uri="{BB962C8B-B14F-4D97-AF65-F5344CB8AC3E}">
        <p14:creationId xmlns:p14="http://schemas.microsoft.com/office/powerpoint/2010/main" val="2758542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011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0117"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011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011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0120"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012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0122" name="Rectangle 9"/>
          <p:cNvSpPr>
            <a:spLocks noChangeArrowheads="1"/>
          </p:cNvSpPr>
          <p:nvPr/>
        </p:nvSpPr>
        <p:spPr bwMode="auto">
          <a:xfrm>
            <a:off x="228600" y="1143000"/>
            <a:ext cx="86868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dirty="0">
                <a:latin typeface="Times New Roman" pitchFamily="18" charset="0"/>
                <a:cs typeface="Times New Roman" pitchFamily="18" charset="0"/>
              </a:rPr>
              <a:t>Suppose our data is a list of five 4-bit numbers that we want to send to a destination. In addition to sending these numbers, we send the sum of the numbers. For example, if the set of numbers is (7, 11, 12, 0, 6), we send (7, 11, 12, 0, 6, </a:t>
            </a:r>
            <a:r>
              <a:rPr lang="en-US" altLang="en-US" sz="2800" dirty="0">
                <a:solidFill>
                  <a:schemeClr val="hlink"/>
                </a:solidFill>
                <a:latin typeface="Times New Roman" pitchFamily="18" charset="0"/>
                <a:cs typeface="Times New Roman" pitchFamily="18" charset="0"/>
              </a:rPr>
              <a:t>36</a:t>
            </a:r>
            <a:r>
              <a:rPr lang="en-US" altLang="en-US" sz="2800" dirty="0">
                <a:latin typeface="Times New Roman" pitchFamily="18" charset="0"/>
                <a:cs typeface="Times New Roman" pitchFamily="18" charset="0"/>
              </a:rPr>
              <a:t>), where 36 is the sum of the original numbers. The receiver adds the five numbers and compares the result with the sum. If the two are the same, the receiver assumes no error, accepts the five numbers, and discards the sum. Otherwise, there is an error somewhere and the data are not accepted.</a:t>
            </a:r>
          </a:p>
        </p:txBody>
      </p:sp>
      <p:sp>
        <p:nvSpPr>
          <p:cNvPr id="90123" name="Text Box 11"/>
          <p:cNvSpPr txBox="1">
            <a:spLocks noChangeArrowheads="1"/>
          </p:cNvSpPr>
          <p:nvPr/>
        </p:nvSpPr>
        <p:spPr bwMode="auto">
          <a:xfrm>
            <a:off x="1143000" y="0"/>
            <a:ext cx="168988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dirty="0" smtClean="0">
                <a:solidFill>
                  <a:schemeClr val="hlink"/>
                </a:solidFill>
              </a:rPr>
              <a:t>Example</a:t>
            </a:r>
            <a:endParaRPr lang="en-US" altLang="en-US" sz="3200" i="1" dirty="0">
              <a:solidFill>
                <a:schemeClr val="hlink"/>
              </a:solidFill>
            </a:endParaRPr>
          </a:p>
        </p:txBody>
      </p:sp>
    </p:spTree>
    <p:extLst>
      <p:ext uri="{BB962C8B-B14F-4D97-AF65-F5344CB8AC3E}">
        <p14:creationId xmlns:p14="http://schemas.microsoft.com/office/powerpoint/2010/main" val="839529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1140"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1141"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1142"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1143"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1144"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1145"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altLang="en-US" sz="2400" b="0" dirty="0">
              <a:latin typeface="Tahoma" pitchFamily="34" charset="0"/>
            </a:endParaRPr>
          </a:p>
        </p:txBody>
      </p:sp>
      <p:sp>
        <p:nvSpPr>
          <p:cNvPr id="91146" name="Rectangle 9"/>
          <p:cNvSpPr>
            <a:spLocks noChangeArrowheads="1"/>
          </p:cNvSpPr>
          <p:nvPr/>
        </p:nvSpPr>
        <p:spPr bwMode="auto">
          <a:xfrm>
            <a:off x="228600" y="1143000"/>
            <a:ext cx="86868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en-US" sz="2800" dirty="0">
                <a:latin typeface="Times New Roman" pitchFamily="18" charset="0"/>
                <a:cs typeface="Times New Roman" pitchFamily="18" charset="0"/>
              </a:rPr>
              <a:t>We can make the job of the receiver easier if we send the negative (complement) of the sum, called the </a:t>
            </a:r>
            <a:r>
              <a:rPr lang="en-US" altLang="en-US" sz="2800" dirty="0">
                <a:solidFill>
                  <a:schemeClr val="hlink"/>
                </a:solidFill>
                <a:latin typeface="Times New Roman" pitchFamily="18" charset="0"/>
                <a:cs typeface="Times New Roman" pitchFamily="18" charset="0"/>
              </a:rPr>
              <a:t>checksum</a:t>
            </a:r>
            <a:r>
              <a:rPr lang="en-US" altLang="en-US" sz="2800" dirty="0">
                <a:latin typeface="Times New Roman" pitchFamily="18" charset="0"/>
                <a:cs typeface="Times New Roman" pitchFamily="18" charset="0"/>
              </a:rPr>
              <a:t>. In this case, we send (7, 11, 12, 0, 6, </a:t>
            </a:r>
            <a:r>
              <a:rPr lang="en-US" altLang="en-US" sz="2800" dirty="0">
                <a:solidFill>
                  <a:schemeClr val="hlink"/>
                </a:solidFill>
                <a:latin typeface="Times New Roman" pitchFamily="18" charset="0"/>
                <a:cs typeface="Times New Roman" pitchFamily="18" charset="0"/>
              </a:rPr>
              <a:t>−36</a:t>
            </a:r>
            <a:r>
              <a:rPr lang="en-US" altLang="en-US" sz="2800" dirty="0">
                <a:latin typeface="Times New Roman" pitchFamily="18" charset="0"/>
                <a:cs typeface="Times New Roman" pitchFamily="18" charset="0"/>
              </a:rPr>
              <a:t>). The receiver can add all the numbers received (including the checksum). If the result is 0, it assumes no error; otherwise, there is an error.</a:t>
            </a:r>
          </a:p>
        </p:txBody>
      </p:sp>
      <p:sp>
        <p:nvSpPr>
          <p:cNvPr id="91147" name="Text Box 11"/>
          <p:cNvSpPr txBox="1">
            <a:spLocks noChangeArrowheads="1"/>
          </p:cNvSpPr>
          <p:nvPr/>
        </p:nvSpPr>
        <p:spPr bwMode="auto">
          <a:xfrm>
            <a:off x="1143000" y="0"/>
            <a:ext cx="17924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sz="3200" i="1" dirty="0">
                <a:solidFill>
                  <a:schemeClr val="hlink"/>
                </a:solidFill>
              </a:rPr>
              <a:t>Example </a:t>
            </a:r>
          </a:p>
        </p:txBody>
      </p:sp>
    </p:spTree>
    <p:extLst>
      <p:ext uri="{BB962C8B-B14F-4D97-AF65-F5344CB8AC3E}">
        <p14:creationId xmlns:p14="http://schemas.microsoft.com/office/powerpoint/2010/main" val="21529403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r>
              <a:rPr lang="en-US" altLang="en-US" dirty="0" smtClean="0">
                <a:solidFill>
                  <a:schemeClr val="accent2"/>
                </a:solidFill>
              </a:rPr>
              <a:t>   </a:t>
            </a:r>
            <a:r>
              <a:rPr lang="en-US" altLang="en-US" i="1" dirty="0"/>
              <a:t>Checksum</a:t>
            </a:r>
          </a:p>
        </p:txBody>
      </p:sp>
      <p:sp>
        <p:nvSpPr>
          <p:cNvPr id="92163"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9216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92165"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9216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9216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92168"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sp>
        <p:nvSpPr>
          <p:cNvPr id="9216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dirty="0">
              <a:latin typeface="Tahoma" pitchFamily="34" charset="0"/>
            </a:endParaRPr>
          </a:p>
        </p:txBody>
      </p:sp>
      <p:pic>
        <p:nvPicPr>
          <p:cNvPr id="9217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55750"/>
            <a:ext cx="7642225" cy="400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56767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1026"/>
          <p:cNvSpPr>
            <a:spLocks noChangeArrowheads="1"/>
          </p:cNvSpPr>
          <p:nvPr/>
        </p:nvSpPr>
        <p:spPr bwMode="auto">
          <a:xfrm>
            <a:off x="152400" y="2255838"/>
            <a:ext cx="8915400" cy="3154362"/>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ts val="1200"/>
              </a:spcBef>
              <a:spcAft>
                <a:spcPts val="1000"/>
              </a:spcAft>
              <a:defRPr/>
            </a:pPr>
            <a:r>
              <a:rPr lang="en-US" altLang="en-US" sz="2800" i="1" dirty="0">
                <a:solidFill>
                  <a:schemeClr val="hlink"/>
                </a:solidFill>
                <a:effectLst>
                  <a:outerShdw blurRad="38100" dist="38100" dir="2700000" algn="tl">
                    <a:srgbClr val="C0C0C0"/>
                  </a:outerShdw>
                </a:effectLst>
                <a:latin typeface="Helvetica Neue"/>
              </a:rPr>
              <a:t>The sender follows these steps:</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The unit is divided into k sections, each of n bits.</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All sections are added using one’s complement to get the sum.</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The sum is complemented and becomes the checksum.</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The checksum is sent with the data.</a:t>
            </a:r>
          </a:p>
        </p:txBody>
      </p:sp>
      <p:sp>
        <p:nvSpPr>
          <p:cNvPr id="94211" name="PubRRectCallout"/>
          <p:cNvSpPr>
            <a:spLocks noEditPoints="1" noChangeArrowheads="1"/>
          </p:cNvSpPr>
          <p:nvPr/>
        </p:nvSpPr>
        <p:spPr bwMode="auto">
          <a:xfrm>
            <a:off x="228600" y="990600"/>
            <a:ext cx="2743200" cy="1143000"/>
          </a:xfrm>
          <a:custGeom>
            <a:avLst/>
            <a:gdLst>
              <a:gd name="T0" fmla="*/ 174193200 w 21600"/>
              <a:gd name="T1" fmla="*/ 0 h 21600"/>
              <a:gd name="T2" fmla="*/ 0 w 21600"/>
              <a:gd name="T3" fmla="*/ 24187891 h 21600"/>
              <a:gd name="T4" fmla="*/ 138822303 w 21600"/>
              <a:gd name="T5" fmla="*/ 60483750 h 21600"/>
              <a:gd name="T6" fmla="*/ 174193200 w 21600"/>
              <a:gd name="T7" fmla="*/ 48378586 h 21600"/>
              <a:gd name="T8" fmla="*/ 348386400 w 21600"/>
              <a:gd name="T9" fmla="*/ 24187891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dirty="0"/>
          </a:p>
        </p:txBody>
      </p:sp>
      <p:pic>
        <p:nvPicPr>
          <p:cNvPr id="9421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6053" name="Text Box 1029"/>
          <p:cNvSpPr txBox="1">
            <a:spLocks noChangeArrowheads="1"/>
          </p:cNvSpPr>
          <p:nvPr/>
        </p:nvSpPr>
        <p:spPr bwMode="auto">
          <a:xfrm>
            <a:off x="1517650" y="111125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600" dirty="0">
                <a:effectLst>
                  <a:outerShdw blurRad="38100" dist="38100" dir="2700000" algn="tl">
                    <a:srgbClr val="FFFFFF"/>
                  </a:outerShdw>
                </a:effectLst>
              </a:rPr>
              <a:t>Note</a:t>
            </a:r>
            <a:r>
              <a:rPr lang="en-US" altLang="en-US" sz="3600" b="0" dirty="0">
                <a:effectLst>
                  <a:outerShdw blurRad="38100" dist="38100" dir="2700000" algn="tl">
                    <a:srgbClr val="FFFFFF"/>
                  </a:outerShdw>
                </a:effectLst>
              </a:rPr>
              <a:t>:</a:t>
            </a:r>
          </a:p>
        </p:txBody>
      </p:sp>
    </p:spTree>
    <p:extLst>
      <p:ext uri="{BB962C8B-B14F-4D97-AF65-F5344CB8AC3E}">
        <p14:creationId xmlns:p14="http://schemas.microsoft.com/office/powerpoint/2010/main" val="3938563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ChangeArrowheads="1"/>
          </p:cNvSpPr>
          <p:nvPr/>
        </p:nvSpPr>
        <p:spPr bwMode="auto">
          <a:xfrm>
            <a:off x="152400" y="2255838"/>
            <a:ext cx="8915400" cy="3154362"/>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ts val="1200"/>
              </a:spcBef>
              <a:spcAft>
                <a:spcPts val="1000"/>
              </a:spcAft>
              <a:defRPr/>
            </a:pPr>
            <a:r>
              <a:rPr lang="en-US" altLang="en-US" sz="2800" i="1" dirty="0">
                <a:solidFill>
                  <a:schemeClr val="hlink"/>
                </a:solidFill>
                <a:effectLst>
                  <a:outerShdw blurRad="38100" dist="38100" dir="2700000" algn="tl">
                    <a:srgbClr val="C0C0C0"/>
                  </a:outerShdw>
                </a:effectLst>
                <a:latin typeface="Helvetica Neue"/>
              </a:rPr>
              <a:t>The receiver follows these steps:</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The unit is divided into k sections, each of n bits.</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All sections are added using one’s complement to get the sum.</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The sum is complemented.</a:t>
            </a:r>
          </a:p>
          <a:p>
            <a:pPr eaLnBrk="1" hangingPunct="1">
              <a:spcBef>
                <a:spcPts val="1200"/>
              </a:spcBef>
              <a:spcAft>
                <a:spcPts val="1000"/>
              </a:spcAft>
              <a:buFontTx/>
              <a:buChar char="•"/>
              <a:defRPr/>
            </a:pPr>
            <a:r>
              <a:rPr lang="en-US" altLang="en-US" sz="2400" b="0" i="1" dirty="0">
                <a:effectLst>
                  <a:outerShdw blurRad="38100" dist="38100" dir="2700000" algn="tl">
                    <a:srgbClr val="C0C0C0"/>
                  </a:outerShdw>
                </a:effectLst>
                <a:latin typeface="Helvetica Neue"/>
              </a:rPr>
              <a:t>If the result is zero, the data are accepted: otherwise, rejected.</a:t>
            </a:r>
          </a:p>
        </p:txBody>
      </p:sp>
      <p:sp>
        <p:nvSpPr>
          <p:cNvPr id="95235" name="PubRRectCallout"/>
          <p:cNvSpPr>
            <a:spLocks noEditPoints="1" noChangeArrowheads="1"/>
          </p:cNvSpPr>
          <p:nvPr/>
        </p:nvSpPr>
        <p:spPr bwMode="auto">
          <a:xfrm>
            <a:off x="228600" y="990600"/>
            <a:ext cx="2743200" cy="1143000"/>
          </a:xfrm>
          <a:custGeom>
            <a:avLst/>
            <a:gdLst>
              <a:gd name="T0" fmla="*/ 174193200 w 21600"/>
              <a:gd name="T1" fmla="*/ 0 h 21600"/>
              <a:gd name="T2" fmla="*/ 0 w 21600"/>
              <a:gd name="T3" fmla="*/ 24187891 h 21600"/>
              <a:gd name="T4" fmla="*/ 138822303 w 21600"/>
              <a:gd name="T5" fmla="*/ 60483750 h 21600"/>
              <a:gd name="T6" fmla="*/ 174193200 w 21600"/>
              <a:gd name="T7" fmla="*/ 48378586 h 21600"/>
              <a:gd name="T8" fmla="*/ 348386400 w 21600"/>
              <a:gd name="T9" fmla="*/ 24187891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dirty="0"/>
          </a:p>
        </p:txBody>
      </p:sp>
      <p:pic>
        <p:nvPicPr>
          <p:cNvPr id="9523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125" name="Text Box 5"/>
          <p:cNvSpPr txBox="1">
            <a:spLocks noChangeArrowheads="1"/>
          </p:cNvSpPr>
          <p:nvPr/>
        </p:nvSpPr>
        <p:spPr bwMode="auto">
          <a:xfrm>
            <a:off x="1517650" y="1111250"/>
            <a:ext cx="1225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600" dirty="0">
                <a:effectLst>
                  <a:outerShdw blurRad="38100" dist="38100" dir="2700000" algn="tl">
                    <a:srgbClr val="FFFFFF"/>
                  </a:outerShdw>
                </a:effectLst>
              </a:rPr>
              <a:t>Note</a:t>
            </a:r>
            <a:r>
              <a:rPr lang="en-US" altLang="en-US" sz="3600" b="0" dirty="0">
                <a:effectLst>
                  <a:outerShdw blurRad="38100" dist="38100" dir="2700000" algn="tl">
                    <a:srgbClr val="FFFFFF"/>
                  </a:outerShdw>
                </a:effectLst>
              </a:rPr>
              <a:t>:</a:t>
            </a:r>
          </a:p>
        </p:txBody>
      </p:sp>
    </p:spTree>
    <p:extLst>
      <p:ext uri="{BB962C8B-B14F-4D97-AF65-F5344CB8AC3E}">
        <p14:creationId xmlns:p14="http://schemas.microsoft.com/office/powerpoint/2010/main" val="4708593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Text Box 2"/>
          <p:cNvSpPr txBox="1">
            <a:spLocks noChangeArrowheads="1"/>
          </p:cNvSpPr>
          <p:nvPr/>
        </p:nvSpPr>
        <p:spPr bwMode="auto">
          <a:xfrm>
            <a:off x="144463" y="249238"/>
            <a:ext cx="2263761" cy="584775"/>
          </a:xfrm>
          <a:prstGeom prst="rect">
            <a:avLst/>
          </a:prstGeom>
          <a:solidFill>
            <a:schemeClr val="bg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200" dirty="0"/>
              <a:t>Example 7</a:t>
            </a:r>
          </a:p>
        </p:txBody>
      </p:sp>
      <p:sp>
        <p:nvSpPr>
          <p:cNvPr id="96259" name="Rectangle 3"/>
          <p:cNvSpPr>
            <a:spLocks noChangeArrowheads="1"/>
          </p:cNvSpPr>
          <p:nvPr/>
        </p:nvSpPr>
        <p:spPr bwMode="auto">
          <a:xfrm>
            <a:off x="228600" y="1079500"/>
            <a:ext cx="8458200" cy="48387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b="0" dirty="0">
                <a:latin typeface="Times" pitchFamily="18" charset="0"/>
              </a:rPr>
              <a:t>Suppose the following block of 16 bits is to be sent using a checksum of 8 bits. </a:t>
            </a:r>
          </a:p>
          <a:p>
            <a:pPr eaLnBrk="1" hangingPunct="1">
              <a:spcBef>
                <a:spcPct val="50000"/>
              </a:spcBef>
            </a:pPr>
            <a:r>
              <a:rPr lang="en-US" altLang="en-US" sz="2400" b="0" dirty="0">
                <a:latin typeface="Times" pitchFamily="18" charset="0"/>
              </a:rPr>
              <a:t>  10101001   00111001 </a:t>
            </a:r>
          </a:p>
          <a:p>
            <a:pPr eaLnBrk="1" hangingPunct="1">
              <a:spcBef>
                <a:spcPct val="50000"/>
              </a:spcBef>
            </a:pPr>
            <a:r>
              <a:rPr lang="en-US" altLang="en-US" sz="2400" b="0" dirty="0">
                <a:latin typeface="Times" pitchFamily="18" charset="0"/>
              </a:rPr>
              <a:t>The numbers are added using one’s complement</a:t>
            </a:r>
          </a:p>
          <a:p>
            <a:pPr eaLnBrk="1" hangingPunct="1">
              <a:spcBef>
                <a:spcPct val="50000"/>
              </a:spcBef>
            </a:pPr>
            <a:r>
              <a:rPr lang="en-US" altLang="en-US" sz="2400" b="0" dirty="0">
                <a:latin typeface="Times" pitchFamily="18" charset="0"/>
              </a:rPr>
              <a:t>                           10101001    </a:t>
            </a:r>
          </a:p>
          <a:p>
            <a:pPr eaLnBrk="1" hangingPunct="1">
              <a:spcBef>
                <a:spcPct val="50000"/>
              </a:spcBef>
            </a:pPr>
            <a:r>
              <a:rPr lang="en-US" altLang="en-US" sz="2400" b="0" dirty="0">
                <a:latin typeface="Times" pitchFamily="18" charset="0"/>
              </a:rPr>
              <a:t>                           00111001</a:t>
            </a:r>
            <a:br>
              <a:rPr lang="en-US" altLang="en-US" sz="2400" b="0" dirty="0">
                <a:latin typeface="Times" pitchFamily="18" charset="0"/>
              </a:rPr>
            </a:br>
            <a:r>
              <a:rPr lang="en-US" altLang="en-US" sz="2400" b="0" dirty="0">
                <a:latin typeface="Times" pitchFamily="18" charset="0"/>
              </a:rPr>
              <a:t>                           ------------</a:t>
            </a:r>
            <a:br>
              <a:rPr lang="en-US" altLang="en-US" sz="2400" b="0" dirty="0">
                <a:latin typeface="Times" pitchFamily="18" charset="0"/>
              </a:rPr>
            </a:br>
            <a:r>
              <a:rPr lang="en-US" altLang="en-US" sz="2400" b="0" dirty="0">
                <a:latin typeface="Times" pitchFamily="18" charset="0"/>
              </a:rPr>
              <a:t>Sum	               11100010</a:t>
            </a:r>
          </a:p>
          <a:p>
            <a:pPr eaLnBrk="1" hangingPunct="1">
              <a:spcBef>
                <a:spcPct val="50000"/>
              </a:spcBef>
            </a:pPr>
            <a:r>
              <a:rPr lang="en-US" altLang="en-US" sz="2400" b="0" dirty="0">
                <a:latin typeface="Times" pitchFamily="18" charset="0"/>
              </a:rPr>
              <a:t>Checksum          </a:t>
            </a:r>
            <a:r>
              <a:rPr lang="en-US" altLang="en-US" sz="2400" dirty="0">
                <a:solidFill>
                  <a:schemeClr val="hlink"/>
                </a:solidFill>
                <a:latin typeface="Times" pitchFamily="18" charset="0"/>
              </a:rPr>
              <a:t>00011101</a:t>
            </a:r>
          </a:p>
          <a:p>
            <a:pPr eaLnBrk="1" hangingPunct="1">
              <a:spcBef>
                <a:spcPct val="50000"/>
              </a:spcBef>
            </a:pPr>
            <a:r>
              <a:rPr lang="en-US" altLang="en-US" sz="2400" b="0" dirty="0">
                <a:latin typeface="Times" pitchFamily="18" charset="0"/>
              </a:rPr>
              <a:t>The pattern sent is       10101001   00111001   </a:t>
            </a:r>
            <a:r>
              <a:rPr lang="en-US" altLang="en-US" sz="2400" dirty="0">
                <a:solidFill>
                  <a:schemeClr val="hlink"/>
                </a:solidFill>
                <a:latin typeface="Times" pitchFamily="18" charset="0"/>
              </a:rPr>
              <a:t>00011101</a:t>
            </a:r>
          </a:p>
        </p:txBody>
      </p:sp>
    </p:spTree>
    <p:extLst>
      <p:ext uri="{BB962C8B-B14F-4D97-AF65-F5344CB8AC3E}">
        <p14:creationId xmlns:p14="http://schemas.microsoft.com/office/powerpoint/2010/main" val="562824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Text Box 2"/>
          <p:cNvSpPr txBox="1">
            <a:spLocks noChangeArrowheads="1"/>
          </p:cNvSpPr>
          <p:nvPr/>
        </p:nvSpPr>
        <p:spPr bwMode="auto">
          <a:xfrm>
            <a:off x="144463" y="249238"/>
            <a:ext cx="2263761" cy="584775"/>
          </a:xfrm>
          <a:prstGeom prst="rect">
            <a:avLst/>
          </a:prstGeom>
          <a:solidFill>
            <a:schemeClr val="bg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200" dirty="0">
                <a:effectLst>
                  <a:outerShdw blurRad="38100" dist="38100" dir="2700000" algn="tl">
                    <a:srgbClr val="C0C0C0"/>
                  </a:outerShdw>
                </a:effectLst>
              </a:rPr>
              <a:t>Example 8</a:t>
            </a:r>
          </a:p>
        </p:txBody>
      </p:sp>
      <p:sp>
        <p:nvSpPr>
          <p:cNvPr id="97283" name="Rectangle 3"/>
          <p:cNvSpPr>
            <a:spLocks noChangeArrowheads="1"/>
          </p:cNvSpPr>
          <p:nvPr/>
        </p:nvSpPr>
        <p:spPr bwMode="auto">
          <a:xfrm>
            <a:off x="228600" y="1079500"/>
            <a:ext cx="8458200" cy="5021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b="0" dirty="0">
                <a:latin typeface="Times" pitchFamily="18" charset="0"/>
              </a:rPr>
              <a:t>Now suppose the receiver receives the pattern sent in Example 7 and there is no error. </a:t>
            </a:r>
          </a:p>
          <a:p>
            <a:pPr eaLnBrk="1" hangingPunct="1">
              <a:spcBef>
                <a:spcPct val="50000"/>
              </a:spcBef>
            </a:pPr>
            <a:r>
              <a:rPr lang="en-US" altLang="en-US" sz="2400" b="0" dirty="0">
                <a:latin typeface="Times" pitchFamily="18" charset="0"/>
              </a:rPr>
              <a:t>10101001   00111001   00011101</a:t>
            </a:r>
          </a:p>
          <a:p>
            <a:pPr eaLnBrk="1" hangingPunct="1">
              <a:spcBef>
                <a:spcPct val="50000"/>
              </a:spcBef>
            </a:pPr>
            <a:r>
              <a:rPr lang="en-US" altLang="en-US" sz="2400" b="0" dirty="0">
                <a:latin typeface="Times" pitchFamily="18" charset="0"/>
              </a:rPr>
              <a:t>When the receiver adds the three sections, it will get all 1s, which, after complementing, is all 0s and shows that there is no error. </a:t>
            </a:r>
          </a:p>
          <a:p>
            <a:pPr eaLnBrk="1" hangingPunct="1">
              <a:spcBef>
                <a:spcPct val="50000"/>
              </a:spcBef>
            </a:pPr>
            <a:r>
              <a:rPr lang="en-US" altLang="en-US" sz="2400" b="0" dirty="0">
                <a:latin typeface="Times" pitchFamily="18" charset="0"/>
              </a:rPr>
              <a:t>			10101001</a:t>
            </a:r>
          </a:p>
          <a:p>
            <a:pPr eaLnBrk="1" hangingPunct="1">
              <a:spcBef>
                <a:spcPct val="50000"/>
              </a:spcBef>
            </a:pPr>
            <a:r>
              <a:rPr lang="en-US" altLang="en-US" sz="2400" b="0" dirty="0">
                <a:latin typeface="Times" pitchFamily="18" charset="0"/>
              </a:rPr>
              <a:t>			00111001    </a:t>
            </a:r>
          </a:p>
          <a:p>
            <a:pPr eaLnBrk="1" hangingPunct="1">
              <a:spcBef>
                <a:spcPct val="50000"/>
              </a:spcBef>
            </a:pPr>
            <a:r>
              <a:rPr lang="en-US" altLang="en-US" sz="2400" b="0" dirty="0">
                <a:latin typeface="Times" pitchFamily="18" charset="0"/>
              </a:rPr>
              <a:t>			00011101 </a:t>
            </a:r>
          </a:p>
          <a:p>
            <a:pPr eaLnBrk="1" hangingPunct="1">
              <a:spcBef>
                <a:spcPct val="50000"/>
              </a:spcBef>
            </a:pPr>
            <a:r>
              <a:rPr lang="en-US" altLang="en-US" sz="2400" b="0" dirty="0">
                <a:latin typeface="Times" pitchFamily="18" charset="0"/>
              </a:rPr>
              <a:t>Sum			11111111  </a:t>
            </a:r>
          </a:p>
          <a:p>
            <a:pPr eaLnBrk="1" hangingPunct="1">
              <a:spcBef>
                <a:spcPct val="50000"/>
              </a:spcBef>
            </a:pPr>
            <a:r>
              <a:rPr lang="en-US" altLang="en-US" sz="2400" b="0" dirty="0">
                <a:latin typeface="Times" pitchFamily="18" charset="0"/>
              </a:rPr>
              <a:t>Complement        	</a:t>
            </a:r>
            <a:r>
              <a:rPr lang="en-US" altLang="en-US" sz="2400" dirty="0">
                <a:solidFill>
                  <a:schemeClr val="hlink"/>
                </a:solidFill>
                <a:latin typeface="Times" pitchFamily="18" charset="0"/>
              </a:rPr>
              <a:t>00000000</a:t>
            </a:r>
            <a:r>
              <a:rPr lang="en-US" altLang="en-US" sz="2400" b="0" dirty="0">
                <a:latin typeface="Times" pitchFamily="18" charset="0"/>
              </a:rPr>
              <a:t>  </a:t>
            </a:r>
            <a:r>
              <a:rPr lang="en-US" altLang="en-US" sz="2400" b="0" dirty="0">
                <a:solidFill>
                  <a:schemeClr val="hlink"/>
                </a:solidFill>
                <a:latin typeface="Times" pitchFamily="18" charset="0"/>
              </a:rPr>
              <a:t>means that the pattern is OK.</a:t>
            </a:r>
          </a:p>
        </p:txBody>
      </p:sp>
    </p:spTree>
    <p:extLst>
      <p:ext uri="{BB962C8B-B14F-4D97-AF65-F5344CB8AC3E}">
        <p14:creationId xmlns:p14="http://schemas.microsoft.com/office/powerpoint/2010/main" val="3057134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Text Box 2"/>
          <p:cNvSpPr txBox="1">
            <a:spLocks noChangeArrowheads="1"/>
          </p:cNvSpPr>
          <p:nvPr/>
        </p:nvSpPr>
        <p:spPr bwMode="auto">
          <a:xfrm>
            <a:off x="144463" y="249238"/>
            <a:ext cx="2263761" cy="584775"/>
          </a:xfrm>
          <a:prstGeom prst="rect">
            <a:avLst/>
          </a:prstGeom>
          <a:solidFill>
            <a:schemeClr val="bg1"/>
          </a:solidFill>
          <a:ln w="38100">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3200" dirty="0">
                <a:effectLst>
                  <a:outerShdw blurRad="38100" dist="38100" dir="2700000" algn="tl">
                    <a:srgbClr val="C0C0C0"/>
                  </a:outerShdw>
                </a:effectLst>
              </a:rPr>
              <a:t>Example 9</a:t>
            </a:r>
          </a:p>
        </p:txBody>
      </p:sp>
      <p:sp>
        <p:nvSpPr>
          <p:cNvPr id="98307" name="Rectangle 3"/>
          <p:cNvSpPr>
            <a:spLocks noChangeArrowheads="1"/>
          </p:cNvSpPr>
          <p:nvPr/>
        </p:nvSpPr>
        <p:spPr bwMode="auto">
          <a:xfrm>
            <a:off x="228600" y="1079500"/>
            <a:ext cx="8458200" cy="53863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lang="en-US" altLang="en-US" sz="2400" b="0" dirty="0">
                <a:latin typeface="Times" pitchFamily="18" charset="0"/>
              </a:rPr>
              <a:t>Now suppose there is a burst error of length 5 that affects 4 bits. </a:t>
            </a:r>
          </a:p>
          <a:p>
            <a:pPr eaLnBrk="1" hangingPunct="1">
              <a:spcBef>
                <a:spcPct val="50000"/>
              </a:spcBef>
            </a:pPr>
            <a:r>
              <a:rPr lang="en-US" altLang="en-US" sz="2400" b="0" dirty="0">
                <a:latin typeface="Times" pitchFamily="18" charset="0"/>
              </a:rPr>
              <a:t>                             10101</a:t>
            </a:r>
            <a:r>
              <a:rPr lang="en-US" altLang="en-US" sz="2400" u="sng" dirty="0">
                <a:solidFill>
                  <a:schemeClr val="hlink"/>
                </a:solidFill>
                <a:latin typeface="Times" pitchFamily="18" charset="0"/>
              </a:rPr>
              <a:t>111</a:t>
            </a:r>
            <a:r>
              <a:rPr lang="en-US" altLang="en-US" sz="2400" b="0" u="sng" dirty="0">
                <a:solidFill>
                  <a:schemeClr val="hlink"/>
                </a:solidFill>
                <a:latin typeface="Times" pitchFamily="18" charset="0"/>
              </a:rPr>
              <a:t>   </a:t>
            </a:r>
            <a:r>
              <a:rPr lang="en-US" altLang="en-US" sz="2400" u="sng" dirty="0">
                <a:solidFill>
                  <a:schemeClr val="hlink"/>
                </a:solidFill>
                <a:latin typeface="Times" pitchFamily="18" charset="0"/>
              </a:rPr>
              <a:t>11</a:t>
            </a:r>
            <a:r>
              <a:rPr lang="en-US" altLang="en-US" sz="2400" b="0" dirty="0">
                <a:latin typeface="Times" pitchFamily="18" charset="0"/>
              </a:rPr>
              <a:t>111001   00011101</a:t>
            </a:r>
          </a:p>
          <a:p>
            <a:pPr eaLnBrk="1" hangingPunct="1">
              <a:spcBef>
                <a:spcPct val="50000"/>
              </a:spcBef>
            </a:pPr>
            <a:r>
              <a:rPr lang="en-US" altLang="en-US" sz="2400" b="0" dirty="0">
                <a:latin typeface="Times" pitchFamily="18" charset="0"/>
              </a:rPr>
              <a:t>When the receiver adds the three sections, it gets </a:t>
            </a:r>
          </a:p>
          <a:p>
            <a:pPr eaLnBrk="1" hangingPunct="1">
              <a:spcBef>
                <a:spcPct val="50000"/>
              </a:spcBef>
            </a:pPr>
            <a:r>
              <a:rPr lang="en-US" altLang="en-US" sz="2400" b="0" dirty="0">
                <a:latin typeface="Times" pitchFamily="18" charset="0"/>
              </a:rPr>
              <a:t>			10101111</a:t>
            </a:r>
          </a:p>
          <a:p>
            <a:pPr eaLnBrk="1" hangingPunct="1">
              <a:spcBef>
                <a:spcPct val="50000"/>
              </a:spcBef>
            </a:pPr>
            <a:r>
              <a:rPr lang="en-US" altLang="en-US" sz="2400" b="0" dirty="0">
                <a:latin typeface="Times" pitchFamily="18" charset="0"/>
              </a:rPr>
              <a:t>			11111001     </a:t>
            </a:r>
          </a:p>
          <a:p>
            <a:pPr eaLnBrk="1" hangingPunct="1">
              <a:spcBef>
                <a:spcPct val="50000"/>
              </a:spcBef>
            </a:pPr>
            <a:r>
              <a:rPr lang="en-US" altLang="en-US" sz="2400" b="0" dirty="0">
                <a:latin typeface="Times" pitchFamily="18" charset="0"/>
              </a:rPr>
              <a:t>			00011101 </a:t>
            </a:r>
          </a:p>
          <a:p>
            <a:pPr eaLnBrk="1" hangingPunct="1">
              <a:spcBef>
                <a:spcPct val="50000"/>
              </a:spcBef>
            </a:pPr>
            <a:r>
              <a:rPr lang="en-US" altLang="en-US" sz="2400" b="0" dirty="0">
                <a:latin typeface="Times" pitchFamily="18" charset="0"/>
              </a:rPr>
              <a:t>Partial Sum              </a:t>
            </a:r>
            <a:r>
              <a:rPr lang="en-US" altLang="en-US" sz="2400" dirty="0">
                <a:solidFill>
                  <a:schemeClr val="hlink"/>
                </a:solidFill>
                <a:latin typeface="Times" pitchFamily="18" charset="0"/>
              </a:rPr>
              <a:t>1</a:t>
            </a:r>
            <a:r>
              <a:rPr lang="en-US" altLang="en-US" sz="2400" b="0" dirty="0">
                <a:latin typeface="Times" pitchFamily="18" charset="0"/>
              </a:rPr>
              <a:t> 11000101</a:t>
            </a:r>
          </a:p>
          <a:p>
            <a:pPr eaLnBrk="1" hangingPunct="1">
              <a:spcBef>
                <a:spcPct val="50000"/>
              </a:spcBef>
            </a:pPr>
            <a:r>
              <a:rPr lang="en-US" altLang="en-US" sz="2400" b="0" dirty="0">
                <a:latin typeface="Times" pitchFamily="18" charset="0"/>
              </a:rPr>
              <a:t>Carry				  </a:t>
            </a:r>
            <a:r>
              <a:rPr lang="en-US" altLang="en-US" sz="2400" dirty="0">
                <a:solidFill>
                  <a:schemeClr val="hlink"/>
                </a:solidFill>
                <a:latin typeface="Times" pitchFamily="18" charset="0"/>
              </a:rPr>
              <a:t>1</a:t>
            </a:r>
          </a:p>
          <a:p>
            <a:pPr eaLnBrk="1" hangingPunct="1">
              <a:spcBef>
                <a:spcPct val="50000"/>
              </a:spcBef>
            </a:pPr>
            <a:r>
              <a:rPr lang="en-US" altLang="en-US" sz="2400" b="0" dirty="0">
                <a:latin typeface="Times" pitchFamily="18" charset="0"/>
              </a:rPr>
              <a:t>Sum			11000110   </a:t>
            </a:r>
          </a:p>
          <a:p>
            <a:pPr eaLnBrk="1" hangingPunct="1">
              <a:spcBef>
                <a:spcPct val="50000"/>
              </a:spcBef>
            </a:pPr>
            <a:r>
              <a:rPr lang="en-US" altLang="en-US" sz="2400" b="0" dirty="0">
                <a:latin typeface="Times" pitchFamily="18" charset="0"/>
              </a:rPr>
              <a:t>Complement               </a:t>
            </a:r>
            <a:r>
              <a:rPr lang="en-US" altLang="en-US" sz="2400" dirty="0">
                <a:solidFill>
                  <a:schemeClr val="hlink"/>
                </a:solidFill>
                <a:latin typeface="Times" pitchFamily="18" charset="0"/>
              </a:rPr>
              <a:t>00111001</a:t>
            </a:r>
            <a:r>
              <a:rPr lang="en-US" altLang="en-US" sz="2400" b="0" dirty="0">
                <a:latin typeface="Times" pitchFamily="18" charset="0"/>
              </a:rPr>
              <a:t>    </a:t>
            </a:r>
            <a:r>
              <a:rPr lang="en-US" altLang="en-US" sz="2400" dirty="0">
                <a:solidFill>
                  <a:schemeClr val="hlink"/>
                </a:solidFill>
                <a:latin typeface="Times" pitchFamily="18" charset="0"/>
              </a:rPr>
              <a:t>the pattern is corrupted.</a:t>
            </a:r>
          </a:p>
        </p:txBody>
      </p:sp>
    </p:spTree>
    <p:extLst>
      <p:ext uri="{BB962C8B-B14F-4D97-AF65-F5344CB8AC3E}">
        <p14:creationId xmlns:p14="http://schemas.microsoft.com/office/powerpoint/2010/main" val="1180122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r>
              <a:rPr lang="en-IN" sz="2400" dirty="0" smtClean="0"/>
              <a:t>Hamming Code</a:t>
            </a:r>
            <a:endParaRPr lang="en-IN" sz="2400" dirty="0"/>
          </a:p>
        </p:txBody>
      </p:sp>
      <p:sp>
        <p:nvSpPr>
          <p:cNvPr id="3" name="Content Placeholder 2"/>
          <p:cNvSpPr>
            <a:spLocks noGrp="1"/>
          </p:cNvSpPr>
          <p:nvPr>
            <p:ph idx="1"/>
          </p:nvPr>
        </p:nvSpPr>
        <p:spPr>
          <a:xfrm>
            <a:off x="457200" y="838200"/>
            <a:ext cx="8229600" cy="5867400"/>
          </a:xfrm>
        </p:spPr>
        <p:txBody>
          <a:bodyPr>
            <a:normAutofit lnSpcReduction="10000"/>
          </a:bodyPr>
          <a:lstStyle/>
          <a:p>
            <a:r>
              <a:rPr lang="en-US" sz="2400" dirty="0"/>
              <a:t>Hamming code detects and corrects the errors that can occur when the data is moved </a:t>
            </a:r>
            <a:r>
              <a:rPr lang="en-US" sz="2400" dirty="0" smtClean="0"/>
              <a:t>from </a:t>
            </a:r>
            <a:r>
              <a:rPr lang="en-US" sz="2400" dirty="0"/>
              <a:t>the sender to the receiver. </a:t>
            </a:r>
            <a:endParaRPr lang="en-US" sz="2400" dirty="0" smtClean="0"/>
          </a:p>
          <a:p>
            <a:r>
              <a:rPr lang="en-US" sz="2400" dirty="0"/>
              <a:t>It adds extra bits to the original data, allowing the system to detect and correct single-bit errors</a:t>
            </a:r>
            <a:r>
              <a:rPr lang="en-US" sz="2400" dirty="0" smtClean="0"/>
              <a:t>.</a:t>
            </a:r>
          </a:p>
          <a:p>
            <a:r>
              <a:rPr lang="en-US" sz="2400" dirty="0"/>
              <a:t>Redundant bits are extra binary bits that are generated and added to the information-carrying bits of data transfer to ensure that no bits were lost during the data transfer. The number of redundant bits can be calculated using the following formula</a:t>
            </a:r>
            <a:r>
              <a:rPr lang="en-US" sz="2400" dirty="0" smtClean="0"/>
              <a:t>:</a:t>
            </a:r>
          </a:p>
          <a:p>
            <a:endParaRPr lang="en-IN" sz="2400" dirty="0" smtClean="0"/>
          </a:p>
          <a:p>
            <a:pPr marL="0" indent="0">
              <a:buNone/>
            </a:pPr>
            <a:endParaRPr lang="en-IN" sz="2400" dirty="0" smtClean="0"/>
          </a:p>
          <a:p>
            <a:pPr marL="0" indent="0">
              <a:buNone/>
            </a:pPr>
            <a:r>
              <a:rPr lang="en-IN" sz="2400" dirty="0" smtClean="0"/>
              <a:t>m: no. of message bits , r : no. of redundant bits</a:t>
            </a:r>
          </a:p>
          <a:p>
            <a:pPr fontAlgn="base"/>
            <a:r>
              <a:rPr lang="en-US" sz="2400" dirty="0"/>
              <a:t>Suppose the number of data bits is 7, then the number of redundant bits can be calculated </a:t>
            </a:r>
            <a:r>
              <a:rPr lang="en-US" sz="2400" dirty="0" smtClean="0"/>
              <a:t>as:</a:t>
            </a:r>
            <a:endParaRPr lang="en-US" sz="2400" dirty="0"/>
          </a:p>
          <a:p>
            <a:pPr marL="0" indent="0" fontAlgn="base">
              <a:buNone/>
            </a:pPr>
            <a:r>
              <a:rPr lang="en-US" sz="2400" dirty="0"/>
              <a:t> </a:t>
            </a:r>
            <a:r>
              <a:rPr lang="en-US" sz="2400" dirty="0" smtClean="0"/>
              <a:t>       2</a:t>
            </a:r>
            <a:r>
              <a:rPr lang="en-US" sz="2400" baseline="30000" dirty="0" smtClean="0"/>
              <a:t>4</a:t>
            </a:r>
            <a:r>
              <a:rPr lang="en-US" sz="2400" dirty="0" smtClean="0"/>
              <a:t> </a:t>
            </a:r>
            <a:r>
              <a:rPr lang="en-US" sz="2400" dirty="0"/>
              <a:t>≥ 7 + 4 + 1 Thus, the number of redundant bits is 4.</a:t>
            </a:r>
          </a:p>
          <a:p>
            <a:pPr marL="0" indent="0">
              <a:buNone/>
            </a:pPr>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2587" y="4343400"/>
            <a:ext cx="281516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32491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dirty="0" smtClean="0"/>
              <a:t>Relationship between m and r</a:t>
            </a:r>
            <a:br>
              <a:rPr lang="en-IN" sz="2400" dirty="0" smtClean="0"/>
            </a:br>
            <a:endParaRPr lang="en-IN"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60735542"/>
              </p:ext>
            </p:extLst>
          </p:nvPr>
        </p:nvGraphicFramePr>
        <p:xfrm>
          <a:off x="493183" y="2286000"/>
          <a:ext cx="8229600" cy="2966720"/>
        </p:xfrm>
        <a:graphic>
          <a:graphicData uri="http://schemas.openxmlformats.org/drawingml/2006/table">
            <a:tbl>
              <a:tblPr firstRow="1" bandRow="1">
                <a:tableStyleId>{5940675A-B579-460E-94D1-54222C63F5DA}</a:tableStyleId>
              </a:tblPr>
              <a:tblGrid>
                <a:gridCol w="2133600"/>
                <a:gridCol w="3352800"/>
                <a:gridCol w="2743200"/>
              </a:tblGrid>
              <a:tr h="370840">
                <a:tc>
                  <a:txBody>
                    <a:bodyPr/>
                    <a:lstStyle/>
                    <a:p>
                      <a:r>
                        <a:rPr lang="en-IN" dirty="0" smtClean="0"/>
                        <a:t>Message bits :m</a:t>
                      </a:r>
                      <a:endParaRPr lang="en-IN" dirty="0"/>
                    </a:p>
                  </a:txBody>
                  <a:tcPr/>
                </a:tc>
                <a:tc>
                  <a:txBody>
                    <a:bodyPr/>
                    <a:lstStyle/>
                    <a:p>
                      <a:r>
                        <a:rPr lang="en-IN" dirty="0" smtClean="0"/>
                        <a:t>Redundant bits/parity bits : r</a:t>
                      </a:r>
                      <a:endParaRPr lang="en-IN" dirty="0"/>
                    </a:p>
                  </a:txBody>
                  <a:tcPr/>
                </a:tc>
                <a:tc>
                  <a:txBody>
                    <a:bodyPr/>
                    <a:lstStyle/>
                    <a:p>
                      <a:r>
                        <a:rPr lang="en-IN" dirty="0" smtClean="0"/>
                        <a:t>Total bits </a:t>
                      </a:r>
                      <a:r>
                        <a:rPr lang="en-IN" dirty="0" err="1" smtClean="0"/>
                        <a:t>m+r</a:t>
                      </a:r>
                      <a:endParaRPr lang="en-IN" dirty="0"/>
                    </a:p>
                  </a:txBody>
                  <a:tcPr/>
                </a:tc>
              </a:tr>
              <a:tr h="370840">
                <a:tc>
                  <a:txBody>
                    <a:bodyPr/>
                    <a:lstStyle/>
                    <a:p>
                      <a:r>
                        <a:rPr lang="en-IN" dirty="0" smtClean="0"/>
                        <a:t>1</a:t>
                      </a:r>
                      <a:endParaRPr lang="en-IN" dirty="0"/>
                    </a:p>
                  </a:txBody>
                  <a:tcPr/>
                </a:tc>
                <a:tc>
                  <a:txBody>
                    <a:bodyPr/>
                    <a:lstStyle/>
                    <a:p>
                      <a:r>
                        <a:rPr lang="en-IN" dirty="0" smtClean="0"/>
                        <a:t>2</a:t>
                      </a:r>
                      <a:endParaRPr lang="en-IN" dirty="0"/>
                    </a:p>
                  </a:txBody>
                  <a:tcPr/>
                </a:tc>
                <a:tc>
                  <a:txBody>
                    <a:bodyPr/>
                    <a:lstStyle/>
                    <a:p>
                      <a:r>
                        <a:rPr lang="en-IN" dirty="0" smtClean="0"/>
                        <a:t>3</a:t>
                      </a:r>
                      <a:endParaRPr lang="en-IN" dirty="0"/>
                    </a:p>
                  </a:txBody>
                  <a:tcPr/>
                </a:tc>
              </a:tr>
              <a:tr h="370840">
                <a:tc>
                  <a:txBody>
                    <a:bodyPr/>
                    <a:lstStyle/>
                    <a:p>
                      <a:r>
                        <a:rPr lang="en-IN" dirty="0" smtClean="0"/>
                        <a:t>2</a:t>
                      </a:r>
                      <a:endParaRPr lang="en-IN" dirty="0"/>
                    </a:p>
                  </a:txBody>
                  <a:tcPr/>
                </a:tc>
                <a:tc>
                  <a:txBody>
                    <a:bodyPr/>
                    <a:lstStyle/>
                    <a:p>
                      <a:r>
                        <a:rPr lang="en-IN" dirty="0" smtClean="0"/>
                        <a:t>3</a:t>
                      </a:r>
                      <a:endParaRPr lang="en-IN" dirty="0"/>
                    </a:p>
                  </a:txBody>
                  <a:tcPr/>
                </a:tc>
                <a:tc>
                  <a:txBody>
                    <a:bodyPr/>
                    <a:lstStyle/>
                    <a:p>
                      <a:r>
                        <a:rPr lang="en-IN" dirty="0" smtClean="0"/>
                        <a:t>5</a:t>
                      </a:r>
                      <a:endParaRPr lang="en-IN" dirty="0"/>
                    </a:p>
                  </a:txBody>
                  <a:tcPr/>
                </a:tc>
              </a:tr>
              <a:tr h="370840">
                <a:tc>
                  <a:txBody>
                    <a:bodyPr/>
                    <a:lstStyle/>
                    <a:p>
                      <a:r>
                        <a:rPr lang="en-IN" dirty="0" smtClean="0"/>
                        <a:t>3</a:t>
                      </a:r>
                      <a:endParaRPr lang="en-IN" dirty="0"/>
                    </a:p>
                  </a:txBody>
                  <a:tcPr/>
                </a:tc>
                <a:tc>
                  <a:txBody>
                    <a:bodyPr/>
                    <a:lstStyle/>
                    <a:p>
                      <a:r>
                        <a:rPr lang="en-IN" dirty="0" smtClean="0"/>
                        <a:t>3</a:t>
                      </a:r>
                      <a:endParaRPr lang="en-IN" dirty="0"/>
                    </a:p>
                  </a:txBody>
                  <a:tcPr/>
                </a:tc>
                <a:tc>
                  <a:txBody>
                    <a:bodyPr/>
                    <a:lstStyle/>
                    <a:p>
                      <a:r>
                        <a:rPr lang="en-IN" dirty="0" smtClean="0"/>
                        <a:t>6</a:t>
                      </a:r>
                      <a:endParaRPr lang="en-IN" dirty="0"/>
                    </a:p>
                  </a:txBody>
                  <a:tcPr/>
                </a:tc>
              </a:tr>
              <a:tr h="370840">
                <a:tc>
                  <a:txBody>
                    <a:bodyPr/>
                    <a:lstStyle/>
                    <a:p>
                      <a:r>
                        <a:rPr lang="en-IN" dirty="0" smtClean="0"/>
                        <a:t>4</a:t>
                      </a:r>
                      <a:endParaRPr lang="en-IN" dirty="0"/>
                    </a:p>
                  </a:txBody>
                  <a:tcPr/>
                </a:tc>
                <a:tc>
                  <a:txBody>
                    <a:bodyPr/>
                    <a:lstStyle/>
                    <a:p>
                      <a:r>
                        <a:rPr lang="en-IN" dirty="0" smtClean="0"/>
                        <a:t>3</a:t>
                      </a:r>
                      <a:endParaRPr lang="en-IN" dirty="0"/>
                    </a:p>
                  </a:txBody>
                  <a:tcPr/>
                </a:tc>
                <a:tc>
                  <a:txBody>
                    <a:bodyPr/>
                    <a:lstStyle/>
                    <a:p>
                      <a:r>
                        <a:rPr lang="en-IN" dirty="0" smtClean="0"/>
                        <a:t>7</a:t>
                      </a:r>
                      <a:endParaRPr lang="en-IN" dirty="0"/>
                    </a:p>
                  </a:txBody>
                  <a:tcPr/>
                </a:tc>
              </a:tr>
              <a:tr h="370840">
                <a:tc>
                  <a:txBody>
                    <a:bodyPr/>
                    <a:lstStyle/>
                    <a:p>
                      <a:r>
                        <a:rPr lang="en-IN" dirty="0" smtClean="0"/>
                        <a:t>5</a:t>
                      </a:r>
                      <a:endParaRPr lang="en-IN" dirty="0"/>
                    </a:p>
                  </a:txBody>
                  <a:tcPr/>
                </a:tc>
                <a:tc>
                  <a:txBody>
                    <a:bodyPr/>
                    <a:lstStyle/>
                    <a:p>
                      <a:r>
                        <a:rPr lang="en-IN" dirty="0" smtClean="0"/>
                        <a:t>4</a:t>
                      </a:r>
                      <a:endParaRPr lang="en-IN" dirty="0"/>
                    </a:p>
                  </a:txBody>
                  <a:tcPr/>
                </a:tc>
                <a:tc>
                  <a:txBody>
                    <a:bodyPr/>
                    <a:lstStyle/>
                    <a:p>
                      <a:r>
                        <a:rPr lang="en-IN" dirty="0" smtClean="0"/>
                        <a:t>9</a:t>
                      </a:r>
                      <a:endParaRPr lang="en-IN" dirty="0"/>
                    </a:p>
                  </a:txBody>
                  <a:tcPr/>
                </a:tc>
              </a:tr>
              <a:tr h="370840">
                <a:tc>
                  <a:txBody>
                    <a:bodyPr/>
                    <a:lstStyle/>
                    <a:p>
                      <a:r>
                        <a:rPr lang="en-IN" dirty="0" smtClean="0"/>
                        <a:t>6</a:t>
                      </a:r>
                      <a:endParaRPr lang="en-IN" dirty="0"/>
                    </a:p>
                  </a:txBody>
                  <a:tcPr/>
                </a:tc>
                <a:tc>
                  <a:txBody>
                    <a:bodyPr/>
                    <a:lstStyle/>
                    <a:p>
                      <a:r>
                        <a:rPr lang="en-IN" dirty="0" smtClean="0"/>
                        <a:t>4</a:t>
                      </a:r>
                      <a:endParaRPr lang="en-IN" dirty="0"/>
                    </a:p>
                  </a:txBody>
                  <a:tcPr/>
                </a:tc>
                <a:tc>
                  <a:txBody>
                    <a:bodyPr/>
                    <a:lstStyle/>
                    <a:p>
                      <a:r>
                        <a:rPr lang="en-IN" dirty="0" smtClean="0"/>
                        <a:t>10</a:t>
                      </a:r>
                      <a:endParaRPr lang="en-IN" dirty="0"/>
                    </a:p>
                  </a:txBody>
                  <a:tcPr/>
                </a:tc>
              </a:tr>
              <a:tr h="370840">
                <a:tc>
                  <a:txBody>
                    <a:bodyPr/>
                    <a:lstStyle/>
                    <a:p>
                      <a:r>
                        <a:rPr lang="en-IN" dirty="0" smtClean="0"/>
                        <a:t>7</a:t>
                      </a:r>
                      <a:endParaRPr lang="en-IN" dirty="0"/>
                    </a:p>
                  </a:txBody>
                  <a:tcPr/>
                </a:tc>
                <a:tc>
                  <a:txBody>
                    <a:bodyPr/>
                    <a:lstStyle/>
                    <a:p>
                      <a:r>
                        <a:rPr lang="en-IN" dirty="0" smtClean="0"/>
                        <a:t>4</a:t>
                      </a:r>
                      <a:endParaRPr lang="en-IN" dirty="0"/>
                    </a:p>
                  </a:txBody>
                  <a:tcPr/>
                </a:tc>
                <a:tc>
                  <a:txBody>
                    <a:bodyPr/>
                    <a:lstStyle/>
                    <a:p>
                      <a:r>
                        <a:rPr lang="en-IN" dirty="0" smtClean="0"/>
                        <a:t>11</a:t>
                      </a:r>
                      <a:endParaRPr lang="en-IN" dirty="0"/>
                    </a:p>
                  </a:txBody>
                  <a:tcPr/>
                </a:tc>
              </a:tr>
            </a:tbl>
          </a:graphicData>
        </a:graphic>
      </p:graphicFrame>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914400"/>
            <a:ext cx="281516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47876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sz="2400" dirty="0"/>
              <a:t>Hamming </a:t>
            </a:r>
            <a:r>
              <a:rPr lang="en-IN" sz="2400" dirty="0" smtClean="0"/>
              <a:t>Code..</a:t>
            </a:r>
            <a:r>
              <a:rPr lang="en-IN" sz="2400" dirty="0" err="1" smtClean="0"/>
              <a:t>cntd</a:t>
            </a:r>
            <a:endParaRPr lang="en-IN" sz="2400" dirty="0"/>
          </a:p>
        </p:txBody>
      </p:sp>
      <p:sp>
        <p:nvSpPr>
          <p:cNvPr id="3" name="Content Placeholder 2"/>
          <p:cNvSpPr>
            <a:spLocks noGrp="1"/>
          </p:cNvSpPr>
          <p:nvPr>
            <p:ph idx="1"/>
          </p:nvPr>
        </p:nvSpPr>
        <p:spPr>
          <a:xfrm>
            <a:off x="228600" y="762000"/>
            <a:ext cx="8458200" cy="5867400"/>
          </a:xfrm>
        </p:spPr>
        <p:txBody>
          <a:bodyPr>
            <a:normAutofit fontScale="77500" lnSpcReduction="20000"/>
          </a:bodyPr>
          <a:lstStyle/>
          <a:p>
            <a:pPr marL="0" indent="0" algn="ctr" fontAlgn="base">
              <a:buNone/>
            </a:pPr>
            <a:r>
              <a:rPr lang="en-US" b="1" dirty="0"/>
              <a:t>Types of Parity Bits</a:t>
            </a:r>
          </a:p>
          <a:p>
            <a:pPr fontAlgn="base"/>
            <a:r>
              <a:rPr lang="en-US" dirty="0"/>
              <a:t>A parity bit is a bit appended to a data of binary bits to ensure that the total number of 1’s in the data is even or odd. Parity bits are used for error detection. There are two types of parity bits:</a:t>
            </a:r>
          </a:p>
          <a:p>
            <a:pPr fontAlgn="base"/>
            <a:r>
              <a:rPr lang="en-US" b="1" dirty="0"/>
              <a:t>Even Parity Bit:</a:t>
            </a:r>
            <a:r>
              <a:rPr lang="en-US" dirty="0"/>
              <a:t> In the case of even parity, for a given set of bits, the number of 1’s are counted. If that count is odd, the parity bit value is set to 1, making the total count of occurrences of 1’s an even number. If the total number of 1’s in a given set of bits is already even, the parity bit's value is 0.</a:t>
            </a:r>
          </a:p>
          <a:p>
            <a:pPr fontAlgn="base"/>
            <a:r>
              <a:rPr lang="en-US" b="1" dirty="0"/>
              <a:t>Odd Parity Bit: </a:t>
            </a:r>
            <a:r>
              <a:rPr lang="en-US" dirty="0"/>
              <a:t>In the case of odd parity, for a given set of bits, the number of 1’s are counted. If that count is even, the parity bit value is set to 1, making the total count of occurrences of 1’s an odd number. If the total number of 1’s in a given set of bits is already odd, the parity bit's value is 0.</a:t>
            </a:r>
          </a:p>
          <a:p>
            <a:endParaRPr lang="en-IN" dirty="0" smtClean="0"/>
          </a:p>
          <a:p>
            <a:endParaRPr lang="en-IN" dirty="0"/>
          </a:p>
        </p:txBody>
      </p:sp>
    </p:spTree>
    <p:extLst>
      <p:ext uri="{BB962C8B-B14F-4D97-AF65-F5344CB8AC3E}">
        <p14:creationId xmlns:p14="http://schemas.microsoft.com/office/powerpoint/2010/main" val="9996080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IN" sz="2400" b="1" dirty="0"/>
              <a:t>Algorithm of Hamming Code</a:t>
            </a:r>
            <a:br>
              <a:rPr lang="en-IN" sz="2400" b="1" dirty="0"/>
            </a:br>
            <a:endParaRPr lang="en-IN" sz="2400" dirty="0"/>
          </a:p>
        </p:txBody>
      </p:sp>
      <p:sp>
        <p:nvSpPr>
          <p:cNvPr id="3" name="Content Placeholder 2"/>
          <p:cNvSpPr>
            <a:spLocks noGrp="1"/>
          </p:cNvSpPr>
          <p:nvPr>
            <p:ph idx="1"/>
          </p:nvPr>
        </p:nvSpPr>
        <p:spPr>
          <a:xfrm>
            <a:off x="152400" y="609600"/>
            <a:ext cx="8534400" cy="6096000"/>
          </a:xfrm>
        </p:spPr>
        <p:txBody>
          <a:bodyPr>
            <a:normAutofit/>
          </a:bodyPr>
          <a:lstStyle/>
          <a:p>
            <a:pPr marL="0" indent="0" fontAlgn="base">
              <a:buNone/>
            </a:pPr>
            <a:r>
              <a:rPr lang="en-US" sz="2000" dirty="0"/>
              <a:t>Hamming Code is simply the use of extra parity bits to allow the identification of an error.</a:t>
            </a:r>
          </a:p>
          <a:p>
            <a:pPr fontAlgn="base"/>
            <a:r>
              <a:rPr lang="en-US" sz="2000" dirty="0"/>
              <a:t>Step 1: Write the bit positions starting from 1 in binary form (1, 10, 11, 100, </a:t>
            </a:r>
            <a:r>
              <a:rPr lang="en-US" sz="2000" dirty="0" err="1"/>
              <a:t>etc</a:t>
            </a:r>
            <a:r>
              <a:rPr lang="en-US" sz="2000" dirty="0"/>
              <a:t>).</a:t>
            </a:r>
          </a:p>
          <a:p>
            <a:pPr fontAlgn="base"/>
            <a:r>
              <a:rPr lang="en-US" sz="2000" dirty="0"/>
              <a:t>Step 2: All the bit positions that are a power of 2 are marked as parity bits (1, 2, 4, 8, </a:t>
            </a:r>
            <a:r>
              <a:rPr lang="en-US" sz="2000" dirty="0" err="1"/>
              <a:t>etc</a:t>
            </a:r>
            <a:r>
              <a:rPr lang="en-US" sz="2000" dirty="0"/>
              <a:t>).</a:t>
            </a:r>
          </a:p>
          <a:p>
            <a:pPr fontAlgn="base"/>
            <a:r>
              <a:rPr lang="en-US" sz="2000" dirty="0"/>
              <a:t>Step 3: All the other bit positions are marked as data bits.</a:t>
            </a:r>
          </a:p>
          <a:p>
            <a:pPr fontAlgn="base"/>
            <a:r>
              <a:rPr lang="en-US" sz="2000" dirty="0"/>
              <a:t>Step 4: Each data bit is included in a unique set of parity bits, as determined its bit position in binary form:</a:t>
            </a:r>
          </a:p>
          <a:p>
            <a:pPr lvl="1" fontAlgn="base">
              <a:buFont typeface="Wingdings" panose="05000000000000000000" pitchFamily="2" charset="2"/>
              <a:buChar char="Ø"/>
            </a:pPr>
            <a:r>
              <a:rPr lang="en-US" sz="1600" b="1" dirty="0"/>
              <a:t>Parity bit 1 covers all the bits positions whose binary representation includes a 1 in the least significant position (1, 3, 5, 7, 9, 11, </a:t>
            </a:r>
            <a:r>
              <a:rPr lang="en-US" sz="1600" b="1" dirty="0" err="1"/>
              <a:t>etc</a:t>
            </a:r>
            <a:r>
              <a:rPr lang="en-US" sz="1600" b="1" dirty="0"/>
              <a:t>).</a:t>
            </a:r>
          </a:p>
          <a:p>
            <a:pPr lvl="1" fontAlgn="base">
              <a:buFont typeface="Wingdings" panose="05000000000000000000" pitchFamily="2" charset="2"/>
              <a:buChar char="Ø"/>
            </a:pPr>
            <a:r>
              <a:rPr lang="en-US" sz="1600" b="1" dirty="0"/>
              <a:t>Parity bit 2 covers all the bits positions whose binary representation includes a 1 in the second position from the least significant bit (2, 3, 6, 7, 10, 11, </a:t>
            </a:r>
            <a:r>
              <a:rPr lang="en-US" sz="1600" b="1" dirty="0" err="1"/>
              <a:t>etc</a:t>
            </a:r>
            <a:r>
              <a:rPr lang="en-US" sz="1600" b="1" dirty="0"/>
              <a:t>).</a:t>
            </a:r>
          </a:p>
          <a:p>
            <a:pPr lvl="1" fontAlgn="base">
              <a:buFont typeface="Wingdings" panose="05000000000000000000" pitchFamily="2" charset="2"/>
              <a:buChar char="Ø"/>
            </a:pPr>
            <a:r>
              <a:rPr lang="en-US" sz="1600" b="1" dirty="0"/>
              <a:t>Parity bit 4 covers all the bits positions whose binary representation includes a 1 in the third position from the least significant bit (4–7, 12–15, 20–23, </a:t>
            </a:r>
            <a:r>
              <a:rPr lang="en-US" sz="1600" b="1" dirty="0" err="1"/>
              <a:t>etc</a:t>
            </a:r>
            <a:r>
              <a:rPr lang="en-US" sz="1600" b="1" dirty="0"/>
              <a:t>).</a:t>
            </a:r>
          </a:p>
          <a:p>
            <a:pPr lvl="1" fontAlgn="base">
              <a:buFont typeface="Wingdings" panose="05000000000000000000" pitchFamily="2" charset="2"/>
              <a:buChar char="Ø"/>
            </a:pPr>
            <a:r>
              <a:rPr lang="en-US" sz="1600" b="1" dirty="0"/>
              <a:t>Parity bit 8 covers all the bits positions whose binary representation includes a 1 in the fourth position from the least significant bit bits (8–15, 24–31, 40–47, </a:t>
            </a:r>
            <a:r>
              <a:rPr lang="en-US" sz="1600" b="1" dirty="0" err="1"/>
              <a:t>etc</a:t>
            </a:r>
            <a:r>
              <a:rPr lang="en-US" sz="1600" b="1" dirty="0"/>
              <a:t>).</a:t>
            </a:r>
          </a:p>
          <a:p>
            <a:pPr lvl="1" fontAlgn="base">
              <a:buFont typeface="Wingdings" panose="05000000000000000000" pitchFamily="2" charset="2"/>
              <a:buChar char="Ø"/>
            </a:pPr>
            <a:r>
              <a:rPr lang="en-US" sz="1600" b="1" dirty="0"/>
              <a:t>In general, each parity bit covers all bits where the bitwise AND of the parity position and the bit position is non-zero.</a:t>
            </a:r>
          </a:p>
          <a:p>
            <a:pPr>
              <a:buFont typeface="Wingdings" panose="05000000000000000000" pitchFamily="2" charset="2"/>
              <a:buChar char="Ø"/>
            </a:pPr>
            <a:endParaRPr lang="en-IN" sz="2000" dirty="0"/>
          </a:p>
        </p:txBody>
      </p:sp>
    </p:spTree>
    <p:extLst>
      <p:ext uri="{BB962C8B-B14F-4D97-AF65-F5344CB8AC3E}">
        <p14:creationId xmlns:p14="http://schemas.microsoft.com/office/powerpoint/2010/main" val="26187773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rmAutofit fontScale="90000"/>
          </a:bodyPr>
          <a:lstStyle/>
          <a:p>
            <a:r>
              <a:rPr lang="en-IN" sz="2400" b="1" dirty="0" err="1" smtClean="0"/>
              <a:t>Cntd</a:t>
            </a:r>
            <a:r>
              <a:rPr lang="en-IN" sz="2400" b="1" dirty="0" smtClean="0"/>
              <a:t>..Algorithm </a:t>
            </a:r>
            <a:r>
              <a:rPr lang="en-IN" sz="2400" b="1" dirty="0"/>
              <a:t>of Hamming Code</a:t>
            </a:r>
            <a:br>
              <a:rPr lang="en-IN" sz="2400" b="1" dirty="0"/>
            </a:br>
            <a:endParaRPr lang="en-IN" sz="2400" dirty="0"/>
          </a:p>
        </p:txBody>
      </p:sp>
      <p:sp>
        <p:nvSpPr>
          <p:cNvPr id="3" name="Content Placeholder 2"/>
          <p:cNvSpPr>
            <a:spLocks noGrp="1"/>
          </p:cNvSpPr>
          <p:nvPr>
            <p:ph idx="1"/>
          </p:nvPr>
        </p:nvSpPr>
        <p:spPr>
          <a:xfrm>
            <a:off x="228600" y="533400"/>
            <a:ext cx="8686800" cy="5943600"/>
          </a:xfrm>
        </p:spPr>
        <p:txBody>
          <a:bodyPr>
            <a:normAutofit/>
          </a:bodyPr>
          <a:lstStyle/>
          <a:p>
            <a:r>
              <a:rPr lang="en-US" sz="2000" dirty="0"/>
              <a:t>Step 5: Since we check for even parity set a parity bit to 1 if the total number of ones in the positions it checks is odd. Set a parity bit to 0 if the total number of ones in the positions it checks is even</a:t>
            </a:r>
            <a:r>
              <a:rPr lang="en-US" sz="2000" dirty="0" smtClean="0"/>
              <a:t>.</a:t>
            </a:r>
          </a:p>
          <a:p>
            <a:endParaRPr lang="en-IN" sz="2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4963" y="1666983"/>
            <a:ext cx="4567237" cy="502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01464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2400" b="1" dirty="0" smtClean="0"/>
              <a:t>Hamming code…Determining </a:t>
            </a:r>
            <a:r>
              <a:rPr lang="en-US" sz="2400" b="1" dirty="0"/>
              <a:t>The Position of Redundant Bits</a:t>
            </a:r>
            <a:br>
              <a:rPr lang="en-US" sz="2400" b="1" dirty="0"/>
            </a:br>
            <a:endParaRPr lang="en-IN" sz="2400" dirty="0"/>
          </a:p>
        </p:txBody>
      </p:sp>
      <p:sp>
        <p:nvSpPr>
          <p:cNvPr id="7" name="Content Placeholder 6"/>
          <p:cNvSpPr>
            <a:spLocks noGrp="1"/>
          </p:cNvSpPr>
          <p:nvPr>
            <p:ph idx="1"/>
          </p:nvPr>
        </p:nvSpPr>
        <p:spPr>
          <a:xfrm>
            <a:off x="457200" y="914400"/>
            <a:ext cx="8229600" cy="5867400"/>
          </a:xfrm>
        </p:spPr>
        <p:txBody>
          <a:bodyPr>
            <a:normAutofit/>
          </a:bodyPr>
          <a:lstStyle/>
          <a:p>
            <a:pPr fontAlgn="base"/>
            <a:r>
              <a:rPr lang="en-US" sz="2400" dirty="0" smtClean="0"/>
              <a:t>A </a:t>
            </a:r>
            <a:r>
              <a:rPr lang="en-US" sz="2400" dirty="0"/>
              <a:t>redundancy bits are placed at positions that correspond to the power of 2. As in the above example:</a:t>
            </a:r>
          </a:p>
          <a:p>
            <a:pPr fontAlgn="base"/>
            <a:r>
              <a:rPr lang="en-US" sz="2400" dirty="0"/>
              <a:t>The number of data bits = </a:t>
            </a:r>
            <a:r>
              <a:rPr lang="en-US" sz="2400" dirty="0" smtClean="0"/>
              <a:t>7 ,The </a:t>
            </a:r>
            <a:r>
              <a:rPr lang="en-US" sz="2400" dirty="0"/>
              <a:t>number of redundant bits = </a:t>
            </a:r>
            <a:r>
              <a:rPr lang="en-US" sz="2400" dirty="0" smtClean="0"/>
              <a:t>4 ,The </a:t>
            </a:r>
            <a:r>
              <a:rPr lang="en-US" sz="2400" dirty="0"/>
              <a:t>total number of bits = 7+4=11</a:t>
            </a:r>
          </a:p>
          <a:p>
            <a:pPr fontAlgn="base"/>
            <a:r>
              <a:rPr lang="en-US" sz="2400" dirty="0"/>
              <a:t>The redundant bits are placed at positions corresponding to power of 2 that is 1, 2, 4, and 8</a:t>
            </a:r>
          </a:p>
          <a:p>
            <a:endParaRPr lang="en-US" sz="2400" dirty="0" smtClean="0"/>
          </a:p>
          <a:p>
            <a:endParaRPr lang="en-US" sz="2400" dirty="0"/>
          </a:p>
          <a:p>
            <a:endParaRPr lang="en-US" sz="2400" dirty="0" smtClean="0"/>
          </a:p>
          <a:p>
            <a:endParaRPr lang="en-US" sz="2400" dirty="0" smtClean="0"/>
          </a:p>
          <a:p>
            <a:r>
              <a:rPr lang="en-US" sz="2400" dirty="0" smtClean="0"/>
              <a:t>If message </a:t>
            </a:r>
            <a:r>
              <a:rPr lang="en-US" sz="2400" dirty="0" err="1" smtClean="0"/>
              <a:t>bts</a:t>
            </a:r>
            <a:r>
              <a:rPr lang="en-US" sz="2400" dirty="0" smtClean="0"/>
              <a:t> are : 1011001</a:t>
            </a:r>
            <a:r>
              <a:rPr lang="en-US" sz="2400" dirty="0"/>
              <a:t/>
            </a:r>
            <a:br>
              <a:rPr lang="en-US" sz="2400" dirty="0"/>
            </a:br>
            <a:endParaRPr lang="en-IN" sz="2400"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352801"/>
            <a:ext cx="6786328" cy="1600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4"/>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2352"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0" i="0" u="none" strike="noStrike" cap="none" normalizeH="0" baseline="0" smtClean="0">
                <a:ln>
                  <a:noFill/>
                </a:ln>
                <a:solidFill>
                  <a:srgbClr val="273239"/>
                </a:solidFill>
                <a:effectLst/>
                <a:latin typeface="Nunito"/>
                <a:cs typeface="Arial" pitchFamily="34" charset="0"/>
              </a:rPr>
              <a:t>Suppose the data to be transmitted is 1011001 from sender to receiver, the bits will be placed as follows: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smtClean="0">
                <a:ln>
                  <a:noFill/>
                </a:ln>
                <a:solidFill>
                  <a:srgbClr val="273239"/>
                </a:solidFill>
                <a:effectLst/>
                <a:latin typeface="Nunito"/>
                <a:cs typeface="Arial" pitchFamily="34" charset="0"/>
              </a:rPr>
              <a:t>  </a:t>
            </a:r>
            <a:r>
              <a:rPr kumimoji="0" lang="en-US" altLang="en-US" sz="6400" b="0" i="0" u="none" strike="noStrike" cap="none" normalizeH="0" baseline="0" smtClean="0">
                <a:ln>
                  <a:noFill/>
                </a:ln>
                <a:solidFill>
                  <a:srgbClr val="273239"/>
                </a:solidFill>
                <a:effectLst/>
                <a:latin typeface="Nunito"/>
                <a:cs typeface="Arial" pitchFamily="34" charset="0"/>
              </a:rPr>
              <a:t> </a:t>
            </a:r>
            <a:r>
              <a:rPr kumimoji="0" lang="en-US" altLang="en-US" sz="1300" b="0" i="0" u="none" strike="noStrike" cap="none" normalizeH="0" baseline="0" smtClean="0">
                <a:ln>
                  <a:noFill/>
                </a:ln>
                <a:solidFill>
                  <a:srgbClr val="273239"/>
                </a:solidFill>
                <a:effectLst/>
                <a:latin typeface="Nunito"/>
                <a:cs typeface="Arial" pitchFamily="34" charset="0"/>
              </a:rPr>
              <a:t>                                                                                                         </a:t>
            </a:r>
          </a:p>
        </p:txBody>
      </p:sp>
      <p:pic>
        <p:nvPicPr>
          <p:cNvPr id="3077" name="Picture 5" descr="Dataword bi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5715000"/>
            <a:ext cx="4924425" cy="102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8247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2400" b="1" dirty="0"/>
              <a:t>Determining The Parity Bits According to Even Parity</a:t>
            </a:r>
            <a:br>
              <a:rPr lang="en-US" sz="2400" b="1" dirty="0"/>
            </a:br>
            <a:endParaRPr lang="en-IN" sz="2400" dirty="0"/>
          </a:p>
        </p:txBody>
      </p:sp>
      <p:sp>
        <p:nvSpPr>
          <p:cNvPr id="3" name="Content Placeholder 2"/>
          <p:cNvSpPr>
            <a:spLocks noGrp="1"/>
          </p:cNvSpPr>
          <p:nvPr>
            <p:ph idx="1"/>
          </p:nvPr>
        </p:nvSpPr>
        <p:spPr>
          <a:xfrm>
            <a:off x="457200" y="762000"/>
            <a:ext cx="8458200" cy="6019800"/>
          </a:xfrm>
        </p:spPr>
        <p:txBody>
          <a:bodyPr>
            <a:normAutofit/>
          </a:bodyPr>
          <a:lstStyle/>
          <a:p>
            <a:pPr fontAlgn="base"/>
            <a:r>
              <a:rPr lang="en-US" sz="2400" dirty="0" smtClean="0"/>
              <a:t>R1</a:t>
            </a:r>
            <a:r>
              <a:rPr lang="en-US" sz="2400" dirty="0"/>
              <a:t>: bits 1, 3, 5, 7, 9, 11 </a:t>
            </a:r>
            <a:r>
              <a:rPr lang="en-US" sz="2400" dirty="0" smtClean="0"/>
              <a:t> , R2: bits 2,3,6,7,10,11, </a:t>
            </a:r>
          </a:p>
          <a:p>
            <a:pPr marL="0" indent="0" fontAlgn="base">
              <a:buNone/>
            </a:pPr>
            <a:r>
              <a:rPr lang="en-US" sz="2400" dirty="0" smtClean="0"/>
              <a:t>R4: bits 4,5,6,7 , R8 : bits8,9,10,11</a:t>
            </a:r>
            <a:endParaRPr lang="en-IN" sz="2400" dirty="0"/>
          </a:p>
        </p:txBody>
      </p:sp>
      <p:pic>
        <p:nvPicPr>
          <p:cNvPr id="4098"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14500"/>
            <a:ext cx="462915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1215" y="1889144"/>
            <a:ext cx="4359971" cy="170811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Lightbo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853" y="4143578"/>
            <a:ext cx="3822647" cy="161884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Lightbox"/>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10150" y="4227680"/>
            <a:ext cx="4042808" cy="1646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6531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sz="2400" b="1" dirty="0" smtClean="0"/>
              <a:t>Hamming code: Error </a:t>
            </a:r>
            <a:r>
              <a:rPr lang="en-IN" sz="2400" b="1" dirty="0"/>
              <a:t>Detection and Correction</a:t>
            </a:r>
            <a:br>
              <a:rPr lang="en-IN" sz="2400" b="1" dirty="0"/>
            </a:br>
            <a:endParaRPr lang="en-IN" sz="2400" dirty="0"/>
          </a:p>
        </p:txBody>
      </p:sp>
      <p:sp>
        <p:nvSpPr>
          <p:cNvPr id="3" name="Content Placeholder 2"/>
          <p:cNvSpPr>
            <a:spLocks noGrp="1"/>
          </p:cNvSpPr>
          <p:nvPr>
            <p:ph idx="1"/>
          </p:nvPr>
        </p:nvSpPr>
        <p:spPr>
          <a:xfrm>
            <a:off x="457200" y="685800"/>
            <a:ext cx="8229600" cy="5440363"/>
          </a:xfrm>
        </p:spPr>
        <p:txBody>
          <a:bodyPr>
            <a:normAutofit/>
          </a:bodyPr>
          <a:lstStyle/>
          <a:p>
            <a:r>
              <a:rPr lang="en-US" sz="2000" dirty="0"/>
              <a:t>Suppose in the above example the 6th bit is changed from 0 to 1 during data transmission, </a:t>
            </a:r>
            <a:r>
              <a:rPr lang="en-US" sz="2000" dirty="0" smtClean="0"/>
              <a:t>then </a:t>
            </a:r>
            <a:r>
              <a:rPr lang="en-US" sz="2000" dirty="0"/>
              <a:t>it gives new parity values in the binary number: </a:t>
            </a:r>
            <a:endParaRPr lang="en-IN"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421" y="1950550"/>
            <a:ext cx="5520180" cy="427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19184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sz="2400" b="1" dirty="0" smtClean="0"/>
              <a:t>Hamming code: Error </a:t>
            </a:r>
            <a:r>
              <a:rPr lang="en-IN" sz="2400" b="1" dirty="0"/>
              <a:t>Detection and Correction</a:t>
            </a:r>
            <a:br>
              <a:rPr lang="en-IN" sz="2400" b="1" dirty="0"/>
            </a:br>
            <a:endParaRPr lang="en-IN" sz="2400" dirty="0"/>
          </a:p>
        </p:txBody>
      </p:sp>
      <p:sp>
        <p:nvSpPr>
          <p:cNvPr id="3" name="Content Placeholder 2"/>
          <p:cNvSpPr>
            <a:spLocks noGrp="1"/>
          </p:cNvSpPr>
          <p:nvPr>
            <p:ph idx="1"/>
          </p:nvPr>
        </p:nvSpPr>
        <p:spPr>
          <a:xfrm>
            <a:off x="457200" y="685800"/>
            <a:ext cx="8229600" cy="5440363"/>
          </a:xfrm>
        </p:spPr>
        <p:txBody>
          <a:bodyPr>
            <a:normAutofit/>
          </a:bodyPr>
          <a:lstStyle/>
          <a:p>
            <a:pPr fontAlgn="base"/>
            <a:r>
              <a:rPr lang="en-US" sz="2000" dirty="0"/>
              <a:t>For all the parity bits we will check the number of 1's in their respective bit positions.</a:t>
            </a:r>
          </a:p>
          <a:p>
            <a:pPr fontAlgn="base"/>
            <a:r>
              <a:rPr lang="en-US" sz="2000" dirty="0"/>
              <a:t>For R1: bits 1, 3, 5, 7, 9, 11. We can see that the number of 1's in these bit positions are 4 and that's even so we get a 0 for this.</a:t>
            </a:r>
          </a:p>
          <a:p>
            <a:pPr fontAlgn="base"/>
            <a:r>
              <a:rPr lang="en-US" sz="2000" dirty="0"/>
              <a:t>For R2: bits 2,3,6,7,10,11 . We can see that the number of 1's in these bit positions are 5 and that's odd so we get a 1 for this.</a:t>
            </a:r>
          </a:p>
          <a:p>
            <a:pPr fontAlgn="base"/>
            <a:r>
              <a:rPr lang="en-US" sz="2000" dirty="0"/>
              <a:t>For R4: bits 4, 5, 6, 7 . We can see that the number of 1's in these bit positions are 3 and that's odd so we get a 1 for this.</a:t>
            </a:r>
          </a:p>
          <a:p>
            <a:pPr fontAlgn="base"/>
            <a:r>
              <a:rPr lang="en-US" sz="2000" dirty="0"/>
              <a:t>For R8: bit 8,9,10,11 . We can see that the number of 1's in these bit positions are 2 and that's even so we get a 0 for this.</a:t>
            </a:r>
          </a:p>
          <a:p>
            <a:pPr fontAlgn="base"/>
            <a:r>
              <a:rPr lang="en-US" sz="2000" dirty="0"/>
              <a:t>The bits give the binary number 0110 whose decimal representation is 6. Thus, bit 6 contains an error. To correct the error the 6th bit is changed from 1 to 0.</a:t>
            </a:r>
          </a:p>
          <a:p>
            <a:pPr marL="0" indent="0">
              <a:buNone/>
            </a:pPr>
            <a:r>
              <a:rPr lang="en-US" sz="2000" dirty="0"/>
              <a:t> </a:t>
            </a:r>
            <a:endParaRPr lang="en-IN" sz="2000" dirty="0"/>
          </a:p>
        </p:txBody>
      </p:sp>
    </p:spTree>
    <p:extLst>
      <p:ext uri="{BB962C8B-B14F-4D97-AF65-F5344CB8AC3E}">
        <p14:creationId xmlns:p14="http://schemas.microsoft.com/office/powerpoint/2010/main" val="38292238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37449" y="505460"/>
            <a:ext cx="3887629" cy="998350"/>
          </a:xfrm>
          <a:prstGeom prst="rect">
            <a:avLst/>
          </a:prstGeom>
        </p:spPr>
        <p:txBody>
          <a:bodyPr vert="horz" wrap="square" lIns="0" tIns="13335" rIns="0" bIns="0" rtlCol="0">
            <a:spAutoFit/>
          </a:bodyPr>
          <a:lstStyle/>
          <a:p>
            <a:pPr marL="12700">
              <a:lnSpc>
                <a:spcPct val="100000"/>
              </a:lnSpc>
              <a:spcBef>
                <a:spcPts val="105"/>
              </a:spcBef>
            </a:pPr>
            <a:r>
              <a:rPr sz="3200" b="1" dirty="0">
                <a:solidFill>
                  <a:srgbClr val="C00000"/>
                </a:solidFill>
                <a:latin typeface="Calibri"/>
                <a:cs typeface="Calibri"/>
              </a:rPr>
              <a:t>Flow</a:t>
            </a:r>
            <a:r>
              <a:rPr sz="3200" b="1" spc="-10" dirty="0">
                <a:solidFill>
                  <a:srgbClr val="C00000"/>
                </a:solidFill>
                <a:latin typeface="Calibri"/>
                <a:cs typeface="Calibri"/>
              </a:rPr>
              <a:t> Control </a:t>
            </a:r>
            <a:r>
              <a:rPr sz="3200" b="1" spc="-5" dirty="0">
                <a:solidFill>
                  <a:srgbClr val="C00000"/>
                </a:solidFill>
                <a:latin typeface="Calibri"/>
                <a:cs typeface="Calibri"/>
              </a:rPr>
              <a:t>and</a:t>
            </a:r>
            <a:r>
              <a:rPr sz="3200" b="1" spc="-30" dirty="0">
                <a:solidFill>
                  <a:srgbClr val="C00000"/>
                </a:solidFill>
                <a:latin typeface="Calibri"/>
                <a:cs typeface="Calibri"/>
              </a:rPr>
              <a:t> </a:t>
            </a:r>
            <a:r>
              <a:rPr sz="3200" b="1" spc="-10" dirty="0">
                <a:solidFill>
                  <a:srgbClr val="C00000"/>
                </a:solidFill>
                <a:latin typeface="Calibri"/>
                <a:cs typeface="Calibri"/>
              </a:rPr>
              <a:t>Error Control</a:t>
            </a:r>
            <a:endParaRPr sz="3200">
              <a:latin typeface="Calibri"/>
              <a:cs typeface="Calibri"/>
            </a:endParaRPr>
          </a:p>
        </p:txBody>
      </p:sp>
      <p:pic>
        <p:nvPicPr>
          <p:cNvPr id="3" name="object 3"/>
          <p:cNvPicPr/>
          <p:nvPr/>
        </p:nvPicPr>
        <p:blipFill>
          <a:blip r:embed="rId2" cstate="print"/>
          <a:stretch>
            <a:fillRect/>
          </a:stretch>
        </p:blipFill>
        <p:spPr>
          <a:xfrm>
            <a:off x="220860" y="218010"/>
            <a:ext cx="1737985" cy="682398"/>
          </a:xfrm>
          <a:prstGeom prst="rect">
            <a:avLst/>
          </a:prstGeom>
        </p:spPr>
      </p:pic>
      <p:grpSp>
        <p:nvGrpSpPr>
          <p:cNvPr id="4" name="object 4"/>
          <p:cNvGrpSpPr/>
          <p:nvPr/>
        </p:nvGrpSpPr>
        <p:grpSpPr>
          <a:xfrm>
            <a:off x="690677" y="0"/>
            <a:ext cx="8453438" cy="6858000"/>
            <a:chOff x="920903" y="0"/>
            <a:chExt cx="11271250" cy="6858000"/>
          </a:xfrm>
        </p:grpSpPr>
        <p:pic>
          <p:nvPicPr>
            <p:cNvPr id="5" name="object 5"/>
            <p:cNvPicPr/>
            <p:nvPr/>
          </p:nvPicPr>
          <p:blipFill>
            <a:blip r:embed="rId3" cstate="print"/>
            <a:stretch>
              <a:fillRect/>
            </a:stretch>
          </p:blipFill>
          <p:spPr>
            <a:xfrm>
              <a:off x="11754612" y="4571"/>
              <a:ext cx="437388" cy="6853426"/>
            </a:xfrm>
            <a:prstGeom prst="rect">
              <a:avLst/>
            </a:prstGeom>
          </p:spPr>
        </p:pic>
        <p:pic>
          <p:nvPicPr>
            <p:cNvPr id="6" name="object 6"/>
            <p:cNvPicPr/>
            <p:nvPr/>
          </p:nvPicPr>
          <p:blipFill>
            <a:blip r:embed="rId4" cstate="print"/>
            <a:stretch>
              <a:fillRect/>
            </a:stretch>
          </p:blipFill>
          <p:spPr>
            <a:xfrm>
              <a:off x="10786872" y="5859779"/>
              <a:ext cx="967740" cy="722376"/>
            </a:xfrm>
            <a:prstGeom prst="rect">
              <a:avLst/>
            </a:prstGeom>
          </p:spPr>
        </p:pic>
        <p:pic>
          <p:nvPicPr>
            <p:cNvPr id="7" name="object 7"/>
            <p:cNvPicPr/>
            <p:nvPr/>
          </p:nvPicPr>
          <p:blipFill>
            <a:blip r:embed="rId5" cstate="print"/>
            <a:stretch>
              <a:fillRect/>
            </a:stretch>
          </p:blipFill>
          <p:spPr>
            <a:xfrm>
              <a:off x="9136379" y="0"/>
              <a:ext cx="2898648" cy="539496"/>
            </a:xfrm>
            <a:prstGeom prst="rect">
              <a:avLst/>
            </a:prstGeom>
          </p:spPr>
        </p:pic>
        <p:pic>
          <p:nvPicPr>
            <p:cNvPr id="8" name="object 8"/>
            <p:cNvPicPr/>
            <p:nvPr/>
          </p:nvPicPr>
          <p:blipFill>
            <a:blip r:embed="rId6" cstate="print"/>
            <a:stretch>
              <a:fillRect/>
            </a:stretch>
          </p:blipFill>
          <p:spPr>
            <a:xfrm>
              <a:off x="920903" y="3388917"/>
              <a:ext cx="9745168" cy="1761501"/>
            </a:xfrm>
            <a:prstGeom prst="rect">
              <a:avLst/>
            </a:prstGeom>
          </p:spPr>
        </p:pic>
      </p:grpSp>
      <p:sp>
        <p:nvSpPr>
          <p:cNvPr id="9" name="object 9"/>
          <p:cNvSpPr txBox="1"/>
          <p:nvPr/>
        </p:nvSpPr>
        <p:spPr>
          <a:xfrm>
            <a:off x="571807" y="1303985"/>
            <a:ext cx="7610951" cy="1735732"/>
          </a:xfrm>
          <a:prstGeom prst="rect">
            <a:avLst/>
          </a:prstGeom>
        </p:spPr>
        <p:txBody>
          <a:bodyPr vert="horz" wrap="square" lIns="0" tIns="12065" rIns="0" bIns="0" rtlCol="0">
            <a:spAutoFit/>
          </a:bodyPr>
          <a:lstStyle/>
          <a:p>
            <a:pPr marL="12700" marR="5080" indent="51435">
              <a:lnSpc>
                <a:spcPct val="100000"/>
              </a:lnSpc>
              <a:spcBef>
                <a:spcPts val="95"/>
              </a:spcBef>
            </a:pPr>
            <a:r>
              <a:rPr sz="2800" spc="-10" dirty="0">
                <a:latin typeface="Calibri"/>
                <a:cs typeface="Calibri"/>
              </a:rPr>
              <a:t>One</a:t>
            </a:r>
            <a:r>
              <a:rPr sz="2800" spc="1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responsibilities</a:t>
            </a:r>
            <a:r>
              <a:rPr sz="2800" spc="5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10" dirty="0">
                <a:latin typeface="Calibri"/>
                <a:cs typeface="Calibri"/>
              </a:rPr>
              <a:t> </a:t>
            </a:r>
            <a:r>
              <a:rPr sz="2800" spc="-20" dirty="0">
                <a:latin typeface="Calibri"/>
                <a:cs typeface="Calibri"/>
              </a:rPr>
              <a:t>data</a:t>
            </a:r>
            <a:r>
              <a:rPr sz="2800" dirty="0">
                <a:latin typeface="Calibri"/>
                <a:cs typeface="Calibri"/>
              </a:rPr>
              <a:t> </a:t>
            </a:r>
            <a:r>
              <a:rPr sz="2800" spc="-5" dirty="0">
                <a:latin typeface="Calibri"/>
                <a:cs typeface="Calibri"/>
              </a:rPr>
              <a:t>link</a:t>
            </a:r>
            <a:r>
              <a:rPr sz="2800" spc="10" dirty="0">
                <a:latin typeface="Calibri"/>
                <a:cs typeface="Calibri"/>
              </a:rPr>
              <a:t> </a:t>
            </a:r>
            <a:r>
              <a:rPr sz="2800" spc="-20" dirty="0">
                <a:latin typeface="Calibri"/>
                <a:cs typeface="Calibri"/>
              </a:rPr>
              <a:t>control</a:t>
            </a:r>
            <a:r>
              <a:rPr sz="2800" spc="20" dirty="0">
                <a:latin typeface="Calibri"/>
                <a:cs typeface="Calibri"/>
              </a:rPr>
              <a:t> </a:t>
            </a:r>
            <a:r>
              <a:rPr sz="2800" spc="-20" dirty="0">
                <a:latin typeface="Calibri"/>
                <a:cs typeface="Calibri"/>
              </a:rPr>
              <a:t>sublayer</a:t>
            </a:r>
            <a:r>
              <a:rPr sz="2800" spc="25"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flow</a:t>
            </a:r>
            <a:r>
              <a:rPr sz="2800" spc="5" dirty="0">
                <a:latin typeface="Calibri"/>
                <a:cs typeface="Calibri"/>
              </a:rPr>
              <a:t> </a:t>
            </a:r>
            <a:r>
              <a:rPr sz="2800" spc="-5" dirty="0">
                <a:latin typeface="Calibri"/>
                <a:cs typeface="Calibri"/>
              </a:rPr>
              <a:t>and </a:t>
            </a:r>
            <a:r>
              <a:rPr sz="2800" spc="-615" dirty="0">
                <a:latin typeface="Calibri"/>
                <a:cs typeface="Calibri"/>
              </a:rPr>
              <a:t> </a:t>
            </a:r>
            <a:r>
              <a:rPr sz="2800" spc="-15" dirty="0">
                <a:latin typeface="Calibri"/>
                <a:cs typeface="Calibri"/>
              </a:rPr>
              <a:t>error</a:t>
            </a:r>
            <a:r>
              <a:rPr sz="2800" spc="5" dirty="0">
                <a:latin typeface="Calibri"/>
                <a:cs typeface="Calibri"/>
              </a:rPr>
              <a:t> </a:t>
            </a:r>
            <a:r>
              <a:rPr sz="2800" spc="-20" dirty="0">
                <a:latin typeface="Calibri"/>
                <a:cs typeface="Calibri"/>
              </a:rPr>
              <a:t>control</a:t>
            </a:r>
            <a:r>
              <a:rPr sz="2800" spc="5" dirty="0">
                <a:latin typeface="Calibri"/>
                <a:cs typeface="Calibri"/>
              </a:rPr>
              <a:t> </a:t>
            </a:r>
            <a:r>
              <a:rPr sz="2800" spc="-15" dirty="0">
                <a:latin typeface="Calibri"/>
                <a:cs typeface="Calibri"/>
              </a:rPr>
              <a:t>at</a:t>
            </a:r>
            <a:r>
              <a:rPr sz="2800" spc="-5" dirty="0">
                <a:latin typeface="Calibri"/>
                <a:cs typeface="Calibri"/>
              </a:rPr>
              <a:t> the</a:t>
            </a:r>
            <a:r>
              <a:rPr sz="2800" spc="10" dirty="0">
                <a:latin typeface="Calibri"/>
                <a:cs typeface="Calibri"/>
              </a:rPr>
              <a:t> </a:t>
            </a:r>
            <a:r>
              <a:rPr sz="2800" spc="-10" dirty="0">
                <a:latin typeface="Calibri"/>
                <a:cs typeface="Calibri"/>
              </a:rPr>
              <a:t>data-link</a:t>
            </a:r>
            <a:r>
              <a:rPr sz="2800" spc="15" dirty="0">
                <a:latin typeface="Calibri"/>
                <a:cs typeface="Calibri"/>
              </a:rPr>
              <a:t> </a:t>
            </a:r>
            <a:r>
              <a:rPr sz="2800" spc="-65" dirty="0">
                <a:latin typeface="Calibri"/>
                <a:cs typeface="Calibri"/>
              </a:rPr>
              <a:t>layer.</a:t>
            </a:r>
            <a:r>
              <a:rPr sz="2800" spc="-5" dirty="0">
                <a:latin typeface="Calibri"/>
                <a:cs typeface="Calibri"/>
              </a:rPr>
              <a:t> </a:t>
            </a:r>
            <a:r>
              <a:rPr sz="2800" spc="-25" dirty="0">
                <a:latin typeface="Calibri"/>
                <a:cs typeface="Calibri"/>
              </a:rPr>
              <a:t>Collectively,</a:t>
            </a:r>
            <a:r>
              <a:rPr sz="2800" spc="10" dirty="0">
                <a:latin typeface="Calibri"/>
                <a:cs typeface="Calibri"/>
              </a:rPr>
              <a:t> </a:t>
            </a:r>
            <a:r>
              <a:rPr sz="2800" spc="-5" dirty="0">
                <a:latin typeface="Calibri"/>
                <a:cs typeface="Calibri"/>
              </a:rPr>
              <a:t>these</a:t>
            </a:r>
            <a:r>
              <a:rPr sz="2800" dirty="0">
                <a:latin typeface="Calibri"/>
                <a:cs typeface="Calibri"/>
              </a:rPr>
              <a:t> </a:t>
            </a:r>
            <a:r>
              <a:rPr sz="2800" spc="-5" dirty="0">
                <a:latin typeface="Calibri"/>
                <a:cs typeface="Calibri"/>
              </a:rPr>
              <a:t>functions</a:t>
            </a:r>
            <a:r>
              <a:rPr sz="2800" spc="45" dirty="0">
                <a:latin typeface="Calibri"/>
                <a:cs typeface="Calibri"/>
              </a:rPr>
              <a:t> </a:t>
            </a:r>
            <a:r>
              <a:rPr sz="2800" spc="-20" dirty="0">
                <a:latin typeface="Calibri"/>
                <a:cs typeface="Calibri"/>
              </a:rPr>
              <a:t>are </a:t>
            </a:r>
            <a:r>
              <a:rPr sz="2800" spc="-15" dirty="0">
                <a:latin typeface="Calibri"/>
                <a:cs typeface="Calibri"/>
              </a:rPr>
              <a:t> </a:t>
            </a:r>
            <a:r>
              <a:rPr sz="2800" spc="-10" dirty="0">
                <a:latin typeface="Calibri"/>
                <a:cs typeface="Calibri"/>
              </a:rPr>
              <a:t>known</a:t>
            </a:r>
            <a:r>
              <a:rPr sz="2800" spc="15" dirty="0">
                <a:latin typeface="Calibri"/>
                <a:cs typeface="Calibri"/>
              </a:rPr>
              <a:t> </a:t>
            </a:r>
            <a:r>
              <a:rPr sz="2800" spc="-5" dirty="0">
                <a:latin typeface="Calibri"/>
                <a:cs typeface="Calibri"/>
              </a:rPr>
              <a:t>as</a:t>
            </a:r>
            <a:r>
              <a:rPr sz="2800" dirty="0">
                <a:latin typeface="Calibri"/>
                <a:cs typeface="Calibri"/>
              </a:rPr>
              <a:t> </a:t>
            </a:r>
            <a:r>
              <a:rPr sz="2800" spc="-20" dirty="0">
                <a:solidFill>
                  <a:srgbClr val="C00000"/>
                </a:solidFill>
                <a:latin typeface="Calibri"/>
                <a:cs typeface="Calibri"/>
              </a:rPr>
              <a:t>data</a:t>
            </a:r>
            <a:r>
              <a:rPr sz="2800" dirty="0">
                <a:solidFill>
                  <a:srgbClr val="C00000"/>
                </a:solidFill>
                <a:latin typeface="Calibri"/>
                <a:cs typeface="Calibri"/>
              </a:rPr>
              <a:t> </a:t>
            </a:r>
            <a:r>
              <a:rPr sz="2800" spc="-10" dirty="0">
                <a:solidFill>
                  <a:srgbClr val="C00000"/>
                </a:solidFill>
                <a:latin typeface="Calibri"/>
                <a:cs typeface="Calibri"/>
              </a:rPr>
              <a:t>link</a:t>
            </a:r>
            <a:r>
              <a:rPr sz="2800" spc="15" dirty="0">
                <a:solidFill>
                  <a:srgbClr val="C00000"/>
                </a:solidFill>
                <a:latin typeface="Calibri"/>
                <a:cs typeface="Calibri"/>
              </a:rPr>
              <a:t> </a:t>
            </a:r>
            <a:r>
              <a:rPr sz="2800" spc="-15" dirty="0">
                <a:solidFill>
                  <a:srgbClr val="C00000"/>
                </a:solidFill>
                <a:latin typeface="Calibri"/>
                <a:cs typeface="Calibri"/>
              </a:rPr>
              <a:t>control</a:t>
            </a:r>
            <a:r>
              <a:rPr sz="2800" spc="-15" dirty="0">
                <a:latin typeface="Calibri"/>
                <a:cs typeface="Calibri"/>
              </a:rPr>
              <a:t>.</a:t>
            </a:r>
            <a:r>
              <a:rPr sz="2800" spc="15" dirty="0">
                <a:latin typeface="Calibri"/>
                <a:cs typeface="Calibri"/>
              </a:rPr>
              <a:t> </a:t>
            </a:r>
            <a:r>
              <a:rPr sz="2800" spc="-10" dirty="0">
                <a:latin typeface="Calibri"/>
                <a:cs typeface="Calibri"/>
              </a:rPr>
              <a:t>waiting</a:t>
            </a:r>
            <a:r>
              <a:rPr sz="2800" spc="-5" dirty="0">
                <a:latin typeface="Calibri"/>
                <a:cs typeface="Calibri"/>
              </a:rPr>
              <a:t> </a:t>
            </a:r>
            <a:r>
              <a:rPr sz="2800" spc="-25" dirty="0">
                <a:latin typeface="Calibri"/>
                <a:cs typeface="Calibri"/>
              </a:rPr>
              <a:t>for</a:t>
            </a:r>
            <a:r>
              <a:rPr sz="2800" spc="-5" dirty="0">
                <a:latin typeface="Calibri"/>
                <a:cs typeface="Calibri"/>
              </a:rPr>
              <a:t> acknowledgment.</a:t>
            </a:r>
            <a:endParaRPr sz="2800">
              <a:latin typeface="Calibri"/>
              <a:cs typeface="Calibri"/>
            </a:endParaRPr>
          </a:p>
        </p:txBody>
      </p:sp>
    </p:spTree>
    <p:extLst>
      <p:ext uri="{BB962C8B-B14F-4D97-AF65-F5344CB8AC3E}">
        <p14:creationId xmlns:p14="http://schemas.microsoft.com/office/powerpoint/2010/main" val="246159763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7449" y="259239"/>
            <a:ext cx="3887629" cy="998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Flow</a:t>
            </a:r>
            <a:r>
              <a:rPr sz="3200" b="1" spc="-10" dirty="0">
                <a:latin typeface="Calibri"/>
                <a:cs typeface="Calibri"/>
              </a:rPr>
              <a:t> Control </a:t>
            </a:r>
            <a:r>
              <a:rPr sz="3200" b="1" spc="-5" dirty="0">
                <a:latin typeface="Calibri"/>
                <a:cs typeface="Calibri"/>
              </a:rPr>
              <a:t>and</a:t>
            </a:r>
            <a:r>
              <a:rPr sz="3200" b="1" spc="-30" dirty="0">
                <a:latin typeface="Calibri"/>
                <a:cs typeface="Calibri"/>
              </a:rPr>
              <a:t> </a:t>
            </a:r>
            <a:r>
              <a:rPr sz="3200" b="1" spc="-10" dirty="0">
                <a:latin typeface="Calibri"/>
                <a:cs typeface="Calibri"/>
              </a:rPr>
              <a:t>Error Control</a:t>
            </a:r>
            <a:endParaRPr sz="3200">
              <a:latin typeface="Calibri"/>
              <a:cs typeface="Calibri"/>
            </a:endParaRPr>
          </a:p>
        </p:txBody>
      </p:sp>
      <p:pic>
        <p:nvPicPr>
          <p:cNvPr id="3" name="object 3"/>
          <p:cNvPicPr/>
          <p:nvPr/>
        </p:nvPicPr>
        <p:blipFill>
          <a:blip r:embed="rId2" cstate="print"/>
          <a:stretch>
            <a:fillRect/>
          </a:stretch>
        </p:blipFill>
        <p:spPr>
          <a:xfrm>
            <a:off x="220860" y="218010"/>
            <a:ext cx="1737985" cy="682398"/>
          </a:xfrm>
          <a:prstGeom prst="rect">
            <a:avLst/>
          </a:prstGeom>
        </p:spPr>
      </p:pic>
      <p:grpSp>
        <p:nvGrpSpPr>
          <p:cNvPr id="4" name="object 4"/>
          <p:cNvGrpSpPr/>
          <p:nvPr/>
        </p:nvGrpSpPr>
        <p:grpSpPr>
          <a:xfrm>
            <a:off x="564922" y="0"/>
            <a:ext cx="8579168" cy="6858000"/>
            <a:chOff x="753228" y="0"/>
            <a:chExt cx="11438890" cy="6858000"/>
          </a:xfrm>
        </p:grpSpPr>
        <p:pic>
          <p:nvPicPr>
            <p:cNvPr id="5" name="object 5"/>
            <p:cNvPicPr/>
            <p:nvPr/>
          </p:nvPicPr>
          <p:blipFill>
            <a:blip r:embed="rId3" cstate="print"/>
            <a:stretch>
              <a:fillRect/>
            </a:stretch>
          </p:blipFill>
          <p:spPr>
            <a:xfrm>
              <a:off x="11754611" y="4571"/>
              <a:ext cx="437388" cy="6853426"/>
            </a:xfrm>
            <a:prstGeom prst="rect">
              <a:avLst/>
            </a:prstGeom>
          </p:spPr>
        </p:pic>
        <p:pic>
          <p:nvPicPr>
            <p:cNvPr id="6" name="object 6"/>
            <p:cNvPicPr/>
            <p:nvPr/>
          </p:nvPicPr>
          <p:blipFill>
            <a:blip r:embed="rId4" cstate="print"/>
            <a:stretch>
              <a:fillRect/>
            </a:stretch>
          </p:blipFill>
          <p:spPr>
            <a:xfrm>
              <a:off x="10786872" y="5859779"/>
              <a:ext cx="967740" cy="722376"/>
            </a:xfrm>
            <a:prstGeom prst="rect">
              <a:avLst/>
            </a:prstGeom>
          </p:spPr>
        </p:pic>
        <p:pic>
          <p:nvPicPr>
            <p:cNvPr id="7" name="object 7"/>
            <p:cNvPicPr/>
            <p:nvPr/>
          </p:nvPicPr>
          <p:blipFill>
            <a:blip r:embed="rId5" cstate="print"/>
            <a:stretch>
              <a:fillRect/>
            </a:stretch>
          </p:blipFill>
          <p:spPr>
            <a:xfrm>
              <a:off x="9136379" y="0"/>
              <a:ext cx="2898648" cy="539496"/>
            </a:xfrm>
            <a:prstGeom prst="rect">
              <a:avLst/>
            </a:prstGeom>
          </p:spPr>
        </p:pic>
        <p:pic>
          <p:nvPicPr>
            <p:cNvPr id="8" name="object 8"/>
            <p:cNvPicPr/>
            <p:nvPr/>
          </p:nvPicPr>
          <p:blipFill>
            <a:blip r:embed="rId6" cstate="print"/>
            <a:stretch>
              <a:fillRect/>
            </a:stretch>
          </p:blipFill>
          <p:spPr>
            <a:xfrm>
              <a:off x="753228" y="4925108"/>
              <a:ext cx="9743710" cy="1761499"/>
            </a:xfrm>
            <a:prstGeom prst="rect">
              <a:avLst/>
            </a:prstGeom>
          </p:spPr>
        </p:pic>
      </p:grpSp>
      <p:sp>
        <p:nvSpPr>
          <p:cNvPr id="9" name="object 9"/>
          <p:cNvSpPr txBox="1"/>
          <p:nvPr/>
        </p:nvSpPr>
        <p:spPr>
          <a:xfrm>
            <a:off x="571807" y="1303986"/>
            <a:ext cx="7319486" cy="3451586"/>
          </a:xfrm>
          <a:prstGeom prst="rect">
            <a:avLst/>
          </a:prstGeom>
        </p:spPr>
        <p:txBody>
          <a:bodyPr vert="horz" wrap="square" lIns="0" tIns="12065" rIns="0" bIns="0" rtlCol="0">
            <a:spAutoFit/>
          </a:bodyPr>
          <a:lstStyle/>
          <a:p>
            <a:pPr marL="12700" marR="5080" indent="51435">
              <a:lnSpc>
                <a:spcPct val="100000"/>
              </a:lnSpc>
              <a:spcBef>
                <a:spcPts val="95"/>
              </a:spcBef>
              <a:tabLst>
                <a:tab pos="863600" algn="l"/>
                <a:tab pos="4062729" algn="l"/>
              </a:tabLst>
            </a:pPr>
            <a:r>
              <a:rPr sz="2800" b="1" spc="-5" dirty="0">
                <a:solidFill>
                  <a:srgbClr val="C00000"/>
                </a:solidFill>
                <a:latin typeface="Calibri"/>
                <a:cs typeface="Calibri"/>
              </a:rPr>
              <a:t>Flow</a:t>
            </a:r>
            <a:r>
              <a:rPr sz="2800" b="1" spc="15" dirty="0">
                <a:solidFill>
                  <a:srgbClr val="C00000"/>
                </a:solidFill>
                <a:latin typeface="Calibri"/>
                <a:cs typeface="Calibri"/>
              </a:rPr>
              <a:t> </a:t>
            </a:r>
            <a:r>
              <a:rPr sz="2800" b="1" spc="-15" dirty="0">
                <a:solidFill>
                  <a:srgbClr val="C00000"/>
                </a:solidFill>
                <a:latin typeface="Calibri"/>
                <a:cs typeface="Calibri"/>
              </a:rPr>
              <a:t>Control</a:t>
            </a:r>
            <a:r>
              <a:rPr sz="2800" b="1" spc="10" dirty="0">
                <a:solidFill>
                  <a:srgbClr val="C00000"/>
                </a:solidFill>
                <a:latin typeface="Calibri"/>
                <a:cs typeface="Calibri"/>
              </a:rPr>
              <a:t> </a:t>
            </a:r>
            <a:r>
              <a:rPr sz="2800" b="1" spc="-15" dirty="0">
                <a:solidFill>
                  <a:srgbClr val="C00000"/>
                </a:solidFill>
                <a:latin typeface="Calibri"/>
                <a:cs typeface="Calibri"/>
              </a:rPr>
              <a:t>at</a:t>
            </a:r>
            <a:r>
              <a:rPr sz="2800" b="1" dirty="0">
                <a:solidFill>
                  <a:srgbClr val="C00000"/>
                </a:solidFill>
                <a:latin typeface="Calibri"/>
                <a:cs typeface="Calibri"/>
              </a:rPr>
              <a:t> </a:t>
            </a:r>
            <a:r>
              <a:rPr sz="2800" b="1" spc="-15" dirty="0">
                <a:solidFill>
                  <a:srgbClr val="C00000"/>
                </a:solidFill>
                <a:latin typeface="Calibri"/>
                <a:cs typeface="Calibri"/>
              </a:rPr>
              <a:t>Data</a:t>
            </a:r>
            <a:r>
              <a:rPr sz="2800" b="1" spc="10" dirty="0">
                <a:solidFill>
                  <a:srgbClr val="C00000"/>
                </a:solidFill>
                <a:latin typeface="Calibri"/>
                <a:cs typeface="Calibri"/>
              </a:rPr>
              <a:t> </a:t>
            </a:r>
            <a:r>
              <a:rPr sz="2800" b="1" spc="-5" dirty="0">
                <a:solidFill>
                  <a:srgbClr val="C00000"/>
                </a:solidFill>
                <a:latin typeface="Calibri"/>
                <a:cs typeface="Calibri"/>
              </a:rPr>
              <a:t>Link</a:t>
            </a:r>
            <a:r>
              <a:rPr sz="2800" b="1" spc="10" dirty="0">
                <a:solidFill>
                  <a:srgbClr val="C00000"/>
                </a:solidFill>
                <a:latin typeface="Calibri"/>
                <a:cs typeface="Calibri"/>
              </a:rPr>
              <a:t> </a:t>
            </a:r>
            <a:r>
              <a:rPr sz="2800" b="1" spc="-20" dirty="0">
                <a:solidFill>
                  <a:srgbClr val="C00000"/>
                </a:solidFill>
                <a:latin typeface="Calibri"/>
                <a:cs typeface="Calibri"/>
              </a:rPr>
              <a:t>Layer:</a:t>
            </a:r>
            <a:r>
              <a:rPr sz="2800" b="1" spc="50" dirty="0">
                <a:solidFill>
                  <a:srgbClr val="C00000"/>
                </a:solidFill>
                <a:latin typeface="Calibri"/>
                <a:cs typeface="Calibri"/>
              </a:rPr>
              <a:t> </a:t>
            </a:r>
            <a:r>
              <a:rPr sz="2800" spc="-10" dirty="0">
                <a:latin typeface="Calibri"/>
                <a:cs typeface="Calibri"/>
              </a:rPr>
              <a:t>Flow</a:t>
            </a:r>
            <a:r>
              <a:rPr sz="2800" dirty="0">
                <a:latin typeface="Calibri"/>
                <a:cs typeface="Calibri"/>
              </a:rPr>
              <a:t> </a:t>
            </a:r>
            <a:r>
              <a:rPr sz="2800" spc="-20" dirty="0">
                <a:latin typeface="Calibri"/>
                <a:cs typeface="Calibri"/>
              </a:rPr>
              <a:t>control</a:t>
            </a:r>
            <a:r>
              <a:rPr sz="2800" spc="20" dirty="0">
                <a:latin typeface="Calibri"/>
                <a:cs typeface="Calibri"/>
              </a:rPr>
              <a:t> </a:t>
            </a:r>
            <a:r>
              <a:rPr sz="2800" spc="-35" dirty="0">
                <a:latin typeface="Calibri"/>
                <a:cs typeface="Calibri"/>
              </a:rPr>
              <a:t>refers</a:t>
            </a:r>
            <a:r>
              <a:rPr sz="2800" spc="-5" dirty="0">
                <a:latin typeface="Calibri"/>
                <a:cs typeface="Calibri"/>
              </a:rPr>
              <a:t> </a:t>
            </a:r>
            <a:r>
              <a:rPr sz="2800" spc="-20" dirty="0">
                <a:latin typeface="Calibri"/>
                <a:cs typeface="Calibri"/>
              </a:rPr>
              <a:t>to</a:t>
            </a:r>
            <a:r>
              <a:rPr sz="2800" spc="-5" dirty="0">
                <a:latin typeface="Calibri"/>
                <a:cs typeface="Calibri"/>
              </a:rPr>
              <a:t> a</a:t>
            </a:r>
            <a:r>
              <a:rPr sz="2800" spc="5" dirty="0">
                <a:latin typeface="Calibri"/>
                <a:cs typeface="Calibri"/>
              </a:rPr>
              <a:t> </a:t>
            </a:r>
            <a:r>
              <a:rPr sz="2800" spc="-10" dirty="0">
                <a:latin typeface="Calibri"/>
                <a:cs typeface="Calibri"/>
              </a:rPr>
              <a:t>set</a:t>
            </a:r>
            <a:r>
              <a:rPr sz="2800" spc="-5" dirty="0">
                <a:latin typeface="Calibri"/>
                <a:cs typeface="Calibri"/>
              </a:rPr>
              <a:t> </a:t>
            </a:r>
            <a:r>
              <a:rPr sz="2800" spc="-10" dirty="0">
                <a:latin typeface="Calibri"/>
                <a:cs typeface="Calibri"/>
              </a:rPr>
              <a:t>of </a:t>
            </a:r>
            <a:r>
              <a:rPr sz="2800" spc="-5" dirty="0">
                <a:latin typeface="Calibri"/>
                <a:cs typeface="Calibri"/>
              </a:rPr>
              <a:t> </a:t>
            </a:r>
            <a:r>
              <a:rPr sz="2800" spc="-20" dirty="0">
                <a:latin typeface="Calibri"/>
                <a:cs typeface="Calibri"/>
              </a:rPr>
              <a:t>procedures</a:t>
            </a:r>
            <a:r>
              <a:rPr sz="2800" spc="55" dirty="0">
                <a:latin typeface="Calibri"/>
                <a:cs typeface="Calibri"/>
              </a:rPr>
              <a:t> </a:t>
            </a:r>
            <a:r>
              <a:rPr sz="2800" spc="-10" dirty="0">
                <a:latin typeface="Calibri"/>
                <a:cs typeface="Calibri"/>
              </a:rPr>
              <a:t>used</a:t>
            </a:r>
            <a:r>
              <a:rPr sz="2800" spc="45" dirty="0">
                <a:latin typeface="Calibri"/>
                <a:cs typeface="Calibri"/>
              </a:rPr>
              <a:t> </a:t>
            </a:r>
            <a:r>
              <a:rPr sz="2800" spc="-20" dirty="0">
                <a:latin typeface="Calibri"/>
                <a:cs typeface="Calibri"/>
              </a:rPr>
              <a:t>to</a:t>
            </a:r>
            <a:r>
              <a:rPr sz="2800" spc="15" dirty="0">
                <a:latin typeface="Calibri"/>
                <a:cs typeface="Calibri"/>
              </a:rPr>
              <a:t> </a:t>
            </a:r>
            <a:r>
              <a:rPr sz="2800" spc="-15" dirty="0">
                <a:latin typeface="Calibri"/>
                <a:cs typeface="Calibri"/>
              </a:rPr>
              <a:t>restrict	</a:t>
            </a:r>
            <a:r>
              <a:rPr sz="2800" spc="-5" dirty="0">
                <a:latin typeface="Calibri"/>
                <a:cs typeface="Calibri"/>
              </a:rPr>
              <a:t>the</a:t>
            </a:r>
            <a:r>
              <a:rPr sz="2800" spc="5" dirty="0">
                <a:latin typeface="Calibri"/>
                <a:cs typeface="Calibri"/>
              </a:rPr>
              <a:t> </a:t>
            </a:r>
            <a:r>
              <a:rPr sz="2800" spc="-10" dirty="0">
                <a:latin typeface="Calibri"/>
                <a:cs typeface="Calibri"/>
              </a:rPr>
              <a:t>amount</a:t>
            </a:r>
            <a:r>
              <a:rPr sz="2800" spc="20" dirty="0">
                <a:latin typeface="Calibri"/>
                <a:cs typeface="Calibri"/>
              </a:rPr>
              <a:t> </a:t>
            </a:r>
            <a:r>
              <a:rPr sz="2800" spc="-5" dirty="0">
                <a:latin typeface="Calibri"/>
                <a:cs typeface="Calibri"/>
              </a:rPr>
              <a:t>of</a:t>
            </a:r>
            <a:r>
              <a:rPr sz="2800" spc="-10" dirty="0">
                <a:latin typeface="Calibri"/>
                <a:cs typeface="Calibri"/>
              </a:rPr>
              <a:t> </a:t>
            </a:r>
            <a:r>
              <a:rPr sz="2800" spc="-20" dirty="0">
                <a:latin typeface="Calibri"/>
                <a:cs typeface="Calibri"/>
              </a:rPr>
              <a:t>data</a:t>
            </a:r>
            <a:r>
              <a:rPr sz="2800" spc="-5" dirty="0">
                <a:latin typeface="Calibri"/>
                <a:cs typeface="Calibri"/>
              </a:rPr>
              <a:t> </a:t>
            </a:r>
            <a:r>
              <a:rPr sz="2800" spc="-10" dirty="0">
                <a:latin typeface="Calibri"/>
                <a:cs typeface="Calibri"/>
              </a:rPr>
              <a:t>that</a:t>
            </a:r>
            <a:r>
              <a:rPr sz="2800" spc="-5" dirty="0">
                <a:latin typeface="Calibri"/>
                <a:cs typeface="Calibri"/>
              </a:rPr>
              <a:t> the</a:t>
            </a:r>
            <a:r>
              <a:rPr sz="2800" spc="5" dirty="0">
                <a:latin typeface="Calibri"/>
                <a:cs typeface="Calibri"/>
              </a:rPr>
              <a:t> </a:t>
            </a:r>
            <a:r>
              <a:rPr sz="2800" spc="-10" dirty="0">
                <a:latin typeface="Calibri"/>
                <a:cs typeface="Calibri"/>
              </a:rPr>
              <a:t>sender</a:t>
            </a:r>
            <a:r>
              <a:rPr sz="2800" spc="15" dirty="0">
                <a:latin typeface="Calibri"/>
                <a:cs typeface="Calibri"/>
              </a:rPr>
              <a:t> </a:t>
            </a:r>
            <a:r>
              <a:rPr sz="2800" spc="-10" dirty="0">
                <a:latin typeface="Calibri"/>
                <a:cs typeface="Calibri"/>
              </a:rPr>
              <a:t>can </a:t>
            </a:r>
            <a:r>
              <a:rPr sz="2800" spc="-615" dirty="0">
                <a:latin typeface="Calibri"/>
                <a:cs typeface="Calibri"/>
              </a:rPr>
              <a:t> </a:t>
            </a:r>
            <a:r>
              <a:rPr sz="2800" spc="-10" dirty="0">
                <a:latin typeface="Calibri"/>
                <a:cs typeface="Calibri"/>
              </a:rPr>
              <a:t>send	</a:t>
            </a:r>
            <a:r>
              <a:rPr sz="2800" spc="-25" dirty="0">
                <a:latin typeface="Calibri"/>
                <a:cs typeface="Calibri"/>
              </a:rPr>
              <a:t>before.</a:t>
            </a:r>
            <a:endParaRPr sz="2800">
              <a:latin typeface="Calibri"/>
              <a:cs typeface="Calibri"/>
            </a:endParaRPr>
          </a:p>
          <a:p>
            <a:pPr>
              <a:lnSpc>
                <a:spcPct val="100000"/>
              </a:lnSpc>
              <a:spcBef>
                <a:spcPts val="10"/>
              </a:spcBef>
            </a:pPr>
            <a:endParaRPr sz="2750">
              <a:latin typeface="Calibri"/>
              <a:cs typeface="Calibri"/>
            </a:endParaRPr>
          </a:p>
          <a:p>
            <a:pPr marL="12700" marR="598170">
              <a:lnSpc>
                <a:spcPct val="100000"/>
              </a:lnSpc>
            </a:pPr>
            <a:r>
              <a:rPr sz="2800" b="1" spc="-10" dirty="0">
                <a:solidFill>
                  <a:srgbClr val="C00000"/>
                </a:solidFill>
                <a:latin typeface="Calibri"/>
                <a:cs typeface="Calibri"/>
              </a:rPr>
              <a:t>Error</a:t>
            </a:r>
            <a:r>
              <a:rPr sz="2800" b="1" spc="10" dirty="0">
                <a:solidFill>
                  <a:srgbClr val="C00000"/>
                </a:solidFill>
                <a:latin typeface="Calibri"/>
                <a:cs typeface="Calibri"/>
              </a:rPr>
              <a:t> </a:t>
            </a:r>
            <a:r>
              <a:rPr sz="2800" b="1" spc="-15" dirty="0">
                <a:solidFill>
                  <a:srgbClr val="C00000"/>
                </a:solidFill>
                <a:latin typeface="Calibri"/>
                <a:cs typeface="Calibri"/>
              </a:rPr>
              <a:t>control</a:t>
            </a:r>
            <a:r>
              <a:rPr sz="2800" b="1" spc="5" dirty="0">
                <a:solidFill>
                  <a:srgbClr val="C00000"/>
                </a:solidFill>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the</a:t>
            </a:r>
            <a:r>
              <a:rPr sz="2800" spc="10" dirty="0">
                <a:latin typeface="Calibri"/>
                <a:cs typeface="Calibri"/>
              </a:rPr>
              <a:t> </a:t>
            </a:r>
            <a:r>
              <a:rPr sz="2800" spc="-20" dirty="0">
                <a:latin typeface="Calibri"/>
                <a:cs typeface="Calibri"/>
              </a:rPr>
              <a:t>data</a:t>
            </a:r>
            <a:r>
              <a:rPr sz="2800" spc="5" dirty="0">
                <a:latin typeface="Calibri"/>
                <a:cs typeface="Calibri"/>
              </a:rPr>
              <a:t> </a:t>
            </a:r>
            <a:r>
              <a:rPr sz="2800" spc="-10" dirty="0">
                <a:latin typeface="Calibri"/>
                <a:cs typeface="Calibri"/>
              </a:rPr>
              <a:t>link</a:t>
            </a:r>
            <a:r>
              <a:rPr sz="2800" spc="5" dirty="0">
                <a:latin typeface="Calibri"/>
                <a:cs typeface="Calibri"/>
              </a:rPr>
              <a:t> </a:t>
            </a:r>
            <a:r>
              <a:rPr sz="2800" spc="-25" dirty="0">
                <a:latin typeface="Calibri"/>
                <a:cs typeface="Calibri"/>
              </a:rPr>
              <a:t>layer</a:t>
            </a:r>
            <a:r>
              <a:rPr sz="2800" spc="5"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based</a:t>
            </a:r>
            <a:r>
              <a:rPr sz="2800" spc="10" dirty="0">
                <a:latin typeface="Calibri"/>
                <a:cs typeface="Calibri"/>
              </a:rPr>
              <a:t> </a:t>
            </a:r>
            <a:r>
              <a:rPr sz="2800" spc="-5" dirty="0">
                <a:latin typeface="Calibri"/>
                <a:cs typeface="Calibri"/>
              </a:rPr>
              <a:t>on</a:t>
            </a:r>
            <a:r>
              <a:rPr sz="2800" spc="10" dirty="0">
                <a:latin typeface="Calibri"/>
                <a:cs typeface="Calibri"/>
              </a:rPr>
              <a:t> </a:t>
            </a:r>
            <a:r>
              <a:rPr sz="2800" spc="-10" dirty="0">
                <a:latin typeface="Calibri"/>
                <a:cs typeface="Calibri"/>
              </a:rPr>
              <a:t>automatic</a:t>
            </a:r>
            <a:r>
              <a:rPr sz="2800" spc="15" dirty="0">
                <a:latin typeface="Calibri"/>
                <a:cs typeface="Calibri"/>
              </a:rPr>
              <a:t> </a:t>
            </a:r>
            <a:r>
              <a:rPr sz="2800" spc="-15" dirty="0">
                <a:latin typeface="Calibri"/>
                <a:cs typeface="Calibri"/>
              </a:rPr>
              <a:t>repeat </a:t>
            </a:r>
            <a:r>
              <a:rPr sz="2800" spc="-620" dirty="0">
                <a:latin typeface="Calibri"/>
                <a:cs typeface="Calibri"/>
              </a:rPr>
              <a:t> </a:t>
            </a:r>
            <a:r>
              <a:rPr sz="2800" spc="-10" dirty="0">
                <a:latin typeface="Calibri"/>
                <a:cs typeface="Calibri"/>
              </a:rPr>
              <a:t>request(ARQ),</a:t>
            </a:r>
            <a:r>
              <a:rPr sz="2800" spc="35" dirty="0">
                <a:latin typeface="Calibri"/>
                <a:cs typeface="Calibri"/>
              </a:rPr>
              <a:t> </a:t>
            </a:r>
            <a:r>
              <a:rPr sz="2800" spc="-5" dirty="0">
                <a:latin typeface="Calibri"/>
                <a:cs typeface="Calibri"/>
              </a:rPr>
              <a:t>which</a:t>
            </a:r>
            <a:r>
              <a:rPr sz="2800" spc="15"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the</a:t>
            </a:r>
            <a:r>
              <a:rPr sz="2800" spc="15" dirty="0">
                <a:latin typeface="Calibri"/>
                <a:cs typeface="Calibri"/>
              </a:rPr>
              <a:t> </a:t>
            </a:r>
            <a:r>
              <a:rPr sz="2800" spc="-15" dirty="0">
                <a:latin typeface="Calibri"/>
                <a:cs typeface="Calibri"/>
              </a:rPr>
              <a:t>retransmission</a:t>
            </a:r>
            <a:r>
              <a:rPr sz="2800" spc="40" dirty="0">
                <a:latin typeface="Calibri"/>
                <a:cs typeface="Calibri"/>
              </a:rPr>
              <a:t> </a:t>
            </a:r>
            <a:r>
              <a:rPr sz="2800" spc="-5" dirty="0">
                <a:latin typeface="Calibri"/>
                <a:cs typeface="Calibri"/>
              </a:rPr>
              <a:t>of </a:t>
            </a:r>
            <a:r>
              <a:rPr sz="2800" spc="-15" dirty="0">
                <a:latin typeface="Calibri"/>
                <a:cs typeface="Calibri"/>
              </a:rPr>
              <a:t>data.</a:t>
            </a:r>
            <a:endParaRPr sz="2800">
              <a:latin typeface="Calibri"/>
              <a:cs typeface="Calibri"/>
            </a:endParaRPr>
          </a:p>
        </p:txBody>
      </p:sp>
    </p:spTree>
    <p:extLst>
      <p:ext uri="{BB962C8B-B14F-4D97-AF65-F5344CB8AC3E}">
        <p14:creationId xmlns:p14="http://schemas.microsoft.com/office/powerpoint/2010/main" val="104087424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7449" y="259239"/>
            <a:ext cx="3887629" cy="998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Flow</a:t>
            </a:r>
            <a:r>
              <a:rPr sz="3200" b="1" spc="-10" dirty="0">
                <a:latin typeface="Calibri"/>
                <a:cs typeface="Calibri"/>
              </a:rPr>
              <a:t> Control </a:t>
            </a:r>
            <a:r>
              <a:rPr sz="3200" b="1" spc="-5" dirty="0">
                <a:latin typeface="Calibri"/>
                <a:cs typeface="Calibri"/>
              </a:rPr>
              <a:t>and</a:t>
            </a:r>
            <a:r>
              <a:rPr sz="3200" b="1" spc="-30" dirty="0">
                <a:latin typeface="Calibri"/>
                <a:cs typeface="Calibri"/>
              </a:rPr>
              <a:t> </a:t>
            </a:r>
            <a:r>
              <a:rPr sz="3200" b="1" spc="-10" dirty="0">
                <a:latin typeface="Calibri"/>
                <a:cs typeface="Calibri"/>
              </a:rPr>
              <a:t>Error Control</a:t>
            </a:r>
            <a:endParaRPr sz="3200">
              <a:latin typeface="Calibri"/>
              <a:cs typeface="Calibri"/>
            </a:endParaRP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sp>
        <p:nvSpPr>
          <p:cNvPr id="8" name="object 8"/>
          <p:cNvSpPr txBox="1"/>
          <p:nvPr/>
        </p:nvSpPr>
        <p:spPr>
          <a:xfrm>
            <a:off x="571807" y="1303988"/>
            <a:ext cx="7809071" cy="7737375"/>
          </a:xfrm>
          <a:prstGeom prst="rect">
            <a:avLst/>
          </a:prstGeom>
        </p:spPr>
        <p:txBody>
          <a:bodyPr vert="horz" wrap="square" lIns="0" tIns="12065" rIns="0" bIns="0" rtlCol="0">
            <a:spAutoFit/>
          </a:bodyPr>
          <a:lstStyle/>
          <a:p>
            <a:pPr marL="299085" marR="40640" indent="-287020">
              <a:lnSpc>
                <a:spcPct val="100000"/>
              </a:lnSpc>
              <a:spcBef>
                <a:spcPts val="95"/>
              </a:spcBef>
              <a:buFont typeface="Arial MT"/>
              <a:buChar char="•"/>
              <a:tabLst>
                <a:tab pos="299085" algn="l"/>
                <a:tab pos="299720" algn="l"/>
                <a:tab pos="5138420" algn="l"/>
                <a:tab pos="8648065" algn="l"/>
              </a:tabLst>
            </a:pPr>
            <a:r>
              <a:rPr sz="2800" spc="-10" dirty="0">
                <a:latin typeface="Calibri"/>
                <a:cs typeface="Calibri"/>
              </a:rPr>
              <a:t>Flow</a:t>
            </a:r>
            <a:r>
              <a:rPr sz="2800" spc="5" dirty="0">
                <a:latin typeface="Calibri"/>
                <a:cs typeface="Calibri"/>
              </a:rPr>
              <a:t> </a:t>
            </a:r>
            <a:r>
              <a:rPr sz="2800" spc="-20" dirty="0">
                <a:latin typeface="Calibri"/>
                <a:cs typeface="Calibri"/>
              </a:rPr>
              <a:t>control</a:t>
            </a:r>
            <a:r>
              <a:rPr sz="2800" spc="25" dirty="0">
                <a:latin typeface="Calibri"/>
                <a:cs typeface="Calibri"/>
              </a:rPr>
              <a:t> </a:t>
            </a:r>
            <a:r>
              <a:rPr sz="2800" spc="-35" dirty="0">
                <a:latin typeface="Calibri"/>
                <a:cs typeface="Calibri"/>
              </a:rPr>
              <a:t>refers</a:t>
            </a:r>
            <a:r>
              <a:rPr sz="2800" spc="5" dirty="0">
                <a:latin typeface="Calibri"/>
                <a:cs typeface="Calibri"/>
              </a:rPr>
              <a:t> </a:t>
            </a:r>
            <a:r>
              <a:rPr sz="2800" spc="-20" dirty="0">
                <a:latin typeface="Calibri"/>
                <a:cs typeface="Calibri"/>
              </a:rPr>
              <a:t>to</a:t>
            </a:r>
            <a:r>
              <a:rPr sz="2800" spc="5" dirty="0">
                <a:latin typeface="Calibri"/>
                <a:cs typeface="Calibri"/>
              </a:rPr>
              <a:t> </a:t>
            </a:r>
            <a:r>
              <a:rPr sz="2800" spc="-5" dirty="0">
                <a:latin typeface="Calibri"/>
                <a:cs typeface="Calibri"/>
              </a:rPr>
              <a:t>a</a:t>
            </a:r>
            <a:r>
              <a:rPr sz="2800" spc="10" dirty="0">
                <a:latin typeface="Calibri"/>
                <a:cs typeface="Calibri"/>
              </a:rPr>
              <a:t> </a:t>
            </a:r>
            <a:r>
              <a:rPr sz="2800" spc="-10" dirty="0">
                <a:latin typeface="Calibri"/>
                <a:cs typeface="Calibri"/>
              </a:rPr>
              <a:t>set</a:t>
            </a:r>
            <a:r>
              <a:rPr sz="2800" spc="5"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procedures</a:t>
            </a:r>
            <a:r>
              <a:rPr sz="2800" spc="45" dirty="0">
                <a:latin typeface="Calibri"/>
                <a:cs typeface="Calibri"/>
              </a:rPr>
              <a:t> </a:t>
            </a:r>
            <a:r>
              <a:rPr sz="2800" spc="-10" dirty="0">
                <a:latin typeface="Calibri"/>
                <a:cs typeface="Calibri"/>
              </a:rPr>
              <a:t>used</a:t>
            </a:r>
            <a:r>
              <a:rPr sz="2800" spc="25" dirty="0">
                <a:latin typeface="Calibri"/>
                <a:cs typeface="Calibri"/>
              </a:rPr>
              <a:t> </a:t>
            </a:r>
            <a:r>
              <a:rPr sz="2800" spc="-20" dirty="0">
                <a:latin typeface="Calibri"/>
                <a:cs typeface="Calibri"/>
              </a:rPr>
              <a:t>to</a:t>
            </a:r>
            <a:r>
              <a:rPr sz="2800" dirty="0">
                <a:latin typeface="Calibri"/>
                <a:cs typeface="Calibri"/>
              </a:rPr>
              <a:t> </a:t>
            </a:r>
            <a:r>
              <a:rPr sz="2800" spc="-15" dirty="0">
                <a:latin typeface="Calibri"/>
                <a:cs typeface="Calibri"/>
              </a:rPr>
              <a:t>restrict	</a:t>
            </a:r>
            <a:r>
              <a:rPr sz="2800" spc="-5" dirty="0">
                <a:latin typeface="Calibri"/>
                <a:cs typeface="Calibri"/>
              </a:rPr>
              <a:t>the </a:t>
            </a:r>
            <a:r>
              <a:rPr sz="2800" spc="-10" dirty="0">
                <a:latin typeface="Calibri"/>
                <a:cs typeface="Calibri"/>
              </a:rPr>
              <a:t>amount </a:t>
            </a:r>
            <a:r>
              <a:rPr sz="2800" spc="-615" dirty="0">
                <a:latin typeface="Calibri"/>
                <a:cs typeface="Calibri"/>
              </a:rPr>
              <a:t> </a:t>
            </a:r>
            <a:r>
              <a:rPr sz="2800" spc="-5" dirty="0">
                <a:latin typeface="Calibri"/>
                <a:cs typeface="Calibri"/>
              </a:rPr>
              <a:t>of</a:t>
            </a:r>
            <a:r>
              <a:rPr sz="2800" dirty="0">
                <a:latin typeface="Calibri"/>
                <a:cs typeface="Calibri"/>
              </a:rPr>
              <a:t> </a:t>
            </a:r>
            <a:r>
              <a:rPr sz="2800" spc="-20" dirty="0">
                <a:latin typeface="Calibri"/>
                <a:cs typeface="Calibri"/>
              </a:rPr>
              <a:t>data</a:t>
            </a:r>
            <a:r>
              <a:rPr sz="2800" spc="10" dirty="0">
                <a:latin typeface="Calibri"/>
                <a:cs typeface="Calibri"/>
              </a:rPr>
              <a:t> </a:t>
            </a:r>
            <a:r>
              <a:rPr sz="2800" spc="-10" dirty="0">
                <a:latin typeface="Calibri"/>
                <a:cs typeface="Calibri"/>
              </a:rPr>
              <a:t>that</a:t>
            </a:r>
            <a:r>
              <a:rPr sz="2800" spc="20"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sender</a:t>
            </a:r>
            <a:r>
              <a:rPr sz="2800" spc="30" dirty="0">
                <a:latin typeface="Calibri"/>
                <a:cs typeface="Calibri"/>
              </a:rPr>
              <a:t> </a:t>
            </a:r>
            <a:r>
              <a:rPr sz="2800" spc="-10" dirty="0">
                <a:latin typeface="Calibri"/>
                <a:cs typeface="Calibri"/>
              </a:rPr>
              <a:t>can</a:t>
            </a:r>
            <a:r>
              <a:rPr sz="2800" spc="20" dirty="0">
                <a:latin typeface="Calibri"/>
                <a:cs typeface="Calibri"/>
              </a:rPr>
              <a:t> </a:t>
            </a:r>
            <a:r>
              <a:rPr sz="2800" spc="-10" dirty="0">
                <a:latin typeface="Calibri"/>
                <a:cs typeface="Calibri"/>
              </a:rPr>
              <a:t>send	</a:t>
            </a:r>
            <a:r>
              <a:rPr sz="2800" spc="-30" dirty="0">
                <a:latin typeface="Calibri"/>
                <a:cs typeface="Calibri"/>
              </a:rPr>
              <a:t>before</a:t>
            </a:r>
            <a:r>
              <a:rPr sz="2800" spc="-5" dirty="0">
                <a:latin typeface="Calibri"/>
                <a:cs typeface="Calibri"/>
              </a:rPr>
              <a:t> </a:t>
            </a:r>
            <a:r>
              <a:rPr sz="2800" spc="-10" dirty="0">
                <a:latin typeface="Calibri"/>
                <a:cs typeface="Calibri"/>
              </a:rPr>
              <a:t>waiting</a:t>
            </a:r>
            <a:r>
              <a:rPr sz="2800" spc="-25" dirty="0">
                <a:latin typeface="Calibri"/>
                <a:cs typeface="Calibri"/>
              </a:rPr>
              <a:t> for </a:t>
            </a:r>
            <a:r>
              <a:rPr sz="2800" spc="-5" dirty="0">
                <a:latin typeface="Calibri"/>
                <a:cs typeface="Calibri"/>
              </a:rPr>
              <a:t>acknowledgment.</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indent="-457200">
              <a:lnSpc>
                <a:spcPct val="100000"/>
              </a:lnSpc>
              <a:spcBef>
                <a:spcPts val="5"/>
              </a:spcBef>
              <a:buFont typeface="Arial MT"/>
              <a:buChar char="•"/>
              <a:tabLst>
                <a:tab pos="469265" algn="l"/>
                <a:tab pos="469900" algn="l"/>
              </a:tabLst>
            </a:pPr>
            <a:r>
              <a:rPr sz="2800" spc="-10" dirty="0">
                <a:latin typeface="Calibri"/>
                <a:cs typeface="Calibri"/>
              </a:rPr>
              <a:t>Flow</a:t>
            </a:r>
            <a:r>
              <a:rPr sz="2800" dirty="0">
                <a:latin typeface="Calibri"/>
                <a:cs typeface="Calibri"/>
              </a:rPr>
              <a:t> </a:t>
            </a:r>
            <a:r>
              <a:rPr sz="2800" spc="-5" dirty="0">
                <a:latin typeface="Calibri"/>
                <a:cs typeface="Calibri"/>
              </a:rPr>
              <a:t>of</a:t>
            </a:r>
            <a:r>
              <a:rPr sz="2800" spc="5" dirty="0">
                <a:latin typeface="Calibri"/>
                <a:cs typeface="Calibri"/>
              </a:rPr>
              <a:t> </a:t>
            </a:r>
            <a:r>
              <a:rPr sz="2800" spc="-20" dirty="0">
                <a:latin typeface="Calibri"/>
                <a:cs typeface="Calibri"/>
              </a:rPr>
              <a:t>data</a:t>
            </a:r>
            <a:r>
              <a:rPr sz="2800" spc="-5" dirty="0">
                <a:latin typeface="Calibri"/>
                <a:cs typeface="Calibri"/>
              </a:rPr>
              <a:t> </a:t>
            </a:r>
            <a:r>
              <a:rPr sz="2800" spc="-15" dirty="0">
                <a:latin typeface="Calibri"/>
                <a:cs typeface="Calibri"/>
              </a:rPr>
              <a:t>must</a:t>
            </a:r>
            <a:r>
              <a:rPr sz="2800" spc="40" dirty="0">
                <a:latin typeface="Calibri"/>
                <a:cs typeface="Calibri"/>
              </a:rPr>
              <a:t> </a:t>
            </a:r>
            <a:r>
              <a:rPr sz="2800" spc="-5" dirty="0">
                <a:latin typeface="Calibri"/>
                <a:cs typeface="Calibri"/>
              </a:rPr>
              <a:t>not</a:t>
            </a:r>
            <a:r>
              <a:rPr sz="2800" spc="5" dirty="0">
                <a:latin typeface="Calibri"/>
                <a:cs typeface="Calibri"/>
              </a:rPr>
              <a:t> </a:t>
            </a:r>
            <a:r>
              <a:rPr sz="2800" spc="-10" dirty="0">
                <a:latin typeface="Calibri"/>
                <a:cs typeface="Calibri"/>
              </a:rPr>
              <a:t>allow</a:t>
            </a:r>
            <a:r>
              <a:rPr sz="2800" dirty="0">
                <a:latin typeface="Calibri"/>
                <a:cs typeface="Calibri"/>
              </a:rPr>
              <a:t> </a:t>
            </a:r>
            <a:r>
              <a:rPr sz="2800" spc="-20" dirty="0">
                <a:latin typeface="Calibri"/>
                <a:cs typeface="Calibri"/>
              </a:rPr>
              <a:t>to</a:t>
            </a:r>
            <a:r>
              <a:rPr sz="2800" dirty="0">
                <a:latin typeface="Calibri"/>
                <a:cs typeface="Calibri"/>
              </a:rPr>
              <a:t> </a:t>
            </a:r>
            <a:r>
              <a:rPr sz="2800" spc="-10" dirty="0">
                <a:latin typeface="Calibri"/>
                <a:cs typeface="Calibri"/>
              </a:rPr>
              <a:t>overwhelm</a:t>
            </a:r>
            <a:r>
              <a:rPr sz="2800" spc="5" dirty="0">
                <a:latin typeface="Calibri"/>
                <a:cs typeface="Calibri"/>
              </a:rPr>
              <a:t> </a:t>
            </a:r>
            <a:r>
              <a:rPr sz="2800" spc="-5" dirty="0">
                <a:latin typeface="Calibri"/>
                <a:cs typeface="Calibri"/>
              </a:rPr>
              <a:t>the </a:t>
            </a:r>
            <a:r>
              <a:rPr sz="2800" spc="-45" dirty="0">
                <a:latin typeface="Calibri"/>
                <a:cs typeface="Calibri"/>
              </a:rPr>
              <a:t>receiver.</a:t>
            </a:r>
            <a:endParaRPr sz="2800">
              <a:latin typeface="Calibri"/>
              <a:cs typeface="Calibri"/>
            </a:endParaRPr>
          </a:p>
          <a:p>
            <a:pPr>
              <a:lnSpc>
                <a:spcPct val="100000"/>
              </a:lnSpc>
              <a:buFont typeface="Arial MT"/>
              <a:buChar char="•"/>
            </a:pPr>
            <a:endParaRPr sz="2750">
              <a:latin typeface="Calibri"/>
              <a:cs typeface="Calibri"/>
            </a:endParaRPr>
          </a:p>
          <a:p>
            <a:pPr marL="469900" marR="5080" indent="-457200">
              <a:lnSpc>
                <a:spcPct val="100000"/>
              </a:lnSpc>
              <a:spcBef>
                <a:spcPts val="5"/>
              </a:spcBef>
              <a:buFont typeface="Arial MT"/>
              <a:buChar char="•"/>
              <a:tabLst>
                <a:tab pos="469265" algn="l"/>
                <a:tab pos="469900" algn="l"/>
              </a:tabLst>
            </a:pPr>
            <a:r>
              <a:rPr sz="2800" spc="-10" dirty="0">
                <a:latin typeface="Calibri"/>
                <a:cs typeface="Calibri"/>
              </a:rPr>
              <a:t>Receiving</a:t>
            </a:r>
            <a:r>
              <a:rPr sz="2800" spc="-5" dirty="0">
                <a:latin typeface="Calibri"/>
                <a:cs typeface="Calibri"/>
              </a:rPr>
              <a:t> </a:t>
            </a:r>
            <a:r>
              <a:rPr sz="2800" spc="-10" dirty="0">
                <a:latin typeface="Calibri"/>
                <a:cs typeface="Calibri"/>
              </a:rPr>
              <a:t>device</a:t>
            </a:r>
            <a:r>
              <a:rPr sz="2800" spc="15" dirty="0">
                <a:latin typeface="Calibri"/>
                <a:cs typeface="Calibri"/>
              </a:rPr>
              <a:t> </a:t>
            </a:r>
            <a:r>
              <a:rPr sz="2800" spc="-25" dirty="0">
                <a:latin typeface="Calibri"/>
                <a:cs typeface="Calibri"/>
              </a:rPr>
              <a:t>have</a:t>
            </a:r>
            <a:r>
              <a:rPr sz="2800" dirty="0">
                <a:latin typeface="Calibri"/>
                <a:cs typeface="Calibri"/>
              </a:rPr>
              <a:t> </a:t>
            </a:r>
            <a:r>
              <a:rPr sz="2800" spc="-10" dirty="0">
                <a:latin typeface="Calibri"/>
                <a:cs typeface="Calibri"/>
              </a:rPr>
              <a:t>limited</a:t>
            </a:r>
            <a:r>
              <a:rPr sz="2800" spc="5" dirty="0">
                <a:latin typeface="Calibri"/>
                <a:cs typeface="Calibri"/>
              </a:rPr>
              <a:t> </a:t>
            </a:r>
            <a:r>
              <a:rPr sz="2800" spc="-10" dirty="0">
                <a:latin typeface="Calibri"/>
                <a:cs typeface="Calibri"/>
              </a:rPr>
              <a:t>speed</a:t>
            </a:r>
            <a:r>
              <a:rPr sz="2800" spc="15" dirty="0">
                <a:latin typeface="Calibri"/>
                <a:cs typeface="Calibri"/>
              </a:rPr>
              <a:t> </a:t>
            </a:r>
            <a:r>
              <a:rPr sz="2800" spc="-15" dirty="0">
                <a:latin typeface="Calibri"/>
                <a:cs typeface="Calibri"/>
              </a:rPr>
              <a:t>at</a:t>
            </a:r>
            <a:r>
              <a:rPr sz="2800" spc="-10" dirty="0">
                <a:latin typeface="Calibri"/>
                <a:cs typeface="Calibri"/>
              </a:rPr>
              <a:t> </a:t>
            </a:r>
            <a:r>
              <a:rPr sz="2800" spc="-5" dirty="0">
                <a:latin typeface="Calibri"/>
                <a:cs typeface="Calibri"/>
              </a:rPr>
              <a:t>which</a:t>
            </a:r>
            <a:r>
              <a:rPr sz="2800" spc="15" dirty="0">
                <a:latin typeface="Calibri"/>
                <a:cs typeface="Calibri"/>
              </a:rPr>
              <a:t> </a:t>
            </a:r>
            <a:r>
              <a:rPr sz="2800" spc="-5" dirty="0">
                <a:latin typeface="Calibri"/>
                <a:cs typeface="Calibri"/>
              </a:rPr>
              <a:t>it</a:t>
            </a:r>
            <a:r>
              <a:rPr sz="2800" dirty="0">
                <a:latin typeface="Calibri"/>
                <a:cs typeface="Calibri"/>
              </a:rPr>
              <a:t> </a:t>
            </a:r>
            <a:r>
              <a:rPr sz="2800" spc="-15" dirty="0">
                <a:latin typeface="Calibri"/>
                <a:cs typeface="Calibri"/>
              </a:rPr>
              <a:t>can</a:t>
            </a:r>
            <a:r>
              <a:rPr sz="2800" spc="15" dirty="0">
                <a:latin typeface="Calibri"/>
                <a:cs typeface="Calibri"/>
              </a:rPr>
              <a:t> </a:t>
            </a:r>
            <a:r>
              <a:rPr sz="2800" spc="-15" dirty="0">
                <a:latin typeface="Calibri"/>
                <a:cs typeface="Calibri"/>
              </a:rPr>
              <a:t>process</a:t>
            </a:r>
            <a:r>
              <a:rPr sz="2800" spc="25" dirty="0">
                <a:latin typeface="Calibri"/>
                <a:cs typeface="Calibri"/>
              </a:rPr>
              <a:t> </a:t>
            </a:r>
            <a:r>
              <a:rPr sz="2800" spc="-10" dirty="0">
                <a:latin typeface="Calibri"/>
                <a:cs typeface="Calibri"/>
              </a:rPr>
              <a:t>incoming </a:t>
            </a:r>
            <a:r>
              <a:rPr sz="2800" spc="-620" dirty="0">
                <a:latin typeface="Calibri"/>
                <a:cs typeface="Calibri"/>
              </a:rPr>
              <a:t> </a:t>
            </a:r>
            <a:r>
              <a:rPr sz="2800" spc="-20" dirty="0">
                <a:latin typeface="Calibri"/>
                <a:cs typeface="Calibri"/>
              </a:rPr>
              <a:t>data</a:t>
            </a:r>
            <a:r>
              <a:rPr sz="2800" spc="-5" dirty="0">
                <a:latin typeface="Calibri"/>
                <a:cs typeface="Calibri"/>
              </a:rPr>
              <a:t> and</a:t>
            </a:r>
            <a:r>
              <a:rPr sz="2800" spc="10" dirty="0">
                <a:latin typeface="Calibri"/>
                <a:cs typeface="Calibri"/>
              </a:rPr>
              <a:t> </a:t>
            </a:r>
            <a:r>
              <a:rPr sz="2800" spc="-10" dirty="0">
                <a:latin typeface="Calibri"/>
                <a:cs typeface="Calibri"/>
              </a:rPr>
              <a:t>limited</a:t>
            </a:r>
            <a:r>
              <a:rPr sz="2800" spc="20" dirty="0">
                <a:latin typeface="Calibri"/>
                <a:cs typeface="Calibri"/>
              </a:rPr>
              <a:t> </a:t>
            </a:r>
            <a:r>
              <a:rPr sz="2800" spc="-10" dirty="0">
                <a:latin typeface="Calibri"/>
                <a:cs typeface="Calibri"/>
              </a:rPr>
              <a:t>amount</a:t>
            </a:r>
            <a:r>
              <a:rPr sz="2800" spc="10" dirty="0">
                <a:latin typeface="Calibri"/>
                <a:cs typeface="Calibri"/>
              </a:rPr>
              <a:t> </a:t>
            </a:r>
            <a:r>
              <a:rPr sz="2800" spc="-5" dirty="0">
                <a:latin typeface="Calibri"/>
                <a:cs typeface="Calibri"/>
              </a:rPr>
              <a:t>of memory</a:t>
            </a:r>
            <a:r>
              <a:rPr sz="2800" spc="5" dirty="0">
                <a:latin typeface="Calibri"/>
                <a:cs typeface="Calibri"/>
              </a:rPr>
              <a:t> </a:t>
            </a:r>
            <a:r>
              <a:rPr sz="2800" spc="-20" dirty="0">
                <a:latin typeface="Calibri"/>
                <a:cs typeface="Calibri"/>
              </a:rPr>
              <a:t>to</a:t>
            </a:r>
            <a:r>
              <a:rPr sz="2800" spc="-5" dirty="0">
                <a:latin typeface="Calibri"/>
                <a:cs typeface="Calibri"/>
              </a:rPr>
              <a:t> </a:t>
            </a:r>
            <a:r>
              <a:rPr sz="2800" spc="-25" dirty="0">
                <a:latin typeface="Calibri"/>
                <a:cs typeface="Calibri"/>
              </a:rPr>
              <a:t>store</a:t>
            </a:r>
            <a:r>
              <a:rPr sz="2800" spc="15" dirty="0">
                <a:latin typeface="Calibri"/>
                <a:cs typeface="Calibri"/>
              </a:rPr>
              <a:t> </a:t>
            </a:r>
            <a:r>
              <a:rPr sz="2800" spc="-10" dirty="0">
                <a:latin typeface="Calibri"/>
                <a:cs typeface="Calibri"/>
              </a:rPr>
              <a:t>incoming</a:t>
            </a:r>
            <a:r>
              <a:rPr sz="2800" spc="25" dirty="0">
                <a:latin typeface="Calibri"/>
                <a:cs typeface="Calibri"/>
              </a:rPr>
              <a:t> </a:t>
            </a:r>
            <a:r>
              <a:rPr sz="2800" spc="-20" dirty="0">
                <a:latin typeface="Calibri"/>
                <a:cs typeface="Calibri"/>
              </a:rPr>
              <a:t>data.</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indent="-457200">
              <a:lnSpc>
                <a:spcPct val="100000"/>
              </a:lnSpc>
              <a:buFont typeface="Arial MT"/>
              <a:buChar char="•"/>
              <a:tabLst>
                <a:tab pos="469265" algn="l"/>
                <a:tab pos="469900" algn="l"/>
              </a:tabLst>
            </a:pPr>
            <a:r>
              <a:rPr sz="2800" spc="-20" dirty="0">
                <a:latin typeface="Calibri"/>
                <a:cs typeface="Calibri"/>
              </a:rPr>
              <a:t>Error</a:t>
            </a:r>
            <a:r>
              <a:rPr sz="2800" spc="5" dirty="0">
                <a:latin typeface="Calibri"/>
                <a:cs typeface="Calibri"/>
              </a:rPr>
              <a:t> </a:t>
            </a:r>
            <a:r>
              <a:rPr sz="2800" spc="-20" dirty="0">
                <a:latin typeface="Calibri"/>
                <a:cs typeface="Calibri"/>
              </a:rPr>
              <a:t>control</a:t>
            </a:r>
            <a:r>
              <a:rPr sz="2800" spc="5"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both</a:t>
            </a:r>
            <a:r>
              <a:rPr sz="2800" spc="25" dirty="0">
                <a:latin typeface="Calibri"/>
                <a:cs typeface="Calibri"/>
              </a:rPr>
              <a:t> </a:t>
            </a:r>
            <a:r>
              <a:rPr sz="2800" spc="-15" dirty="0">
                <a:latin typeface="Calibri"/>
                <a:cs typeface="Calibri"/>
              </a:rPr>
              <a:t>error</a:t>
            </a:r>
            <a:r>
              <a:rPr sz="2800" spc="5" dirty="0">
                <a:latin typeface="Calibri"/>
                <a:cs typeface="Calibri"/>
              </a:rPr>
              <a:t> </a:t>
            </a:r>
            <a:r>
              <a:rPr sz="2800" spc="-10" dirty="0">
                <a:latin typeface="Calibri"/>
                <a:cs typeface="Calibri"/>
              </a:rPr>
              <a:t>detection</a:t>
            </a:r>
            <a:r>
              <a:rPr sz="2800" dirty="0">
                <a:latin typeface="Calibri"/>
                <a:cs typeface="Calibri"/>
              </a:rPr>
              <a:t> </a:t>
            </a:r>
            <a:r>
              <a:rPr sz="2800" spc="-5" dirty="0">
                <a:latin typeface="Calibri"/>
                <a:cs typeface="Calibri"/>
              </a:rPr>
              <a:t>and</a:t>
            </a:r>
            <a:r>
              <a:rPr sz="2800" spc="25" dirty="0">
                <a:latin typeface="Calibri"/>
                <a:cs typeface="Calibri"/>
              </a:rPr>
              <a:t> </a:t>
            </a:r>
            <a:r>
              <a:rPr sz="2800" spc="-10" dirty="0">
                <a:latin typeface="Calibri"/>
                <a:cs typeface="Calibri"/>
              </a:rPr>
              <a:t>correction.</a:t>
            </a:r>
            <a:endParaRPr sz="2800">
              <a:latin typeface="Calibri"/>
              <a:cs typeface="Calibri"/>
            </a:endParaRPr>
          </a:p>
          <a:p>
            <a:pPr>
              <a:lnSpc>
                <a:spcPct val="100000"/>
              </a:lnSpc>
              <a:buFont typeface="Arial MT"/>
              <a:buChar char="•"/>
            </a:pPr>
            <a:endParaRPr sz="2750">
              <a:latin typeface="Calibri"/>
              <a:cs typeface="Calibri"/>
            </a:endParaRPr>
          </a:p>
          <a:p>
            <a:pPr marL="469900" marR="833119" indent="-457200">
              <a:lnSpc>
                <a:spcPct val="100000"/>
              </a:lnSpc>
              <a:buFont typeface="Arial MT"/>
              <a:buChar char="•"/>
              <a:tabLst>
                <a:tab pos="469265" algn="l"/>
                <a:tab pos="469900" algn="l"/>
              </a:tabLst>
            </a:pPr>
            <a:r>
              <a:rPr sz="2800" spc="-20" dirty="0">
                <a:latin typeface="Calibri"/>
                <a:cs typeface="Calibri"/>
              </a:rPr>
              <a:t>Error</a:t>
            </a:r>
            <a:r>
              <a:rPr sz="2800" spc="5" dirty="0">
                <a:latin typeface="Calibri"/>
                <a:cs typeface="Calibri"/>
              </a:rPr>
              <a:t> </a:t>
            </a:r>
            <a:r>
              <a:rPr sz="2800" spc="-20" dirty="0">
                <a:latin typeface="Calibri"/>
                <a:cs typeface="Calibri"/>
              </a:rPr>
              <a:t>control</a:t>
            </a:r>
            <a:r>
              <a:rPr sz="2800" spc="5" dirty="0">
                <a:latin typeface="Calibri"/>
                <a:cs typeface="Calibri"/>
              </a:rPr>
              <a:t> </a:t>
            </a:r>
            <a:r>
              <a:rPr sz="2800" spc="-5" dirty="0">
                <a:latin typeface="Calibri"/>
                <a:cs typeface="Calibri"/>
              </a:rPr>
              <a:t>in</a:t>
            </a:r>
            <a:r>
              <a:rPr sz="2800" spc="5" dirty="0">
                <a:latin typeface="Calibri"/>
                <a:cs typeface="Calibri"/>
              </a:rPr>
              <a:t> </a:t>
            </a:r>
            <a:r>
              <a:rPr sz="2800" spc="-5" dirty="0">
                <a:latin typeface="Calibri"/>
                <a:cs typeface="Calibri"/>
              </a:rPr>
              <a:t>the </a:t>
            </a:r>
            <a:r>
              <a:rPr sz="2800" spc="-20" dirty="0">
                <a:latin typeface="Calibri"/>
                <a:cs typeface="Calibri"/>
              </a:rPr>
              <a:t>data</a:t>
            </a:r>
            <a:r>
              <a:rPr sz="2800" dirty="0">
                <a:latin typeface="Calibri"/>
                <a:cs typeface="Calibri"/>
              </a:rPr>
              <a:t> </a:t>
            </a:r>
            <a:r>
              <a:rPr sz="2800" spc="-5" dirty="0">
                <a:latin typeface="Calibri"/>
                <a:cs typeface="Calibri"/>
              </a:rPr>
              <a:t>link</a:t>
            </a:r>
            <a:r>
              <a:rPr sz="2800" spc="25" dirty="0">
                <a:latin typeface="Calibri"/>
                <a:cs typeface="Calibri"/>
              </a:rPr>
              <a:t> </a:t>
            </a:r>
            <a:r>
              <a:rPr sz="2800" spc="-25" dirty="0">
                <a:latin typeface="Calibri"/>
                <a:cs typeface="Calibri"/>
              </a:rPr>
              <a:t>layer</a:t>
            </a:r>
            <a:r>
              <a:rPr sz="2800" spc="-15"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based</a:t>
            </a:r>
            <a:r>
              <a:rPr sz="2800" spc="15" dirty="0">
                <a:latin typeface="Calibri"/>
                <a:cs typeface="Calibri"/>
              </a:rPr>
              <a:t> </a:t>
            </a:r>
            <a:r>
              <a:rPr sz="2800" spc="-5" dirty="0">
                <a:latin typeface="Calibri"/>
                <a:cs typeface="Calibri"/>
              </a:rPr>
              <a:t>on</a:t>
            </a:r>
            <a:r>
              <a:rPr sz="2800" spc="5" dirty="0">
                <a:latin typeface="Calibri"/>
                <a:cs typeface="Calibri"/>
              </a:rPr>
              <a:t> </a:t>
            </a:r>
            <a:r>
              <a:rPr sz="2800" spc="-10" dirty="0">
                <a:latin typeface="Calibri"/>
                <a:cs typeface="Calibri"/>
              </a:rPr>
              <a:t>automatic</a:t>
            </a:r>
            <a:r>
              <a:rPr sz="2800" spc="5" dirty="0">
                <a:latin typeface="Calibri"/>
                <a:cs typeface="Calibri"/>
              </a:rPr>
              <a:t> </a:t>
            </a:r>
            <a:r>
              <a:rPr sz="2800" spc="-15" dirty="0">
                <a:latin typeface="Calibri"/>
                <a:cs typeface="Calibri"/>
              </a:rPr>
              <a:t>repeat </a:t>
            </a:r>
            <a:r>
              <a:rPr sz="2800" spc="-620" dirty="0">
                <a:latin typeface="Calibri"/>
                <a:cs typeface="Calibri"/>
              </a:rPr>
              <a:t> </a:t>
            </a:r>
            <a:r>
              <a:rPr sz="2800" spc="-15" dirty="0">
                <a:latin typeface="Calibri"/>
                <a:cs typeface="Calibri"/>
              </a:rPr>
              <a:t>request,</a:t>
            </a:r>
            <a:r>
              <a:rPr sz="2800" spc="25" dirty="0">
                <a:latin typeface="Calibri"/>
                <a:cs typeface="Calibri"/>
              </a:rPr>
              <a:t> </a:t>
            </a:r>
            <a:r>
              <a:rPr sz="2800" spc="-5" dirty="0">
                <a:latin typeface="Calibri"/>
                <a:cs typeface="Calibri"/>
              </a:rPr>
              <a:t>which</a:t>
            </a:r>
            <a:r>
              <a:rPr sz="2800" spc="15"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the </a:t>
            </a:r>
            <a:r>
              <a:rPr sz="2800" spc="-15" dirty="0">
                <a:latin typeface="Calibri"/>
                <a:cs typeface="Calibri"/>
              </a:rPr>
              <a:t>retransmission</a:t>
            </a:r>
            <a:r>
              <a:rPr sz="2800" spc="40" dirty="0">
                <a:latin typeface="Calibri"/>
                <a:cs typeface="Calibri"/>
              </a:rPr>
              <a:t> </a:t>
            </a:r>
            <a:r>
              <a:rPr sz="2800" spc="-5" dirty="0">
                <a:latin typeface="Calibri"/>
                <a:cs typeface="Calibri"/>
              </a:rPr>
              <a:t>of </a:t>
            </a:r>
            <a:r>
              <a:rPr sz="2800" spc="-15" dirty="0">
                <a:latin typeface="Calibri"/>
                <a:cs typeface="Calibri"/>
              </a:rPr>
              <a:t>data.</a:t>
            </a:r>
            <a:endParaRPr sz="2800">
              <a:latin typeface="Calibri"/>
              <a:cs typeface="Calibri"/>
            </a:endParaRPr>
          </a:p>
        </p:txBody>
      </p:sp>
    </p:spTree>
    <p:extLst>
      <p:ext uri="{BB962C8B-B14F-4D97-AF65-F5344CB8AC3E}">
        <p14:creationId xmlns:p14="http://schemas.microsoft.com/office/powerpoint/2010/main" val="180451865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grpSp>
        <p:nvGrpSpPr>
          <p:cNvPr id="4" name="object 4"/>
          <p:cNvGrpSpPr/>
          <p:nvPr/>
        </p:nvGrpSpPr>
        <p:grpSpPr>
          <a:xfrm>
            <a:off x="5612131" y="3081527"/>
            <a:ext cx="475298" cy="2623820"/>
            <a:chOff x="7482840" y="3081527"/>
            <a:chExt cx="633730" cy="2623820"/>
          </a:xfrm>
        </p:grpSpPr>
        <p:pic>
          <p:nvPicPr>
            <p:cNvPr id="5" name="object 5"/>
            <p:cNvPicPr/>
            <p:nvPr/>
          </p:nvPicPr>
          <p:blipFill>
            <a:blip r:embed="rId4" cstate="print"/>
            <a:stretch>
              <a:fillRect/>
            </a:stretch>
          </p:blipFill>
          <p:spPr>
            <a:xfrm>
              <a:off x="7482840" y="3081527"/>
              <a:ext cx="633234" cy="2623566"/>
            </a:xfrm>
            <a:prstGeom prst="rect">
              <a:avLst/>
            </a:prstGeom>
          </p:spPr>
        </p:pic>
        <p:pic>
          <p:nvPicPr>
            <p:cNvPr id="6" name="object 6"/>
            <p:cNvPicPr/>
            <p:nvPr/>
          </p:nvPicPr>
          <p:blipFill>
            <a:blip r:embed="rId5" cstate="print"/>
            <a:stretch>
              <a:fillRect/>
            </a:stretch>
          </p:blipFill>
          <p:spPr>
            <a:xfrm>
              <a:off x="7482840" y="3081527"/>
              <a:ext cx="570750" cy="1643634"/>
            </a:xfrm>
            <a:prstGeom prst="rect">
              <a:avLst/>
            </a:prstGeom>
          </p:spPr>
        </p:pic>
        <p:pic>
          <p:nvPicPr>
            <p:cNvPr id="7" name="object 7"/>
            <p:cNvPicPr/>
            <p:nvPr/>
          </p:nvPicPr>
          <p:blipFill>
            <a:blip r:embed="rId6" cstate="print"/>
            <a:stretch>
              <a:fillRect/>
            </a:stretch>
          </p:blipFill>
          <p:spPr>
            <a:xfrm>
              <a:off x="7482840" y="3081527"/>
              <a:ext cx="550938" cy="709422"/>
            </a:xfrm>
            <a:prstGeom prst="rect">
              <a:avLst/>
            </a:prstGeom>
          </p:spPr>
        </p:pic>
      </p:grpSp>
      <p:pic>
        <p:nvPicPr>
          <p:cNvPr id="8" name="object 8"/>
          <p:cNvPicPr/>
          <p:nvPr/>
        </p:nvPicPr>
        <p:blipFill>
          <a:blip r:embed="rId7" cstate="print"/>
          <a:stretch>
            <a:fillRect/>
          </a:stretch>
        </p:blipFill>
        <p:spPr>
          <a:xfrm>
            <a:off x="4298823" y="1965960"/>
            <a:ext cx="2221420" cy="386334"/>
          </a:xfrm>
          <a:prstGeom prst="rect">
            <a:avLst/>
          </a:prstGeom>
        </p:spPr>
      </p:pic>
      <p:grpSp>
        <p:nvGrpSpPr>
          <p:cNvPr id="9" name="object 9"/>
          <p:cNvGrpSpPr/>
          <p:nvPr/>
        </p:nvGrpSpPr>
        <p:grpSpPr>
          <a:xfrm>
            <a:off x="1124714" y="3076955"/>
            <a:ext cx="436245" cy="1548130"/>
            <a:chOff x="1499616" y="3076955"/>
            <a:chExt cx="581660" cy="1548130"/>
          </a:xfrm>
        </p:grpSpPr>
        <p:pic>
          <p:nvPicPr>
            <p:cNvPr id="10" name="object 10"/>
            <p:cNvPicPr/>
            <p:nvPr/>
          </p:nvPicPr>
          <p:blipFill>
            <a:blip r:embed="rId8" cstate="print"/>
            <a:stretch>
              <a:fillRect/>
            </a:stretch>
          </p:blipFill>
          <p:spPr>
            <a:xfrm>
              <a:off x="1499616" y="3076955"/>
              <a:ext cx="581406" cy="1547622"/>
            </a:xfrm>
            <a:prstGeom prst="rect">
              <a:avLst/>
            </a:prstGeom>
          </p:spPr>
        </p:pic>
        <p:pic>
          <p:nvPicPr>
            <p:cNvPr id="11" name="object 11"/>
            <p:cNvPicPr/>
            <p:nvPr/>
          </p:nvPicPr>
          <p:blipFill>
            <a:blip r:embed="rId9" cstate="print"/>
            <a:stretch>
              <a:fillRect/>
            </a:stretch>
          </p:blipFill>
          <p:spPr>
            <a:xfrm>
              <a:off x="1499616" y="3076955"/>
              <a:ext cx="570750" cy="656082"/>
            </a:xfrm>
            <a:prstGeom prst="rect">
              <a:avLst/>
            </a:prstGeom>
          </p:spPr>
        </p:pic>
      </p:grpSp>
      <p:grpSp>
        <p:nvGrpSpPr>
          <p:cNvPr id="12" name="object 12"/>
          <p:cNvGrpSpPr/>
          <p:nvPr/>
        </p:nvGrpSpPr>
        <p:grpSpPr>
          <a:xfrm>
            <a:off x="1969389" y="1232903"/>
            <a:ext cx="3188494" cy="1151890"/>
            <a:chOff x="2625851" y="1232903"/>
            <a:chExt cx="4251325" cy="1151890"/>
          </a:xfrm>
        </p:grpSpPr>
        <p:pic>
          <p:nvPicPr>
            <p:cNvPr id="13" name="object 13"/>
            <p:cNvPicPr/>
            <p:nvPr/>
          </p:nvPicPr>
          <p:blipFill>
            <a:blip r:embed="rId10" cstate="print"/>
            <a:stretch>
              <a:fillRect/>
            </a:stretch>
          </p:blipFill>
          <p:spPr>
            <a:xfrm>
              <a:off x="2625851" y="1965960"/>
              <a:ext cx="3123438" cy="418338"/>
            </a:xfrm>
            <a:prstGeom prst="rect">
              <a:avLst/>
            </a:prstGeom>
          </p:spPr>
        </p:pic>
        <p:pic>
          <p:nvPicPr>
            <p:cNvPr id="14" name="object 14"/>
            <p:cNvPicPr/>
            <p:nvPr/>
          </p:nvPicPr>
          <p:blipFill>
            <a:blip r:embed="rId11" cstate="print"/>
            <a:stretch>
              <a:fillRect/>
            </a:stretch>
          </p:blipFill>
          <p:spPr>
            <a:xfrm>
              <a:off x="4602479" y="1232903"/>
              <a:ext cx="2274570" cy="738390"/>
            </a:xfrm>
            <a:prstGeom prst="rect">
              <a:avLst/>
            </a:prstGeom>
          </p:spPr>
        </p:pic>
      </p:grpSp>
      <p:sp>
        <p:nvSpPr>
          <p:cNvPr id="15" name="object 15"/>
          <p:cNvSpPr txBox="1">
            <a:spLocks noGrp="1"/>
          </p:cNvSpPr>
          <p:nvPr>
            <p:ph type="title"/>
          </p:nvPr>
        </p:nvSpPr>
        <p:spPr>
          <a:xfrm>
            <a:off x="3835339" y="1170476"/>
            <a:ext cx="943451" cy="781624"/>
          </a:xfrm>
          <a:prstGeom prst="rect">
            <a:avLst/>
          </a:prstGeom>
        </p:spPr>
        <p:txBody>
          <a:bodyPr vert="horz" wrap="square" lIns="0" tIns="12065" rIns="0" bIns="0" rtlCol="0">
            <a:spAutoFit/>
          </a:bodyPr>
          <a:lstStyle/>
          <a:p>
            <a:pPr marL="12700">
              <a:lnSpc>
                <a:spcPct val="100000"/>
              </a:lnSpc>
              <a:spcBef>
                <a:spcPts val="95"/>
              </a:spcBef>
            </a:pPr>
            <a:r>
              <a:rPr sz="2500" b="1" spc="-15" dirty="0">
                <a:solidFill>
                  <a:srgbClr val="FFFFFF"/>
                </a:solidFill>
                <a:latin typeface="Calibri"/>
                <a:cs typeface="Calibri"/>
              </a:rPr>
              <a:t>Protocols</a:t>
            </a:r>
            <a:endParaRPr sz="2500">
              <a:latin typeface="Calibri"/>
              <a:cs typeface="Calibri"/>
            </a:endParaRPr>
          </a:p>
        </p:txBody>
      </p:sp>
      <p:pic>
        <p:nvPicPr>
          <p:cNvPr id="16" name="object 16"/>
          <p:cNvPicPr/>
          <p:nvPr/>
        </p:nvPicPr>
        <p:blipFill>
          <a:blip r:embed="rId12" cstate="print"/>
          <a:stretch>
            <a:fillRect/>
          </a:stretch>
        </p:blipFill>
        <p:spPr>
          <a:xfrm>
            <a:off x="918973" y="2378951"/>
            <a:ext cx="2115122" cy="703338"/>
          </a:xfrm>
          <a:prstGeom prst="rect">
            <a:avLst/>
          </a:prstGeom>
        </p:spPr>
      </p:pic>
      <p:sp>
        <p:nvSpPr>
          <p:cNvPr id="17" name="object 17"/>
          <p:cNvSpPr txBox="1"/>
          <p:nvPr/>
        </p:nvSpPr>
        <p:spPr>
          <a:xfrm>
            <a:off x="1110806" y="2500629"/>
            <a:ext cx="1731645" cy="751488"/>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FFFFFF"/>
                </a:solidFill>
                <a:latin typeface="Calibri"/>
                <a:cs typeface="Calibri"/>
              </a:rPr>
              <a:t>Noiseless</a:t>
            </a:r>
            <a:r>
              <a:rPr sz="2400" b="1" spc="-80" dirty="0">
                <a:solidFill>
                  <a:srgbClr val="FFFFFF"/>
                </a:solidFill>
                <a:latin typeface="Calibri"/>
                <a:cs typeface="Calibri"/>
              </a:rPr>
              <a:t> </a:t>
            </a:r>
            <a:r>
              <a:rPr sz="2400" b="1" spc="-10" dirty="0">
                <a:solidFill>
                  <a:srgbClr val="FFFFFF"/>
                </a:solidFill>
                <a:latin typeface="Calibri"/>
                <a:cs typeface="Calibri"/>
              </a:rPr>
              <a:t>Channel</a:t>
            </a:r>
            <a:endParaRPr sz="2400">
              <a:latin typeface="Calibri"/>
              <a:cs typeface="Calibri"/>
            </a:endParaRPr>
          </a:p>
        </p:txBody>
      </p:sp>
      <p:pic>
        <p:nvPicPr>
          <p:cNvPr id="18" name="object 18"/>
          <p:cNvPicPr/>
          <p:nvPr/>
        </p:nvPicPr>
        <p:blipFill>
          <a:blip r:embed="rId13" cstate="print"/>
          <a:stretch>
            <a:fillRect/>
          </a:stretch>
        </p:blipFill>
        <p:spPr>
          <a:xfrm>
            <a:off x="1548766" y="3354311"/>
            <a:ext cx="1582484" cy="738390"/>
          </a:xfrm>
          <a:prstGeom prst="rect">
            <a:avLst/>
          </a:prstGeom>
        </p:spPr>
      </p:pic>
      <p:sp>
        <p:nvSpPr>
          <p:cNvPr id="19" name="object 19"/>
          <p:cNvSpPr txBox="1"/>
          <p:nvPr/>
        </p:nvSpPr>
        <p:spPr>
          <a:xfrm>
            <a:off x="1919670" y="3485134"/>
            <a:ext cx="841534" cy="781624"/>
          </a:xfrm>
          <a:prstGeom prst="rect">
            <a:avLst/>
          </a:prstGeom>
        </p:spPr>
        <p:txBody>
          <a:bodyPr vert="horz" wrap="square" lIns="0" tIns="12065" rIns="0" bIns="0" rtlCol="0">
            <a:spAutoFit/>
          </a:bodyPr>
          <a:lstStyle/>
          <a:p>
            <a:pPr marL="12700">
              <a:lnSpc>
                <a:spcPct val="100000"/>
              </a:lnSpc>
              <a:spcBef>
                <a:spcPts val="95"/>
              </a:spcBef>
            </a:pPr>
            <a:r>
              <a:rPr sz="2500" spc="-10" dirty="0">
                <a:solidFill>
                  <a:srgbClr val="FFFFFF"/>
                </a:solidFill>
                <a:latin typeface="Calibri"/>
                <a:cs typeface="Calibri"/>
              </a:rPr>
              <a:t>Simplest</a:t>
            </a:r>
            <a:endParaRPr sz="2500">
              <a:latin typeface="Calibri"/>
              <a:cs typeface="Calibri"/>
            </a:endParaRPr>
          </a:p>
        </p:txBody>
      </p:sp>
      <p:pic>
        <p:nvPicPr>
          <p:cNvPr id="20" name="object 20"/>
          <p:cNvPicPr/>
          <p:nvPr/>
        </p:nvPicPr>
        <p:blipFill>
          <a:blip r:embed="rId14" cstate="print"/>
          <a:stretch>
            <a:fillRect/>
          </a:stretch>
        </p:blipFill>
        <p:spPr>
          <a:xfrm>
            <a:off x="1556767" y="4245851"/>
            <a:ext cx="1582484" cy="738390"/>
          </a:xfrm>
          <a:prstGeom prst="rect">
            <a:avLst/>
          </a:prstGeom>
        </p:spPr>
      </p:pic>
      <p:sp>
        <p:nvSpPr>
          <p:cNvPr id="21" name="object 21"/>
          <p:cNvSpPr txBox="1"/>
          <p:nvPr/>
        </p:nvSpPr>
        <p:spPr>
          <a:xfrm>
            <a:off x="1638491" y="4376750"/>
            <a:ext cx="1418748" cy="781624"/>
          </a:xfrm>
          <a:prstGeom prst="rect">
            <a:avLst/>
          </a:prstGeom>
        </p:spPr>
        <p:txBody>
          <a:bodyPr vert="horz" wrap="square" lIns="0" tIns="12065" rIns="0" bIns="0" rtlCol="0">
            <a:spAutoFit/>
          </a:bodyPr>
          <a:lstStyle/>
          <a:p>
            <a:pPr marL="12700">
              <a:lnSpc>
                <a:spcPct val="100000"/>
              </a:lnSpc>
              <a:spcBef>
                <a:spcPts val="95"/>
              </a:spcBef>
            </a:pPr>
            <a:r>
              <a:rPr sz="2500" spc="-15" dirty="0">
                <a:solidFill>
                  <a:srgbClr val="FFFFFF"/>
                </a:solidFill>
                <a:latin typeface="Calibri"/>
                <a:cs typeface="Calibri"/>
              </a:rPr>
              <a:t>Stop-and-Wait</a:t>
            </a:r>
            <a:endParaRPr sz="2500">
              <a:latin typeface="Calibri"/>
              <a:cs typeface="Calibri"/>
            </a:endParaRPr>
          </a:p>
        </p:txBody>
      </p:sp>
      <p:pic>
        <p:nvPicPr>
          <p:cNvPr id="22" name="object 22"/>
          <p:cNvPicPr/>
          <p:nvPr/>
        </p:nvPicPr>
        <p:blipFill>
          <a:blip r:embed="rId15" cstate="print"/>
          <a:stretch>
            <a:fillRect/>
          </a:stretch>
        </p:blipFill>
        <p:spPr>
          <a:xfrm>
            <a:off x="5393818" y="2346947"/>
            <a:ext cx="2240852" cy="739914"/>
          </a:xfrm>
          <a:prstGeom prst="rect">
            <a:avLst/>
          </a:prstGeom>
        </p:spPr>
      </p:pic>
      <p:sp>
        <p:nvSpPr>
          <p:cNvPr id="23" name="object 23"/>
          <p:cNvSpPr txBox="1"/>
          <p:nvPr/>
        </p:nvSpPr>
        <p:spPr>
          <a:xfrm>
            <a:off x="5831016" y="2486610"/>
            <a:ext cx="1369219" cy="751488"/>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FFFFFF"/>
                </a:solidFill>
                <a:latin typeface="Calibri"/>
                <a:cs typeface="Calibri"/>
              </a:rPr>
              <a:t>Noisy</a:t>
            </a:r>
            <a:r>
              <a:rPr sz="2400" b="1" spc="-70" dirty="0">
                <a:solidFill>
                  <a:srgbClr val="FFFFFF"/>
                </a:solidFill>
                <a:latin typeface="Calibri"/>
                <a:cs typeface="Calibri"/>
              </a:rPr>
              <a:t> </a:t>
            </a:r>
            <a:r>
              <a:rPr sz="2400" b="1" spc="-5" dirty="0">
                <a:solidFill>
                  <a:srgbClr val="FFFFFF"/>
                </a:solidFill>
                <a:latin typeface="Calibri"/>
                <a:cs typeface="Calibri"/>
              </a:rPr>
              <a:t>Channel</a:t>
            </a:r>
            <a:endParaRPr sz="2400">
              <a:latin typeface="Calibri"/>
              <a:cs typeface="Calibri"/>
            </a:endParaRPr>
          </a:p>
        </p:txBody>
      </p:sp>
      <p:pic>
        <p:nvPicPr>
          <p:cNvPr id="24" name="object 24"/>
          <p:cNvPicPr/>
          <p:nvPr/>
        </p:nvPicPr>
        <p:blipFill>
          <a:blip r:embed="rId16" cstate="print"/>
          <a:stretch>
            <a:fillRect/>
          </a:stretch>
        </p:blipFill>
        <p:spPr>
          <a:xfrm>
            <a:off x="6021325" y="3412223"/>
            <a:ext cx="1793939" cy="739914"/>
          </a:xfrm>
          <a:prstGeom prst="rect">
            <a:avLst/>
          </a:prstGeom>
        </p:spPr>
      </p:pic>
      <p:sp>
        <p:nvSpPr>
          <p:cNvPr id="25" name="object 25"/>
          <p:cNvSpPr txBox="1"/>
          <p:nvPr/>
        </p:nvSpPr>
        <p:spPr>
          <a:xfrm>
            <a:off x="6210491" y="3369311"/>
            <a:ext cx="1418748" cy="1127873"/>
          </a:xfrm>
          <a:prstGeom prst="rect">
            <a:avLst/>
          </a:prstGeom>
        </p:spPr>
        <p:txBody>
          <a:bodyPr vert="horz" wrap="square" lIns="0" tIns="50165" rIns="0" bIns="0" rtlCol="0">
            <a:spAutoFit/>
          </a:bodyPr>
          <a:lstStyle/>
          <a:p>
            <a:pPr marL="662940" marR="5080" indent="-650875">
              <a:lnSpc>
                <a:spcPts val="2750"/>
              </a:lnSpc>
              <a:spcBef>
                <a:spcPts val="395"/>
              </a:spcBef>
            </a:pPr>
            <a:r>
              <a:rPr sz="2500" spc="-10" dirty="0">
                <a:solidFill>
                  <a:srgbClr val="FFFFFF"/>
                </a:solidFill>
                <a:latin typeface="Calibri"/>
                <a:cs typeface="Calibri"/>
              </a:rPr>
              <a:t>S</a:t>
            </a:r>
            <a:r>
              <a:rPr sz="2500" spc="-25" dirty="0">
                <a:solidFill>
                  <a:srgbClr val="FFFFFF"/>
                </a:solidFill>
                <a:latin typeface="Calibri"/>
                <a:cs typeface="Calibri"/>
              </a:rPr>
              <a:t>t</a:t>
            </a:r>
            <a:r>
              <a:rPr sz="2500" spc="-10" dirty="0">
                <a:solidFill>
                  <a:srgbClr val="FFFFFF"/>
                </a:solidFill>
                <a:latin typeface="Calibri"/>
                <a:cs typeface="Calibri"/>
              </a:rPr>
              <a:t>o</a:t>
            </a:r>
            <a:r>
              <a:rPr sz="2500" spc="-5" dirty="0">
                <a:solidFill>
                  <a:srgbClr val="FFFFFF"/>
                </a:solidFill>
                <a:latin typeface="Calibri"/>
                <a:cs typeface="Calibri"/>
              </a:rPr>
              <a:t>p-an</a:t>
            </a:r>
            <a:r>
              <a:rPr sz="2500" spc="-10" dirty="0">
                <a:solidFill>
                  <a:srgbClr val="FFFFFF"/>
                </a:solidFill>
                <a:latin typeface="Calibri"/>
                <a:cs typeface="Calibri"/>
              </a:rPr>
              <a:t>d</a:t>
            </a:r>
            <a:r>
              <a:rPr sz="2500" dirty="0">
                <a:solidFill>
                  <a:srgbClr val="FFFFFF"/>
                </a:solidFill>
                <a:latin typeface="Calibri"/>
                <a:cs typeface="Calibri"/>
              </a:rPr>
              <a:t>-</a:t>
            </a:r>
            <a:r>
              <a:rPr sz="2500" spc="-90" dirty="0">
                <a:solidFill>
                  <a:srgbClr val="FFFFFF"/>
                </a:solidFill>
                <a:latin typeface="Calibri"/>
                <a:cs typeface="Calibri"/>
              </a:rPr>
              <a:t>W</a:t>
            </a:r>
            <a:r>
              <a:rPr sz="2500" spc="-5" dirty="0">
                <a:solidFill>
                  <a:srgbClr val="FFFFFF"/>
                </a:solidFill>
                <a:latin typeface="Calibri"/>
                <a:cs typeface="Calibri"/>
              </a:rPr>
              <a:t>ait  </a:t>
            </a:r>
            <a:r>
              <a:rPr sz="2500" spc="-15" dirty="0">
                <a:solidFill>
                  <a:srgbClr val="FFFFFF"/>
                </a:solidFill>
                <a:latin typeface="Calibri"/>
                <a:cs typeface="Calibri"/>
              </a:rPr>
              <a:t>ARQ</a:t>
            </a:r>
            <a:endParaRPr sz="2500">
              <a:latin typeface="Calibri"/>
              <a:cs typeface="Calibri"/>
            </a:endParaRPr>
          </a:p>
        </p:txBody>
      </p:sp>
      <p:pic>
        <p:nvPicPr>
          <p:cNvPr id="26" name="object 26"/>
          <p:cNvPicPr/>
          <p:nvPr/>
        </p:nvPicPr>
        <p:blipFill>
          <a:blip r:embed="rId17" cstate="print"/>
          <a:stretch>
            <a:fillRect/>
          </a:stretch>
        </p:blipFill>
        <p:spPr>
          <a:xfrm>
            <a:off x="6036183" y="4346435"/>
            <a:ext cx="1780222" cy="739914"/>
          </a:xfrm>
          <a:prstGeom prst="rect">
            <a:avLst/>
          </a:prstGeom>
        </p:spPr>
      </p:pic>
      <p:sp>
        <p:nvSpPr>
          <p:cNvPr id="27" name="object 27"/>
          <p:cNvSpPr txBox="1"/>
          <p:nvPr/>
        </p:nvSpPr>
        <p:spPr>
          <a:xfrm>
            <a:off x="6166105" y="4477892"/>
            <a:ext cx="1524953" cy="781624"/>
          </a:xfrm>
          <a:prstGeom prst="rect">
            <a:avLst/>
          </a:prstGeom>
        </p:spPr>
        <p:txBody>
          <a:bodyPr vert="horz" wrap="square" lIns="0" tIns="12065" rIns="0" bIns="0" rtlCol="0">
            <a:spAutoFit/>
          </a:bodyPr>
          <a:lstStyle/>
          <a:p>
            <a:pPr marL="12700">
              <a:lnSpc>
                <a:spcPct val="100000"/>
              </a:lnSpc>
              <a:spcBef>
                <a:spcPts val="95"/>
              </a:spcBef>
            </a:pPr>
            <a:r>
              <a:rPr sz="2500" spc="-5" dirty="0">
                <a:solidFill>
                  <a:srgbClr val="FFFFFF"/>
                </a:solidFill>
                <a:latin typeface="Calibri"/>
                <a:cs typeface="Calibri"/>
              </a:rPr>
              <a:t>Go-Back-N</a:t>
            </a:r>
            <a:r>
              <a:rPr sz="2500" spc="-55" dirty="0">
                <a:solidFill>
                  <a:srgbClr val="FFFFFF"/>
                </a:solidFill>
                <a:latin typeface="Calibri"/>
                <a:cs typeface="Calibri"/>
              </a:rPr>
              <a:t> </a:t>
            </a:r>
            <a:r>
              <a:rPr sz="2500" spc="-15" dirty="0">
                <a:solidFill>
                  <a:srgbClr val="FFFFFF"/>
                </a:solidFill>
                <a:latin typeface="Calibri"/>
                <a:cs typeface="Calibri"/>
              </a:rPr>
              <a:t>ARQ</a:t>
            </a:r>
            <a:endParaRPr sz="2500">
              <a:latin typeface="Calibri"/>
              <a:cs typeface="Calibri"/>
            </a:endParaRPr>
          </a:p>
        </p:txBody>
      </p:sp>
      <p:pic>
        <p:nvPicPr>
          <p:cNvPr id="28" name="object 28"/>
          <p:cNvPicPr/>
          <p:nvPr/>
        </p:nvPicPr>
        <p:blipFill>
          <a:blip r:embed="rId18" cstate="print"/>
          <a:stretch>
            <a:fillRect/>
          </a:stretch>
        </p:blipFill>
        <p:spPr>
          <a:xfrm>
            <a:off x="6083047" y="5327903"/>
            <a:ext cx="1758506" cy="738390"/>
          </a:xfrm>
          <a:prstGeom prst="rect">
            <a:avLst/>
          </a:prstGeom>
        </p:spPr>
      </p:pic>
      <p:sp>
        <p:nvSpPr>
          <p:cNvPr id="29" name="object 29"/>
          <p:cNvSpPr txBox="1"/>
          <p:nvPr/>
        </p:nvSpPr>
        <p:spPr>
          <a:xfrm>
            <a:off x="6158103" y="5284422"/>
            <a:ext cx="1610678" cy="1127873"/>
          </a:xfrm>
          <a:prstGeom prst="rect">
            <a:avLst/>
          </a:prstGeom>
        </p:spPr>
        <p:txBody>
          <a:bodyPr vert="horz" wrap="square" lIns="0" tIns="50165" rIns="0" bIns="0" rtlCol="0">
            <a:spAutoFit/>
          </a:bodyPr>
          <a:lstStyle/>
          <a:p>
            <a:pPr marL="791210" marR="5080" indent="-779145">
              <a:lnSpc>
                <a:spcPts val="2750"/>
              </a:lnSpc>
              <a:spcBef>
                <a:spcPts val="395"/>
              </a:spcBef>
            </a:pPr>
            <a:r>
              <a:rPr sz="2500" spc="-5" dirty="0">
                <a:solidFill>
                  <a:srgbClr val="FFFFFF"/>
                </a:solidFill>
                <a:latin typeface="Calibri"/>
                <a:cs typeface="Calibri"/>
              </a:rPr>
              <a:t>Selective</a:t>
            </a:r>
            <a:r>
              <a:rPr sz="2500" spc="-95" dirty="0">
                <a:solidFill>
                  <a:srgbClr val="FFFFFF"/>
                </a:solidFill>
                <a:latin typeface="Calibri"/>
                <a:cs typeface="Calibri"/>
              </a:rPr>
              <a:t> </a:t>
            </a:r>
            <a:r>
              <a:rPr sz="2500" spc="-15" dirty="0">
                <a:solidFill>
                  <a:srgbClr val="FFFFFF"/>
                </a:solidFill>
                <a:latin typeface="Calibri"/>
                <a:cs typeface="Calibri"/>
              </a:rPr>
              <a:t>Repeat </a:t>
            </a:r>
            <a:r>
              <a:rPr sz="2500" spc="-550" dirty="0">
                <a:solidFill>
                  <a:srgbClr val="FFFFFF"/>
                </a:solidFill>
                <a:latin typeface="Calibri"/>
                <a:cs typeface="Calibri"/>
              </a:rPr>
              <a:t> </a:t>
            </a:r>
            <a:r>
              <a:rPr sz="2500" spc="-15" dirty="0">
                <a:solidFill>
                  <a:srgbClr val="FFFFFF"/>
                </a:solidFill>
                <a:latin typeface="Calibri"/>
                <a:cs typeface="Calibri"/>
              </a:rPr>
              <a:t>ARQ</a:t>
            </a:r>
            <a:endParaRPr sz="2500">
              <a:latin typeface="Calibri"/>
              <a:cs typeface="Calibri"/>
            </a:endParaRPr>
          </a:p>
        </p:txBody>
      </p:sp>
    </p:spTree>
    <p:extLst>
      <p:ext uri="{BB962C8B-B14F-4D97-AF65-F5344CB8AC3E}">
        <p14:creationId xmlns:p14="http://schemas.microsoft.com/office/powerpoint/2010/main" val="272932781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4387" y="68775"/>
            <a:ext cx="2591753" cy="1367041"/>
          </a:xfrm>
          <a:prstGeom prst="rect">
            <a:avLst/>
          </a:prstGeom>
        </p:spPr>
        <p:txBody>
          <a:bodyPr vert="horz" wrap="square" lIns="0" tIns="12700" rIns="0" bIns="0" rtlCol="0">
            <a:spAutoFit/>
          </a:bodyPr>
          <a:lstStyle/>
          <a:p>
            <a:pPr marL="12700">
              <a:lnSpc>
                <a:spcPct val="100000"/>
              </a:lnSpc>
              <a:spcBef>
                <a:spcPts val="100"/>
              </a:spcBef>
            </a:pPr>
            <a:r>
              <a:rPr b="1" dirty="0">
                <a:latin typeface="Calibri"/>
                <a:cs typeface="Calibri"/>
              </a:rPr>
              <a:t>Noiseless</a:t>
            </a:r>
            <a:r>
              <a:rPr b="1" spc="-80" dirty="0">
                <a:latin typeface="Calibri"/>
                <a:cs typeface="Calibri"/>
              </a:rPr>
              <a:t> </a:t>
            </a:r>
            <a:r>
              <a:rPr b="1" spc="-5" dirty="0">
                <a:latin typeface="Calibri"/>
                <a:cs typeface="Calibri"/>
              </a:rPr>
              <a:t>Channel</a:t>
            </a: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sp>
        <p:nvSpPr>
          <p:cNvPr id="8" name="object 8"/>
          <p:cNvSpPr txBox="1"/>
          <p:nvPr/>
        </p:nvSpPr>
        <p:spPr>
          <a:xfrm>
            <a:off x="710565" y="1162817"/>
            <a:ext cx="7845743" cy="3463290"/>
          </a:xfrm>
          <a:prstGeom prst="rect">
            <a:avLst/>
          </a:prstGeom>
        </p:spPr>
        <p:txBody>
          <a:bodyPr vert="horz" wrap="square" lIns="0" tIns="12065" rIns="0" bIns="0" rtlCol="0">
            <a:spAutoFit/>
          </a:bodyPr>
          <a:lstStyle/>
          <a:p>
            <a:pPr marL="12700" marR="5080">
              <a:lnSpc>
                <a:spcPct val="150000"/>
              </a:lnSpc>
              <a:spcBef>
                <a:spcPts val="95"/>
              </a:spcBef>
            </a:pPr>
            <a:r>
              <a:rPr sz="2800" spc="-10" dirty="0">
                <a:latin typeface="Calibri"/>
                <a:cs typeface="Calibri"/>
              </a:rPr>
              <a:t>Let</a:t>
            </a:r>
            <a:r>
              <a:rPr sz="2800" spc="-5" dirty="0">
                <a:latin typeface="Calibri"/>
                <a:cs typeface="Calibri"/>
              </a:rPr>
              <a:t> us</a:t>
            </a:r>
            <a:r>
              <a:rPr sz="2800" spc="5" dirty="0">
                <a:latin typeface="Calibri"/>
                <a:cs typeface="Calibri"/>
              </a:rPr>
              <a:t> </a:t>
            </a:r>
            <a:r>
              <a:rPr sz="2800" spc="-25" dirty="0">
                <a:latin typeface="Calibri"/>
                <a:cs typeface="Calibri"/>
              </a:rPr>
              <a:t>first</a:t>
            </a:r>
            <a:r>
              <a:rPr sz="2800" spc="25" dirty="0">
                <a:latin typeface="Calibri"/>
                <a:cs typeface="Calibri"/>
              </a:rPr>
              <a:t> </a:t>
            </a:r>
            <a:r>
              <a:rPr sz="2800" spc="-5" dirty="0">
                <a:latin typeface="Calibri"/>
                <a:cs typeface="Calibri"/>
              </a:rPr>
              <a:t>assume</a:t>
            </a:r>
            <a:r>
              <a:rPr sz="2800" spc="20" dirty="0">
                <a:latin typeface="Calibri"/>
                <a:cs typeface="Calibri"/>
              </a:rPr>
              <a:t> </a:t>
            </a:r>
            <a:r>
              <a:rPr sz="2800" spc="-15" dirty="0">
                <a:latin typeface="Calibri"/>
                <a:cs typeface="Calibri"/>
              </a:rPr>
              <a:t>we</a:t>
            </a:r>
            <a:r>
              <a:rPr sz="2800" dirty="0">
                <a:latin typeface="Calibri"/>
                <a:cs typeface="Calibri"/>
              </a:rPr>
              <a:t> </a:t>
            </a:r>
            <a:r>
              <a:rPr sz="2800" spc="-25" dirty="0">
                <a:latin typeface="Calibri"/>
                <a:cs typeface="Calibri"/>
              </a:rPr>
              <a:t>have</a:t>
            </a:r>
            <a:r>
              <a:rPr sz="2800" spc="5" dirty="0">
                <a:latin typeface="Calibri"/>
                <a:cs typeface="Calibri"/>
              </a:rPr>
              <a:t> </a:t>
            </a:r>
            <a:r>
              <a:rPr sz="2800" dirty="0">
                <a:latin typeface="Calibri"/>
                <a:cs typeface="Calibri"/>
              </a:rPr>
              <a:t>an</a:t>
            </a:r>
            <a:r>
              <a:rPr sz="2800" spc="5" dirty="0">
                <a:latin typeface="Calibri"/>
                <a:cs typeface="Calibri"/>
              </a:rPr>
              <a:t> </a:t>
            </a:r>
            <a:r>
              <a:rPr sz="2800" spc="-5" dirty="0">
                <a:latin typeface="Calibri"/>
                <a:cs typeface="Calibri"/>
              </a:rPr>
              <a:t>ideal</a:t>
            </a:r>
            <a:r>
              <a:rPr sz="2800" dirty="0">
                <a:latin typeface="Calibri"/>
                <a:cs typeface="Calibri"/>
              </a:rPr>
              <a:t> </a:t>
            </a:r>
            <a:r>
              <a:rPr sz="2800" spc="-5" dirty="0">
                <a:latin typeface="Calibri"/>
                <a:cs typeface="Calibri"/>
              </a:rPr>
              <a:t>channel</a:t>
            </a:r>
            <a:r>
              <a:rPr sz="2800" spc="20" dirty="0">
                <a:latin typeface="Calibri"/>
                <a:cs typeface="Calibri"/>
              </a:rPr>
              <a:t> </a:t>
            </a:r>
            <a:r>
              <a:rPr sz="2800" spc="-5" dirty="0">
                <a:latin typeface="Calibri"/>
                <a:cs typeface="Calibri"/>
              </a:rPr>
              <a:t>in</a:t>
            </a:r>
            <a:r>
              <a:rPr sz="2800" dirty="0">
                <a:latin typeface="Calibri"/>
                <a:cs typeface="Calibri"/>
              </a:rPr>
              <a:t> </a:t>
            </a:r>
            <a:r>
              <a:rPr sz="2800" spc="-5" dirty="0">
                <a:latin typeface="Calibri"/>
                <a:cs typeface="Calibri"/>
              </a:rPr>
              <a:t>which</a:t>
            </a:r>
            <a:r>
              <a:rPr sz="2800" spc="15" dirty="0">
                <a:latin typeface="Calibri"/>
                <a:cs typeface="Calibri"/>
              </a:rPr>
              <a:t> </a:t>
            </a:r>
            <a:r>
              <a:rPr sz="2800" spc="-5" dirty="0">
                <a:latin typeface="Calibri"/>
                <a:cs typeface="Calibri"/>
              </a:rPr>
              <a:t>no</a:t>
            </a:r>
            <a:r>
              <a:rPr sz="2800" spc="10" dirty="0">
                <a:latin typeface="Calibri"/>
                <a:cs typeface="Calibri"/>
              </a:rPr>
              <a:t> </a:t>
            </a:r>
            <a:r>
              <a:rPr sz="2800" spc="-15" dirty="0">
                <a:latin typeface="Calibri"/>
                <a:cs typeface="Calibri"/>
              </a:rPr>
              <a:t>frames</a:t>
            </a:r>
            <a:r>
              <a:rPr sz="2800" spc="10" dirty="0">
                <a:latin typeface="Calibri"/>
                <a:cs typeface="Calibri"/>
              </a:rPr>
              <a:t> </a:t>
            </a:r>
            <a:r>
              <a:rPr sz="2800" spc="-20" dirty="0">
                <a:latin typeface="Calibri"/>
                <a:cs typeface="Calibri"/>
              </a:rPr>
              <a:t>are</a:t>
            </a:r>
            <a:r>
              <a:rPr sz="2800" dirty="0">
                <a:latin typeface="Calibri"/>
                <a:cs typeface="Calibri"/>
              </a:rPr>
              <a:t> </a:t>
            </a:r>
            <a:r>
              <a:rPr sz="2800" spc="-15" dirty="0">
                <a:latin typeface="Calibri"/>
                <a:cs typeface="Calibri"/>
              </a:rPr>
              <a:t>lost, </a:t>
            </a:r>
            <a:r>
              <a:rPr sz="2800" spc="-615" dirty="0">
                <a:latin typeface="Calibri"/>
                <a:cs typeface="Calibri"/>
              </a:rPr>
              <a:t> </a:t>
            </a:r>
            <a:r>
              <a:rPr sz="2800" spc="-15" dirty="0">
                <a:latin typeface="Calibri"/>
                <a:cs typeface="Calibri"/>
              </a:rPr>
              <a:t>duplicated,</a:t>
            </a:r>
            <a:r>
              <a:rPr sz="2800" spc="25" dirty="0">
                <a:latin typeface="Calibri"/>
                <a:cs typeface="Calibri"/>
              </a:rPr>
              <a:t> </a:t>
            </a:r>
            <a:r>
              <a:rPr sz="2800" spc="-5" dirty="0">
                <a:latin typeface="Calibri"/>
                <a:cs typeface="Calibri"/>
              </a:rPr>
              <a:t>or</a:t>
            </a:r>
            <a:r>
              <a:rPr sz="2800" dirty="0">
                <a:latin typeface="Calibri"/>
                <a:cs typeface="Calibri"/>
              </a:rPr>
              <a:t> </a:t>
            </a:r>
            <a:r>
              <a:rPr sz="2800" spc="-15" dirty="0">
                <a:latin typeface="Calibri"/>
                <a:cs typeface="Calibri"/>
              </a:rPr>
              <a:t>corrupted.</a:t>
            </a:r>
            <a:r>
              <a:rPr sz="2800" spc="35" dirty="0">
                <a:latin typeface="Calibri"/>
                <a:cs typeface="Calibri"/>
              </a:rPr>
              <a:t> </a:t>
            </a:r>
            <a:r>
              <a:rPr sz="2800" spc="-60" dirty="0">
                <a:latin typeface="Calibri"/>
                <a:cs typeface="Calibri"/>
              </a:rPr>
              <a:t>We</a:t>
            </a:r>
            <a:r>
              <a:rPr sz="2800" spc="15" dirty="0">
                <a:latin typeface="Calibri"/>
                <a:cs typeface="Calibri"/>
              </a:rPr>
              <a:t> </a:t>
            </a:r>
            <a:r>
              <a:rPr sz="2800" spc="-15" dirty="0">
                <a:latin typeface="Calibri"/>
                <a:cs typeface="Calibri"/>
              </a:rPr>
              <a:t>introduce</a:t>
            </a:r>
            <a:r>
              <a:rPr sz="2800" spc="35" dirty="0">
                <a:latin typeface="Calibri"/>
                <a:cs typeface="Calibri"/>
              </a:rPr>
              <a:t> </a:t>
            </a:r>
            <a:r>
              <a:rPr sz="2800" spc="-10" dirty="0">
                <a:latin typeface="Calibri"/>
                <a:cs typeface="Calibri"/>
              </a:rPr>
              <a:t>two</a:t>
            </a:r>
            <a:r>
              <a:rPr sz="2800" dirty="0">
                <a:latin typeface="Calibri"/>
                <a:cs typeface="Calibri"/>
              </a:rPr>
              <a:t> </a:t>
            </a:r>
            <a:r>
              <a:rPr sz="2800" spc="-20" dirty="0">
                <a:latin typeface="Calibri"/>
                <a:cs typeface="Calibri"/>
              </a:rPr>
              <a:t>protocols</a:t>
            </a:r>
            <a:r>
              <a:rPr sz="2800" spc="20" dirty="0">
                <a:latin typeface="Calibri"/>
                <a:cs typeface="Calibri"/>
              </a:rPr>
              <a:t> </a:t>
            </a:r>
            <a:r>
              <a:rPr sz="2800" spc="-25" dirty="0">
                <a:latin typeface="Calibri"/>
                <a:cs typeface="Calibri"/>
              </a:rPr>
              <a:t>for</a:t>
            </a:r>
            <a:r>
              <a:rPr sz="2800" spc="-5" dirty="0">
                <a:latin typeface="Calibri"/>
                <a:cs typeface="Calibri"/>
              </a:rPr>
              <a:t> this</a:t>
            </a:r>
            <a:r>
              <a:rPr sz="2800" spc="25" dirty="0">
                <a:latin typeface="Calibri"/>
                <a:cs typeface="Calibri"/>
              </a:rPr>
              <a:t> </a:t>
            </a:r>
            <a:r>
              <a:rPr sz="2800" spc="-5" dirty="0">
                <a:latin typeface="Calibri"/>
                <a:cs typeface="Calibri"/>
              </a:rPr>
              <a:t>type</a:t>
            </a:r>
            <a:r>
              <a:rPr sz="2800" dirty="0">
                <a:latin typeface="Calibri"/>
                <a:cs typeface="Calibri"/>
              </a:rPr>
              <a:t> </a:t>
            </a:r>
            <a:r>
              <a:rPr sz="2800" spc="-10" dirty="0">
                <a:latin typeface="Calibri"/>
                <a:cs typeface="Calibri"/>
              </a:rPr>
              <a:t>of </a:t>
            </a:r>
            <a:r>
              <a:rPr sz="2800" spc="-5" dirty="0">
                <a:latin typeface="Calibri"/>
                <a:cs typeface="Calibri"/>
              </a:rPr>
              <a:t> channel.</a:t>
            </a:r>
            <a:endParaRPr sz="2800">
              <a:latin typeface="Calibri"/>
              <a:cs typeface="Calibri"/>
            </a:endParaRPr>
          </a:p>
          <a:p>
            <a:pPr marL="697865" indent="-287655">
              <a:lnSpc>
                <a:spcPct val="100000"/>
              </a:lnSpc>
              <a:spcBef>
                <a:spcPts val="2345"/>
              </a:spcBef>
              <a:buFont typeface="Arial MT"/>
              <a:buChar char="•"/>
              <a:tabLst>
                <a:tab pos="698500" algn="l"/>
              </a:tabLst>
            </a:pPr>
            <a:r>
              <a:rPr sz="3200" spc="-10" dirty="0">
                <a:solidFill>
                  <a:srgbClr val="006FC0"/>
                </a:solidFill>
                <a:latin typeface="Calibri"/>
                <a:cs typeface="Calibri"/>
              </a:rPr>
              <a:t>Simplest </a:t>
            </a:r>
            <a:r>
              <a:rPr sz="3200" spc="-20" dirty="0">
                <a:solidFill>
                  <a:srgbClr val="006FC0"/>
                </a:solidFill>
                <a:latin typeface="Calibri"/>
                <a:cs typeface="Calibri"/>
              </a:rPr>
              <a:t>Protocol</a:t>
            </a:r>
            <a:endParaRPr sz="3200">
              <a:latin typeface="Calibri"/>
              <a:cs typeface="Calibri"/>
            </a:endParaRPr>
          </a:p>
          <a:p>
            <a:pPr marL="697865" indent="-287655">
              <a:lnSpc>
                <a:spcPct val="100000"/>
              </a:lnSpc>
              <a:spcBef>
                <a:spcPts val="1920"/>
              </a:spcBef>
              <a:buFont typeface="Arial MT"/>
              <a:buChar char="•"/>
              <a:tabLst>
                <a:tab pos="698500" algn="l"/>
              </a:tabLst>
            </a:pPr>
            <a:r>
              <a:rPr sz="3200" spc="-15" dirty="0">
                <a:solidFill>
                  <a:srgbClr val="006FC0"/>
                </a:solidFill>
                <a:latin typeface="Calibri"/>
                <a:cs typeface="Calibri"/>
              </a:rPr>
              <a:t>Stop-and-Wait</a:t>
            </a:r>
            <a:r>
              <a:rPr sz="3200" dirty="0">
                <a:solidFill>
                  <a:srgbClr val="006FC0"/>
                </a:solidFill>
                <a:latin typeface="Calibri"/>
                <a:cs typeface="Calibri"/>
              </a:rPr>
              <a:t> </a:t>
            </a:r>
            <a:r>
              <a:rPr sz="3200" spc="-20" dirty="0">
                <a:solidFill>
                  <a:srgbClr val="006FC0"/>
                </a:solidFill>
                <a:latin typeface="Calibri"/>
                <a:cs typeface="Calibri"/>
              </a:rPr>
              <a:t>Protocol</a:t>
            </a:r>
            <a:endParaRPr sz="3200">
              <a:latin typeface="Calibri"/>
              <a:cs typeface="Calibri"/>
            </a:endParaRPr>
          </a:p>
        </p:txBody>
      </p:sp>
    </p:spTree>
    <p:extLst>
      <p:ext uri="{BB962C8B-B14F-4D97-AF65-F5344CB8AC3E}">
        <p14:creationId xmlns:p14="http://schemas.microsoft.com/office/powerpoint/2010/main" val="270449073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5536" y="68775"/>
            <a:ext cx="2512219"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Simplest</a:t>
            </a:r>
            <a:r>
              <a:rPr b="1" spc="-70" dirty="0">
                <a:latin typeface="Calibri"/>
                <a:cs typeface="Calibri"/>
              </a:rPr>
              <a:t> </a:t>
            </a:r>
            <a:r>
              <a:rPr b="1" spc="-15" dirty="0">
                <a:latin typeface="Calibri"/>
                <a:cs typeface="Calibri"/>
              </a:rPr>
              <a:t>Protocol</a:t>
            </a: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sp>
        <p:nvSpPr>
          <p:cNvPr id="8" name="object 8"/>
          <p:cNvSpPr txBox="1"/>
          <p:nvPr/>
        </p:nvSpPr>
        <p:spPr>
          <a:xfrm>
            <a:off x="675134" y="1560020"/>
            <a:ext cx="7792879" cy="4432624"/>
          </a:xfrm>
          <a:prstGeom prst="rect">
            <a:avLst/>
          </a:prstGeom>
        </p:spPr>
        <p:txBody>
          <a:bodyPr vert="horz" wrap="square" lIns="0" tIns="13335" rIns="0" bIns="0" rtlCol="0">
            <a:spAutoFit/>
          </a:bodyPr>
          <a:lstStyle/>
          <a:p>
            <a:pPr marL="299085" indent="-287020">
              <a:lnSpc>
                <a:spcPct val="100000"/>
              </a:lnSpc>
              <a:spcBef>
                <a:spcPts val="105"/>
              </a:spcBef>
              <a:buFont typeface="Arial MT"/>
              <a:buChar char="•"/>
              <a:tabLst>
                <a:tab pos="299720" algn="l"/>
              </a:tabLst>
            </a:pPr>
            <a:r>
              <a:rPr sz="3200" spc="-5" dirty="0">
                <a:latin typeface="Calibri"/>
                <a:cs typeface="Calibri"/>
              </a:rPr>
              <a:t>Cannot</a:t>
            </a:r>
            <a:r>
              <a:rPr sz="3200" spc="15" dirty="0">
                <a:latin typeface="Calibri"/>
                <a:cs typeface="Calibri"/>
              </a:rPr>
              <a:t> </a:t>
            </a:r>
            <a:r>
              <a:rPr sz="3200" dirty="0">
                <a:latin typeface="Calibri"/>
                <a:cs typeface="Calibri"/>
              </a:rPr>
              <a:t>be</a:t>
            </a:r>
            <a:r>
              <a:rPr sz="3200" spc="-15" dirty="0">
                <a:latin typeface="Calibri"/>
                <a:cs typeface="Calibri"/>
              </a:rPr>
              <a:t> </a:t>
            </a:r>
            <a:r>
              <a:rPr sz="3200" spc="-5" dirty="0">
                <a:latin typeface="Calibri"/>
                <a:cs typeface="Calibri"/>
              </a:rPr>
              <a:t>used</a:t>
            </a:r>
            <a:r>
              <a:rPr sz="3200" dirty="0">
                <a:latin typeface="Calibri"/>
                <a:cs typeface="Calibri"/>
              </a:rPr>
              <a:t> </a:t>
            </a:r>
            <a:r>
              <a:rPr sz="3200" spc="-5" dirty="0">
                <a:latin typeface="Calibri"/>
                <a:cs typeface="Calibri"/>
              </a:rPr>
              <a:t>in</a:t>
            </a:r>
            <a:r>
              <a:rPr sz="3200" spc="10" dirty="0">
                <a:latin typeface="Calibri"/>
                <a:cs typeface="Calibri"/>
              </a:rPr>
              <a:t> </a:t>
            </a:r>
            <a:r>
              <a:rPr sz="3200" spc="-10" dirty="0">
                <a:latin typeface="Calibri"/>
                <a:cs typeface="Calibri"/>
              </a:rPr>
              <a:t>real</a:t>
            </a:r>
            <a:r>
              <a:rPr sz="3200" spc="-35" dirty="0">
                <a:latin typeface="Calibri"/>
                <a:cs typeface="Calibri"/>
              </a:rPr>
              <a:t> </a:t>
            </a:r>
            <a:r>
              <a:rPr sz="3200" spc="-25" dirty="0">
                <a:latin typeface="Calibri"/>
                <a:cs typeface="Calibri"/>
              </a:rPr>
              <a:t>life</a:t>
            </a:r>
            <a:endParaRPr sz="3200">
              <a:latin typeface="Calibri"/>
              <a:cs typeface="Calibri"/>
            </a:endParaRPr>
          </a:p>
          <a:p>
            <a:pPr>
              <a:lnSpc>
                <a:spcPct val="100000"/>
              </a:lnSpc>
              <a:spcBef>
                <a:spcPts val="60"/>
              </a:spcBef>
              <a:buFont typeface="Arial MT"/>
              <a:buChar char="•"/>
            </a:pPr>
            <a:endParaRPr sz="3100">
              <a:latin typeface="Calibri"/>
              <a:cs typeface="Calibri"/>
            </a:endParaRPr>
          </a:p>
          <a:p>
            <a:pPr marL="299085" indent="-287020">
              <a:lnSpc>
                <a:spcPct val="100000"/>
              </a:lnSpc>
              <a:buFont typeface="Arial MT"/>
              <a:buChar char="•"/>
              <a:tabLst>
                <a:tab pos="299720" algn="l"/>
              </a:tabLst>
            </a:pPr>
            <a:r>
              <a:rPr sz="3200" spc="-5" dirty="0">
                <a:latin typeface="Calibri"/>
                <a:cs typeface="Calibri"/>
              </a:rPr>
              <a:t>No</a:t>
            </a:r>
            <a:r>
              <a:rPr sz="3200" spc="-15" dirty="0">
                <a:latin typeface="Calibri"/>
                <a:cs typeface="Calibri"/>
              </a:rPr>
              <a:t> </a:t>
            </a:r>
            <a:r>
              <a:rPr sz="3200" spc="-5" dirty="0">
                <a:latin typeface="Calibri"/>
                <a:cs typeface="Calibri"/>
              </a:rPr>
              <a:t>flow</a:t>
            </a:r>
            <a:r>
              <a:rPr sz="3200" spc="-20" dirty="0">
                <a:latin typeface="Calibri"/>
                <a:cs typeface="Calibri"/>
              </a:rPr>
              <a:t> </a:t>
            </a:r>
            <a:r>
              <a:rPr sz="3200" dirty="0">
                <a:latin typeface="Calibri"/>
                <a:cs typeface="Calibri"/>
              </a:rPr>
              <a:t>and</a:t>
            </a:r>
            <a:r>
              <a:rPr sz="3200" spc="5" dirty="0">
                <a:latin typeface="Calibri"/>
                <a:cs typeface="Calibri"/>
              </a:rPr>
              <a:t> </a:t>
            </a:r>
            <a:r>
              <a:rPr sz="3200" spc="-10" dirty="0">
                <a:latin typeface="Calibri"/>
                <a:cs typeface="Calibri"/>
              </a:rPr>
              <a:t>error</a:t>
            </a:r>
            <a:r>
              <a:rPr sz="3200" spc="-30" dirty="0">
                <a:latin typeface="Calibri"/>
                <a:cs typeface="Calibri"/>
              </a:rPr>
              <a:t> </a:t>
            </a:r>
            <a:r>
              <a:rPr sz="3200" spc="-20" dirty="0">
                <a:latin typeface="Calibri"/>
                <a:cs typeface="Calibri"/>
              </a:rPr>
              <a:t>control</a:t>
            </a:r>
            <a:endParaRPr sz="3200">
              <a:latin typeface="Calibri"/>
              <a:cs typeface="Calibri"/>
            </a:endParaRPr>
          </a:p>
          <a:p>
            <a:pPr>
              <a:lnSpc>
                <a:spcPct val="100000"/>
              </a:lnSpc>
              <a:spcBef>
                <a:spcPts val="55"/>
              </a:spcBef>
              <a:buFont typeface="Arial MT"/>
              <a:buChar char="•"/>
            </a:pPr>
            <a:endParaRPr sz="3100">
              <a:latin typeface="Calibri"/>
              <a:cs typeface="Calibri"/>
            </a:endParaRPr>
          </a:p>
          <a:p>
            <a:pPr marL="299085" marR="5080" indent="-287020">
              <a:lnSpc>
                <a:spcPct val="100000"/>
              </a:lnSpc>
              <a:buFont typeface="Arial MT"/>
              <a:buChar char="•"/>
              <a:tabLst>
                <a:tab pos="299720" algn="l"/>
                <a:tab pos="1891664" algn="l"/>
                <a:tab pos="2658745" algn="l"/>
                <a:tab pos="3980179" algn="l"/>
                <a:tab pos="4754245" algn="l"/>
                <a:tab pos="5923280" algn="l"/>
                <a:tab pos="6845300" algn="l"/>
                <a:tab pos="8625840" algn="l"/>
              </a:tabLst>
            </a:pPr>
            <a:r>
              <a:rPr sz="3200" spc="-65" dirty="0">
                <a:latin typeface="Calibri"/>
                <a:cs typeface="Calibri"/>
              </a:rPr>
              <a:t>R</a:t>
            </a:r>
            <a:r>
              <a:rPr sz="3200" dirty="0">
                <a:latin typeface="Calibri"/>
                <a:cs typeface="Calibri"/>
              </a:rPr>
              <a:t>e</a:t>
            </a:r>
            <a:r>
              <a:rPr sz="3200" spc="-10" dirty="0">
                <a:latin typeface="Calibri"/>
                <a:cs typeface="Calibri"/>
              </a:rPr>
              <a:t>c</a:t>
            </a:r>
            <a:r>
              <a:rPr sz="3200" dirty="0">
                <a:latin typeface="Calibri"/>
                <a:cs typeface="Calibri"/>
              </a:rPr>
              <a:t>ei</a:t>
            </a:r>
            <a:r>
              <a:rPr sz="3200" spc="-35" dirty="0">
                <a:latin typeface="Calibri"/>
                <a:cs typeface="Calibri"/>
              </a:rPr>
              <a:t>v</a:t>
            </a:r>
            <a:r>
              <a:rPr sz="3200" dirty="0">
                <a:latin typeface="Calibri"/>
                <a:cs typeface="Calibri"/>
              </a:rPr>
              <a:t>er	</a:t>
            </a:r>
            <a:r>
              <a:rPr sz="3200" spc="-25" dirty="0">
                <a:latin typeface="Calibri"/>
                <a:cs typeface="Calibri"/>
              </a:rPr>
              <a:t>c</a:t>
            </a:r>
            <a:r>
              <a:rPr sz="3200" dirty="0">
                <a:latin typeface="Calibri"/>
                <a:cs typeface="Calibri"/>
              </a:rPr>
              <a:t>an	</a:t>
            </a:r>
            <a:r>
              <a:rPr sz="3200" spc="-5" dirty="0">
                <a:latin typeface="Calibri"/>
                <a:cs typeface="Calibri"/>
              </a:rPr>
              <a:t>h</a:t>
            </a:r>
            <a:r>
              <a:rPr sz="3200" spc="5" dirty="0">
                <a:latin typeface="Calibri"/>
                <a:cs typeface="Calibri"/>
              </a:rPr>
              <a:t>a</a:t>
            </a:r>
            <a:r>
              <a:rPr sz="3200" spc="-5" dirty="0">
                <a:latin typeface="Calibri"/>
                <a:cs typeface="Calibri"/>
              </a:rPr>
              <a:t>ndl</a:t>
            </a:r>
            <a:r>
              <a:rPr sz="3200" dirty="0">
                <a:latin typeface="Calibri"/>
                <a:cs typeface="Calibri"/>
              </a:rPr>
              <a:t>e	a</a:t>
            </a:r>
            <a:r>
              <a:rPr sz="3200" spc="-65" dirty="0">
                <a:latin typeface="Calibri"/>
                <a:cs typeface="Calibri"/>
              </a:rPr>
              <a:t>n</a:t>
            </a:r>
            <a:r>
              <a:rPr sz="3200" dirty="0">
                <a:latin typeface="Calibri"/>
                <a:cs typeface="Calibri"/>
              </a:rPr>
              <a:t>y	</a:t>
            </a:r>
            <a:r>
              <a:rPr sz="3200" spc="-5" dirty="0">
                <a:latin typeface="Calibri"/>
                <a:cs typeface="Calibri"/>
              </a:rPr>
              <a:t>f</a:t>
            </a:r>
            <a:r>
              <a:rPr sz="3200" spc="-70" dirty="0">
                <a:latin typeface="Calibri"/>
                <a:cs typeface="Calibri"/>
              </a:rPr>
              <a:t>r</a:t>
            </a:r>
            <a:r>
              <a:rPr sz="3200" dirty="0">
                <a:latin typeface="Calibri"/>
                <a:cs typeface="Calibri"/>
              </a:rPr>
              <a:t>ame	with	</a:t>
            </a:r>
            <a:r>
              <a:rPr sz="3200" spc="-5" dirty="0">
                <a:latin typeface="Calibri"/>
                <a:cs typeface="Calibri"/>
              </a:rPr>
              <a:t>ne</a:t>
            </a:r>
            <a:r>
              <a:rPr sz="3200" spc="5" dirty="0">
                <a:latin typeface="Calibri"/>
                <a:cs typeface="Calibri"/>
              </a:rPr>
              <a:t>g</a:t>
            </a:r>
            <a:r>
              <a:rPr sz="3200" dirty="0">
                <a:latin typeface="Calibri"/>
                <a:cs typeface="Calibri"/>
              </a:rPr>
              <a:t>l</a:t>
            </a:r>
            <a:r>
              <a:rPr sz="3200" spc="-10" dirty="0">
                <a:latin typeface="Calibri"/>
                <a:cs typeface="Calibri"/>
              </a:rPr>
              <a:t>i</a:t>
            </a:r>
            <a:r>
              <a:rPr sz="3200" dirty="0">
                <a:latin typeface="Calibri"/>
                <a:cs typeface="Calibri"/>
              </a:rPr>
              <a:t>g</a:t>
            </a:r>
            <a:r>
              <a:rPr sz="3200" spc="5" dirty="0">
                <a:latin typeface="Calibri"/>
                <a:cs typeface="Calibri"/>
              </a:rPr>
              <a:t>i</a:t>
            </a:r>
            <a:r>
              <a:rPr sz="3200" spc="-5" dirty="0">
                <a:latin typeface="Calibri"/>
                <a:cs typeface="Calibri"/>
              </a:rPr>
              <a:t>bl</a:t>
            </a:r>
            <a:r>
              <a:rPr sz="3200" dirty="0">
                <a:latin typeface="Calibri"/>
                <a:cs typeface="Calibri"/>
              </a:rPr>
              <a:t>e	</a:t>
            </a:r>
            <a:r>
              <a:rPr sz="3200" spc="-5" dirty="0">
                <a:latin typeface="Calibri"/>
                <a:cs typeface="Calibri"/>
              </a:rPr>
              <a:t>p</a:t>
            </a:r>
            <a:r>
              <a:rPr sz="3200" spc="-55" dirty="0">
                <a:latin typeface="Calibri"/>
                <a:cs typeface="Calibri"/>
              </a:rPr>
              <a:t>r</a:t>
            </a:r>
            <a:r>
              <a:rPr sz="3200" spc="-5" dirty="0">
                <a:latin typeface="Calibri"/>
                <a:cs typeface="Calibri"/>
              </a:rPr>
              <a:t>oce</a:t>
            </a:r>
            <a:r>
              <a:rPr sz="3200" spc="-15" dirty="0">
                <a:latin typeface="Calibri"/>
                <a:cs typeface="Calibri"/>
              </a:rPr>
              <a:t>s</a:t>
            </a:r>
            <a:r>
              <a:rPr sz="3200" spc="-5" dirty="0">
                <a:latin typeface="Calibri"/>
                <a:cs typeface="Calibri"/>
              </a:rPr>
              <a:t>s</a:t>
            </a:r>
            <a:r>
              <a:rPr sz="3200" spc="-10" dirty="0">
                <a:latin typeface="Calibri"/>
                <a:cs typeface="Calibri"/>
              </a:rPr>
              <a:t>i</a:t>
            </a:r>
            <a:r>
              <a:rPr sz="3200" spc="-5" dirty="0">
                <a:latin typeface="Calibri"/>
                <a:cs typeface="Calibri"/>
              </a:rPr>
              <a:t>ng  time.</a:t>
            </a:r>
            <a:endParaRPr sz="3200">
              <a:latin typeface="Calibri"/>
              <a:cs typeface="Calibri"/>
            </a:endParaRPr>
          </a:p>
          <a:p>
            <a:pPr>
              <a:lnSpc>
                <a:spcPct val="100000"/>
              </a:lnSpc>
              <a:buFont typeface="Arial MT"/>
              <a:buChar char="•"/>
            </a:pPr>
            <a:endParaRPr sz="3150">
              <a:latin typeface="Calibri"/>
              <a:cs typeface="Calibri"/>
            </a:endParaRPr>
          </a:p>
          <a:p>
            <a:pPr marL="299085" indent="-287020">
              <a:lnSpc>
                <a:spcPct val="100000"/>
              </a:lnSpc>
              <a:buFont typeface="Arial MT"/>
              <a:buChar char="•"/>
              <a:tabLst>
                <a:tab pos="299720" algn="l"/>
              </a:tabLst>
            </a:pPr>
            <a:r>
              <a:rPr sz="3200" spc="-15" dirty="0">
                <a:latin typeface="Calibri"/>
                <a:cs typeface="Calibri"/>
              </a:rPr>
              <a:t>Receiver</a:t>
            </a:r>
            <a:r>
              <a:rPr sz="3200" spc="-30" dirty="0">
                <a:latin typeface="Calibri"/>
                <a:cs typeface="Calibri"/>
              </a:rPr>
              <a:t> </a:t>
            </a:r>
            <a:r>
              <a:rPr sz="3200" spc="-10" dirty="0">
                <a:latin typeface="Calibri"/>
                <a:cs typeface="Calibri"/>
              </a:rPr>
              <a:t>can</a:t>
            </a:r>
            <a:r>
              <a:rPr sz="3200" spc="5" dirty="0">
                <a:latin typeface="Calibri"/>
                <a:cs typeface="Calibri"/>
              </a:rPr>
              <a:t> </a:t>
            </a:r>
            <a:r>
              <a:rPr sz="3200" spc="-10" dirty="0">
                <a:latin typeface="Calibri"/>
                <a:cs typeface="Calibri"/>
              </a:rPr>
              <a:t>never</a:t>
            </a:r>
            <a:r>
              <a:rPr sz="3200" spc="-20" dirty="0">
                <a:latin typeface="Calibri"/>
                <a:cs typeface="Calibri"/>
              </a:rPr>
              <a:t> </a:t>
            </a:r>
            <a:r>
              <a:rPr sz="3200" spc="-5" dirty="0">
                <a:latin typeface="Calibri"/>
                <a:cs typeface="Calibri"/>
              </a:rPr>
              <a:t>be overwhelmed </a:t>
            </a:r>
            <a:r>
              <a:rPr sz="3200" dirty="0">
                <a:latin typeface="Calibri"/>
                <a:cs typeface="Calibri"/>
              </a:rPr>
              <a:t>with</a:t>
            </a:r>
            <a:r>
              <a:rPr sz="3200" spc="5" dirty="0">
                <a:latin typeface="Calibri"/>
                <a:cs typeface="Calibri"/>
              </a:rPr>
              <a:t> </a:t>
            </a:r>
            <a:r>
              <a:rPr sz="3200" spc="-5" dirty="0">
                <a:latin typeface="Calibri"/>
                <a:cs typeface="Calibri"/>
              </a:rPr>
              <a:t>incoming</a:t>
            </a:r>
            <a:r>
              <a:rPr sz="3200" spc="15" dirty="0">
                <a:latin typeface="Calibri"/>
                <a:cs typeface="Calibri"/>
              </a:rPr>
              <a:t> </a:t>
            </a:r>
            <a:r>
              <a:rPr sz="3200" spc="-10" dirty="0">
                <a:latin typeface="Calibri"/>
                <a:cs typeface="Calibri"/>
              </a:rPr>
              <a:t>frames.</a:t>
            </a:r>
            <a:endParaRPr sz="3200">
              <a:latin typeface="Calibri"/>
              <a:cs typeface="Calibri"/>
            </a:endParaRPr>
          </a:p>
        </p:txBody>
      </p:sp>
    </p:spTree>
    <p:extLst>
      <p:ext uri="{BB962C8B-B14F-4D97-AF65-F5344CB8AC3E}">
        <p14:creationId xmlns:p14="http://schemas.microsoft.com/office/powerpoint/2010/main" val="232535799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25536" y="68775"/>
            <a:ext cx="2512219"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Simplest</a:t>
            </a:r>
            <a:r>
              <a:rPr b="1" spc="-70" dirty="0">
                <a:latin typeface="Calibri"/>
                <a:cs typeface="Calibri"/>
              </a:rPr>
              <a:t> </a:t>
            </a:r>
            <a:r>
              <a:rPr b="1" spc="-15" dirty="0">
                <a:latin typeface="Calibri"/>
                <a:cs typeface="Calibri"/>
              </a:rPr>
              <a:t>Protocol</a:t>
            </a:r>
          </a:p>
        </p:txBody>
      </p:sp>
      <p:pic>
        <p:nvPicPr>
          <p:cNvPr id="3" name="object 3"/>
          <p:cNvPicPr/>
          <p:nvPr/>
        </p:nvPicPr>
        <p:blipFill>
          <a:blip r:embed="rId2" cstate="print"/>
          <a:stretch>
            <a:fillRect/>
          </a:stretch>
        </p:blipFill>
        <p:spPr>
          <a:xfrm>
            <a:off x="220860" y="218010"/>
            <a:ext cx="1737985" cy="682398"/>
          </a:xfrm>
          <a:prstGeom prst="rect">
            <a:avLst/>
          </a:prstGeom>
        </p:spPr>
      </p:pic>
      <p:grpSp>
        <p:nvGrpSpPr>
          <p:cNvPr id="4" name="object 4"/>
          <p:cNvGrpSpPr/>
          <p:nvPr/>
        </p:nvGrpSpPr>
        <p:grpSpPr>
          <a:xfrm>
            <a:off x="1089280" y="0"/>
            <a:ext cx="8054816" cy="6858000"/>
            <a:chOff x="1452372" y="0"/>
            <a:chExt cx="10739755" cy="6858000"/>
          </a:xfrm>
        </p:grpSpPr>
        <p:pic>
          <p:nvPicPr>
            <p:cNvPr id="5" name="object 5"/>
            <p:cNvPicPr/>
            <p:nvPr/>
          </p:nvPicPr>
          <p:blipFill>
            <a:blip r:embed="rId3" cstate="print"/>
            <a:stretch>
              <a:fillRect/>
            </a:stretch>
          </p:blipFill>
          <p:spPr>
            <a:xfrm>
              <a:off x="11754612" y="4571"/>
              <a:ext cx="437388" cy="6853426"/>
            </a:xfrm>
            <a:prstGeom prst="rect">
              <a:avLst/>
            </a:prstGeom>
          </p:spPr>
        </p:pic>
        <p:pic>
          <p:nvPicPr>
            <p:cNvPr id="6" name="object 6"/>
            <p:cNvPicPr/>
            <p:nvPr/>
          </p:nvPicPr>
          <p:blipFill>
            <a:blip r:embed="rId4" cstate="print"/>
            <a:stretch>
              <a:fillRect/>
            </a:stretch>
          </p:blipFill>
          <p:spPr>
            <a:xfrm>
              <a:off x="10786872" y="5859779"/>
              <a:ext cx="967740" cy="722376"/>
            </a:xfrm>
            <a:prstGeom prst="rect">
              <a:avLst/>
            </a:prstGeom>
          </p:spPr>
        </p:pic>
        <p:pic>
          <p:nvPicPr>
            <p:cNvPr id="7" name="object 7"/>
            <p:cNvPicPr/>
            <p:nvPr/>
          </p:nvPicPr>
          <p:blipFill>
            <a:blip r:embed="rId5" cstate="print"/>
            <a:stretch>
              <a:fillRect/>
            </a:stretch>
          </p:blipFill>
          <p:spPr>
            <a:xfrm>
              <a:off x="9136379" y="0"/>
              <a:ext cx="2898648" cy="539496"/>
            </a:xfrm>
            <a:prstGeom prst="rect">
              <a:avLst/>
            </a:prstGeom>
          </p:spPr>
        </p:pic>
        <p:pic>
          <p:nvPicPr>
            <p:cNvPr id="8" name="object 8"/>
            <p:cNvPicPr/>
            <p:nvPr/>
          </p:nvPicPr>
          <p:blipFill>
            <a:blip r:embed="rId6" cstate="print"/>
            <a:stretch>
              <a:fillRect/>
            </a:stretch>
          </p:blipFill>
          <p:spPr>
            <a:xfrm>
              <a:off x="1452372" y="1260260"/>
              <a:ext cx="8505444" cy="5321895"/>
            </a:xfrm>
            <a:prstGeom prst="rect">
              <a:avLst/>
            </a:prstGeom>
          </p:spPr>
        </p:pic>
      </p:grpSp>
    </p:spTree>
    <p:extLst>
      <p:ext uri="{BB962C8B-B14F-4D97-AF65-F5344CB8AC3E}">
        <p14:creationId xmlns:p14="http://schemas.microsoft.com/office/powerpoint/2010/main" val="159057504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9588" y="176806"/>
            <a:ext cx="4842699" cy="689932"/>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Calibri"/>
                <a:cs typeface="Calibri"/>
              </a:rPr>
              <a:t>Simplest</a:t>
            </a:r>
            <a:r>
              <a:rPr sz="2800" b="1" spc="-45" dirty="0">
                <a:latin typeface="Calibri"/>
                <a:cs typeface="Calibri"/>
              </a:rPr>
              <a:t> </a:t>
            </a:r>
            <a:r>
              <a:rPr sz="2800" b="1" spc="-15" dirty="0">
                <a:latin typeface="Calibri"/>
                <a:cs typeface="Calibri"/>
              </a:rPr>
              <a:t>Protocol</a:t>
            </a:r>
            <a:r>
              <a:rPr sz="2800" b="1" spc="-35" dirty="0">
                <a:latin typeface="Calibri"/>
                <a:cs typeface="Calibri"/>
              </a:rPr>
              <a:t> </a:t>
            </a:r>
            <a:r>
              <a:rPr sz="2800" i="1" spc="-15" dirty="0">
                <a:latin typeface="Calibri"/>
                <a:cs typeface="Calibri"/>
              </a:rPr>
              <a:t>(Example</a:t>
            </a:r>
            <a:r>
              <a:rPr i="1" spc="-15" dirty="0">
                <a:latin typeface="Calibri"/>
                <a:cs typeface="Calibri"/>
              </a:rPr>
              <a:t>)</a:t>
            </a: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sp>
        <p:nvSpPr>
          <p:cNvPr id="8" name="object 8"/>
          <p:cNvSpPr txBox="1"/>
          <p:nvPr/>
        </p:nvSpPr>
        <p:spPr>
          <a:xfrm>
            <a:off x="152401" y="838200"/>
            <a:ext cx="8421054" cy="5917646"/>
          </a:xfrm>
          <a:prstGeom prst="rect">
            <a:avLst/>
          </a:prstGeom>
        </p:spPr>
        <p:txBody>
          <a:bodyPr vert="horz" wrap="square" lIns="0" tIns="13335" rIns="0" bIns="0" rtlCol="0">
            <a:spAutoFit/>
          </a:bodyPr>
          <a:lstStyle/>
          <a:p>
            <a:pPr marL="12700" algn="just">
              <a:lnSpc>
                <a:spcPct val="100000"/>
              </a:lnSpc>
              <a:spcBef>
                <a:spcPts val="105"/>
              </a:spcBef>
            </a:pPr>
            <a:r>
              <a:rPr sz="3200" b="1" i="1" dirty="0">
                <a:latin typeface="Calibri"/>
                <a:cs typeface="Calibri"/>
              </a:rPr>
              <a:t>Figure</a:t>
            </a:r>
            <a:r>
              <a:rPr sz="3200" b="1" i="1" spc="-10" dirty="0">
                <a:latin typeface="Calibri"/>
                <a:cs typeface="Calibri"/>
              </a:rPr>
              <a:t> </a:t>
            </a:r>
            <a:r>
              <a:rPr sz="3200" i="1" spc="-5" dirty="0">
                <a:latin typeface="Calibri"/>
                <a:cs typeface="Calibri"/>
              </a:rPr>
              <a:t>shows</a:t>
            </a:r>
            <a:r>
              <a:rPr sz="3200" i="1" spc="-20" dirty="0">
                <a:latin typeface="Calibri"/>
                <a:cs typeface="Calibri"/>
              </a:rPr>
              <a:t> </a:t>
            </a:r>
            <a:r>
              <a:rPr sz="3200" i="1" dirty="0">
                <a:latin typeface="Calibri"/>
                <a:cs typeface="Calibri"/>
              </a:rPr>
              <a:t>an</a:t>
            </a:r>
            <a:r>
              <a:rPr sz="3200" i="1" spc="20" dirty="0">
                <a:latin typeface="Calibri"/>
                <a:cs typeface="Calibri"/>
              </a:rPr>
              <a:t> </a:t>
            </a:r>
            <a:r>
              <a:rPr sz="3200" i="1" spc="-20" dirty="0">
                <a:latin typeface="Calibri"/>
                <a:cs typeface="Calibri"/>
              </a:rPr>
              <a:t>example</a:t>
            </a:r>
            <a:r>
              <a:rPr sz="3200" i="1" spc="-15" dirty="0">
                <a:latin typeface="Calibri"/>
                <a:cs typeface="Calibri"/>
              </a:rPr>
              <a:t> </a:t>
            </a:r>
            <a:r>
              <a:rPr sz="3200" i="1" dirty="0">
                <a:latin typeface="Calibri"/>
                <a:cs typeface="Calibri"/>
              </a:rPr>
              <a:t>of</a:t>
            </a:r>
            <a:r>
              <a:rPr sz="3200" i="1" spc="-5" dirty="0">
                <a:latin typeface="Calibri"/>
                <a:cs typeface="Calibri"/>
              </a:rPr>
              <a:t> </a:t>
            </a:r>
            <a:r>
              <a:rPr sz="3200" i="1" spc="-10" dirty="0">
                <a:latin typeface="Calibri"/>
                <a:cs typeface="Calibri"/>
              </a:rPr>
              <a:t>communication</a:t>
            </a:r>
            <a:r>
              <a:rPr sz="3200" i="1" spc="45" dirty="0">
                <a:latin typeface="Calibri"/>
                <a:cs typeface="Calibri"/>
              </a:rPr>
              <a:t> </a:t>
            </a:r>
            <a:r>
              <a:rPr sz="3200" i="1" spc="-5" dirty="0">
                <a:latin typeface="Calibri"/>
                <a:cs typeface="Calibri"/>
              </a:rPr>
              <a:t>using</a:t>
            </a:r>
            <a:r>
              <a:rPr sz="3200" i="1" spc="35" dirty="0">
                <a:latin typeface="Calibri"/>
                <a:cs typeface="Calibri"/>
              </a:rPr>
              <a:t> </a:t>
            </a:r>
            <a:r>
              <a:rPr sz="3200" i="1" spc="-5" dirty="0">
                <a:latin typeface="Calibri"/>
                <a:cs typeface="Calibri"/>
              </a:rPr>
              <a:t>this</a:t>
            </a:r>
            <a:r>
              <a:rPr sz="3200" i="1" spc="15" dirty="0">
                <a:latin typeface="Calibri"/>
                <a:cs typeface="Calibri"/>
              </a:rPr>
              <a:t> </a:t>
            </a:r>
            <a:r>
              <a:rPr sz="3200" i="1" spc="-10" dirty="0">
                <a:latin typeface="Calibri"/>
                <a:cs typeface="Calibri"/>
              </a:rPr>
              <a:t>protocol.</a:t>
            </a:r>
            <a:endParaRPr sz="3200" dirty="0">
              <a:latin typeface="Calibri"/>
              <a:cs typeface="Calibri"/>
            </a:endParaRPr>
          </a:p>
          <a:p>
            <a:pPr>
              <a:lnSpc>
                <a:spcPct val="100000"/>
              </a:lnSpc>
              <a:spcBef>
                <a:spcPts val="55"/>
              </a:spcBef>
            </a:pPr>
            <a:endParaRPr sz="3100" dirty="0">
              <a:latin typeface="Calibri"/>
              <a:cs typeface="Calibri"/>
            </a:endParaRPr>
          </a:p>
          <a:p>
            <a:pPr marL="469265" marR="6985" indent="-457200">
              <a:lnSpc>
                <a:spcPct val="100000"/>
              </a:lnSpc>
              <a:spcBef>
                <a:spcPts val="5"/>
              </a:spcBef>
              <a:buFont typeface="Arial MT"/>
              <a:buChar char="•"/>
              <a:tabLst>
                <a:tab pos="469265" algn="l"/>
                <a:tab pos="469900" algn="l"/>
              </a:tabLst>
            </a:pPr>
            <a:r>
              <a:rPr sz="3200" i="1" spc="-5" dirty="0">
                <a:latin typeface="Calibri"/>
                <a:cs typeface="Calibri"/>
              </a:rPr>
              <a:t>The</a:t>
            </a:r>
            <a:r>
              <a:rPr sz="3200" i="1" spc="270" dirty="0">
                <a:latin typeface="Calibri"/>
                <a:cs typeface="Calibri"/>
              </a:rPr>
              <a:t> </a:t>
            </a:r>
            <a:r>
              <a:rPr sz="3200" i="1" dirty="0">
                <a:latin typeface="Calibri"/>
                <a:cs typeface="Calibri"/>
              </a:rPr>
              <a:t>sender</a:t>
            </a:r>
            <a:r>
              <a:rPr sz="3200" i="1" spc="285" dirty="0">
                <a:latin typeface="Calibri"/>
                <a:cs typeface="Calibri"/>
              </a:rPr>
              <a:t> </a:t>
            </a:r>
            <a:r>
              <a:rPr sz="3200" i="1" spc="-5" dirty="0">
                <a:latin typeface="Calibri"/>
                <a:cs typeface="Calibri"/>
              </a:rPr>
              <a:t>sends</a:t>
            </a:r>
            <a:r>
              <a:rPr sz="3200" i="1" spc="285" dirty="0">
                <a:latin typeface="Calibri"/>
                <a:cs typeface="Calibri"/>
              </a:rPr>
              <a:t> </a:t>
            </a:r>
            <a:r>
              <a:rPr sz="3200" i="1" dirty="0">
                <a:latin typeface="Calibri"/>
                <a:cs typeface="Calibri"/>
              </a:rPr>
              <a:t>a</a:t>
            </a:r>
            <a:r>
              <a:rPr sz="3200" i="1" spc="280" dirty="0">
                <a:latin typeface="Calibri"/>
                <a:cs typeface="Calibri"/>
              </a:rPr>
              <a:t> </a:t>
            </a:r>
            <a:r>
              <a:rPr sz="3200" i="1" spc="-5" dirty="0">
                <a:latin typeface="Calibri"/>
                <a:cs typeface="Calibri"/>
              </a:rPr>
              <a:t>sequence</a:t>
            </a:r>
            <a:r>
              <a:rPr sz="3200" i="1" spc="290" dirty="0">
                <a:latin typeface="Calibri"/>
                <a:cs typeface="Calibri"/>
              </a:rPr>
              <a:t> </a:t>
            </a:r>
            <a:r>
              <a:rPr sz="3200" i="1" spc="-5" dirty="0">
                <a:latin typeface="Calibri"/>
                <a:cs typeface="Calibri"/>
              </a:rPr>
              <a:t>of</a:t>
            </a:r>
            <a:r>
              <a:rPr sz="3200" i="1" spc="270" dirty="0">
                <a:latin typeface="Calibri"/>
                <a:cs typeface="Calibri"/>
              </a:rPr>
              <a:t> </a:t>
            </a:r>
            <a:r>
              <a:rPr sz="3200" i="1" spc="-5" dirty="0">
                <a:latin typeface="Calibri"/>
                <a:cs typeface="Calibri"/>
              </a:rPr>
              <a:t>frames</a:t>
            </a:r>
            <a:r>
              <a:rPr sz="3200" i="1" spc="290" dirty="0">
                <a:latin typeface="Calibri"/>
                <a:cs typeface="Calibri"/>
              </a:rPr>
              <a:t> </a:t>
            </a:r>
            <a:r>
              <a:rPr sz="3200" i="1" dirty="0">
                <a:latin typeface="Calibri"/>
                <a:cs typeface="Calibri"/>
              </a:rPr>
              <a:t>without</a:t>
            </a:r>
            <a:r>
              <a:rPr sz="3200" i="1" spc="270" dirty="0">
                <a:latin typeface="Calibri"/>
                <a:cs typeface="Calibri"/>
              </a:rPr>
              <a:t> </a:t>
            </a:r>
            <a:r>
              <a:rPr sz="3200" i="1" spc="-5" dirty="0">
                <a:latin typeface="Calibri"/>
                <a:cs typeface="Calibri"/>
              </a:rPr>
              <a:t>even</a:t>
            </a:r>
            <a:r>
              <a:rPr sz="3200" i="1" spc="270" dirty="0">
                <a:latin typeface="Calibri"/>
                <a:cs typeface="Calibri"/>
              </a:rPr>
              <a:t> </a:t>
            </a:r>
            <a:r>
              <a:rPr sz="3200" i="1" dirty="0">
                <a:latin typeface="Calibri"/>
                <a:cs typeface="Calibri"/>
              </a:rPr>
              <a:t>thinking </a:t>
            </a:r>
            <a:r>
              <a:rPr sz="3200" i="1" spc="-710" dirty="0">
                <a:latin typeface="Calibri"/>
                <a:cs typeface="Calibri"/>
              </a:rPr>
              <a:t> </a:t>
            </a:r>
            <a:r>
              <a:rPr sz="3200" i="1" spc="-5" dirty="0">
                <a:latin typeface="Calibri"/>
                <a:cs typeface="Calibri"/>
              </a:rPr>
              <a:t>about</a:t>
            </a:r>
            <a:r>
              <a:rPr sz="3200" i="1" dirty="0">
                <a:latin typeface="Calibri"/>
                <a:cs typeface="Calibri"/>
              </a:rPr>
              <a:t> the</a:t>
            </a:r>
            <a:r>
              <a:rPr sz="3200" i="1" spc="5" dirty="0">
                <a:latin typeface="Calibri"/>
                <a:cs typeface="Calibri"/>
              </a:rPr>
              <a:t> </a:t>
            </a:r>
            <a:r>
              <a:rPr sz="3200" i="1" spc="-30" dirty="0">
                <a:latin typeface="Calibri"/>
                <a:cs typeface="Calibri"/>
              </a:rPr>
              <a:t>receiver.</a:t>
            </a:r>
            <a:endParaRPr sz="3200" dirty="0">
              <a:latin typeface="Calibri"/>
              <a:cs typeface="Calibri"/>
            </a:endParaRPr>
          </a:p>
          <a:p>
            <a:pPr marL="469265" marR="5715" indent="-457200">
              <a:lnSpc>
                <a:spcPct val="100000"/>
              </a:lnSpc>
              <a:buFont typeface="Arial MT"/>
              <a:buChar char="•"/>
              <a:tabLst>
                <a:tab pos="469265" algn="l"/>
                <a:tab pos="469900" algn="l"/>
              </a:tabLst>
            </a:pPr>
            <a:r>
              <a:rPr sz="3200" i="1" spc="-140" dirty="0">
                <a:latin typeface="Calibri"/>
                <a:cs typeface="Calibri"/>
              </a:rPr>
              <a:t>To</a:t>
            </a:r>
            <a:r>
              <a:rPr sz="3200" i="1" spc="65" dirty="0">
                <a:latin typeface="Calibri"/>
                <a:cs typeface="Calibri"/>
              </a:rPr>
              <a:t> </a:t>
            </a:r>
            <a:r>
              <a:rPr sz="3200" i="1" spc="-5" dirty="0">
                <a:latin typeface="Calibri"/>
                <a:cs typeface="Calibri"/>
              </a:rPr>
              <a:t>send</a:t>
            </a:r>
            <a:r>
              <a:rPr sz="3200" i="1" spc="95" dirty="0">
                <a:latin typeface="Calibri"/>
                <a:cs typeface="Calibri"/>
              </a:rPr>
              <a:t> </a:t>
            </a:r>
            <a:r>
              <a:rPr sz="3200" i="1" dirty="0">
                <a:latin typeface="Calibri"/>
                <a:cs typeface="Calibri"/>
              </a:rPr>
              <a:t>three</a:t>
            </a:r>
            <a:r>
              <a:rPr sz="3200" i="1" spc="75" dirty="0">
                <a:latin typeface="Calibri"/>
                <a:cs typeface="Calibri"/>
              </a:rPr>
              <a:t> </a:t>
            </a:r>
            <a:r>
              <a:rPr sz="3200" i="1" spc="-5" dirty="0">
                <a:latin typeface="Calibri"/>
                <a:cs typeface="Calibri"/>
              </a:rPr>
              <a:t>frames,</a:t>
            </a:r>
            <a:r>
              <a:rPr sz="3200" i="1" spc="90" dirty="0">
                <a:latin typeface="Calibri"/>
                <a:cs typeface="Calibri"/>
              </a:rPr>
              <a:t> </a:t>
            </a:r>
            <a:r>
              <a:rPr sz="3200" i="1" dirty="0">
                <a:latin typeface="Calibri"/>
                <a:cs typeface="Calibri"/>
              </a:rPr>
              <a:t>three</a:t>
            </a:r>
            <a:r>
              <a:rPr sz="3200" i="1" spc="75" dirty="0">
                <a:latin typeface="Calibri"/>
                <a:cs typeface="Calibri"/>
              </a:rPr>
              <a:t> </a:t>
            </a:r>
            <a:r>
              <a:rPr sz="3200" i="1" spc="-10" dirty="0">
                <a:latin typeface="Calibri"/>
                <a:cs typeface="Calibri"/>
              </a:rPr>
              <a:t>events</a:t>
            </a:r>
            <a:r>
              <a:rPr sz="3200" i="1" spc="85" dirty="0">
                <a:latin typeface="Calibri"/>
                <a:cs typeface="Calibri"/>
              </a:rPr>
              <a:t> </a:t>
            </a:r>
            <a:r>
              <a:rPr sz="3200" i="1" spc="-10" dirty="0">
                <a:latin typeface="Calibri"/>
                <a:cs typeface="Calibri"/>
              </a:rPr>
              <a:t>occur</a:t>
            </a:r>
            <a:r>
              <a:rPr sz="3200" i="1" spc="85" dirty="0">
                <a:latin typeface="Calibri"/>
                <a:cs typeface="Calibri"/>
              </a:rPr>
              <a:t> </a:t>
            </a:r>
            <a:r>
              <a:rPr sz="3200" i="1" spc="-5" dirty="0">
                <a:latin typeface="Calibri"/>
                <a:cs typeface="Calibri"/>
              </a:rPr>
              <a:t>at</a:t>
            </a:r>
            <a:r>
              <a:rPr sz="3200" i="1" spc="85" dirty="0">
                <a:latin typeface="Calibri"/>
                <a:cs typeface="Calibri"/>
              </a:rPr>
              <a:t> </a:t>
            </a:r>
            <a:r>
              <a:rPr sz="3200" i="1" dirty="0">
                <a:latin typeface="Calibri"/>
                <a:cs typeface="Calibri"/>
              </a:rPr>
              <a:t>the</a:t>
            </a:r>
            <a:r>
              <a:rPr sz="3200" i="1" spc="75" dirty="0">
                <a:latin typeface="Calibri"/>
                <a:cs typeface="Calibri"/>
              </a:rPr>
              <a:t> </a:t>
            </a:r>
            <a:r>
              <a:rPr sz="3200" i="1" spc="-5" dirty="0">
                <a:latin typeface="Calibri"/>
                <a:cs typeface="Calibri"/>
              </a:rPr>
              <a:t>sender</a:t>
            </a:r>
            <a:r>
              <a:rPr sz="3200" i="1" spc="100" dirty="0">
                <a:latin typeface="Calibri"/>
                <a:cs typeface="Calibri"/>
              </a:rPr>
              <a:t> </a:t>
            </a:r>
            <a:r>
              <a:rPr sz="3200" i="1" spc="-15" dirty="0">
                <a:latin typeface="Calibri"/>
                <a:cs typeface="Calibri"/>
              </a:rPr>
              <a:t>site</a:t>
            </a:r>
            <a:r>
              <a:rPr sz="3200" i="1" spc="85" dirty="0">
                <a:latin typeface="Calibri"/>
                <a:cs typeface="Calibri"/>
              </a:rPr>
              <a:t> </a:t>
            </a:r>
            <a:r>
              <a:rPr sz="3200" i="1" spc="-5" dirty="0">
                <a:latin typeface="Calibri"/>
                <a:cs typeface="Calibri"/>
              </a:rPr>
              <a:t>and </a:t>
            </a:r>
            <a:r>
              <a:rPr sz="3200" i="1" spc="-710" dirty="0">
                <a:latin typeface="Calibri"/>
                <a:cs typeface="Calibri"/>
              </a:rPr>
              <a:t> </a:t>
            </a:r>
            <a:r>
              <a:rPr sz="3200" i="1" dirty="0">
                <a:latin typeface="Calibri"/>
                <a:cs typeface="Calibri"/>
              </a:rPr>
              <a:t>three</a:t>
            </a:r>
            <a:r>
              <a:rPr sz="3200" i="1" spc="-10" dirty="0">
                <a:latin typeface="Calibri"/>
                <a:cs typeface="Calibri"/>
              </a:rPr>
              <a:t> events</a:t>
            </a:r>
            <a:r>
              <a:rPr sz="3200" i="1" dirty="0">
                <a:latin typeface="Calibri"/>
                <a:cs typeface="Calibri"/>
              </a:rPr>
              <a:t> </a:t>
            </a:r>
            <a:r>
              <a:rPr sz="3200" i="1" spc="-5" dirty="0">
                <a:latin typeface="Calibri"/>
                <a:cs typeface="Calibri"/>
              </a:rPr>
              <a:t>at</a:t>
            </a:r>
            <a:r>
              <a:rPr sz="3200" i="1" dirty="0">
                <a:latin typeface="Calibri"/>
                <a:cs typeface="Calibri"/>
              </a:rPr>
              <a:t> the</a:t>
            </a:r>
            <a:r>
              <a:rPr sz="3200" i="1" spc="5" dirty="0">
                <a:latin typeface="Calibri"/>
                <a:cs typeface="Calibri"/>
              </a:rPr>
              <a:t> </a:t>
            </a:r>
            <a:r>
              <a:rPr sz="3200" i="1" dirty="0">
                <a:latin typeface="Calibri"/>
                <a:cs typeface="Calibri"/>
              </a:rPr>
              <a:t>receiver</a:t>
            </a:r>
            <a:r>
              <a:rPr sz="3200" i="1" spc="-25" dirty="0">
                <a:latin typeface="Calibri"/>
                <a:cs typeface="Calibri"/>
              </a:rPr>
              <a:t> </a:t>
            </a:r>
            <a:r>
              <a:rPr sz="3200" i="1" spc="-10" dirty="0">
                <a:latin typeface="Calibri"/>
                <a:cs typeface="Calibri"/>
              </a:rPr>
              <a:t>site.</a:t>
            </a:r>
            <a:endParaRPr sz="3200" dirty="0">
              <a:latin typeface="Calibri"/>
              <a:cs typeface="Calibri"/>
            </a:endParaRPr>
          </a:p>
          <a:p>
            <a:pPr>
              <a:lnSpc>
                <a:spcPct val="100000"/>
              </a:lnSpc>
              <a:spcBef>
                <a:spcPts val="60"/>
              </a:spcBef>
            </a:pPr>
            <a:endParaRPr sz="3100" dirty="0">
              <a:latin typeface="Calibri"/>
              <a:cs typeface="Calibri"/>
            </a:endParaRPr>
          </a:p>
          <a:p>
            <a:pPr marL="12700" marR="5080" algn="just">
              <a:lnSpc>
                <a:spcPct val="100000"/>
              </a:lnSpc>
            </a:pPr>
            <a:r>
              <a:rPr sz="3200" i="1" spc="-10" dirty="0">
                <a:latin typeface="Calibri"/>
                <a:cs typeface="Calibri"/>
              </a:rPr>
              <a:t>Note </a:t>
            </a:r>
            <a:r>
              <a:rPr sz="3200" i="1" dirty="0">
                <a:latin typeface="Calibri"/>
                <a:cs typeface="Calibri"/>
              </a:rPr>
              <a:t>that the </a:t>
            </a:r>
            <a:r>
              <a:rPr sz="3200" i="1" spc="-15" dirty="0">
                <a:latin typeface="Calibri"/>
                <a:cs typeface="Calibri"/>
              </a:rPr>
              <a:t>data </a:t>
            </a:r>
            <a:r>
              <a:rPr sz="3200" i="1" spc="-5" dirty="0">
                <a:latin typeface="Calibri"/>
                <a:cs typeface="Calibri"/>
              </a:rPr>
              <a:t>frames are shown </a:t>
            </a:r>
            <a:r>
              <a:rPr sz="3200" i="1" spc="-10" dirty="0">
                <a:latin typeface="Calibri"/>
                <a:cs typeface="Calibri"/>
              </a:rPr>
              <a:t>by </a:t>
            </a:r>
            <a:r>
              <a:rPr sz="3200" i="1" spc="-5" dirty="0">
                <a:latin typeface="Calibri"/>
                <a:cs typeface="Calibri"/>
              </a:rPr>
              <a:t>tilted </a:t>
            </a:r>
            <a:r>
              <a:rPr sz="3200" i="1" spc="-25" dirty="0">
                <a:latin typeface="Calibri"/>
                <a:cs typeface="Calibri"/>
              </a:rPr>
              <a:t>boxes; </a:t>
            </a:r>
            <a:r>
              <a:rPr sz="3200" i="1" dirty="0">
                <a:latin typeface="Calibri"/>
                <a:cs typeface="Calibri"/>
              </a:rPr>
              <a:t>the </a:t>
            </a:r>
            <a:r>
              <a:rPr sz="3200" i="1" spc="-10" dirty="0">
                <a:latin typeface="Calibri"/>
                <a:cs typeface="Calibri"/>
              </a:rPr>
              <a:t>height </a:t>
            </a:r>
            <a:r>
              <a:rPr sz="3200" i="1" spc="-15" dirty="0">
                <a:latin typeface="Calibri"/>
                <a:cs typeface="Calibri"/>
              </a:rPr>
              <a:t>of </a:t>
            </a:r>
            <a:r>
              <a:rPr sz="3200" i="1" spc="-710" dirty="0">
                <a:latin typeface="Calibri"/>
                <a:cs typeface="Calibri"/>
              </a:rPr>
              <a:t> </a:t>
            </a:r>
            <a:r>
              <a:rPr sz="3200" i="1" spc="-5" dirty="0">
                <a:latin typeface="Calibri"/>
                <a:cs typeface="Calibri"/>
              </a:rPr>
              <a:t>the </a:t>
            </a:r>
            <a:r>
              <a:rPr sz="3200" i="1" spc="-25" dirty="0">
                <a:latin typeface="Calibri"/>
                <a:cs typeface="Calibri"/>
              </a:rPr>
              <a:t>box </a:t>
            </a:r>
            <a:r>
              <a:rPr sz="3200" i="1" spc="-5" dirty="0">
                <a:latin typeface="Calibri"/>
                <a:cs typeface="Calibri"/>
              </a:rPr>
              <a:t>defines </a:t>
            </a:r>
            <a:r>
              <a:rPr sz="3200" i="1" dirty="0">
                <a:latin typeface="Calibri"/>
                <a:cs typeface="Calibri"/>
              </a:rPr>
              <a:t>the </a:t>
            </a:r>
            <a:r>
              <a:rPr sz="3200" i="1" spc="-5" dirty="0">
                <a:latin typeface="Calibri"/>
                <a:cs typeface="Calibri"/>
              </a:rPr>
              <a:t>transmission </a:t>
            </a:r>
            <a:r>
              <a:rPr sz="3200" i="1" dirty="0">
                <a:latin typeface="Calibri"/>
                <a:cs typeface="Calibri"/>
              </a:rPr>
              <a:t>time </a:t>
            </a:r>
            <a:r>
              <a:rPr sz="3200" i="1" spc="-10" dirty="0">
                <a:latin typeface="Calibri"/>
                <a:cs typeface="Calibri"/>
              </a:rPr>
              <a:t>difference </a:t>
            </a:r>
            <a:r>
              <a:rPr sz="3200" i="1" spc="-5" dirty="0">
                <a:latin typeface="Calibri"/>
                <a:cs typeface="Calibri"/>
              </a:rPr>
              <a:t>between the </a:t>
            </a:r>
            <a:r>
              <a:rPr sz="3200" i="1" spc="-10" dirty="0">
                <a:latin typeface="Calibri"/>
                <a:cs typeface="Calibri"/>
              </a:rPr>
              <a:t>first </a:t>
            </a:r>
            <a:r>
              <a:rPr sz="3200" i="1" spc="-5" dirty="0">
                <a:latin typeface="Calibri"/>
                <a:cs typeface="Calibri"/>
              </a:rPr>
              <a:t> bit</a:t>
            </a:r>
            <a:r>
              <a:rPr sz="3200" i="1" dirty="0">
                <a:latin typeface="Calibri"/>
                <a:cs typeface="Calibri"/>
              </a:rPr>
              <a:t> </a:t>
            </a:r>
            <a:r>
              <a:rPr sz="3200" i="1" spc="-5" dirty="0">
                <a:latin typeface="Calibri"/>
                <a:cs typeface="Calibri"/>
              </a:rPr>
              <a:t>and</a:t>
            </a:r>
            <a:r>
              <a:rPr sz="3200" i="1" spc="15" dirty="0">
                <a:latin typeface="Calibri"/>
                <a:cs typeface="Calibri"/>
              </a:rPr>
              <a:t> </a:t>
            </a:r>
            <a:r>
              <a:rPr sz="3200" i="1" dirty="0">
                <a:latin typeface="Calibri"/>
                <a:cs typeface="Calibri"/>
              </a:rPr>
              <a:t>the</a:t>
            </a:r>
            <a:r>
              <a:rPr sz="3200" i="1" spc="-5" dirty="0">
                <a:latin typeface="Calibri"/>
                <a:cs typeface="Calibri"/>
              </a:rPr>
              <a:t> </a:t>
            </a:r>
            <a:r>
              <a:rPr sz="3200" i="1" spc="-10" dirty="0">
                <a:latin typeface="Calibri"/>
                <a:cs typeface="Calibri"/>
              </a:rPr>
              <a:t>last</a:t>
            </a:r>
            <a:r>
              <a:rPr sz="3200" i="1" spc="20" dirty="0">
                <a:latin typeface="Calibri"/>
                <a:cs typeface="Calibri"/>
              </a:rPr>
              <a:t> </a:t>
            </a:r>
            <a:r>
              <a:rPr sz="3200" i="1" spc="-5" dirty="0">
                <a:latin typeface="Calibri"/>
                <a:cs typeface="Calibri"/>
              </a:rPr>
              <a:t>bit</a:t>
            </a:r>
            <a:r>
              <a:rPr sz="3200" i="1" spc="5" dirty="0">
                <a:latin typeface="Calibri"/>
                <a:cs typeface="Calibri"/>
              </a:rPr>
              <a:t> </a:t>
            </a:r>
            <a:r>
              <a:rPr sz="3200" i="1" spc="-5" dirty="0">
                <a:latin typeface="Calibri"/>
                <a:cs typeface="Calibri"/>
              </a:rPr>
              <a:t>in</a:t>
            </a:r>
            <a:r>
              <a:rPr sz="3200" i="1" spc="5" dirty="0">
                <a:latin typeface="Calibri"/>
                <a:cs typeface="Calibri"/>
              </a:rPr>
              <a:t> </a:t>
            </a:r>
            <a:r>
              <a:rPr sz="3200" i="1" dirty="0">
                <a:latin typeface="Calibri"/>
                <a:cs typeface="Calibri"/>
              </a:rPr>
              <a:t>the</a:t>
            </a:r>
            <a:r>
              <a:rPr sz="3200" i="1" spc="5" dirty="0">
                <a:latin typeface="Calibri"/>
                <a:cs typeface="Calibri"/>
              </a:rPr>
              <a:t> </a:t>
            </a:r>
            <a:r>
              <a:rPr sz="3200" i="1" spc="-5" dirty="0">
                <a:latin typeface="Calibri"/>
                <a:cs typeface="Calibri"/>
              </a:rPr>
              <a:t>frame.</a:t>
            </a:r>
            <a:endParaRPr sz="3200" dirty="0">
              <a:latin typeface="Calibri"/>
              <a:cs typeface="Calibri"/>
            </a:endParaRPr>
          </a:p>
        </p:txBody>
      </p:sp>
    </p:spTree>
    <p:extLst>
      <p:ext uri="{BB962C8B-B14F-4D97-AF65-F5344CB8AC3E}">
        <p14:creationId xmlns:p14="http://schemas.microsoft.com/office/powerpoint/2010/main" val="25121360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96300" y="468884"/>
            <a:ext cx="4766499" cy="505267"/>
          </a:xfrm>
          <a:prstGeom prst="rect">
            <a:avLst/>
          </a:prstGeom>
        </p:spPr>
        <p:txBody>
          <a:bodyPr vert="horz" wrap="square" lIns="0" tIns="12700" rIns="0" bIns="0" rtlCol="0">
            <a:spAutoFit/>
          </a:bodyPr>
          <a:lstStyle/>
          <a:p>
            <a:pPr marL="12700">
              <a:lnSpc>
                <a:spcPct val="100000"/>
              </a:lnSpc>
              <a:spcBef>
                <a:spcPts val="100"/>
              </a:spcBef>
            </a:pPr>
            <a:r>
              <a:rPr sz="3200" b="1" spc="-5" dirty="0">
                <a:solidFill>
                  <a:srgbClr val="C00000"/>
                </a:solidFill>
                <a:latin typeface="Calibri"/>
                <a:cs typeface="Calibri"/>
              </a:rPr>
              <a:t>Simplest</a:t>
            </a:r>
            <a:r>
              <a:rPr sz="3200" b="1" spc="-45" dirty="0">
                <a:solidFill>
                  <a:srgbClr val="C00000"/>
                </a:solidFill>
                <a:latin typeface="Calibri"/>
                <a:cs typeface="Calibri"/>
              </a:rPr>
              <a:t> </a:t>
            </a:r>
            <a:r>
              <a:rPr sz="3200" b="1" spc="-15" dirty="0">
                <a:solidFill>
                  <a:srgbClr val="C00000"/>
                </a:solidFill>
                <a:latin typeface="Calibri"/>
                <a:cs typeface="Calibri"/>
              </a:rPr>
              <a:t>Protocol</a:t>
            </a:r>
            <a:r>
              <a:rPr sz="3200" b="1" spc="-35" dirty="0">
                <a:solidFill>
                  <a:srgbClr val="C00000"/>
                </a:solidFill>
                <a:latin typeface="Calibri"/>
                <a:cs typeface="Calibri"/>
              </a:rPr>
              <a:t> </a:t>
            </a:r>
            <a:r>
              <a:rPr sz="3200" i="1" spc="-15" dirty="0">
                <a:solidFill>
                  <a:srgbClr val="C00000"/>
                </a:solidFill>
                <a:latin typeface="Calibri"/>
                <a:cs typeface="Calibri"/>
              </a:rPr>
              <a:t>(Example)</a:t>
            </a:r>
            <a:endParaRPr sz="3200" dirty="0">
              <a:latin typeface="Calibri"/>
              <a:cs typeface="Calibri"/>
            </a:endParaRP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pic>
        <p:nvPicPr>
          <p:cNvPr id="8" name="object 8"/>
          <p:cNvPicPr/>
          <p:nvPr/>
        </p:nvPicPr>
        <p:blipFill>
          <a:blip r:embed="rId6" cstate="print"/>
          <a:stretch>
            <a:fillRect/>
          </a:stretch>
        </p:blipFill>
        <p:spPr>
          <a:xfrm>
            <a:off x="1449295" y="2236421"/>
            <a:ext cx="5281274" cy="4207197"/>
          </a:xfrm>
          <a:prstGeom prst="rect">
            <a:avLst/>
          </a:prstGeom>
        </p:spPr>
      </p:pic>
      <p:sp>
        <p:nvSpPr>
          <p:cNvPr id="9" name="object 9"/>
          <p:cNvSpPr txBox="1"/>
          <p:nvPr/>
        </p:nvSpPr>
        <p:spPr>
          <a:xfrm>
            <a:off x="1495808" y="1358265"/>
            <a:ext cx="2341721" cy="873957"/>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C00000"/>
                </a:solidFill>
                <a:latin typeface="Calibri"/>
                <a:cs typeface="Calibri"/>
              </a:rPr>
              <a:t>Figure</a:t>
            </a:r>
            <a:r>
              <a:rPr sz="2800" spc="-10" dirty="0">
                <a:latin typeface="Calibri"/>
                <a:cs typeface="Calibri"/>
              </a:rPr>
              <a:t>:</a:t>
            </a:r>
            <a:r>
              <a:rPr sz="2800" spc="-5" dirty="0">
                <a:latin typeface="Calibri"/>
                <a:cs typeface="Calibri"/>
              </a:rPr>
              <a:t> </a:t>
            </a:r>
            <a:r>
              <a:rPr sz="2800" i="1" spc="-10" dirty="0">
                <a:latin typeface="Calibri"/>
                <a:cs typeface="Calibri"/>
              </a:rPr>
              <a:t>Flow</a:t>
            </a:r>
            <a:r>
              <a:rPr sz="2800" i="1" spc="-25" dirty="0">
                <a:latin typeface="Calibri"/>
                <a:cs typeface="Calibri"/>
              </a:rPr>
              <a:t> </a:t>
            </a:r>
            <a:r>
              <a:rPr sz="2800" i="1" spc="-10" dirty="0">
                <a:latin typeface="Calibri"/>
                <a:cs typeface="Calibri"/>
              </a:rPr>
              <a:t>Diagram</a:t>
            </a:r>
            <a:endParaRPr sz="2800">
              <a:latin typeface="Calibri"/>
              <a:cs typeface="Calibri"/>
            </a:endParaRPr>
          </a:p>
        </p:txBody>
      </p:sp>
    </p:spTree>
    <p:extLst>
      <p:ext uri="{BB962C8B-B14F-4D97-AF65-F5344CB8AC3E}">
        <p14:creationId xmlns:p14="http://schemas.microsoft.com/office/powerpoint/2010/main" val="294244598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6719" y="218010"/>
            <a:ext cx="4357686" cy="505267"/>
          </a:xfrm>
          <a:prstGeom prst="rect">
            <a:avLst/>
          </a:prstGeom>
        </p:spPr>
        <p:txBody>
          <a:bodyPr vert="horz" wrap="square" lIns="0" tIns="12700" rIns="0" bIns="0" rtlCol="0">
            <a:spAutoFit/>
          </a:bodyPr>
          <a:lstStyle/>
          <a:p>
            <a:pPr marL="12700">
              <a:lnSpc>
                <a:spcPct val="100000"/>
              </a:lnSpc>
              <a:spcBef>
                <a:spcPts val="100"/>
              </a:spcBef>
            </a:pPr>
            <a:r>
              <a:rPr sz="3200" b="1" spc="-10" dirty="0">
                <a:latin typeface="Calibri"/>
                <a:cs typeface="Calibri"/>
              </a:rPr>
              <a:t>Stop</a:t>
            </a:r>
            <a:r>
              <a:rPr sz="3200" b="1" spc="-25" dirty="0">
                <a:latin typeface="Calibri"/>
                <a:cs typeface="Calibri"/>
              </a:rPr>
              <a:t> </a:t>
            </a:r>
            <a:r>
              <a:rPr sz="3200" b="1" dirty="0">
                <a:latin typeface="Calibri"/>
                <a:cs typeface="Calibri"/>
              </a:rPr>
              <a:t>and</a:t>
            </a:r>
            <a:r>
              <a:rPr sz="3200" b="1" spc="-20" dirty="0">
                <a:latin typeface="Calibri"/>
                <a:cs typeface="Calibri"/>
              </a:rPr>
              <a:t> </a:t>
            </a:r>
            <a:r>
              <a:rPr sz="3200" b="1" spc="-35" dirty="0">
                <a:latin typeface="Calibri"/>
                <a:cs typeface="Calibri"/>
              </a:rPr>
              <a:t>Wait</a:t>
            </a:r>
            <a:r>
              <a:rPr sz="3200" b="1" spc="-20" dirty="0">
                <a:latin typeface="Calibri"/>
                <a:cs typeface="Calibri"/>
              </a:rPr>
              <a:t> </a:t>
            </a:r>
            <a:r>
              <a:rPr sz="3200" b="1" spc="-15" dirty="0">
                <a:latin typeface="Calibri"/>
                <a:cs typeface="Calibri"/>
              </a:rPr>
              <a:t>Protocol</a:t>
            </a: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sp>
        <p:nvSpPr>
          <p:cNvPr id="8" name="object 8"/>
          <p:cNvSpPr txBox="1"/>
          <p:nvPr/>
        </p:nvSpPr>
        <p:spPr>
          <a:xfrm>
            <a:off x="396242" y="1190956"/>
            <a:ext cx="8178641" cy="5420074"/>
          </a:xfrm>
          <a:prstGeom prst="rect">
            <a:avLst/>
          </a:prstGeom>
        </p:spPr>
        <p:txBody>
          <a:bodyPr vert="horz" wrap="square" lIns="0" tIns="13335" rIns="0" bIns="0" rtlCol="0">
            <a:spAutoFit/>
          </a:bodyPr>
          <a:lstStyle/>
          <a:p>
            <a:pPr marL="469265" marR="5080" indent="-457200">
              <a:lnSpc>
                <a:spcPct val="100000"/>
              </a:lnSpc>
              <a:spcBef>
                <a:spcPts val="105"/>
              </a:spcBef>
              <a:buFont typeface="Arial MT"/>
              <a:buChar char="•"/>
              <a:tabLst>
                <a:tab pos="469265" algn="l"/>
                <a:tab pos="469900" algn="l"/>
              </a:tabLst>
            </a:pPr>
            <a:r>
              <a:rPr sz="3200" spc="-5" dirty="0">
                <a:latin typeface="Calibri"/>
                <a:cs typeface="Calibri"/>
              </a:rPr>
              <a:t>If</a:t>
            </a:r>
            <a:r>
              <a:rPr sz="3200" dirty="0">
                <a:latin typeface="Calibri"/>
                <a:cs typeface="Calibri"/>
              </a:rPr>
              <a:t> </a:t>
            </a:r>
            <a:r>
              <a:rPr sz="3200" spc="-15" dirty="0">
                <a:latin typeface="Calibri"/>
                <a:cs typeface="Calibri"/>
              </a:rPr>
              <a:t>frames</a:t>
            </a:r>
            <a:r>
              <a:rPr sz="3200" spc="20" dirty="0">
                <a:latin typeface="Calibri"/>
                <a:cs typeface="Calibri"/>
              </a:rPr>
              <a:t> </a:t>
            </a:r>
            <a:r>
              <a:rPr sz="3200" spc="-10" dirty="0">
                <a:latin typeface="Calibri"/>
                <a:cs typeface="Calibri"/>
              </a:rPr>
              <a:t>arrive</a:t>
            </a:r>
            <a:r>
              <a:rPr sz="3200" spc="15" dirty="0">
                <a:latin typeface="Calibri"/>
                <a:cs typeface="Calibri"/>
              </a:rPr>
              <a:t> </a:t>
            </a:r>
            <a:r>
              <a:rPr sz="3200" spc="-25" dirty="0">
                <a:latin typeface="Calibri"/>
                <a:cs typeface="Calibri"/>
              </a:rPr>
              <a:t>faster</a:t>
            </a:r>
            <a:r>
              <a:rPr sz="3200" spc="10" dirty="0">
                <a:latin typeface="Calibri"/>
                <a:cs typeface="Calibri"/>
              </a:rPr>
              <a:t> </a:t>
            </a:r>
            <a:r>
              <a:rPr sz="3200" dirty="0">
                <a:latin typeface="Calibri"/>
                <a:cs typeface="Calibri"/>
              </a:rPr>
              <a:t>than</a:t>
            </a:r>
            <a:r>
              <a:rPr sz="3200" spc="20" dirty="0">
                <a:latin typeface="Calibri"/>
                <a:cs typeface="Calibri"/>
              </a:rPr>
              <a:t> </a:t>
            </a:r>
            <a:r>
              <a:rPr sz="3200" spc="-5" dirty="0">
                <a:latin typeface="Calibri"/>
                <a:cs typeface="Calibri"/>
              </a:rPr>
              <a:t>they</a:t>
            </a:r>
            <a:r>
              <a:rPr sz="3200" spc="10" dirty="0">
                <a:latin typeface="Calibri"/>
                <a:cs typeface="Calibri"/>
              </a:rPr>
              <a:t> </a:t>
            </a:r>
            <a:r>
              <a:rPr sz="3200" spc="-10" dirty="0">
                <a:latin typeface="Calibri"/>
                <a:cs typeface="Calibri"/>
              </a:rPr>
              <a:t>can</a:t>
            </a:r>
            <a:r>
              <a:rPr sz="3200" spc="10" dirty="0">
                <a:latin typeface="Calibri"/>
                <a:cs typeface="Calibri"/>
              </a:rPr>
              <a:t> </a:t>
            </a:r>
            <a:r>
              <a:rPr sz="3200" dirty="0">
                <a:latin typeface="Calibri"/>
                <a:cs typeface="Calibri"/>
              </a:rPr>
              <a:t>be</a:t>
            </a:r>
            <a:r>
              <a:rPr sz="3200" spc="10" dirty="0">
                <a:latin typeface="Calibri"/>
                <a:cs typeface="Calibri"/>
              </a:rPr>
              <a:t> </a:t>
            </a:r>
            <a:r>
              <a:rPr sz="3200" spc="-10" dirty="0">
                <a:latin typeface="Calibri"/>
                <a:cs typeface="Calibri"/>
              </a:rPr>
              <a:t>processed,</a:t>
            </a:r>
            <a:r>
              <a:rPr sz="3200" spc="20" dirty="0">
                <a:latin typeface="Calibri"/>
                <a:cs typeface="Calibri"/>
              </a:rPr>
              <a:t> </a:t>
            </a:r>
            <a:r>
              <a:rPr sz="3200" spc="-15" dirty="0">
                <a:latin typeface="Calibri"/>
                <a:cs typeface="Calibri"/>
              </a:rPr>
              <a:t>frames</a:t>
            </a:r>
            <a:r>
              <a:rPr sz="3200" dirty="0">
                <a:latin typeface="Calibri"/>
                <a:cs typeface="Calibri"/>
              </a:rPr>
              <a:t> </a:t>
            </a:r>
            <a:r>
              <a:rPr sz="3200" spc="-5" dirty="0">
                <a:latin typeface="Calibri"/>
                <a:cs typeface="Calibri"/>
              </a:rPr>
              <a:t>must </a:t>
            </a:r>
            <a:r>
              <a:rPr sz="3200" spc="-705" dirty="0">
                <a:latin typeface="Calibri"/>
                <a:cs typeface="Calibri"/>
              </a:rPr>
              <a:t> </a:t>
            </a:r>
            <a:r>
              <a:rPr sz="3200" spc="-5" dirty="0">
                <a:latin typeface="Calibri"/>
                <a:cs typeface="Calibri"/>
              </a:rPr>
              <a:t>be</a:t>
            </a:r>
            <a:r>
              <a:rPr sz="3200" spc="-10" dirty="0">
                <a:latin typeface="Calibri"/>
                <a:cs typeface="Calibri"/>
              </a:rPr>
              <a:t> </a:t>
            </a:r>
            <a:r>
              <a:rPr sz="3200" spc="-25" dirty="0">
                <a:latin typeface="Calibri"/>
                <a:cs typeface="Calibri"/>
              </a:rPr>
              <a:t>stored</a:t>
            </a:r>
            <a:r>
              <a:rPr sz="3200" spc="10" dirty="0">
                <a:latin typeface="Calibri"/>
                <a:cs typeface="Calibri"/>
              </a:rPr>
              <a:t> </a:t>
            </a:r>
            <a:r>
              <a:rPr sz="3200" spc="-10" dirty="0">
                <a:latin typeface="Calibri"/>
                <a:cs typeface="Calibri"/>
              </a:rPr>
              <a:t>until</a:t>
            </a:r>
            <a:r>
              <a:rPr sz="3200" spc="15" dirty="0">
                <a:latin typeface="Calibri"/>
                <a:cs typeface="Calibri"/>
              </a:rPr>
              <a:t> </a:t>
            </a:r>
            <a:r>
              <a:rPr sz="3200" spc="-5" dirty="0">
                <a:latin typeface="Calibri"/>
                <a:cs typeface="Calibri"/>
              </a:rPr>
              <a:t>their</a:t>
            </a:r>
            <a:r>
              <a:rPr sz="3200" spc="10" dirty="0">
                <a:latin typeface="Calibri"/>
                <a:cs typeface="Calibri"/>
              </a:rPr>
              <a:t> </a:t>
            </a:r>
            <a:r>
              <a:rPr sz="3200" spc="-5" dirty="0">
                <a:latin typeface="Calibri"/>
                <a:cs typeface="Calibri"/>
              </a:rPr>
              <a:t>use.</a:t>
            </a:r>
            <a:endParaRPr sz="3200" dirty="0">
              <a:latin typeface="Calibri"/>
              <a:cs typeface="Calibri"/>
            </a:endParaRPr>
          </a:p>
          <a:p>
            <a:pPr>
              <a:lnSpc>
                <a:spcPct val="100000"/>
              </a:lnSpc>
              <a:buFont typeface="Arial MT"/>
              <a:buChar char="•"/>
            </a:pPr>
            <a:endParaRPr sz="3150" dirty="0">
              <a:latin typeface="Calibri"/>
              <a:cs typeface="Calibri"/>
            </a:endParaRPr>
          </a:p>
          <a:p>
            <a:pPr marL="469265" marR="6350" indent="-457200">
              <a:lnSpc>
                <a:spcPct val="100000"/>
              </a:lnSpc>
              <a:buFont typeface="Arial MT"/>
              <a:buChar char="•"/>
              <a:tabLst>
                <a:tab pos="469265" algn="l"/>
                <a:tab pos="469900" algn="l"/>
                <a:tab pos="1063625" algn="l"/>
                <a:tab pos="2559050" algn="l"/>
                <a:tab pos="4104640" algn="l"/>
                <a:tab pos="5120005" algn="l"/>
                <a:tab pos="6960870" algn="l"/>
                <a:tab pos="9561195" algn="l"/>
              </a:tabLst>
            </a:pPr>
            <a:r>
              <a:rPr sz="3200" spc="-290" dirty="0">
                <a:latin typeface="Calibri"/>
                <a:cs typeface="Calibri"/>
              </a:rPr>
              <a:t>T</a:t>
            </a:r>
            <a:r>
              <a:rPr sz="3200" dirty="0">
                <a:latin typeface="Calibri"/>
                <a:cs typeface="Calibri"/>
              </a:rPr>
              <a:t>o	</a:t>
            </a:r>
            <a:r>
              <a:rPr sz="3200" spc="-5" dirty="0">
                <a:latin typeface="Calibri"/>
                <a:cs typeface="Calibri"/>
              </a:rPr>
              <a:t>p</a:t>
            </a:r>
            <a:r>
              <a:rPr sz="3200" spc="-45" dirty="0">
                <a:latin typeface="Calibri"/>
                <a:cs typeface="Calibri"/>
              </a:rPr>
              <a:t>r</a:t>
            </a:r>
            <a:r>
              <a:rPr sz="3200" spc="-15" dirty="0">
                <a:latin typeface="Calibri"/>
                <a:cs typeface="Calibri"/>
              </a:rPr>
              <a:t>e</a:t>
            </a:r>
            <a:r>
              <a:rPr sz="3200" spc="-45" dirty="0">
                <a:latin typeface="Calibri"/>
                <a:cs typeface="Calibri"/>
              </a:rPr>
              <a:t>v</a:t>
            </a:r>
            <a:r>
              <a:rPr sz="3200" spc="-15" dirty="0">
                <a:latin typeface="Calibri"/>
                <a:cs typeface="Calibri"/>
              </a:rPr>
              <a:t>e</a:t>
            </a:r>
            <a:r>
              <a:rPr sz="3200" spc="-30" dirty="0">
                <a:latin typeface="Calibri"/>
                <a:cs typeface="Calibri"/>
              </a:rPr>
              <a:t>n</a:t>
            </a:r>
            <a:r>
              <a:rPr sz="3200" dirty="0">
                <a:latin typeface="Calibri"/>
                <a:cs typeface="Calibri"/>
              </a:rPr>
              <a:t>t	</a:t>
            </a:r>
            <a:r>
              <a:rPr sz="3200" spc="-40" dirty="0">
                <a:latin typeface="Calibri"/>
                <a:cs typeface="Calibri"/>
              </a:rPr>
              <a:t>r</a:t>
            </a:r>
            <a:r>
              <a:rPr sz="3200" dirty="0">
                <a:latin typeface="Calibri"/>
                <a:cs typeface="Calibri"/>
              </a:rPr>
              <a:t>e</a:t>
            </a:r>
            <a:r>
              <a:rPr sz="3200" spc="-10" dirty="0">
                <a:latin typeface="Calibri"/>
                <a:cs typeface="Calibri"/>
              </a:rPr>
              <a:t>c</a:t>
            </a:r>
            <a:r>
              <a:rPr sz="3200" dirty="0">
                <a:latin typeface="Calibri"/>
                <a:cs typeface="Calibri"/>
              </a:rPr>
              <a:t>ei</a:t>
            </a:r>
            <a:r>
              <a:rPr sz="3200" spc="-50" dirty="0">
                <a:latin typeface="Calibri"/>
                <a:cs typeface="Calibri"/>
              </a:rPr>
              <a:t>v</a:t>
            </a:r>
            <a:r>
              <a:rPr sz="3200" dirty="0">
                <a:latin typeface="Calibri"/>
                <a:cs typeface="Calibri"/>
              </a:rPr>
              <a:t>er	</a:t>
            </a:r>
            <a:r>
              <a:rPr sz="3200" spc="-5" dirty="0">
                <a:latin typeface="Calibri"/>
                <a:cs typeface="Calibri"/>
              </a:rPr>
              <a:t>f</a:t>
            </a:r>
            <a:r>
              <a:rPr sz="3200" spc="-55" dirty="0">
                <a:latin typeface="Calibri"/>
                <a:cs typeface="Calibri"/>
              </a:rPr>
              <a:t>r</a:t>
            </a:r>
            <a:r>
              <a:rPr sz="3200" spc="-5" dirty="0">
                <a:latin typeface="Calibri"/>
                <a:cs typeface="Calibri"/>
              </a:rPr>
              <a:t>o</a:t>
            </a:r>
            <a:r>
              <a:rPr sz="3200" dirty="0">
                <a:latin typeface="Calibri"/>
                <a:cs typeface="Calibri"/>
              </a:rPr>
              <a:t>m	</a:t>
            </a:r>
            <a:r>
              <a:rPr sz="3200" spc="-5" dirty="0">
                <a:latin typeface="Calibri"/>
                <a:cs typeface="Calibri"/>
              </a:rPr>
              <a:t>be</a:t>
            </a:r>
            <a:r>
              <a:rPr sz="3200" spc="-30" dirty="0">
                <a:latin typeface="Calibri"/>
                <a:cs typeface="Calibri"/>
              </a:rPr>
              <a:t>c</a:t>
            </a:r>
            <a:r>
              <a:rPr sz="3200" spc="-5" dirty="0">
                <a:latin typeface="Calibri"/>
                <a:cs typeface="Calibri"/>
              </a:rPr>
              <a:t>omin</a:t>
            </a:r>
            <a:r>
              <a:rPr sz="3200" dirty="0">
                <a:latin typeface="Calibri"/>
                <a:cs typeface="Calibri"/>
              </a:rPr>
              <a:t>g	</a:t>
            </a:r>
            <a:r>
              <a:rPr sz="3200" spc="-5" dirty="0">
                <a:latin typeface="Calibri"/>
                <a:cs typeface="Calibri"/>
              </a:rPr>
              <a:t>o</a:t>
            </a:r>
            <a:r>
              <a:rPr sz="3200" spc="-45" dirty="0">
                <a:latin typeface="Calibri"/>
                <a:cs typeface="Calibri"/>
              </a:rPr>
              <a:t>v</a:t>
            </a:r>
            <a:r>
              <a:rPr sz="3200" dirty="0">
                <a:latin typeface="Calibri"/>
                <a:cs typeface="Calibri"/>
              </a:rPr>
              <a:t>e</a:t>
            </a:r>
            <a:r>
              <a:rPr sz="3200" spc="20" dirty="0">
                <a:latin typeface="Calibri"/>
                <a:cs typeface="Calibri"/>
              </a:rPr>
              <a:t>r</a:t>
            </a:r>
            <a:r>
              <a:rPr sz="3200" dirty="0">
                <a:latin typeface="Calibri"/>
                <a:cs typeface="Calibri"/>
              </a:rPr>
              <a:t>whelme</a:t>
            </a:r>
            <a:r>
              <a:rPr sz="3200" spc="-10" dirty="0">
                <a:latin typeface="Calibri"/>
                <a:cs typeface="Calibri"/>
              </a:rPr>
              <a:t>d</a:t>
            </a:r>
            <a:r>
              <a:rPr sz="3200" dirty="0">
                <a:latin typeface="Calibri"/>
                <a:cs typeface="Calibri"/>
              </a:rPr>
              <a:t>,	</a:t>
            </a:r>
            <a:r>
              <a:rPr sz="3200" spc="-40" dirty="0">
                <a:latin typeface="Calibri"/>
                <a:cs typeface="Calibri"/>
              </a:rPr>
              <a:t>r</a:t>
            </a:r>
            <a:r>
              <a:rPr sz="3200" spc="-15" dirty="0">
                <a:latin typeface="Calibri"/>
                <a:cs typeface="Calibri"/>
              </a:rPr>
              <a:t>e</a:t>
            </a:r>
            <a:r>
              <a:rPr sz="3200" dirty="0">
                <a:latin typeface="Calibri"/>
                <a:cs typeface="Calibri"/>
              </a:rPr>
              <a:t>cei</a:t>
            </a:r>
            <a:r>
              <a:rPr sz="3200" spc="-35" dirty="0">
                <a:latin typeface="Calibri"/>
                <a:cs typeface="Calibri"/>
              </a:rPr>
              <a:t>v</a:t>
            </a:r>
            <a:r>
              <a:rPr sz="3200" spc="-15" dirty="0">
                <a:latin typeface="Calibri"/>
                <a:cs typeface="Calibri"/>
              </a:rPr>
              <a:t>e</a:t>
            </a:r>
            <a:r>
              <a:rPr sz="3200" dirty="0">
                <a:latin typeface="Calibri"/>
                <a:cs typeface="Calibri"/>
              </a:rPr>
              <a:t>r  </a:t>
            </a:r>
            <a:r>
              <a:rPr sz="3200" spc="-5" dirty="0">
                <a:latin typeface="Calibri"/>
                <a:cs typeface="Calibri"/>
              </a:rPr>
              <a:t>needs</a:t>
            </a:r>
            <a:r>
              <a:rPr sz="3200" spc="-10" dirty="0">
                <a:latin typeface="Calibri"/>
                <a:cs typeface="Calibri"/>
              </a:rPr>
              <a:t> </a:t>
            </a:r>
            <a:r>
              <a:rPr sz="3200" spc="-25" dirty="0">
                <a:latin typeface="Calibri"/>
                <a:cs typeface="Calibri"/>
              </a:rPr>
              <a:t>to</a:t>
            </a:r>
            <a:r>
              <a:rPr sz="3200" spc="10" dirty="0">
                <a:latin typeface="Calibri"/>
                <a:cs typeface="Calibri"/>
              </a:rPr>
              <a:t> </a:t>
            </a:r>
            <a:r>
              <a:rPr sz="3200" spc="-10" dirty="0">
                <a:latin typeface="Calibri"/>
                <a:cs typeface="Calibri"/>
              </a:rPr>
              <a:t>tell</a:t>
            </a:r>
            <a:r>
              <a:rPr sz="3200" spc="10" dirty="0">
                <a:latin typeface="Calibri"/>
                <a:cs typeface="Calibri"/>
              </a:rPr>
              <a:t> </a:t>
            </a:r>
            <a:r>
              <a:rPr sz="3200" spc="-5" dirty="0">
                <a:latin typeface="Calibri"/>
                <a:cs typeface="Calibri"/>
              </a:rPr>
              <a:t>sender</a:t>
            </a:r>
            <a:r>
              <a:rPr sz="3200" spc="-10" dirty="0">
                <a:latin typeface="Calibri"/>
                <a:cs typeface="Calibri"/>
              </a:rPr>
              <a:t> </a:t>
            </a:r>
            <a:r>
              <a:rPr sz="3200" spc="-25" dirty="0">
                <a:latin typeface="Calibri"/>
                <a:cs typeface="Calibri"/>
              </a:rPr>
              <a:t>to</a:t>
            </a:r>
            <a:r>
              <a:rPr sz="3200" spc="10" dirty="0">
                <a:latin typeface="Calibri"/>
                <a:cs typeface="Calibri"/>
              </a:rPr>
              <a:t> </a:t>
            </a:r>
            <a:r>
              <a:rPr sz="3200" spc="-5" dirty="0">
                <a:latin typeface="Calibri"/>
                <a:cs typeface="Calibri"/>
              </a:rPr>
              <a:t>slow</a:t>
            </a:r>
            <a:r>
              <a:rPr sz="3200" spc="-10" dirty="0">
                <a:latin typeface="Calibri"/>
                <a:cs typeface="Calibri"/>
              </a:rPr>
              <a:t> </a:t>
            </a:r>
            <a:r>
              <a:rPr sz="3200" spc="-5" dirty="0">
                <a:latin typeface="Calibri"/>
                <a:cs typeface="Calibri"/>
              </a:rPr>
              <a:t>down</a:t>
            </a:r>
            <a:r>
              <a:rPr sz="3200" spc="5" dirty="0">
                <a:latin typeface="Calibri"/>
                <a:cs typeface="Calibri"/>
              </a:rPr>
              <a:t> </a:t>
            </a:r>
            <a:r>
              <a:rPr sz="3200" spc="-10" dirty="0">
                <a:latin typeface="Calibri"/>
                <a:cs typeface="Calibri"/>
              </a:rPr>
              <a:t>(ACK).</a:t>
            </a:r>
            <a:endParaRPr sz="3200" dirty="0">
              <a:latin typeface="Calibri"/>
              <a:cs typeface="Calibri"/>
            </a:endParaRPr>
          </a:p>
          <a:p>
            <a:pPr>
              <a:lnSpc>
                <a:spcPct val="100000"/>
              </a:lnSpc>
              <a:spcBef>
                <a:spcPts val="55"/>
              </a:spcBef>
              <a:buFont typeface="Arial MT"/>
              <a:buChar char="•"/>
            </a:pPr>
            <a:endParaRPr sz="3100" dirty="0">
              <a:latin typeface="Calibri"/>
              <a:cs typeface="Calibri"/>
            </a:endParaRPr>
          </a:p>
          <a:p>
            <a:pPr marL="469265" marR="8255" indent="-457200">
              <a:lnSpc>
                <a:spcPct val="100000"/>
              </a:lnSpc>
              <a:spcBef>
                <a:spcPts val="5"/>
              </a:spcBef>
              <a:buFont typeface="Arial MT"/>
              <a:buChar char="•"/>
              <a:tabLst>
                <a:tab pos="469265" algn="l"/>
                <a:tab pos="469900" algn="l"/>
                <a:tab pos="1789430" algn="l"/>
                <a:tab pos="2894330" algn="l"/>
                <a:tab pos="3685540" algn="l"/>
                <a:tab pos="4925060" algn="l"/>
                <a:tab pos="5956300" algn="l"/>
                <a:tab pos="6864984" algn="l"/>
                <a:tab pos="7253605" algn="l"/>
                <a:tab pos="8759190" algn="l"/>
              </a:tabLst>
            </a:pPr>
            <a:r>
              <a:rPr sz="3200" spc="-5" dirty="0">
                <a:latin typeface="Calibri"/>
                <a:cs typeface="Calibri"/>
              </a:rPr>
              <a:t>Sende</a:t>
            </a:r>
            <a:r>
              <a:rPr sz="3200" dirty="0">
                <a:latin typeface="Calibri"/>
                <a:cs typeface="Calibri"/>
              </a:rPr>
              <a:t>r	</a:t>
            </a:r>
            <a:r>
              <a:rPr sz="3200" spc="-5" dirty="0">
                <a:latin typeface="Calibri"/>
                <a:cs typeface="Calibri"/>
              </a:rPr>
              <a:t>send</a:t>
            </a:r>
            <a:r>
              <a:rPr sz="3200" dirty="0">
                <a:latin typeface="Calibri"/>
                <a:cs typeface="Calibri"/>
              </a:rPr>
              <a:t>s	</a:t>
            </a:r>
            <a:r>
              <a:rPr sz="3200" spc="-5" dirty="0">
                <a:latin typeface="Calibri"/>
                <a:cs typeface="Calibri"/>
              </a:rPr>
              <a:t>o</a:t>
            </a:r>
            <a:r>
              <a:rPr sz="3200" spc="5" dirty="0">
                <a:latin typeface="Calibri"/>
                <a:cs typeface="Calibri"/>
              </a:rPr>
              <a:t>n</a:t>
            </a:r>
            <a:r>
              <a:rPr sz="3200" dirty="0">
                <a:latin typeface="Calibri"/>
                <a:cs typeface="Calibri"/>
              </a:rPr>
              <a:t>e	</a:t>
            </a:r>
            <a:r>
              <a:rPr sz="3200" spc="-5" dirty="0">
                <a:latin typeface="Calibri"/>
                <a:cs typeface="Calibri"/>
              </a:rPr>
              <a:t>f</a:t>
            </a:r>
            <a:r>
              <a:rPr sz="3200" spc="-70" dirty="0">
                <a:latin typeface="Calibri"/>
                <a:cs typeface="Calibri"/>
              </a:rPr>
              <a:t>r</a:t>
            </a:r>
            <a:r>
              <a:rPr sz="3200" dirty="0">
                <a:latin typeface="Calibri"/>
                <a:cs typeface="Calibri"/>
              </a:rPr>
              <a:t>ame,	</a:t>
            </a:r>
            <a:r>
              <a:rPr sz="3200" spc="-30" dirty="0">
                <a:latin typeface="Calibri"/>
                <a:cs typeface="Calibri"/>
              </a:rPr>
              <a:t>s</a:t>
            </a:r>
            <a:r>
              <a:rPr sz="3200" spc="-45" dirty="0">
                <a:latin typeface="Calibri"/>
                <a:cs typeface="Calibri"/>
              </a:rPr>
              <a:t>t</a:t>
            </a:r>
            <a:r>
              <a:rPr sz="3200" spc="-5" dirty="0">
                <a:latin typeface="Calibri"/>
                <a:cs typeface="Calibri"/>
              </a:rPr>
              <a:t>o</a:t>
            </a:r>
            <a:r>
              <a:rPr sz="3200" spc="-15" dirty="0">
                <a:latin typeface="Calibri"/>
                <a:cs typeface="Calibri"/>
              </a:rPr>
              <a:t>p</a:t>
            </a:r>
            <a:r>
              <a:rPr sz="3200" dirty="0">
                <a:latin typeface="Calibri"/>
                <a:cs typeface="Calibri"/>
              </a:rPr>
              <a:t>s	</a:t>
            </a:r>
            <a:r>
              <a:rPr sz="3200" spc="5" dirty="0">
                <a:latin typeface="Calibri"/>
                <a:cs typeface="Calibri"/>
              </a:rPr>
              <a:t>u</a:t>
            </a:r>
            <a:r>
              <a:rPr sz="3200" spc="-30" dirty="0">
                <a:latin typeface="Calibri"/>
                <a:cs typeface="Calibri"/>
              </a:rPr>
              <a:t>n</a:t>
            </a:r>
            <a:r>
              <a:rPr sz="3200" dirty="0">
                <a:latin typeface="Calibri"/>
                <a:cs typeface="Calibri"/>
              </a:rPr>
              <a:t>til	</a:t>
            </a:r>
            <a:r>
              <a:rPr sz="3200" spc="-5" dirty="0">
                <a:latin typeface="Calibri"/>
                <a:cs typeface="Calibri"/>
              </a:rPr>
              <a:t>i</a:t>
            </a:r>
            <a:r>
              <a:rPr sz="3200" dirty="0">
                <a:latin typeface="Calibri"/>
                <a:cs typeface="Calibri"/>
              </a:rPr>
              <a:t>t	</a:t>
            </a:r>
            <a:r>
              <a:rPr sz="3200" spc="-40" dirty="0">
                <a:latin typeface="Calibri"/>
                <a:cs typeface="Calibri"/>
              </a:rPr>
              <a:t>r</a:t>
            </a:r>
            <a:r>
              <a:rPr sz="3200" spc="-15" dirty="0">
                <a:latin typeface="Calibri"/>
                <a:cs typeface="Calibri"/>
              </a:rPr>
              <a:t>e</a:t>
            </a:r>
            <a:r>
              <a:rPr sz="3200" dirty="0">
                <a:latin typeface="Calibri"/>
                <a:cs typeface="Calibri"/>
              </a:rPr>
              <a:t>cei</a:t>
            </a:r>
            <a:r>
              <a:rPr sz="3200" spc="-35" dirty="0">
                <a:latin typeface="Calibri"/>
                <a:cs typeface="Calibri"/>
              </a:rPr>
              <a:t>v</a:t>
            </a:r>
            <a:r>
              <a:rPr sz="3200" dirty="0">
                <a:latin typeface="Calibri"/>
                <a:cs typeface="Calibri"/>
              </a:rPr>
              <a:t>es	</a:t>
            </a:r>
            <a:r>
              <a:rPr sz="3200" spc="-35" dirty="0">
                <a:latin typeface="Calibri"/>
                <a:cs typeface="Calibri"/>
              </a:rPr>
              <a:t>c</a:t>
            </a:r>
            <a:r>
              <a:rPr sz="3200" spc="-5" dirty="0">
                <a:latin typeface="Calibri"/>
                <a:cs typeface="Calibri"/>
              </a:rPr>
              <a:t>o</a:t>
            </a:r>
            <a:r>
              <a:rPr sz="3200" spc="-30" dirty="0">
                <a:latin typeface="Calibri"/>
                <a:cs typeface="Calibri"/>
              </a:rPr>
              <a:t>n</a:t>
            </a:r>
            <a:r>
              <a:rPr sz="3200" spc="-5" dirty="0">
                <a:latin typeface="Calibri"/>
                <a:cs typeface="Calibri"/>
              </a:rPr>
              <a:t>firm</a:t>
            </a:r>
            <a:r>
              <a:rPr sz="3200" spc="-25" dirty="0">
                <a:latin typeface="Calibri"/>
                <a:cs typeface="Calibri"/>
              </a:rPr>
              <a:t>a</a:t>
            </a:r>
            <a:r>
              <a:rPr sz="3200" dirty="0">
                <a:latin typeface="Calibri"/>
                <a:cs typeface="Calibri"/>
              </a:rPr>
              <a:t>ti</a:t>
            </a:r>
            <a:r>
              <a:rPr sz="3200" spc="15" dirty="0">
                <a:latin typeface="Calibri"/>
                <a:cs typeface="Calibri"/>
              </a:rPr>
              <a:t>o</a:t>
            </a:r>
            <a:r>
              <a:rPr sz="3200" dirty="0">
                <a:latin typeface="Calibri"/>
                <a:cs typeface="Calibri"/>
              </a:rPr>
              <a:t>n  </a:t>
            </a:r>
            <a:r>
              <a:rPr sz="3200" spc="-15" dirty="0">
                <a:latin typeface="Calibri"/>
                <a:cs typeface="Calibri"/>
              </a:rPr>
              <a:t>from</a:t>
            </a:r>
            <a:r>
              <a:rPr sz="3200" spc="-10" dirty="0">
                <a:latin typeface="Calibri"/>
                <a:cs typeface="Calibri"/>
              </a:rPr>
              <a:t> receiver</a:t>
            </a:r>
            <a:r>
              <a:rPr sz="3200" spc="-30" dirty="0">
                <a:latin typeface="Calibri"/>
                <a:cs typeface="Calibri"/>
              </a:rPr>
              <a:t> </a:t>
            </a:r>
            <a:r>
              <a:rPr sz="3200" dirty="0">
                <a:latin typeface="Calibri"/>
                <a:cs typeface="Calibri"/>
              </a:rPr>
              <a:t>and then</a:t>
            </a:r>
            <a:r>
              <a:rPr sz="3200" spc="10" dirty="0">
                <a:latin typeface="Calibri"/>
                <a:cs typeface="Calibri"/>
              </a:rPr>
              <a:t> </a:t>
            </a:r>
            <a:r>
              <a:rPr sz="3200" spc="-5" dirty="0">
                <a:latin typeface="Calibri"/>
                <a:cs typeface="Calibri"/>
              </a:rPr>
              <a:t>send </a:t>
            </a:r>
            <a:r>
              <a:rPr sz="3200" spc="-15" dirty="0">
                <a:latin typeface="Calibri"/>
                <a:cs typeface="Calibri"/>
              </a:rPr>
              <a:t>next</a:t>
            </a:r>
            <a:r>
              <a:rPr sz="3200" spc="-5" dirty="0">
                <a:latin typeface="Calibri"/>
                <a:cs typeface="Calibri"/>
              </a:rPr>
              <a:t> </a:t>
            </a:r>
            <a:r>
              <a:rPr sz="3200" spc="-15" dirty="0">
                <a:latin typeface="Calibri"/>
                <a:cs typeface="Calibri"/>
              </a:rPr>
              <a:t>frame.</a:t>
            </a:r>
            <a:endParaRPr sz="3200" dirty="0">
              <a:latin typeface="Calibri"/>
              <a:cs typeface="Calibri"/>
            </a:endParaRPr>
          </a:p>
        </p:txBody>
      </p:sp>
    </p:spTree>
    <p:extLst>
      <p:ext uri="{BB962C8B-B14F-4D97-AF65-F5344CB8AC3E}">
        <p14:creationId xmlns:p14="http://schemas.microsoft.com/office/powerpoint/2010/main" val="328862412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3600" y="53942"/>
            <a:ext cx="4679678" cy="505267"/>
          </a:xfrm>
          <a:prstGeom prst="rect">
            <a:avLst/>
          </a:prstGeom>
        </p:spPr>
        <p:txBody>
          <a:bodyPr vert="horz" wrap="square" lIns="0" tIns="12700" rIns="0" bIns="0" rtlCol="0">
            <a:spAutoFit/>
          </a:bodyPr>
          <a:lstStyle/>
          <a:p>
            <a:pPr marL="12700">
              <a:lnSpc>
                <a:spcPct val="100000"/>
              </a:lnSpc>
              <a:spcBef>
                <a:spcPts val="100"/>
              </a:spcBef>
            </a:pPr>
            <a:r>
              <a:rPr sz="3200" b="1" spc="-10" dirty="0">
                <a:latin typeface="Calibri"/>
                <a:cs typeface="Calibri"/>
              </a:rPr>
              <a:t>Stop</a:t>
            </a:r>
            <a:r>
              <a:rPr sz="3200" b="1" spc="-25" dirty="0">
                <a:latin typeface="Calibri"/>
                <a:cs typeface="Calibri"/>
              </a:rPr>
              <a:t> </a:t>
            </a:r>
            <a:r>
              <a:rPr sz="3200" b="1" dirty="0">
                <a:latin typeface="Calibri"/>
                <a:cs typeface="Calibri"/>
              </a:rPr>
              <a:t>and</a:t>
            </a:r>
            <a:r>
              <a:rPr sz="3200" b="1" spc="-20" dirty="0">
                <a:latin typeface="Calibri"/>
                <a:cs typeface="Calibri"/>
              </a:rPr>
              <a:t> </a:t>
            </a:r>
            <a:r>
              <a:rPr sz="3200" b="1" spc="-35" dirty="0">
                <a:latin typeface="Calibri"/>
                <a:cs typeface="Calibri"/>
              </a:rPr>
              <a:t>Wait</a:t>
            </a:r>
            <a:r>
              <a:rPr sz="3200" b="1" spc="-20" dirty="0">
                <a:latin typeface="Calibri"/>
                <a:cs typeface="Calibri"/>
              </a:rPr>
              <a:t> </a:t>
            </a:r>
            <a:r>
              <a:rPr sz="3200" b="1" spc="-15" dirty="0">
                <a:latin typeface="Calibri"/>
                <a:cs typeface="Calibri"/>
              </a:rPr>
              <a:t>Protocol</a:t>
            </a:r>
          </a:p>
        </p:txBody>
      </p:sp>
      <p:pic>
        <p:nvPicPr>
          <p:cNvPr id="3" name="object 3"/>
          <p:cNvPicPr/>
          <p:nvPr/>
        </p:nvPicPr>
        <p:blipFill>
          <a:blip r:embed="rId2" cstate="print"/>
          <a:stretch>
            <a:fillRect/>
          </a:stretch>
        </p:blipFill>
        <p:spPr>
          <a:xfrm>
            <a:off x="220860" y="218010"/>
            <a:ext cx="1737985" cy="682398"/>
          </a:xfrm>
          <a:prstGeom prst="rect">
            <a:avLst/>
          </a:prstGeom>
        </p:spPr>
      </p:pic>
      <p:grpSp>
        <p:nvGrpSpPr>
          <p:cNvPr id="4" name="object 4"/>
          <p:cNvGrpSpPr/>
          <p:nvPr/>
        </p:nvGrpSpPr>
        <p:grpSpPr>
          <a:xfrm>
            <a:off x="884544" y="440515"/>
            <a:ext cx="7343185" cy="6318504"/>
            <a:chOff x="1641348" y="0"/>
            <a:chExt cx="10551160" cy="6858000"/>
          </a:xfrm>
        </p:grpSpPr>
        <p:pic>
          <p:nvPicPr>
            <p:cNvPr id="5" name="object 5"/>
            <p:cNvPicPr/>
            <p:nvPr/>
          </p:nvPicPr>
          <p:blipFill>
            <a:blip r:embed="rId3" cstate="print"/>
            <a:stretch>
              <a:fillRect/>
            </a:stretch>
          </p:blipFill>
          <p:spPr>
            <a:xfrm>
              <a:off x="11754612" y="4571"/>
              <a:ext cx="437388" cy="6853426"/>
            </a:xfrm>
            <a:prstGeom prst="rect">
              <a:avLst/>
            </a:prstGeom>
          </p:spPr>
        </p:pic>
        <p:pic>
          <p:nvPicPr>
            <p:cNvPr id="6" name="object 6"/>
            <p:cNvPicPr/>
            <p:nvPr/>
          </p:nvPicPr>
          <p:blipFill>
            <a:blip r:embed="rId4" cstate="print"/>
            <a:stretch>
              <a:fillRect/>
            </a:stretch>
          </p:blipFill>
          <p:spPr>
            <a:xfrm>
              <a:off x="10786872" y="5859779"/>
              <a:ext cx="967740" cy="722376"/>
            </a:xfrm>
            <a:prstGeom prst="rect">
              <a:avLst/>
            </a:prstGeom>
          </p:spPr>
        </p:pic>
        <p:pic>
          <p:nvPicPr>
            <p:cNvPr id="7" name="object 7"/>
            <p:cNvPicPr/>
            <p:nvPr/>
          </p:nvPicPr>
          <p:blipFill>
            <a:blip r:embed="rId5" cstate="print"/>
            <a:stretch>
              <a:fillRect/>
            </a:stretch>
          </p:blipFill>
          <p:spPr>
            <a:xfrm>
              <a:off x="9136379" y="0"/>
              <a:ext cx="2898648" cy="539496"/>
            </a:xfrm>
            <a:prstGeom prst="rect">
              <a:avLst/>
            </a:prstGeom>
          </p:spPr>
        </p:pic>
        <p:pic>
          <p:nvPicPr>
            <p:cNvPr id="8" name="object 8"/>
            <p:cNvPicPr/>
            <p:nvPr/>
          </p:nvPicPr>
          <p:blipFill>
            <a:blip r:embed="rId6" cstate="print"/>
            <a:stretch>
              <a:fillRect/>
            </a:stretch>
          </p:blipFill>
          <p:spPr>
            <a:xfrm>
              <a:off x="1641348" y="962008"/>
              <a:ext cx="8115300" cy="5723779"/>
            </a:xfrm>
            <a:prstGeom prst="rect">
              <a:avLst/>
            </a:prstGeom>
          </p:spPr>
        </p:pic>
      </p:grpSp>
    </p:spTree>
    <p:extLst>
      <p:ext uri="{BB962C8B-B14F-4D97-AF65-F5344CB8AC3E}">
        <p14:creationId xmlns:p14="http://schemas.microsoft.com/office/powerpoint/2010/main" val="297215164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110498"/>
            <a:ext cx="6955077" cy="2861680"/>
          </a:xfrm>
          <a:prstGeom prst="rect">
            <a:avLst/>
          </a:prstGeom>
        </p:spPr>
        <p:txBody>
          <a:bodyPr vert="horz" wrap="square" lIns="0" tIns="205104" rIns="0" bIns="0" rtlCol="0">
            <a:spAutoFit/>
          </a:bodyPr>
          <a:lstStyle/>
          <a:p>
            <a:pPr marL="2497455">
              <a:lnSpc>
                <a:spcPct val="100000"/>
              </a:lnSpc>
              <a:spcBef>
                <a:spcPts val="1614"/>
              </a:spcBef>
            </a:pPr>
            <a:r>
              <a:rPr sz="3200" b="1" spc="-10" dirty="0">
                <a:solidFill>
                  <a:srgbClr val="C00000"/>
                </a:solidFill>
                <a:latin typeface="Calibri"/>
                <a:cs typeface="Calibri"/>
              </a:rPr>
              <a:t>Stop</a:t>
            </a:r>
            <a:r>
              <a:rPr sz="3200" b="1" spc="-5" dirty="0">
                <a:solidFill>
                  <a:srgbClr val="C00000"/>
                </a:solidFill>
                <a:latin typeface="Calibri"/>
                <a:cs typeface="Calibri"/>
              </a:rPr>
              <a:t> </a:t>
            </a:r>
            <a:r>
              <a:rPr sz="3200" b="1" dirty="0">
                <a:solidFill>
                  <a:srgbClr val="C00000"/>
                </a:solidFill>
                <a:latin typeface="Calibri"/>
                <a:cs typeface="Calibri"/>
              </a:rPr>
              <a:t>and</a:t>
            </a:r>
            <a:r>
              <a:rPr sz="3200" b="1" spc="-35" dirty="0">
                <a:solidFill>
                  <a:srgbClr val="C00000"/>
                </a:solidFill>
                <a:latin typeface="Calibri"/>
                <a:cs typeface="Calibri"/>
              </a:rPr>
              <a:t> </a:t>
            </a:r>
            <a:r>
              <a:rPr sz="3200" b="1" spc="-30" dirty="0">
                <a:solidFill>
                  <a:srgbClr val="C00000"/>
                </a:solidFill>
                <a:latin typeface="Calibri"/>
                <a:cs typeface="Calibri"/>
              </a:rPr>
              <a:t>Wait</a:t>
            </a:r>
            <a:r>
              <a:rPr sz="3200" b="1" spc="-5" dirty="0">
                <a:solidFill>
                  <a:srgbClr val="C00000"/>
                </a:solidFill>
                <a:latin typeface="Calibri"/>
                <a:cs typeface="Calibri"/>
              </a:rPr>
              <a:t> </a:t>
            </a:r>
            <a:r>
              <a:rPr sz="3200" b="1" spc="-10" dirty="0">
                <a:solidFill>
                  <a:srgbClr val="C00000"/>
                </a:solidFill>
                <a:latin typeface="Calibri"/>
                <a:cs typeface="Calibri"/>
              </a:rPr>
              <a:t>Protocol</a:t>
            </a:r>
            <a:r>
              <a:rPr sz="3200" b="1" spc="-35" dirty="0">
                <a:solidFill>
                  <a:srgbClr val="C00000"/>
                </a:solidFill>
                <a:latin typeface="Calibri"/>
                <a:cs typeface="Calibri"/>
              </a:rPr>
              <a:t> </a:t>
            </a:r>
            <a:r>
              <a:rPr sz="3200" i="1" spc="-15" dirty="0">
                <a:solidFill>
                  <a:srgbClr val="C00000"/>
                </a:solidFill>
                <a:latin typeface="Calibri"/>
                <a:cs typeface="Calibri"/>
              </a:rPr>
              <a:t>(Example)</a:t>
            </a:r>
            <a:endParaRPr sz="3200" dirty="0">
              <a:latin typeface="Calibri"/>
              <a:cs typeface="Calibri"/>
            </a:endParaRPr>
          </a:p>
          <a:p>
            <a:pPr marL="12700" marR="5080">
              <a:lnSpc>
                <a:spcPct val="100000"/>
              </a:lnSpc>
              <a:spcBef>
                <a:spcPts val="1520"/>
              </a:spcBef>
              <a:tabLst>
                <a:tab pos="1365885" algn="l"/>
                <a:tab pos="2680970" algn="l"/>
                <a:tab pos="3391535" algn="l"/>
                <a:tab pos="5066665" algn="l"/>
                <a:tab pos="5691505" algn="l"/>
              </a:tabLst>
            </a:pPr>
            <a:r>
              <a:rPr sz="3200" b="1" i="1" dirty="0">
                <a:latin typeface="Calibri"/>
                <a:cs typeface="Calibri"/>
              </a:rPr>
              <a:t>Fig</a:t>
            </a:r>
            <a:r>
              <a:rPr sz="3200" b="1" i="1" spc="5" dirty="0">
                <a:latin typeface="Calibri"/>
                <a:cs typeface="Calibri"/>
              </a:rPr>
              <a:t>u</a:t>
            </a:r>
            <a:r>
              <a:rPr sz="3200" b="1" i="1" spc="-5" dirty="0">
                <a:latin typeface="Calibri"/>
                <a:cs typeface="Calibri"/>
              </a:rPr>
              <a:t>r</a:t>
            </a:r>
            <a:r>
              <a:rPr sz="3200" b="1" i="1" dirty="0">
                <a:latin typeface="Calibri"/>
                <a:cs typeface="Calibri"/>
              </a:rPr>
              <a:t>e	</a:t>
            </a:r>
            <a:r>
              <a:rPr sz="3200" i="1" spc="-15" dirty="0">
                <a:latin typeface="Calibri"/>
                <a:cs typeface="Calibri"/>
              </a:rPr>
              <a:t>s</a:t>
            </a:r>
            <a:r>
              <a:rPr sz="3200" i="1" spc="-5" dirty="0">
                <a:latin typeface="Calibri"/>
                <a:cs typeface="Calibri"/>
              </a:rPr>
              <a:t>h</a:t>
            </a:r>
            <a:r>
              <a:rPr sz="3200" i="1" spc="-20" dirty="0">
                <a:latin typeface="Calibri"/>
                <a:cs typeface="Calibri"/>
              </a:rPr>
              <a:t>o</a:t>
            </a:r>
            <a:r>
              <a:rPr sz="3200" i="1" dirty="0">
                <a:latin typeface="Calibri"/>
                <a:cs typeface="Calibri"/>
              </a:rPr>
              <a:t>ws	</a:t>
            </a:r>
            <a:r>
              <a:rPr sz="3200" i="1" spc="-5" dirty="0">
                <a:latin typeface="Calibri"/>
                <a:cs typeface="Calibri"/>
              </a:rPr>
              <a:t>a</a:t>
            </a:r>
            <a:r>
              <a:rPr sz="3200" i="1" dirty="0">
                <a:latin typeface="Calibri"/>
                <a:cs typeface="Calibri"/>
              </a:rPr>
              <a:t>n	</a:t>
            </a:r>
            <a:r>
              <a:rPr sz="3200" i="1" spc="-55" dirty="0">
                <a:latin typeface="Calibri"/>
                <a:cs typeface="Calibri"/>
              </a:rPr>
              <a:t>e</a:t>
            </a:r>
            <a:r>
              <a:rPr sz="3200" i="1" spc="-70" dirty="0">
                <a:latin typeface="Calibri"/>
                <a:cs typeface="Calibri"/>
              </a:rPr>
              <a:t>x</a:t>
            </a:r>
            <a:r>
              <a:rPr sz="3200" i="1" spc="-5" dirty="0">
                <a:latin typeface="Calibri"/>
                <a:cs typeface="Calibri"/>
              </a:rPr>
              <a:t>amp</a:t>
            </a:r>
            <a:r>
              <a:rPr sz="3200" i="1" spc="-15" dirty="0">
                <a:latin typeface="Calibri"/>
                <a:cs typeface="Calibri"/>
              </a:rPr>
              <a:t>l</a:t>
            </a:r>
            <a:r>
              <a:rPr sz="3200" i="1" dirty="0">
                <a:latin typeface="Calibri"/>
                <a:cs typeface="Calibri"/>
              </a:rPr>
              <a:t>e	</a:t>
            </a:r>
            <a:r>
              <a:rPr sz="3200" i="1" spc="-5" dirty="0">
                <a:latin typeface="Calibri"/>
                <a:cs typeface="Calibri"/>
              </a:rPr>
              <a:t>o</a:t>
            </a:r>
            <a:r>
              <a:rPr sz="3200" i="1" dirty="0">
                <a:latin typeface="Calibri"/>
                <a:cs typeface="Calibri"/>
              </a:rPr>
              <a:t>f	</a:t>
            </a:r>
            <a:r>
              <a:rPr sz="3200" i="1" spc="-30" dirty="0">
                <a:latin typeface="Calibri"/>
                <a:cs typeface="Calibri"/>
              </a:rPr>
              <a:t>c</a:t>
            </a:r>
            <a:r>
              <a:rPr sz="3200" i="1" spc="-5" dirty="0">
                <a:latin typeface="Calibri"/>
                <a:cs typeface="Calibri"/>
              </a:rPr>
              <a:t>ommuni</a:t>
            </a:r>
            <a:r>
              <a:rPr sz="3200" i="1" spc="-20" dirty="0">
                <a:latin typeface="Calibri"/>
                <a:cs typeface="Calibri"/>
              </a:rPr>
              <a:t>c</a:t>
            </a:r>
            <a:r>
              <a:rPr sz="3200" i="1" spc="-5" dirty="0">
                <a:latin typeface="Calibri"/>
                <a:cs typeface="Calibri"/>
              </a:rPr>
              <a:t>ation  </a:t>
            </a:r>
            <a:r>
              <a:rPr sz="3200" i="1" spc="-10" dirty="0">
                <a:latin typeface="Calibri"/>
                <a:cs typeface="Calibri"/>
              </a:rPr>
              <a:t>protocol.</a:t>
            </a:r>
            <a:r>
              <a:rPr sz="3200" i="1" spc="-5" dirty="0">
                <a:latin typeface="Calibri"/>
                <a:cs typeface="Calibri"/>
              </a:rPr>
              <a:t> It</a:t>
            </a:r>
            <a:r>
              <a:rPr sz="3200" i="1" dirty="0">
                <a:latin typeface="Calibri"/>
                <a:cs typeface="Calibri"/>
              </a:rPr>
              <a:t> </a:t>
            </a:r>
            <a:r>
              <a:rPr sz="3200" i="1" spc="-5" dirty="0">
                <a:latin typeface="Calibri"/>
                <a:cs typeface="Calibri"/>
              </a:rPr>
              <a:t>is</a:t>
            </a:r>
            <a:r>
              <a:rPr sz="3200" i="1" spc="10" dirty="0">
                <a:latin typeface="Calibri"/>
                <a:cs typeface="Calibri"/>
              </a:rPr>
              <a:t> </a:t>
            </a:r>
            <a:r>
              <a:rPr sz="3200" i="1" spc="-10" dirty="0">
                <a:latin typeface="Calibri"/>
                <a:cs typeface="Calibri"/>
              </a:rPr>
              <a:t>still</a:t>
            </a:r>
            <a:r>
              <a:rPr sz="3200" i="1" spc="25" dirty="0">
                <a:latin typeface="Calibri"/>
                <a:cs typeface="Calibri"/>
              </a:rPr>
              <a:t> </a:t>
            </a:r>
            <a:r>
              <a:rPr sz="3200" i="1" spc="5" dirty="0">
                <a:latin typeface="Calibri"/>
                <a:cs typeface="Calibri"/>
              </a:rPr>
              <a:t>very</a:t>
            </a:r>
            <a:r>
              <a:rPr sz="3200" i="1" spc="-10" dirty="0">
                <a:latin typeface="Calibri"/>
                <a:cs typeface="Calibri"/>
              </a:rPr>
              <a:t> </a:t>
            </a:r>
            <a:r>
              <a:rPr sz="3200" i="1" spc="-5" dirty="0">
                <a:latin typeface="Calibri"/>
                <a:cs typeface="Calibri"/>
              </a:rPr>
              <a:t>simple.</a:t>
            </a:r>
            <a:endParaRPr sz="3200" dirty="0">
              <a:latin typeface="Calibri"/>
              <a:cs typeface="Calibri"/>
            </a:endParaRPr>
          </a:p>
        </p:txBody>
      </p:sp>
      <p:sp>
        <p:nvSpPr>
          <p:cNvPr id="3" name="object 3"/>
          <p:cNvSpPr txBox="1"/>
          <p:nvPr/>
        </p:nvSpPr>
        <p:spPr>
          <a:xfrm>
            <a:off x="6984492" y="1042163"/>
            <a:ext cx="679608" cy="998350"/>
          </a:xfrm>
          <a:prstGeom prst="rect">
            <a:avLst/>
          </a:prstGeom>
        </p:spPr>
        <p:txBody>
          <a:bodyPr vert="horz" wrap="square" lIns="0" tIns="13335" rIns="0" bIns="0" rtlCol="0">
            <a:spAutoFit/>
          </a:bodyPr>
          <a:lstStyle/>
          <a:p>
            <a:pPr marL="12700">
              <a:lnSpc>
                <a:spcPct val="100000"/>
              </a:lnSpc>
              <a:spcBef>
                <a:spcPts val="105"/>
              </a:spcBef>
            </a:pPr>
            <a:r>
              <a:rPr sz="3200" i="1" spc="-5" dirty="0">
                <a:latin typeface="Calibri"/>
                <a:cs typeface="Calibri"/>
              </a:rPr>
              <a:t>u</a:t>
            </a:r>
            <a:r>
              <a:rPr sz="3200" i="1" spc="5" dirty="0">
                <a:latin typeface="Calibri"/>
                <a:cs typeface="Calibri"/>
              </a:rPr>
              <a:t>s</a:t>
            </a:r>
            <a:r>
              <a:rPr sz="3200" i="1" dirty="0">
                <a:latin typeface="Calibri"/>
                <a:cs typeface="Calibri"/>
              </a:rPr>
              <a:t>ing</a:t>
            </a:r>
            <a:endParaRPr sz="3200" dirty="0">
              <a:latin typeface="Calibri"/>
              <a:cs typeface="Calibri"/>
            </a:endParaRPr>
          </a:p>
        </p:txBody>
      </p:sp>
      <p:sp>
        <p:nvSpPr>
          <p:cNvPr id="4" name="object 4"/>
          <p:cNvSpPr txBox="1"/>
          <p:nvPr/>
        </p:nvSpPr>
        <p:spPr>
          <a:xfrm>
            <a:off x="7864792" y="1042163"/>
            <a:ext cx="467678" cy="998350"/>
          </a:xfrm>
          <a:prstGeom prst="rect">
            <a:avLst/>
          </a:prstGeom>
        </p:spPr>
        <p:txBody>
          <a:bodyPr vert="horz" wrap="square" lIns="0" tIns="13335" rIns="0" bIns="0" rtlCol="0">
            <a:spAutoFit/>
          </a:bodyPr>
          <a:lstStyle/>
          <a:p>
            <a:pPr marL="12700">
              <a:lnSpc>
                <a:spcPct val="100000"/>
              </a:lnSpc>
              <a:spcBef>
                <a:spcPts val="105"/>
              </a:spcBef>
            </a:pPr>
            <a:r>
              <a:rPr sz="3200" i="1" dirty="0">
                <a:latin typeface="Calibri"/>
                <a:cs typeface="Calibri"/>
              </a:rPr>
              <a:t>th</a:t>
            </a:r>
            <a:r>
              <a:rPr sz="3200" i="1" spc="5" dirty="0">
                <a:latin typeface="Calibri"/>
                <a:cs typeface="Calibri"/>
              </a:rPr>
              <a:t>i</a:t>
            </a:r>
            <a:r>
              <a:rPr sz="3200" i="1" dirty="0">
                <a:latin typeface="Calibri"/>
                <a:cs typeface="Calibri"/>
              </a:rPr>
              <a:t>s</a:t>
            </a:r>
            <a:endParaRPr sz="3200">
              <a:latin typeface="Calibri"/>
              <a:cs typeface="Calibri"/>
            </a:endParaRPr>
          </a:p>
        </p:txBody>
      </p:sp>
      <p:sp>
        <p:nvSpPr>
          <p:cNvPr id="5" name="object 5"/>
          <p:cNvSpPr txBox="1"/>
          <p:nvPr/>
        </p:nvSpPr>
        <p:spPr>
          <a:xfrm>
            <a:off x="588721" y="2505584"/>
            <a:ext cx="7744778" cy="3950440"/>
          </a:xfrm>
          <a:prstGeom prst="rect">
            <a:avLst/>
          </a:prstGeom>
        </p:spPr>
        <p:txBody>
          <a:bodyPr vert="horz" wrap="square" lIns="0" tIns="13335" rIns="0" bIns="0" rtlCol="0">
            <a:spAutoFit/>
          </a:bodyPr>
          <a:lstStyle/>
          <a:p>
            <a:pPr marL="469900" marR="5080" indent="-457200">
              <a:lnSpc>
                <a:spcPct val="100000"/>
              </a:lnSpc>
              <a:spcBef>
                <a:spcPts val="105"/>
              </a:spcBef>
              <a:buFont typeface="Arial MT"/>
              <a:buChar char="•"/>
              <a:tabLst>
                <a:tab pos="469265" algn="l"/>
                <a:tab pos="469900" algn="l"/>
                <a:tab pos="1219200" algn="l"/>
                <a:tab pos="2475230" algn="l"/>
                <a:tab pos="3552825" algn="l"/>
                <a:tab pos="4313555" algn="l"/>
                <a:tab pos="5452110" algn="l"/>
                <a:tab pos="6229350" algn="l"/>
                <a:tab pos="7265670" algn="l"/>
                <a:tab pos="7881620" algn="l"/>
                <a:tab pos="9518650" algn="l"/>
              </a:tabLst>
            </a:pPr>
            <a:r>
              <a:rPr sz="3200" i="1" spc="-5" dirty="0">
                <a:latin typeface="Calibri"/>
                <a:cs typeface="Calibri"/>
              </a:rPr>
              <a:t>Th</a:t>
            </a:r>
            <a:r>
              <a:rPr sz="3200" i="1" dirty="0">
                <a:latin typeface="Calibri"/>
                <a:cs typeface="Calibri"/>
              </a:rPr>
              <a:t>e	</a:t>
            </a:r>
            <a:r>
              <a:rPr sz="3200" i="1" spc="-5" dirty="0">
                <a:latin typeface="Calibri"/>
                <a:cs typeface="Calibri"/>
              </a:rPr>
              <a:t>sen</a:t>
            </a:r>
            <a:r>
              <a:rPr sz="3200" i="1" spc="5" dirty="0">
                <a:latin typeface="Calibri"/>
                <a:cs typeface="Calibri"/>
              </a:rPr>
              <a:t>d</a:t>
            </a:r>
            <a:r>
              <a:rPr sz="3200" i="1" dirty="0">
                <a:latin typeface="Calibri"/>
                <a:cs typeface="Calibri"/>
              </a:rPr>
              <a:t>er	</a:t>
            </a:r>
            <a:r>
              <a:rPr sz="3200" i="1" spc="-5" dirty="0">
                <a:latin typeface="Calibri"/>
                <a:cs typeface="Calibri"/>
              </a:rPr>
              <a:t>send</a:t>
            </a:r>
            <a:r>
              <a:rPr sz="3200" i="1" dirty="0">
                <a:latin typeface="Calibri"/>
                <a:cs typeface="Calibri"/>
              </a:rPr>
              <a:t>s	</a:t>
            </a:r>
            <a:r>
              <a:rPr sz="3200" i="1" spc="-5" dirty="0">
                <a:latin typeface="Calibri"/>
                <a:cs typeface="Calibri"/>
              </a:rPr>
              <a:t>on</a:t>
            </a:r>
            <a:r>
              <a:rPr sz="3200" i="1" dirty="0">
                <a:latin typeface="Calibri"/>
                <a:cs typeface="Calibri"/>
              </a:rPr>
              <a:t>e	</a:t>
            </a:r>
            <a:r>
              <a:rPr sz="3200" i="1" spc="-5" dirty="0">
                <a:latin typeface="Calibri"/>
                <a:cs typeface="Calibri"/>
              </a:rPr>
              <a:t>fram</a:t>
            </a:r>
            <a:r>
              <a:rPr sz="3200" i="1" dirty="0">
                <a:latin typeface="Calibri"/>
                <a:cs typeface="Calibri"/>
              </a:rPr>
              <a:t>e	</a:t>
            </a:r>
            <a:r>
              <a:rPr sz="3200" i="1" spc="-5" dirty="0">
                <a:latin typeface="Calibri"/>
                <a:cs typeface="Calibri"/>
              </a:rPr>
              <a:t>an</a:t>
            </a:r>
            <a:r>
              <a:rPr sz="3200" i="1" dirty="0">
                <a:latin typeface="Calibri"/>
                <a:cs typeface="Calibri"/>
              </a:rPr>
              <a:t>d	wai</a:t>
            </a:r>
            <a:r>
              <a:rPr sz="3200" i="1" spc="-15" dirty="0">
                <a:latin typeface="Calibri"/>
                <a:cs typeface="Calibri"/>
              </a:rPr>
              <a:t>t</a:t>
            </a:r>
            <a:r>
              <a:rPr sz="3200" i="1" dirty="0">
                <a:latin typeface="Calibri"/>
                <a:cs typeface="Calibri"/>
              </a:rPr>
              <a:t>s	</a:t>
            </a:r>
            <a:r>
              <a:rPr sz="3200" i="1" spc="-45" dirty="0">
                <a:latin typeface="Calibri"/>
                <a:cs typeface="Calibri"/>
              </a:rPr>
              <a:t>f</a:t>
            </a:r>
            <a:r>
              <a:rPr sz="3200" i="1" spc="-5" dirty="0">
                <a:latin typeface="Calibri"/>
                <a:cs typeface="Calibri"/>
              </a:rPr>
              <a:t>o</a:t>
            </a:r>
            <a:r>
              <a:rPr sz="3200" i="1" dirty="0">
                <a:latin typeface="Calibri"/>
                <a:cs typeface="Calibri"/>
              </a:rPr>
              <a:t>r	</a:t>
            </a:r>
            <a:r>
              <a:rPr sz="3200" i="1" spc="-55" dirty="0">
                <a:latin typeface="Calibri"/>
                <a:cs typeface="Calibri"/>
              </a:rPr>
              <a:t>f</a:t>
            </a:r>
            <a:r>
              <a:rPr sz="3200" i="1" dirty="0">
                <a:latin typeface="Calibri"/>
                <a:cs typeface="Calibri"/>
              </a:rPr>
              <a:t>eedba</a:t>
            </a:r>
            <a:r>
              <a:rPr sz="3200" i="1" spc="10" dirty="0">
                <a:latin typeface="Calibri"/>
                <a:cs typeface="Calibri"/>
              </a:rPr>
              <a:t>c</a:t>
            </a:r>
            <a:r>
              <a:rPr sz="3200" i="1" dirty="0">
                <a:latin typeface="Calibri"/>
                <a:cs typeface="Calibri"/>
              </a:rPr>
              <a:t>k	</a:t>
            </a:r>
            <a:r>
              <a:rPr sz="3200" i="1" spc="-5" dirty="0">
                <a:latin typeface="Calibri"/>
                <a:cs typeface="Calibri"/>
              </a:rPr>
              <a:t>from  the</a:t>
            </a:r>
            <a:r>
              <a:rPr sz="3200" i="1" spc="5" dirty="0">
                <a:latin typeface="Calibri"/>
                <a:cs typeface="Calibri"/>
              </a:rPr>
              <a:t> </a:t>
            </a:r>
            <a:r>
              <a:rPr sz="3200" i="1" spc="-30" dirty="0">
                <a:latin typeface="Calibri"/>
                <a:cs typeface="Calibri"/>
              </a:rPr>
              <a:t>receiver.</a:t>
            </a:r>
            <a:endParaRPr sz="3200" dirty="0">
              <a:latin typeface="Calibri"/>
              <a:cs typeface="Calibri"/>
            </a:endParaRPr>
          </a:p>
          <a:p>
            <a:pPr marL="469900" indent="-457200">
              <a:lnSpc>
                <a:spcPct val="100000"/>
              </a:lnSpc>
              <a:buFont typeface="Arial MT"/>
              <a:buChar char="•"/>
              <a:tabLst>
                <a:tab pos="469265" algn="l"/>
                <a:tab pos="469900" algn="l"/>
              </a:tabLst>
            </a:pPr>
            <a:r>
              <a:rPr sz="3200" i="1" spc="-5" dirty="0">
                <a:latin typeface="Calibri"/>
                <a:cs typeface="Calibri"/>
              </a:rPr>
              <a:t>When</a:t>
            </a:r>
            <a:r>
              <a:rPr sz="3200" i="1" dirty="0">
                <a:latin typeface="Calibri"/>
                <a:cs typeface="Calibri"/>
              </a:rPr>
              <a:t> the</a:t>
            </a:r>
            <a:r>
              <a:rPr sz="3200" i="1" spc="5" dirty="0">
                <a:latin typeface="Calibri"/>
                <a:cs typeface="Calibri"/>
              </a:rPr>
              <a:t> </a:t>
            </a:r>
            <a:r>
              <a:rPr sz="3200" i="1" spc="-30" dirty="0">
                <a:latin typeface="Calibri"/>
                <a:cs typeface="Calibri"/>
              </a:rPr>
              <a:t>ACK</a:t>
            </a:r>
            <a:r>
              <a:rPr sz="3200" i="1" dirty="0">
                <a:latin typeface="Calibri"/>
                <a:cs typeface="Calibri"/>
              </a:rPr>
              <a:t> </a:t>
            </a:r>
            <a:r>
              <a:rPr sz="3200" i="1" spc="-5" dirty="0">
                <a:latin typeface="Calibri"/>
                <a:cs typeface="Calibri"/>
              </a:rPr>
              <a:t>arrives,</a:t>
            </a:r>
            <a:r>
              <a:rPr sz="3200" i="1" dirty="0">
                <a:latin typeface="Calibri"/>
                <a:cs typeface="Calibri"/>
              </a:rPr>
              <a:t> the</a:t>
            </a:r>
            <a:r>
              <a:rPr sz="3200" i="1" spc="10" dirty="0">
                <a:latin typeface="Calibri"/>
                <a:cs typeface="Calibri"/>
              </a:rPr>
              <a:t> </a:t>
            </a:r>
            <a:r>
              <a:rPr sz="3200" i="1" spc="-5" dirty="0">
                <a:latin typeface="Calibri"/>
                <a:cs typeface="Calibri"/>
              </a:rPr>
              <a:t>sender sends</a:t>
            </a:r>
            <a:r>
              <a:rPr sz="3200" i="1" spc="10" dirty="0">
                <a:latin typeface="Calibri"/>
                <a:cs typeface="Calibri"/>
              </a:rPr>
              <a:t> </a:t>
            </a:r>
            <a:r>
              <a:rPr sz="3200" i="1" dirty="0">
                <a:latin typeface="Calibri"/>
                <a:cs typeface="Calibri"/>
              </a:rPr>
              <a:t>the</a:t>
            </a:r>
            <a:r>
              <a:rPr sz="3200" i="1" spc="10" dirty="0">
                <a:latin typeface="Calibri"/>
                <a:cs typeface="Calibri"/>
              </a:rPr>
              <a:t> </a:t>
            </a:r>
            <a:r>
              <a:rPr sz="3200" i="1" spc="-15" dirty="0">
                <a:latin typeface="Calibri"/>
                <a:cs typeface="Calibri"/>
              </a:rPr>
              <a:t>next</a:t>
            </a:r>
            <a:r>
              <a:rPr sz="3200" i="1" spc="-20" dirty="0">
                <a:latin typeface="Calibri"/>
                <a:cs typeface="Calibri"/>
              </a:rPr>
              <a:t> </a:t>
            </a:r>
            <a:r>
              <a:rPr sz="3200" i="1" spc="-5" dirty="0">
                <a:latin typeface="Calibri"/>
                <a:cs typeface="Calibri"/>
              </a:rPr>
              <a:t>frame.</a:t>
            </a:r>
            <a:endParaRPr sz="3200" dirty="0">
              <a:latin typeface="Calibri"/>
              <a:cs typeface="Calibri"/>
            </a:endParaRPr>
          </a:p>
          <a:p>
            <a:pPr>
              <a:lnSpc>
                <a:spcPct val="100000"/>
              </a:lnSpc>
              <a:spcBef>
                <a:spcPts val="55"/>
              </a:spcBef>
            </a:pPr>
            <a:endParaRPr sz="3100" dirty="0">
              <a:latin typeface="Calibri"/>
              <a:cs typeface="Calibri"/>
            </a:endParaRPr>
          </a:p>
          <a:p>
            <a:pPr marL="12700" marR="5080">
              <a:lnSpc>
                <a:spcPct val="100000"/>
              </a:lnSpc>
              <a:tabLst>
                <a:tab pos="995044" algn="l"/>
                <a:tab pos="1874520" algn="l"/>
                <a:tab pos="3347085" algn="l"/>
                <a:tab pos="4168775" algn="l"/>
                <a:tab pos="5505450" algn="l"/>
                <a:tab pos="5994400" algn="l"/>
                <a:tab pos="6721475" algn="l"/>
                <a:tab pos="8274684" algn="l"/>
                <a:tab pos="9774555" algn="l"/>
              </a:tabLst>
            </a:pPr>
            <a:r>
              <a:rPr sz="3200" i="1" dirty="0">
                <a:latin typeface="Calibri"/>
                <a:cs typeface="Calibri"/>
              </a:rPr>
              <a:t>No</a:t>
            </a:r>
            <a:r>
              <a:rPr sz="3200" i="1" spc="-50" dirty="0">
                <a:latin typeface="Calibri"/>
                <a:cs typeface="Calibri"/>
              </a:rPr>
              <a:t>t</a:t>
            </a:r>
            <a:r>
              <a:rPr sz="3200" i="1" dirty="0">
                <a:latin typeface="Calibri"/>
                <a:cs typeface="Calibri"/>
              </a:rPr>
              <a:t>e	th</a:t>
            </a:r>
            <a:r>
              <a:rPr sz="3200" i="1" spc="5" dirty="0">
                <a:latin typeface="Calibri"/>
                <a:cs typeface="Calibri"/>
              </a:rPr>
              <a:t>a</a:t>
            </a:r>
            <a:r>
              <a:rPr sz="3200" i="1" dirty="0">
                <a:latin typeface="Calibri"/>
                <a:cs typeface="Calibri"/>
              </a:rPr>
              <a:t>t	</a:t>
            </a:r>
            <a:r>
              <a:rPr sz="3200" i="1" spc="-5" dirty="0">
                <a:latin typeface="Calibri"/>
                <a:cs typeface="Calibri"/>
              </a:rPr>
              <a:t>sendi</a:t>
            </a:r>
            <a:r>
              <a:rPr sz="3200" i="1" spc="5" dirty="0">
                <a:latin typeface="Calibri"/>
                <a:cs typeface="Calibri"/>
              </a:rPr>
              <a:t>n</a:t>
            </a:r>
            <a:r>
              <a:rPr sz="3200" i="1" dirty="0">
                <a:latin typeface="Calibri"/>
                <a:cs typeface="Calibri"/>
              </a:rPr>
              <a:t>g	two	</a:t>
            </a:r>
            <a:r>
              <a:rPr sz="3200" i="1" spc="-5" dirty="0">
                <a:latin typeface="Calibri"/>
                <a:cs typeface="Calibri"/>
              </a:rPr>
              <a:t>f</a:t>
            </a:r>
            <a:r>
              <a:rPr sz="3200" i="1" spc="5" dirty="0">
                <a:latin typeface="Calibri"/>
                <a:cs typeface="Calibri"/>
              </a:rPr>
              <a:t>r</a:t>
            </a:r>
            <a:r>
              <a:rPr sz="3200" i="1" spc="-5" dirty="0">
                <a:latin typeface="Calibri"/>
                <a:cs typeface="Calibri"/>
              </a:rPr>
              <a:t>ame</a:t>
            </a:r>
            <a:r>
              <a:rPr sz="3200" i="1" dirty="0">
                <a:latin typeface="Calibri"/>
                <a:cs typeface="Calibri"/>
              </a:rPr>
              <a:t>s	</a:t>
            </a:r>
            <a:r>
              <a:rPr sz="3200" i="1" spc="-5" dirty="0">
                <a:latin typeface="Calibri"/>
                <a:cs typeface="Calibri"/>
              </a:rPr>
              <a:t>i</a:t>
            </a:r>
            <a:r>
              <a:rPr sz="3200" i="1" dirty="0">
                <a:latin typeface="Calibri"/>
                <a:cs typeface="Calibri"/>
              </a:rPr>
              <a:t>n	the	</a:t>
            </a:r>
            <a:r>
              <a:rPr sz="3200" i="1" spc="-5" dirty="0">
                <a:latin typeface="Calibri"/>
                <a:cs typeface="Calibri"/>
              </a:rPr>
              <a:t>pr</a:t>
            </a:r>
            <a:r>
              <a:rPr sz="3200" i="1" spc="5" dirty="0">
                <a:latin typeface="Calibri"/>
                <a:cs typeface="Calibri"/>
              </a:rPr>
              <a:t>o</a:t>
            </a:r>
            <a:r>
              <a:rPr sz="3200" i="1" spc="-45" dirty="0">
                <a:latin typeface="Calibri"/>
                <a:cs typeface="Calibri"/>
              </a:rPr>
              <a:t>t</a:t>
            </a:r>
            <a:r>
              <a:rPr sz="3200" i="1" spc="-5" dirty="0">
                <a:latin typeface="Calibri"/>
                <a:cs typeface="Calibri"/>
              </a:rPr>
              <a:t>o</a:t>
            </a:r>
            <a:r>
              <a:rPr sz="3200" i="1" spc="-30" dirty="0">
                <a:latin typeface="Calibri"/>
                <a:cs typeface="Calibri"/>
              </a:rPr>
              <a:t>c</a:t>
            </a:r>
            <a:r>
              <a:rPr sz="3200" i="1" spc="-5" dirty="0">
                <a:latin typeface="Calibri"/>
                <a:cs typeface="Calibri"/>
              </a:rPr>
              <a:t>o</a:t>
            </a:r>
            <a:r>
              <a:rPr sz="3200" i="1" dirty="0">
                <a:latin typeface="Calibri"/>
                <a:cs typeface="Calibri"/>
              </a:rPr>
              <a:t>l	i</a:t>
            </a:r>
            <a:r>
              <a:rPr sz="3200" i="1" spc="-60" dirty="0">
                <a:latin typeface="Calibri"/>
                <a:cs typeface="Calibri"/>
              </a:rPr>
              <a:t>n</a:t>
            </a:r>
            <a:r>
              <a:rPr sz="3200" i="1" dirty="0">
                <a:latin typeface="Calibri"/>
                <a:cs typeface="Calibri"/>
              </a:rPr>
              <a:t>vol</a:t>
            </a:r>
            <a:r>
              <a:rPr sz="3200" i="1" spc="-10" dirty="0">
                <a:latin typeface="Calibri"/>
                <a:cs typeface="Calibri"/>
              </a:rPr>
              <a:t>v</a:t>
            </a:r>
            <a:r>
              <a:rPr sz="3200" i="1" dirty="0">
                <a:latin typeface="Calibri"/>
                <a:cs typeface="Calibri"/>
              </a:rPr>
              <a:t>es	</a:t>
            </a:r>
            <a:r>
              <a:rPr sz="3200" i="1" spc="-20" dirty="0">
                <a:latin typeface="Calibri"/>
                <a:cs typeface="Calibri"/>
              </a:rPr>
              <a:t>t</a:t>
            </a:r>
            <a:r>
              <a:rPr sz="3200" i="1" spc="-5" dirty="0">
                <a:latin typeface="Calibri"/>
                <a:cs typeface="Calibri"/>
              </a:rPr>
              <a:t>he  sender in</a:t>
            </a:r>
            <a:r>
              <a:rPr sz="3200" i="1" spc="15" dirty="0">
                <a:latin typeface="Calibri"/>
                <a:cs typeface="Calibri"/>
              </a:rPr>
              <a:t> </a:t>
            </a:r>
            <a:r>
              <a:rPr sz="3200" i="1" spc="-15" dirty="0">
                <a:latin typeface="Calibri"/>
                <a:cs typeface="Calibri"/>
              </a:rPr>
              <a:t>four</a:t>
            </a:r>
            <a:r>
              <a:rPr sz="3200" i="1" dirty="0">
                <a:latin typeface="Calibri"/>
                <a:cs typeface="Calibri"/>
              </a:rPr>
              <a:t> </a:t>
            </a:r>
            <a:r>
              <a:rPr sz="3200" i="1" spc="-10" dirty="0">
                <a:latin typeface="Calibri"/>
                <a:cs typeface="Calibri"/>
              </a:rPr>
              <a:t>events</a:t>
            </a:r>
            <a:r>
              <a:rPr sz="3200" i="1" spc="-5" dirty="0">
                <a:latin typeface="Calibri"/>
                <a:cs typeface="Calibri"/>
              </a:rPr>
              <a:t> and</a:t>
            </a:r>
            <a:r>
              <a:rPr sz="3200" i="1" spc="15" dirty="0">
                <a:latin typeface="Calibri"/>
                <a:cs typeface="Calibri"/>
              </a:rPr>
              <a:t> </a:t>
            </a:r>
            <a:r>
              <a:rPr sz="3200" i="1" dirty="0">
                <a:latin typeface="Calibri"/>
                <a:cs typeface="Calibri"/>
              </a:rPr>
              <a:t>the</a:t>
            </a:r>
            <a:r>
              <a:rPr sz="3200" i="1" spc="5" dirty="0">
                <a:latin typeface="Calibri"/>
                <a:cs typeface="Calibri"/>
              </a:rPr>
              <a:t> </a:t>
            </a:r>
            <a:r>
              <a:rPr sz="3200" i="1" spc="-5" dirty="0">
                <a:latin typeface="Calibri"/>
                <a:cs typeface="Calibri"/>
              </a:rPr>
              <a:t>receiver</a:t>
            </a:r>
            <a:r>
              <a:rPr sz="3200" i="1" spc="-20" dirty="0">
                <a:latin typeface="Calibri"/>
                <a:cs typeface="Calibri"/>
              </a:rPr>
              <a:t> </a:t>
            </a:r>
            <a:r>
              <a:rPr sz="3200" i="1" spc="-5" dirty="0">
                <a:latin typeface="Calibri"/>
                <a:cs typeface="Calibri"/>
              </a:rPr>
              <a:t>in</a:t>
            </a:r>
            <a:r>
              <a:rPr sz="3200" i="1" spc="10" dirty="0">
                <a:latin typeface="Calibri"/>
                <a:cs typeface="Calibri"/>
              </a:rPr>
              <a:t> </a:t>
            </a:r>
            <a:r>
              <a:rPr sz="3200" i="1" dirty="0">
                <a:latin typeface="Calibri"/>
                <a:cs typeface="Calibri"/>
              </a:rPr>
              <a:t>two</a:t>
            </a:r>
            <a:r>
              <a:rPr sz="3200" i="1" spc="-10" dirty="0">
                <a:latin typeface="Calibri"/>
                <a:cs typeface="Calibri"/>
              </a:rPr>
              <a:t> events.</a:t>
            </a:r>
            <a:endParaRPr sz="3200" dirty="0">
              <a:latin typeface="Calibri"/>
              <a:cs typeface="Calibri"/>
            </a:endParaRPr>
          </a:p>
        </p:txBody>
      </p:sp>
    </p:spTree>
    <p:extLst>
      <p:ext uri="{BB962C8B-B14F-4D97-AF65-F5344CB8AC3E}">
        <p14:creationId xmlns:p14="http://schemas.microsoft.com/office/powerpoint/2010/main" val="406474106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52306" y="361570"/>
            <a:ext cx="4235768" cy="998350"/>
          </a:xfrm>
          <a:prstGeom prst="rect">
            <a:avLst/>
          </a:prstGeom>
        </p:spPr>
        <p:txBody>
          <a:bodyPr vert="horz" wrap="square" lIns="0" tIns="13335" rIns="0" bIns="0" rtlCol="0">
            <a:spAutoFit/>
          </a:bodyPr>
          <a:lstStyle/>
          <a:p>
            <a:pPr marL="12700">
              <a:lnSpc>
                <a:spcPct val="100000"/>
              </a:lnSpc>
              <a:spcBef>
                <a:spcPts val="105"/>
              </a:spcBef>
            </a:pPr>
            <a:r>
              <a:rPr sz="3200" b="1" spc="-10" dirty="0">
                <a:solidFill>
                  <a:srgbClr val="C00000"/>
                </a:solidFill>
                <a:latin typeface="Calibri"/>
                <a:cs typeface="Calibri"/>
              </a:rPr>
              <a:t>Stop </a:t>
            </a:r>
            <a:r>
              <a:rPr sz="3200" b="1" dirty="0">
                <a:solidFill>
                  <a:srgbClr val="C00000"/>
                </a:solidFill>
                <a:latin typeface="Calibri"/>
                <a:cs typeface="Calibri"/>
              </a:rPr>
              <a:t>and</a:t>
            </a:r>
            <a:r>
              <a:rPr sz="3200" b="1" spc="-35" dirty="0">
                <a:solidFill>
                  <a:srgbClr val="C00000"/>
                </a:solidFill>
                <a:latin typeface="Calibri"/>
                <a:cs typeface="Calibri"/>
              </a:rPr>
              <a:t> </a:t>
            </a:r>
            <a:r>
              <a:rPr sz="3200" b="1" spc="-30" dirty="0">
                <a:solidFill>
                  <a:srgbClr val="C00000"/>
                </a:solidFill>
                <a:latin typeface="Calibri"/>
                <a:cs typeface="Calibri"/>
              </a:rPr>
              <a:t>Wait</a:t>
            </a:r>
            <a:r>
              <a:rPr sz="3200" b="1" spc="-5" dirty="0">
                <a:solidFill>
                  <a:srgbClr val="C00000"/>
                </a:solidFill>
                <a:latin typeface="Calibri"/>
                <a:cs typeface="Calibri"/>
              </a:rPr>
              <a:t> </a:t>
            </a:r>
            <a:r>
              <a:rPr sz="3200" b="1" spc="-10" dirty="0">
                <a:solidFill>
                  <a:srgbClr val="C00000"/>
                </a:solidFill>
                <a:latin typeface="Calibri"/>
                <a:cs typeface="Calibri"/>
              </a:rPr>
              <a:t>Protocol</a:t>
            </a:r>
            <a:r>
              <a:rPr sz="3200" b="1" spc="-35" dirty="0">
                <a:solidFill>
                  <a:srgbClr val="C00000"/>
                </a:solidFill>
                <a:latin typeface="Calibri"/>
                <a:cs typeface="Calibri"/>
              </a:rPr>
              <a:t> </a:t>
            </a:r>
            <a:r>
              <a:rPr sz="3200" i="1" spc="-15" dirty="0">
                <a:solidFill>
                  <a:srgbClr val="C00000"/>
                </a:solidFill>
                <a:latin typeface="Calibri"/>
                <a:cs typeface="Calibri"/>
              </a:rPr>
              <a:t>(Example)</a:t>
            </a:r>
            <a:endParaRPr sz="3200">
              <a:latin typeface="Calibri"/>
              <a:cs typeface="Calibri"/>
            </a:endParaRPr>
          </a:p>
        </p:txBody>
      </p:sp>
      <p:grpSp>
        <p:nvGrpSpPr>
          <p:cNvPr id="3" name="object 3"/>
          <p:cNvGrpSpPr/>
          <p:nvPr/>
        </p:nvGrpSpPr>
        <p:grpSpPr>
          <a:xfrm>
            <a:off x="2047485" y="0"/>
            <a:ext cx="7096601" cy="6858000"/>
            <a:chOff x="2729977" y="0"/>
            <a:chExt cx="9462135" cy="6858000"/>
          </a:xfrm>
        </p:grpSpPr>
        <p:pic>
          <p:nvPicPr>
            <p:cNvPr id="4" name="object 4"/>
            <p:cNvPicPr/>
            <p:nvPr/>
          </p:nvPicPr>
          <p:blipFill>
            <a:blip r:embed="rId2" cstate="print"/>
            <a:stretch>
              <a:fillRect/>
            </a:stretch>
          </p:blipFill>
          <p:spPr>
            <a:xfrm>
              <a:off x="11754611"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79" y="0"/>
              <a:ext cx="2898648" cy="539496"/>
            </a:xfrm>
            <a:prstGeom prst="rect">
              <a:avLst/>
            </a:prstGeom>
          </p:spPr>
        </p:pic>
        <p:pic>
          <p:nvPicPr>
            <p:cNvPr id="7" name="object 7"/>
            <p:cNvPicPr/>
            <p:nvPr/>
          </p:nvPicPr>
          <p:blipFill>
            <a:blip r:embed="rId5" cstate="print"/>
            <a:stretch>
              <a:fillRect/>
            </a:stretch>
          </p:blipFill>
          <p:spPr>
            <a:xfrm>
              <a:off x="2729977" y="1372338"/>
              <a:ext cx="6733816" cy="4971382"/>
            </a:xfrm>
            <a:prstGeom prst="rect">
              <a:avLst/>
            </a:prstGeom>
          </p:spPr>
        </p:pic>
      </p:grpSp>
      <p:pic>
        <p:nvPicPr>
          <p:cNvPr id="8" name="object 8"/>
          <p:cNvPicPr/>
          <p:nvPr/>
        </p:nvPicPr>
        <p:blipFill>
          <a:blip r:embed="rId6" cstate="print"/>
          <a:stretch>
            <a:fillRect/>
          </a:stretch>
        </p:blipFill>
        <p:spPr>
          <a:xfrm>
            <a:off x="220860" y="218010"/>
            <a:ext cx="1737985" cy="682398"/>
          </a:xfrm>
          <a:prstGeom prst="rect">
            <a:avLst/>
          </a:prstGeom>
        </p:spPr>
      </p:pic>
      <p:sp>
        <p:nvSpPr>
          <p:cNvPr id="9" name="object 9"/>
          <p:cNvSpPr txBox="1"/>
          <p:nvPr/>
        </p:nvSpPr>
        <p:spPr>
          <a:xfrm>
            <a:off x="168785" y="1051943"/>
            <a:ext cx="2341721" cy="873957"/>
          </a:xfrm>
          <a:prstGeom prst="rect">
            <a:avLst/>
          </a:prstGeom>
        </p:spPr>
        <p:txBody>
          <a:bodyPr vert="horz" wrap="square" lIns="0" tIns="12065" rIns="0" bIns="0" rtlCol="0">
            <a:spAutoFit/>
          </a:bodyPr>
          <a:lstStyle/>
          <a:p>
            <a:pPr marL="12700">
              <a:lnSpc>
                <a:spcPct val="100000"/>
              </a:lnSpc>
              <a:spcBef>
                <a:spcPts val="95"/>
              </a:spcBef>
            </a:pPr>
            <a:r>
              <a:rPr sz="2800" b="1" spc="-10" dirty="0">
                <a:solidFill>
                  <a:srgbClr val="C00000"/>
                </a:solidFill>
                <a:latin typeface="Calibri"/>
                <a:cs typeface="Calibri"/>
              </a:rPr>
              <a:t>Figure</a:t>
            </a:r>
            <a:r>
              <a:rPr sz="2800" spc="-10" dirty="0">
                <a:latin typeface="Calibri"/>
                <a:cs typeface="Calibri"/>
              </a:rPr>
              <a:t>:</a:t>
            </a:r>
            <a:r>
              <a:rPr sz="2800" spc="-5" dirty="0">
                <a:latin typeface="Calibri"/>
                <a:cs typeface="Calibri"/>
              </a:rPr>
              <a:t> </a:t>
            </a:r>
            <a:r>
              <a:rPr sz="2800" i="1" spc="-10" dirty="0">
                <a:latin typeface="Calibri"/>
                <a:cs typeface="Calibri"/>
              </a:rPr>
              <a:t>Flow</a:t>
            </a:r>
            <a:r>
              <a:rPr sz="2800" i="1" spc="-25" dirty="0">
                <a:latin typeface="Calibri"/>
                <a:cs typeface="Calibri"/>
              </a:rPr>
              <a:t> </a:t>
            </a:r>
            <a:r>
              <a:rPr sz="2800" i="1" spc="-10" dirty="0">
                <a:latin typeface="Calibri"/>
                <a:cs typeface="Calibri"/>
              </a:rPr>
              <a:t>Diagram</a:t>
            </a:r>
            <a:endParaRPr sz="2800">
              <a:latin typeface="Calibri"/>
              <a:cs typeface="Calibri"/>
            </a:endParaRPr>
          </a:p>
        </p:txBody>
      </p:sp>
    </p:spTree>
    <p:extLst>
      <p:ext uri="{BB962C8B-B14F-4D97-AF65-F5344CB8AC3E}">
        <p14:creationId xmlns:p14="http://schemas.microsoft.com/office/powerpoint/2010/main" val="152865009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7754" y="68775"/>
            <a:ext cx="2045018" cy="1367041"/>
          </a:xfrm>
          <a:prstGeom prst="rect">
            <a:avLst/>
          </a:prstGeom>
        </p:spPr>
        <p:txBody>
          <a:bodyPr vert="horz" wrap="square" lIns="0" tIns="12700" rIns="0" bIns="0" rtlCol="0">
            <a:spAutoFit/>
          </a:bodyPr>
          <a:lstStyle/>
          <a:p>
            <a:pPr marL="12700">
              <a:lnSpc>
                <a:spcPct val="100000"/>
              </a:lnSpc>
              <a:spcBef>
                <a:spcPts val="100"/>
              </a:spcBef>
            </a:pPr>
            <a:r>
              <a:rPr b="1" spc="-15" dirty="0">
                <a:latin typeface="Calibri"/>
                <a:cs typeface="Calibri"/>
              </a:rPr>
              <a:t>Noisy</a:t>
            </a:r>
            <a:r>
              <a:rPr b="1" spc="-70" dirty="0">
                <a:latin typeface="Calibri"/>
                <a:cs typeface="Calibri"/>
              </a:rPr>
              <a:t> </a:t>
            </a:r>
            <a:r>
              <a:rPr b="1" spc="-5" dirty="0">
                <a:latin typeface="Calibri"/>
                <a:cs typeface="Calibri"/>
              </a:rPr>
              <a:t>Channel</a:t>
            </a: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sp>
        <p:nvSpPr>
          <p:cNvPr id="8" name="object 8"/>
          <p:cNvSpPr txBox="1"/>
          <p:nvPr/>
        </p:nvSpPr>
        <p:spPr>
          <a:xfrm>
            <a:off x="571806" y="1237342"/>
            <a:ext cx="7863364" cy="4812215"/>
          </a:xfrm>
          <a:prstGeom prst="rect">
            <a:avLst/>
          </a:prstGeom>
        </p:spPr>
        <p:txBody>
          <a:bodyPr vert="horz" wrap="square" lIns="0" tIns="13335" rIns="0" bIns="0" rtlCol="0">
            <a:spAutoFit/>
          </a:bodyPr>
          <a:lstStyle/>
          <a:p>
            <a:pPr marL="12700" marR="5080" algn="just">
              <a:lnSpc>
                <a:spcPct val="150000"/>
              </a:lnSpc>
              <a:spcBef>
                <a:spcPts val="105"/>
              </a:spcBef>
            </a:pPr>
            <a:r>
              <a:rPr sz="2800" spc="-5" dirty="0">
                <a:latin typeface="Calibri"/>
                <a:cs typeface="Calibri"/>
              </a:rPr>
              <a:t>Although</a:t>
            </a:r>
            <a:r>
              <a:rPr sz="2800" dirty="0">
                <a:latin typeface="Calibri"/>
                <a:cs typeface="Calibri"/>
              </a:rPr>
              <a:t> </a:t>
            </a:r>
            <a:r>
              <a:rPr sz="2800" spc="-5" dirty="0">
                <a:latin typeface="Calibri"/>
                <a:cs typeface="Calibri"/>
              </a:rPr>
              <a:t>the </a:t>
            </a:r>
            <a:r>
              <a:rPr sz="2800" spc="-15" dirty="0">
                <a:latin typeface="Calibri"/>
                <a:cs typeface="Calibri"/>
              </a:rPr>
              <a:t>Stop-and-Wait</a:t>
            </a:r>
            <a:r>
              <a:rPr sz="2800" spc="-10" dirty="0">
                <a:latin typeface="Calibri"/>
                <a:cs typeface="Calibri"/>
              </a:rPr>
              <a:t> </a:t>
            </a:r>
            <a:r>
              <a:rPr sz="2800" spc="-20" dirty="0">
                <a:latin typeface="Calibri"/>
                <a:cs typeface="Calibri"/>
              </a:rPr>
              <a:t>Protocol</a:t>
            </a:r>
            <a:r>
              <a:rPr sz="2800" spc="-15" dirty="0">
                <a:latin typeface="Calibri"/>
                <a:cs typeface="Calibri"/>
              </a:rPr>
              <a:t> </a:t>
            </a:r>
            <a:r>
              <a:rPr sz="2800" spc="-10" dirty="0">
                <a:latin typeface="Calibri"/>
                <a:cs typeface="Calibri"/>
              </a:rPr>
              <a:t>gives</a:t>
            </a:r>
            <a:r>
              <a:rPr sz="2800" spc="-5" dirty="0">
                <a:latin typeface="Calibri"/>
                <a:cs typeface="Calibri"/>
              </a:rPr>
              <a:t> </a:t>
            </a:r>
            <a:r>
              <a:rPr sz="2800" dirty="0">
                <a:latin typeface="Calibri"/>
                <a:cs typeface="Calibri"/>
              </a:rPr>
              <a:t>us </a:t>
            </a:r>
            <a:r>
              <a:rPr sz="2800" spc="5" dirty="0">
                <a:latin typeface="Calibri"/>
                <a:cs typeface="Calibri"/>
              </a:rPr>
              <a:t>an </a:t>
            </a:r>
            <a:r>
              <a:rPr sz="2800" spc="-5" dirty="0">
                <a:latin typeface="Calibri"/>
                <a:cs typeface="Calibri"/>
              </a:rPr>
              <a:t>idea</a:t>
            </a:r>
            <a:r>
              <a:rPr sz="280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how</a:t>
            </a:r>
            <a:r>
              <a:rPr sz="2800" spc="620" dirty="0">
                <a:latin typeface="Calibri"/>
                <a:cs typeface="Calibri"/>
              </a:rPr>
              <a:t> </a:t>
            </a:r>
            <a:r>
              <a:rPr sz="2800" spc="-20" dirty="0">
                <a:latin typeface="Calibri"/>
                <a:cs typeface="Calibri"/>
              </a:rPr>
              <a:t>to</a:t>
            </a:r>
            <a:r>
              <a:rPr sz="2800" spc="595" dirty="0">
                <a:latin typeface="Calibri"/>
                <a:cs typeface="Calibri"/>
              </a:rPr>
              <a:t> </a:t>
            </a:r>
            <a:r>
              <a:rPr sz="2800" spc="-5" dirty="0">
                <a:latin typeface="Calibri"/>
                <a:cs typeface="Calibri"/>
              </a:rPr>
              <a:t>add </a:t>
            </a:r>
            <a:r>
              <a:rPr sz="2800" dirty="0">
                <a:latin typeface="Calibri"/>
                <a:cs typeface="Calibri"/>
              </a:rPr>
              <a:t> </a:t>
            </a:r>
            <a:r>
              <a:rPr sz="2800" spc="-10" dirty="0">
                <a:latin typeface="Calibri"/>
                <a:cs typeface="Calibri"/>
              </a:rPr>
              <a:t>flow </a:t>
            </a:r>
            <a:r>
              <a:rPr sz="2800" spc="-20" dirty="0">
                <a:latin typeface="Calibri"/>
                <a:cs typeface="Calibri"/>
              </a:rPr>
              <a:t>control </a:t>
            </a:r>
            <a:r>
              <a:rPr sz="2800" spc="-15" dirty="0">
                <a:latin typeface="Calibri"/>
                <a:cs typeface="Calibri"/>
              </a:rPr>
              <a:t>to </a:t>
            </a:r>
            <a:r>
              <a:rPr sz="2800" spc="-5" dirty="0">
                <a:latin typeface="Calibri"/>
                <a:cs typeface="Calibri"/>
              </a:rPr>
              <a:t>its </a:t>
            </a:r>
            <a:r>
              <a:rPr sz="2800" spc="-25" dirty="0">
                <a:latin typeface="Calibri"/>
                <a:cs typeface="Calibri"/>
              </a:rPr>
              <a:t>predecessor, </a:t>
            </a:r>
            <a:r>
              <a:rPr sz="2800" spc="-10" dirty="0">
                <a:latin typeface="Calibri"/>
                <a:cs typeface="Calibri"/>
              </a:rPr>
              <a:t>noiseless </a:t>
            </a:r>
            <a:r>
              <a:rPr sz="2800" spc="-5" dirty="0">
                <a:latin typeface="Calibri"/>
                <a:cs typeface="Calibri"/>
              </a:rPr>
              <a:t>channels </a:t>
            </a:r>
            <a:r>
              <a:rPr sz="2800" spc="-20" dirty="0">
                <a:latin typeface="Calibri"/>
                <a:cs typeface="Calibri"/>
              </a:rPr>
              <a:t>are </a:t>
            </a:r>
            <a:r>
              <a:rPr sz="2800" spc="-15" dirty="0">
                <a:latin typeface="Calibri"/>
                <a:cs typeface="Calibri"/>
              </a:rPr>
              <a:t>nonexistent. </a:t>
            </a:r>
            <a:r>
              <a:rPr sz="2800" spc="-120" dirty="0">
                <a:latin typeface="Calibri"/>
                <a:cs typeface="Calibri"/>
              </a:rPr>
              <a:t>We </a:t>
            </a:r>
            <a:r>
              <a:rPr sz="2800" spc="-114" dirty="0">
                <a:latin typeface="Calibri"/>
                <a:cs typeface="Calibri"/>
              </a:rPr>
              <a:t> </a:t>
            </a:r>
            <a:r>
              <a:rPr sz="2800" spc="-10" dirty="0">
                <a:latin typeface="Calibri"/>
                <a:cs typeface="Calibri"/>
              </a:rPr>
              <a:t>discuss</a:t>
            </a:r>
            <a:r>
              <a:rPr sz="2800" spc="45" dirty="0">
                <a:latin typeface="Calibri"/>
                <a:cs typeface="Calibri"/>
              </a:rPr>
              <a:t> </a:t>
            </a:r>
            <a:r>
              <a:rPr sz="2800" spc="-15" dirty="0">
                <a:latin typeface="Calibri"/>
                <a:cs typeface="Calibri"/>
              </a:rPr>
              <a:t>three</a:t>
            </a:r>
            <a:r>
              <a:rPr sz="2800" spc="15" dirty="0">
                <a:latin typeface="Calibri"/>
                <a:cs typeface="Calibri"/>
              </a:rPr>
              <a:t> </a:t>
            </a:r>
            <a:r>
              <a:rPr sz="2800" spc="-20" dirty="0">
                <a:latin typeface="Calibri"/>
                <a:cs typeface="Calibri"/>
              </a:rPr>
              <a:t>protocols</a:t>
            </a:r>
            <a:r>
              <a:rPr sz="2800" spc="30" dirty="0">
                <a:latin typeface="Calibri"/>
                <a:cs typeface="Calibri"/>
              </a:rPr>
              <a:t> </a:t>
            </a:r>
            <a:r>
              <a:rPr sz="2800" spc="-10" dirty="0">
                <a:latin typeface="Calibri"/>
                <a:cs typeface="Calibri"/>
              </a:rPr>
              <a:t>in</a:t>
            </a:r>
            <a:r>
              <a:rPr sz="2800" spc="5" dirty="0">
                <a:latin typeface="Calibri"/>
                <a:cs typeface="Calibri"/>
              </a:rPr>
              <a:t> </a:t>
            </a:r>
            <a:r>
              <a:rPr sz="2800" spc="-5" dirty="0">
                <a:latin typeface="Calibri"/>
                <a:cs typeface="Calibri"/>
              </a:rPr>
              <a:t>this</a:t>
            </a:r>
            <a:r>
              <a:rPr sz="2800" spc="30" dirty="0">
                <a:latin typeface="Calibri"/>
                <a:cs typeface="Calibri"/>
              </a:rPr>
              <a:t> </a:t>
            </a:r>
            <a:r>
              <a:rPr sz="2800" spc="-10" dirty="0">
                <a:latin typeface="Calibri"/>
                <a:cs typeface="Calibri"/>
              </a:rPr>
              <a:t>section</a:t>
            </a:r>
            <a:r>
              <a:rPr sz="2800" spc="10" dirty="0">
                <a:latin typeface="Calibri"/>
                <a:cs typeface="Calibri"/>
              </a:rPr>
              <a:t> </a:t>
            </a:r>
            <a:r>
              <a:rPr sz="2800" spc="-10" dirty="0">
                <a:latin typeface="Calibri"/>
                <a:cs typeface="Calibri"/>
              </a:rPr>
              <a:t>that</a:t>
            </a:r>
            <a:r>
              <a:rPr sz="2800" spc="10" dirty="0">
                <a:latin typeface="Calibri"/>
                <a:cs typeface="Calibri"/>
              </a:rPr>
              <a:t> </a:t>
            </a:r>
            <a:r>
              <a:rPr sz="2800" spc="-5" dirty="0">
                <a:latin typeface="Calibri"/>
                <a:cs typeface="Calibri"/>
              </a:rPr>
              <a:t>use</a:t>
            </a:r>
            <a:r>
              <a:rPr sz="2800" spc="15" dirty="0">
                <a:latin typeface="Calibri"/>
                <a:cs typeface="Calibri"/>
              </a:rPr>
              <a:t> </a:t>
            </a:r>
            <a:r>
              <a:rPr sz="2800" spc="-15" dirty="0">
                <a:latin typeface="Calibri"/>
                <a:cs typeface="Calibri"/>
              </a:rPr>
              <a:t>error</a:t>
            </a:r>
            <a:r>
              <a:rPr sz="2800" spc="10" dirty="0">
                <a:latin typeface="Calibri"/>
                <a:cs typeface="Calibri"/>
              </a:rPr>
              <a:t> </a:t>
            </a:r>
            <a:r>
              <a:rPr sz="2800" spc="-20" dirty="0">
                <a:latin typeface="Calibri"/>
                <a:cs typeface="Calibri"/>
              </a:rPr>
              <a:t>control.</a:t>
            </a:r>
            <a:endParaRPr sz="2800">
              <a:latin typeface="Calibri"/>
              <a:cs typeface="Calibri"/>
            </a:endParaRPr>
          </a:p>
          <a:p>
            <a:pPr>
              <a:lnSpc>
                <a:spcPct val="100000"/>
              </a:lnSpc>
              <a:spcBef>
                <a:spcPts val="15"/>
              </a:spcBef>
            </a:pPr>
            <a:endParaRPr sz="3150">
              <a:latin typeface="Calibri"/>
              <a:cs typeface="Calibri"/>
            </a:endParaRPr>
          </a:p>
          <a:p>
            <a:pPr marL="1337310" indent="-287020">
              <a:lnSpc>
                <a:spcPct val="100000"/>
              </a:lnSpc>
              <a:buFont typeface="Arial MT"/>
              <a:buChar char="•"/>
              <a:tabLst>
                <a:tab pos="1337310" algn="l"/>
                <a:tab pos="1337945" algn="l"/>
              </a:tabLst>
            </a:pPr>
            <a:r>
              <a:rPr sz="2800" spc="-15" dirty="0">
                <a:solidFill>
                  <a:srgbClr val="006FC0"/>
                </a:solidFill>
                <a:latin typeface="Calibri"/>
                <a:cs typeface="Calibri"/>
              </a:rPr>
              <a:t>Stop-and-Wait</a:t>
            </a:r>
            <a:r>
              <a:rPr sz="2800" spc="25" dirty="0">
                <a:solidFill>
                  <a:srgbClr val="006FC0"/>
                </a:solidFill>
                <a:latin typeface="Calibri"/>
                <a:cs typeface="Calibri"/>
              </a:rPr>
              <a:t> </a:t>
            </a:r>
            <a:r>
              <a:rPr sz="2800" spc="-10" dirty="0">
                <a:solidFill>
                  <a:srgbClr val="006FC0"/>
                </a:solidFill>
                <a:latin typeface="Calibri"/>
                <a:cs typeface="Calibri"/>
              </a:rPr>
              <a:t>Automatic</a:t>
            </a:r>
            <a:r>
              <a:rPr sz="2800" dirty="0">
                <a:solidFill>
                  <a:srgbClr val="006FC0"/>
                </a:solidFill>
                <a:latin typeface="Calibri"/>
                <a:cs typeface="Calibri"/>
              </a:rPr>
              <a:t> </a:t>
            </a:r>
            <a:r>
              <a:rPr sz="2800" spc="-15" dirty="0">
                <a:solidFill>
                  <a:srgbClr val="006FC0"/>
                </a:solidFill>
                <a:latin typeface="Calibri"/>
                <a:cs typeface="Calibri"/>
              </a:rPr>
              <a:t>Repeat</a:t>
            </a:r>
            <a:r>
              <a:rPr sz="2800" spc="-20" dirty="0">
                <a:solidFill>
                  <a:srgbClr val="006FC0"/>
                </a:solidFill>
                <a:latin typeface="Calibri"/>
                <a:cs typeface="Calibri"/>
              </a:rPr>
              <a:t> </a:t>
            </a:r>
            <a:r>
              <a:rPr sz="2800" spc="-15" dirty="0">
                <a:solidFill>
                  <a:srgbClr val="006FC0"/>
                </a:solidFill>
                <a:latin typeface="Calibri"/>
                <a:cs typeface="Calibri"/>
              </a:rPr>
              <a:t>Request</a:t>
            </a:r>
            <a:endParaRPr sz="2800">
              <a:latin typeface="Calibri"/>
              <a:cs typeface="Calibri"/>
            </a:endParaRPr>
          </a:p>
          <a:p>
            <a:pPr marL="1337310" indent="-287020">
              <a:lnSpc>
                <a:spcPct val="100000"/>
              </a:lnSpc>
              <a:spcBef>
                <a:spcPts val="1685"/>
              </a:spcBef>
              <a:buFont typeface="Arial MT"/>
              <a:buChar char="•"/>
              <a:tabLst>
                <a:tab pos="1337310" algn="l"/>
                <a:tab pos="1337945" algn="l"/>
              </a:tabLst>
            </a:pPr>
            <a:r>
              <a:rPr sz="2800" spc="-5" dirty="0">
                <a:solidFill>
                  <a:srgbClr val="006FC0"/>
                </a:solidFill>
                <a:latin typeface="Calibri"/>
                <a:cs typeface="Calibri"/>
              </a:rPr>
              <a:t>Go-Back-N</a:t>
            </a:r>
            <a:r>
              <a:rPr sz="2800" spc="10" dirty="0">
                <a:solidFill>
                  <a:srgbClr val="006FC0"/>
                </a:solidFill>
                <a:latin typeface="Calibri"/>
                <a:cs typeface="Calibri"/>
              </a:rPr>
              <a:t> </a:t>
            </a:r>
            <a:r>
              <a:rPr sz="2800" spc="-10" dirty="0">
                <a:solidFill>
                  <a:srgbClr val="006FC0"/>
                </a:solidFill>
                <a:latin typeface="Calibri"/>
                <a:cs typeface="Calibri"/>
              </a:rPr>
              <a:t>Automatic</a:t>
            </a:r>
            <a:r>
              <a:rPr sz="2800" spc="15" dirty="0">
                <a:solidFill>
                  <a:srgbClr val="006FC0"/>
                </a:solidFill>
                <a:latin typeface="Calibri"/>
                <a:cs typeface="Calibri"/>
              </a:rPr>
              <a:t> </a:t>
            </a:r>
            <a:r>
              <a:rPr sz="2800" spc="-15" dirty="0">
                <a:solidFill>
                  <a:srgbClr val="006FC0"/>
                </a:solidFill>
                <a:latin typeface="Calibri"/>
                <a:cs typeface="Calibri"/>
              </a:rPr>
              <a:t>Repeat </a:t>
            </a:r>
            <a:r>
              <a:rPr sz="2800" spc="-20" dirty="0">
                <a:solidFill>
                  <a:srgbClr val="006FC0"/>
                </a:solidFill>
                <a:latin typeface="Calibri"/>
                <a:cs typeface="Calibri"/>
              </a:rPr>
              <a:t>Request</a:t>
            </a:r>
            <a:endParaRPr sz="2800">
              <a:latin typeface="Calibri"/>
              <a:cs typeface="Calibri"/>
            </a:endParaRPr>
          </a:p>
          <a:p>
            <a:pPr marL="1337310" indent="-287020">
              <a:lnSpc>
                <a:spcPct val="100000"/>
              </a:lnSpc>
              <a:spcBef>
                <a:spcPts val="1680"/>
              </a:spcBef>
              <a:buFont typeface="Arial MT"/>
              <a:buChar char="•"/>
              <a:tabLst>
                <a:tab pos="1337310" algn="l"/>
                <a:tab pos="1337945" algn="l"/>
              </a:tabLst>
            </a:pPr>
            <a:r>
              <a:rPr sz="2800" spc="-10" dirty="0">
                <a:solidFill>
                  <a:srgbClr val="006FC0"/>
                </a:solidFill>
                <a:latin typeface="Calibri"/>
                <a:cs typeface="Calibri"/>
              </a:rPr>
              <a:t>Selective </a:t>
            </a:r>
            <a:r>
              <a:rPr sz="2800" spc="-15" dirty="0">
                <a:solidFill>
                  <a:srgbClr val="006FC0"/>
                </a:solidFill>
                <a:latin typeface="Calibri"/>
                <a:cs typeface="Calibri"/>
              </a:rPr>
              <a:t>Repeat</a:t>
            </a:r>
            <a:r>
              <a:rPr sz="2800" spc="-25" dirty="0">
                <a:solidFill>
                  <a:srgbClr val="006FC0"/>
                </a:solidFill>
                <a:latin typeface="Calibri"/>
                <a:cs typeface="Calibri"/>
              </a:rPr>
              <a:t> </a:t>
            </a:r>
            <a:r>
              <a:rPr sz="2800" spc="-10" dirty="0">
                <a:solidFill>
                  <a:srgbClr val="006FC0"/>
                </a:solidFill>
                <a:latin typeface="Calibri"/>
                <a:cs typeface="Calibri"/>
              </a:rPr>
              <a:t>Automatic</a:t>
            </a:r>
            <a:r>
              <a:rPr sz="2800" spc="10" dirty="0">
                <a:solidFill>
                  <a:srgbClr val="006FC0"/>
                </a:solidFill>
                <a:latin typeface="Calibri"/>
                <a:cs typeface="Calibri"/>
              </a:rPr>
              <a:t> </a:t>
            </a:r>
            <a:r>
              <a:rPr sz="2800" spc="-15" dirty="0">
                <a:solidFill>
                  <a:srgbClr val="006FC0"/>
                </a:solidFill>
                <a:latin typeface="Calibri"/>
                <a:cs typeface="Calibri"/>
              </a:rPr>
              <a:t>Repeat Request</a:t>
            </a:r>
            <a:endParaRPr sz="2800">
              <a:latin typeface="Calibri"/>
              <a:cs typeface="Calibri"/>
            </a:endParaRPr>
          </a:p>
        </p:txBody>
      </p:sp>
    </p:spTree>
    <p:extLst>
      <p:ext uri="{BB962C8B-B14F-4D97-AF65-F5344CB8AC3E}">
        <p14:creationId xmlns:p14="http://schemas.microsoft.com/office/powerpoint/2010/main" val="268974822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68884"/>
            <a:ext cx="4038600" cy="566822"/>
          </a:xfrm>
          <a:prstGeom prst="rect">
            <a:avLst/>
          </a:prstGeom>
        </p:spPr>
        <p:txBody>
          <a:bodyPr vert="horz" wrap="square" lIns="0" tIns="12700" rIns="0" bIns="0" rtlCol="0">
            <a:spAutoFit/>
          </a:bodyPr>
          <a:lstStyle/>
          <a:p>
            <a:pPr marL="12700">
              <a:lnSpc>
                <a:spcPct val="100000"/>
              </a:lnSpc>
              <a:spcBef>
                <a:spcPts val="100"/>
              </a:spcBef>
            </a:pPr>
            <a:r>
              <a:rPr sz="3600" b="1" spc="-10" dirty="0">
                <a:latin typeface="Calibri"/>
                <a:cs typeface="Calibri"/>
              </a:rPr>
              <a:t>Stop</a:t>
            </a:r>
            <a:r>
              <a:rPr sz="3600" b="1" spc="-25" dirty="0">
                <a:latin typeface="Calibri"/>
                <a:cs typeface="Calibri"/>
              </a:rPr>
              <a:t> </a:t>
            </a:r>
            <a:r>
              <a:rPr sz="3600" b="1" dirty="0">
                <a:latin typeface="Calibri"/>
                <a:cs typeface="Calibri"/>
              </a:rPr>
              <a:t>And</a:t>
            </a:r>
            <a:r>
              <a:rPr sz="3600" b="1" spc="-25" dirty="0">
                <a:latin typeface="Calibri"/>
                <a:cs typeface="Calibri"/>
              </a:rPr>
              <a:t> </a:t>
            </a:r>
            <a:r>
              <a:rPr sz="3600" b="1" spc="-35" dirty="0">
                <a:latin typeface="Calibri"/>
                <a:cs typeface="Calibri"/>
              </a:rPr>
              <a:t>Wait</a:t>
            </a:r>
            <a:r>
              <a:rPr sz="3600" b="1" spc="-25" dirty="0">
                <a:latin typeface="Calibri"/>
                <a:cs typeface="Calibri"/>
              </a:rPr>
              <a:t> </a:t>
            </a:r>
            <a:r>
              <a:rPr sz="3600" b="1" spc="-15" dirty="0">
                <a:latin typeface="Calibri"/>
                <a:cs typeface="Calibri"/>
              </a:rPr>
              <a:t>ARQ</a:t>
            </a:r>
          </a:p>
        </p:txBody>
      </p:sp>
      <p:grpSp>
        <p:nvGrpSpPr>
          <p:cNvPr id="3" name="object 3"/>
          <p:cNvGrpSpPr/>
          <p:nvPr/>
        </p:nvGrpSpPr>
        <p:grpSpPr>
          <a:xfrm>
            <a:off x="6852287" y="0"/>
            <a:ext cx="2291715" cy="6858000"/>
            <a:chOff x="9136380" y="0"/>
            <a:chExt cx="3055620" cy="6858000"/>
          </a:xfrm>
        </p:grpSpPr>
        <p:pic>
          <p:nvPicPr>
            <p:cNvPr id="4" name="object 4"/>
            <p:cNvPicPr/>
            <p:nvPr/>
          </p:nvPicPr>
          <p:blipFill>
            <a:blip r:embed="rId2" cstate="print"/>
            <a:stretch>
              <a:fillRect/>
            </a:stretch>
          </p:blipFill>
          <p:spPr>
            <a:xfrm>
              <a:off x="11754612" y="4571"/>
              <a:ext cx="437388" cy="6853426"/>
            </a:xfrm>
            <a:prstGeom prst="rect">
              <a:avLst/>
            </a:prstGeom>
          </p:spPr>
        </p:pic>
        <p:pic>
          <p:nvPicPr>
            <p:cNvPr id="5" name="object 5"/>
            <p:cNvPicPr/>
            <p:nvPr/>
          </p:nvPicPr>
          <p:blipFill>
            <a:blip r:embed="rId3" cstate="print"/>
            <a:stretch>
              <a:fillRect/>
            </a:stretch>
          </p:blipFill>
          <p:spPr>
            <a:xfrm>
              <a:off x="10786872"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grpSp>
      <p:pic>
        <p:nvPicPr>
          <p:cNvPr id="7" name="object 7"/>
          <p:cNvPicPr/>
          <p:nvPr/>
        </p:nvPicPr>
        <p:blipFill>
          <a:blip r:embed="rId5" cstate="print"/>
          <a:stretch>
            <a:fillRect/>
          </a:stretch>
        </p:blipFill>
        <p:spPr>
          <a:xfrm>
            <a:off x="220860" y="218010"/>
            <a:ext cx="1737985" cy="682398"/>
          </a:xfrm>
          <a:prstGeom prst="rect">
            <a:avLst/>
          </a:prstGeom>
        </p:spPr>
      </p:pic>
      <p:sp>
        <p:nvSpPr>
          <p:cNvPr id="8" name="object 8"/>
          <p:cNvSpPr txBox="1"/>
          <p:nvPr/>
        </p:nvSpPr>
        <p:spPr>
          <a:xfrm>
            <a:off x="472135" y="1259670"/>
            <a:ext cx="7612856" cy="5598327"/>
          </a:xfrm>
          <a:prstGeom prst="rect">
            <a:avLst/>
          </a:prstGeom>
        </p:spPr>
        <p:txBody>
          <a:bodyPr vert="horz" wrap="square" lIns="0" tIns="12065" rIns="0" bIns="0" rtlCol="0">
            <a:spAutoFit/>
          </a:bodyPr>
          <a:lstStyle/>
          <a:p>
            <a:pPr marL="469900" marR="5080" indent="-457834">
              <a:lnSpc>
                <a:spcPct val="100000"/>
              </a:lnSpc>
              <a:spcBef>
                <a:spcPts val="95"/>
              </a:spcBef>
              <a:buFont typeface="Arial MT"/>
              <a:buChar char="•"/>
              <a:tabLst>
                <a:tab pos="469900" algn="l"/>
                <a:tab pos="470534" algn="l"/>
              </a:tabLst>
            </a:pPr>
            <a:r>
              <a:rPr sz="2800" spc="-20" dirty="0">
                <a:latin typeface="Calibri"/>
                <a:cs typeface="Calibri"/>
              </a:rPr>
              <a:t>Error</a:t>
            </a:r>
            <a:r>
              <a:rPr sz="2800" spc="5" dirty="0">
                <a:latin typeface="Calibri"/>
                <a:cs typeface="Calibri"/>
              </a:rPr>
              <a:t> </a:t>
            </a:r>
            <a:r>
              <a:rPr sz="2800" spc="-10" dirty="0">
                <a:latin typeface="Calibri"/>
                <a:cs typeface="Calibri"/>
              </a:rPr>
              <a:t>correction</a:t>
            </a:r>
            <a:r>
              <a:rPr sz="2800" spc="10" dirty="0">
                <a:latin typeface="Calibri"/>
                <a:cs typeface="Calibri"/>
              </a:rPr>
              <a:t> </a:t>
            </a:r>
            <a:r>
              <a:rPr sz="2800" spc="-5" dirty="0">
                <a:latin typeface="Calibri"/>
                <a:cs typeface="Calibri"/>
              </a:rPr>
              <a:t>in</a:t>
            </a:r>
            <a:r>
              <a:rPr sz="2800" dirty="0">
                <a:latin typeface="Calibri"/>
                <a:cs typeface="Calibri"/>
              </a:rPr>
              <a:t> </a:t>
            </a:r>
            <a:r>
              <a:rPr sz="2800" spc="-15" dirty="0">
                <a:latin typeface="Calibri"/>
                <a:cs typeface="Calibri"/>
              </a:rPr>
              <a:t>Stop-and-Wait</a:t>
            </a:r>
            <a:r>
              <a:rPr sz="2800" spc="50" dirty="0">
                <a:latin typeface="Calibri"/>
                <a:cs typeface="Calibri"/>
              </a:rPr>
              <a:t> </a:t>
            </a:r>
            <a:r>
              <a:rPr sz="2800" spc="-10" dirty="0">
                <a:latin typeface="Calibri"/>
                <a:cs typeface="Calibri"/>
              </a:rPr>
              <a:t>ARQ</a:t>
            </a:r>
            <a:r>
              <a:rPr sz="2800" spc="20"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done</a:t>
            </a:r>
            <a:r>
              <a:rPr sz="2800" spc="15" dirty="0">
                <a:latin typeface="Calibri"/>
                <a:cs typeface="Calibri"/>
              </a:rPr>
              <a:t> </a:t>
            </a:r>
            <a:r>
              <a:rPr sz="2800" spc="-15" dirty="0">
                <a:latin typeface="Calibri"/>
                <a:cs typeface="Calibri"/>
              </a:rPr>
              <a:t>by</a:t>
            </a:r>
            <a:r>
              <a:rPr sz="2800" spc="25" dirty="0">
                <a:latin typeface="Calibri"/>
                <a:cs typeface="Calibri"/>
              </a:rPr>
              <a:t> </a:t>
            </a:r>
            <a:r>
              <a:rPr sz="2800" spc="-20" dirty="0">
                <a:solidFill>
                  <a:srgbClr val="006FC0"/>
                </a:solidFill>
                <a:latin typeface="Calibri"/>
                <a:cs typeface="Calibri"/>
              </a:rPr>
              <a:t>keeping</a:t>
            </a:r>
            <a:r>
              <a:rPr sz="2800" spc="5" dirty="0">
                <a:solidFill>
                  <a:srgbClr val="006FC0"/>
                </a:solidFill>
                <a:latin typeface="Calibri"/>
                <a:cs typeface="Calibri"/>
              </a:rPr>
              <a:t> </a:t>
            </a:r>
            <a:r>
              <a:rPr sz="2800" spc="-5" dirty="0">
                <a:solidFill>
                  <a:srgbClr val="006FC0"/>
                </a:solidFill>
                <a:latin typeface="Calibri"/>
                <a:cs typeface="Calibri"/>
              </a:rPr>
              <a:t>a</a:t>
            </a:r>
            <a:r>
              <a:rPr sz="2800" dirty="0">
                <a:solidFill>
                  <a:srgbClr val="006FC0"/>
                </a:solidFill>
                <a:latin typeface="Calibri"/>
                <a:cs typeface="Calibri"/>
              </a:rPr>
              <a:t> </a:t>
            </a:r>
            <a:r>
              <a:rPr sz="2800" spc="-15" dirty="0">
                <a:solidFill>
                  <a:srgbClr val="006FC0"/>
                </a:solidFill>
                <a:latin typeface="Calibri"/>
                <a:cs typeface="Calibri"/>
              </a:rPr>
              <a:t>copy</a:t>
            </a:r>
            <a:r>
              <a:rPr sz="2800" spc="5" dirty="0">
                <a:solidFill>
                  <a:srgbClr val="006FC0"/>
                </a:solidFill>
                <a:latin typeface="Calibri"/>
                <a:cs typeface="Calibri"/>
              </a:rPr>
              <a:t> </a:t>
            </a:r>
            <a:r>
              <a:rPr sz="2800" spc="-10" dirty="0">
                <a:solidFill>
                  <a:srgbClr val="006FC0"/>
                </a:solidFill>
                <a:latin typeface="Calibri"/>
                <a:cs typeface="Calibri"/>
              </a:rPr>
              <a:t>of </a:t>
            </a:r>
            <a:r>
              <a:rPr sz="2800" spc="-615" dirty="0">
                <a:solidFill>
                  <a:srgbClr val="006FC0"/>
                </a:solidFill>
                <a:latin typeface="Calibri"/>
                <a:cs typeface="Calibri"/>
              </a:rPr>
              <a:t> </a:t>
            </a:r>
            <a:r>
              <a:rPr sz="2800" spc="-5" dirty="0">
                <a:solidFill>
                  <a:srgbClr val="006FC0"/>
                </a:solidFill>
                <a:latin typeface="Calibri"/>
                <a:cs typeface="Calibri"/>
              </a:rPr>
              <a:t>the </a:t>
            </a:r>
            <a:r>
              <a:rPr sz="2800" spc="-15" dirty="0">
                <a:solidFill>
                  <a:srgbClr val="006FC0"/>
                </a:solidFill>
                <a:latin typeface="Calibri"/>
                <a:cs typeface="Calibri"/>
              </a:rPr>
              <a:t>sent</a:t>
            </a:r>
            <a:r>
              <a:rPr sz="2800" spc="10" dirty="0">
                <a:solidFill>
                  <a:srgbClr val="006FC0"/>
                </a:solidFill>
                <a:latin typeface="Calibri"/>
                <a:cs typeface="Calibri"/>
              </a:rPr>
              <a:t> </a:t>
            </a:r>
            <a:r>
              <a:rPr sz="2800" spc="-20" dirty="0">
                <a:solidFill>
                  <a:srgbClr val="006FC0"/>
                </a:solidFill>
                <a:latin typeface="Calibri"/>
                <a:cs typeface="Calibri"/>
              </a:rPr>
              <a:t>frame</a:t>
            </a:r>
            <a:r>
              <a:rPr sz="2800" spc="15" dirty="0">
                <a:solidFill>
                  <a:srgbClr val="006FC0"/>
                </a:solidFill>
                <a:latin typeface="Calibri"/>
                <a:cs typeface="Calibri"/>
              </a:rPr>
              <a:t> </a:t>
            </a:r>
            <a:r>
              <a:rPr sz="2800" spc="-5" dirty="0">
                <a:latin typeface="Calibri"/>
                <a:cs typeface="Calibri"/>
              </a:rPr>
              <a:t>and</a:t>
            </a:r>
            <a:r>
              <a:rPr sz="2800" spc="5" dirty="0">
                <a:latin typeface="Calibri"/>
                <a:cs typeface="Calibri"/>
              </a:rPr>
              <a:t> </a:t>
            </a:r>
            <a:r>
              <a:rPr sz="2800" spc="-15" dirty="0">
                <a:solidFill>
                  <a:srgbClr val="006FC0"/>
                </a:solidFill>
                <a:latin typeface="Calibri"/>
                <a:cs typeface="Calibri"/>
              </a:rPr>
              <a:t>retransmitting</a:t>
            </a:r>
            <a:r>
              <a:rPr sz="2800" spc="35" dirty="0">
                <a:solidFill>
                  <a:srgbClr val="006FC0"/>
                </a:solidFill>
                <a:latin typeface="Calibri"/>
                <a:cs typeface="Calibri"/>
              </a:rPr>
              <a:t> </a:t>
            </a:r>
            <a:r>
              <a:rPr sz="2800" spc="-5" dirty="0">
                <a:solidFill>
                  <a:srgbClr val="006FC0"/>
                </a:solidFill>
                <a:latin typeface="Calibri"/>
                <a:cs typeface="Calibri"/>
              </a:rPr>
              <a:t>of the</a:t>
            </a:r>
            <a:r>
              <a:rPr sz="2800" dirty="0">
                <a:solidFill>
                  <a:srgbClr val="006FC0"/>
                </a:solidFill>
                <a:latin typeface="Calibri"/>
                <a:cs typeface="Calibri"/>
              </a:rPr>
              <a:t> </a:t>
            </a:r>
            <a:r>
              <a:rPr sz="2800" spc="-20" dirty="0">
                <a:solidFill>
                  <a:srgbClr val="006FC0"/>
                </a:solidFill>
                <a:latin typeface="Calibri"/>
                <a:cs typeface="Calibri"/>
              </a:rPr>
              <a:t>frame</a:t>
            </a:r>
            <a:r>
              <a:rPr sz="2800" spc="15" dirty="0">
                <a:solidFill>
                  <a:srgbClr val="006FC0"/>
                </a:solidFill>
                <a:latin typeface="Calibri"/>
                <a:cs typeface="Calibri"/>
              </a:rPr>
              <a:t> </a:t>
            </a:r>
            <a:r>
              <a:rPr sz="2800" spc="-5" dirty="0">
                <a:latin typeface="Calibri"/>
                <a:cs typeface="Calibri"/>
              </a:rPr>
              <a:t>when</a:t>
            </a:r>
            <a:r>
              <a:rPr sz="2800" spc="15" dirty="0">
                <a:latin typeface="Calibri"/>
                <a:cs typeface="Calibri"/>
              </a:rPr>
              <a:t> </a:t>
            </a:r>
            <a:r>
              <a:rPr sz="2800" spc="-5" dirty="0">
                <a:latin typeface="Calibri"/>
                <a:cs typeface="Calibri"/>
              </a:rPr>
              <a:t>the</a:t>
            </a:r>
            <a:r>
              <a:rPr sz="2800" dirty="0">
                <a:latin typeface="Calibri"/>
                <a:cs typeface="Calibri"/>
              </a:rPr>
              <a:t> </a:t>
            </a:r>
            <a:r>
              <a:rPr sz="2800" spc="-5" dirty="0">
                <a:latin typeface="Calibri"/>
                <a:cs typeface="Calibri"/>
              </a:rPr>
              <a:t>timer </a:t>
            </a:r>
            <a:r>
              <a:rPr sz="2800" dirty="0">
                <a:latin typeface="Calibri"/>
                <a:cs typeface="Calibri"/>
              </a:rPr>
              <a:t> </a:t>
            </a:r>
            <a:r>
              <a:rPr sz="2800" spc="-20" dirty="0">
                <a:latin typeface="Calibri"/>
                <a:cs typeface="Calibri"/>
              </a:rPr>
              <a:t>expires.</a:t>
            </a:r>
            <a:endParaRPr sz="2800" dirty="0">
              <a:latin typeface="Calibri"/>
              <a:cs typeface="Calibri"/>
            </a:endParaRPr>
          </a:p>
          <a:p>
            <a:pPr>
              <a:lnSpc>
                <a:spcPct val="100000"/>
              </a:lnSpc>
              <a:spcBef>
                <a:spcPts val="5"/>
              </a:spcBef>
              <a:buFont typeface="Arial MT"/>
              <a:buChar char="•"/>
            </a:pPr>
            <a:endParaRPr sz="2750" dirty="0">
              <a:latin typeface="Calibri"/>
              <a:cs typeface="Calibri"/>
            </a:endParaRPr>
          </a:p>
          <a:p>
            <a:pPr marL="469900" marR="57150" indent="-457834">
              <a:lnSpc>
                <a:spcPct val="100000"/>
              </a:lnSpc>
              <a:buFont typeface="Arial MT"/>
              <a:buChar char="•"/>
              <a:tabLst>
                <a:tab pos="469900" algn="l"/>
                <a:tab pos="470534" algn="l"/>
              </a:tabLst>
            </a:pPr>
            <a:r>
              <a:rPr sz="2800" spc="-5" dirty="0">
                <a:latin typeface="Calibri"/>
                <a:cs typeface="Calibri"/>
              </a:rPr>
              <a:t>In </a:t>
            </a:r>
            <a:r>
              <a:rPr sz="2800" spc="-15" dirty="0">
                <a:latin typeface="Calibri"/>
                <a:cs typeface="Calibri"/>
              </a:rPr>
              <a:t>Stop-and-Wait</a:t>
            </a:r>
            <a:r>
              <a:rPr sz="2800" spc="45" dirty="0">
                <a:latin typeface="Calibri"/>
                <a:cs typeface="Calibri"/>
              </a:rPr>
              <a:t> </a:t>
            </a:r>
            <a:r>
              <a:rPr sz="2800" spc="25" dirty="0">
                <a:latin typeface="Calibri"/>
                <a:cs typeface="Calibri"/>
              </a:rPr>
              <a:t>ARQ,</a:t>
            </a:r>
            <a:r>
              <a:rPr sz="2800" spc="15" dirty="0">
                <a:latin typeface="Calibri"/>
                <a:cs typeface="Calibri"/>
              </a:rPr>
              <a:t> </a:t>
            </a:r>
            <a:r>
              <a:rPr sz="2800" spc="-15" dirty="0">
                <a:latin typeface="Calibri"/>
                <a:cs typeface="Calibri"/>
              </a:rPr>
              <a:t>we</a:t>
            </a:r>
            <a:r>
              <a:rPr sz="2800" dirty="0">
                <a:latin typeface="Calibri"/>
                <a:cs typeface="Calibri"/>
              </a:rPr>
              <a:t> </a:t>
            </a:r>
            <a:r>
              <a:rPr sz="2800" spc="-10" dirty="0">
                <a:latin typeface="Calibri"/>
                <a:cs typeface="Calibri"/>
              </a:rPr>
              <a:t>use</a:t>
            </a:r>
            <a:r>
              <a:rPr sz="2800" spc="30" dirty="0">
                <a:latin typeface="Calibri"/>
                <a:cs typeface="Calibri"/>
              </a:rPr>
              <a:t> </a:t>
            </a:r>
            <a:r>
              <a:rPr sz="2800" spc="-10" dirty="0">
                <a:solidFill>
                  <a:srgbClr val="006FC0"/>
                </a:solidFill>
                <a:latin typeface="Calibri"/>
                <a:cs typeface="Calibri"/>
              </a:rPr>
              <a:t>sequence</a:t>
            </a:r>
            <a:r>
              <a:rPr sz="2800" spc="25" dirty="0">
                <a:solidFill>
                  <a:srgbClr val="006FC0"/>
                </a:solidFill>
                <a:latin typeface="Calibri"/>
                <a:cs typeface="Calibri"/>
              </a:rPr>
              <a:t> </a:t>
            </a:r>
            <a:r>
              <a:rPr sz="2800" spc="-15" dirty="0">
                <a:solidFill>
                  <a:srgbClr val="006FC0"/>
                </a:solidFill>
                <a:latin typeface="Calibri"/>
                <a:cs typeface="Calibri"/>
              </a:rPr>
              <a:t>numbers</a:t>
            </a:r>
            <a:r>
              <a:rPr sz="2800" spc="45" dirty="0">
                <a:solidFill>
                  <a:srgbClr val="006FC0"/>
                </a:solidFill>
                <a:latin typeface="Calibri"/>
                <a:cs typeface="Calibri"/>
              </a:rPr>
              <a:t> </a:t>
            </a:r>
            <a:r>
              <a:rPr sz="2800" spc="-20" dirty="0">
                <a:latin typeface="Calibri"/>
                <a:cs typeface="Calibri"/>
              </a:rPr>
              <a:t>to</a:t>
            </a:r>
            <a:r>
              <a:rPr sz="2800" spc="-5" dirty="0">
                <a:latin typeface="Calibri"/>
                <a:cs typeface="Calibri"/>
              </a:rPr>
              <a:t> </a:t>
            </a:r>
            <a:r>
              <a:rPr sz="2800" spc="-10" dirty="0">
                <a:latin typeface="Calibri"/>
                <a:cs typeface="Calibri"/>
              </a:rPr>
              <a:t>number</a:t>
            </a:r>
            <a:r>
              <a:rPr sz="2800" spc="25" dirty="0">
                <a:latin typeface="Calibri"/>
                <a:cs typeface="Calibri"/>
              </a:rPr>
              <a:t> </a:t>
            </a:r>
            <a:r>
              <a:rPr sz="2800" spc="-5" dirty="0">
                <a:latin typeface="Calibri"/>
                <a:cs typeface="Calibri"/>
              </a:rPr>
              <a:t>the </a:t>
            </a:r>
            <a:r>
              <a:rPr sz="2800" dirty="0">
                <a:latin typeface="Calibri"/>
                <a:cs typeface="Calibri"/>
              </a:rPr>
              <a:t> </a:t>
            </a:r>
            <a:r>
              <a:rPr sz="2800" spc="-15" dirty="0">
                <a:latin typeface="Calibri"/>
                <a:cs typeface="Calibri"/>
              </a:rPr>
              <a:t>frames.</a:t>
            </a:r>
            <a:r>
              <a:rPr sz="2800" spc="20" dirty="0">
                <a:latin typeface="Calibri"/>
                <a:cs typeface="Calibri"/>
              </a:rPr>
              <a:t> </a:t>
            </a:r>
            <a:r>
              <a:rPr sz="2800" spc="-10" dirty="0">
                <a:latin typeface="Calibri"/>
                <a:cs typeface="Calibri"/>
              </a:rPr>
              <a:t>The</a:t>
            </a:r>
            <a:r>
              <a:rPr sz="2800" dirty="0">
                <a:latin typeface="Calibri"/>
                <a:cs typeface="Calibri"/>
              </a:rPr>
              <a:t> </a:t>
            </a:r>
            <a:r>
              <a:rPr sz="2800" spc="-10" dirty="0">
                <a:latin typeface="Calibri"/>
                <a:cs typeface="Calibri"/>
              </a:rPr>
              <a:t>sequence</a:t>
            </a:r>
            <a:r>
              <a:rPr sz="2800" spc="35" dirty="0">
                <a:latin typeface="Calibri"/>
                <a:cs typeface="Calibri"/>
              </a:rPr>
              <a:t> </a:t>
            </a:r>
            <a:r>
              <a:rPr sz="2800" spc="-20" dirty="0">
                <a:latin typeface="Calibri"/>
                <a:cs typeface="Calibri"/>
              </a:rPr>
              <a:t>numbers</a:t>
            </a:r>
            <a:r>
              <a:rPr sz="2800" spc="40" dirty="0">
                <a:latin typeface="Calibri"/>
                <a:cs typeface="Calibri"/>
              </a:rPr>
              <a:t> </a:t>
            </a:r>
            <a:r>
              <a:rPr sz="2800" spc="-20" dirty="0">
                <a:latin typeface="Calibri"/>
                <a:cs typeface="Calibri"/>
              </a:rPr>
              <a:t>are</a:t>
            </a:r>
            <a:r>
              <a:rPr sz="2800" spc="5" dirty="0">
                <a:latin typeface="Calibri"/>
                <a:cs typeface="Calibri"/>
              </a:rPr>
              <a:t> </a:t>
            </a:r>
            <a:r>
              <a:rPr sz="2800" spc="-10" dirty="0">
                <a:latin typeface="Calibri"/>
                <a:cs typeface="Calibri"/>
              </a:rPr>
              <a:t>based</a:t>
            </a:r>
            <a:r>
              <a:rPr sz="2800" spc="25" dirty="0">
                <a:latin typeface="Calibri"/>
                <a:cs typeface="Calibri"/>
              </a:rPr>
              <a:t> </a:t>
            </a:r>
            <a:r>
              <a:rPr sz="2800" spc="-5" dirty="0">
                <a:latin typeface="Calibri"/>
                <a:cs typeface="Calibri"/>
              </a:rPr>
              <a:t>on</a:t>
            </a:r>
            <a:r>
              <a:rPr sz="2800" spc="15" dirty="0">
                <a:latin typeface="Calibri"/>
                <a:cs typeface="Calibri"/>
              </a:rPr>
              <a:t> </a:t>
            </a:r>
            <a:r>
              <a:rPr sz="2800" dirty="0">
                <a:latin typeface="Calibri"/>
                <a:cs typeface="Calibri"/>
              </a:rPr>
              <a:t>modulo-2</a:t>
            </a:r>
            <a:r>
              <a:rPr sz="2800" spc="50" dirty="0">
                <a:latin typeface="Calibri"/>
                <a:cs typeface="Calibri"/>
              </a:rPr>
              <a:t> </a:t>
            </a:r>
            <a:r>
              <a:rPr sz="2800" spc="-5" dirty="0">
                <a:latin typeface="Calibri"/>
                <a:cs typeface="Calibri"/>
              </a:rPr>
              <a:t>arithmetic.</a:t>
            </a:r>
            <a:endParaRPr sz="2800" dirty="0">
              <a:latin typeface="Calibri"/>
              <a:cs typeface="Calibri"/>
            </a:endParaRPr>
          </a:p>
          <a:p>
            <a:pPr>
              <a:lnSpc>
                <a:spcPct val="100000"/>
              </a:lnSpc>
              <a:spcBef>
                <a:spcPts val="5"/>
              </a:spcBef>
              <a:buFont typeface="Arial MT"/>
              <a:buChar char="•"/>
            </a:pPr>
            <a:endParaRPr sz="2750" dirty="0">
              <a:latin typeface="Calibri"/>
              <a:cs typeface="Calibri"/>
            </a:endParaRPr>
          </a:p>
          <a:p>
            <a:pPr marL="469900" marR="500380" indent="-457834">
              <a:lnSpc>
                <a:spcPct val="100000"/>
              </a:lnSpc>
              <a:buFont typeface="Arial MT"/>
              <a:buChar char="•"/>
              <a:tabLst>
                <a:tab pos="469900" algn="l"/>
                <a:tab pos="470534" algn="l"/>
              </a:tabLst>
            </a:pPr>
            <a:r>
              <a:rPr sz="2800" spc="-5" dirty="0">
                <a:latin typeface="Calibri"/>
                <a:cs typeface="Calibri"/>
              </a:rPr>
              <a:t>In </a:t>
            </a:r>
            <a:r>
              <a:rPr sz="2800" spc="-15" dirty="0">
                <a:latin typeface="Calibri"/>
                <a:cs typeface="Calibri"/>
              </a:rPr>
              <a:t>Stop-and-Wait</a:t>
            </a:r>
            <a:r>
              <a:rPr sz="2800" spc="50" dirty="0">
                <a:latin typeface="Calibri"/>
                <a:cs typeface="Calibri"/>
              </a:rPr>
              <a:t> </a:t>
            </a:r>
            <a:r>
              <a:rPr sz="2800" spc="25" dirty="0">
                <a:latin typeface="Calibri"/>
                <a:cs typeface="Calibri"/>
              </a:rPr>
              <a:t>ARQ,</a:t>
            </a:r>
            <a:r>
              <a:rPr sz="2800" spc="15" dirty="0">
                <a:latin typeface="Calibri"/>
                <a:cs typeface="Calibri"/>
              </a:rPr>
              <a:t> </a:t>
            </a:r>
            <a:r>
              <a:rPr sz="2800" spc="-5" dirty="0">
                <a:latin typeface="Calibri"/>
                <a:cs typeface="Calibri"/>
              </a:rPr>
              <a:t>the</a:t>
            </a:r>
            <a:r>
              <a:rPr sz="2800" spc="10" dirty="0">
                <a:latin typeface="Calibri"/>
                <a:cs typeface="Calibri"/>
              </a:rPr>
              <a:t> </a:t>
            </a:r>
            <a:r>
              <a:rPr sz="2800" spc="-10" dirty="0">
                <a:latin typeface="Calibri"/>
                <a:cs typeface="Calibri"/>
              </a:rPr>
              <a:t>acknowledgment</a:t>
            </a:r>
            <a:r>
              <a:rPr sz="2800" spc="20" dirty="0">
                <a:latin typeface="Calibri"/>
                <a:cs typeface="Calibri"/>
              </a:rPr>
              <a:t> </a:t>
            </a:r>
            <a:r>
              <a:rPr sz="2800" spc="-10" dirty="0">
                <a:latin typeface="Calibri"/>
                <a:cs typeface="Calibri"/>
              </a:rPr>
              <a:t>number</a:t>
            </a:r>
            <a:r>
              <a:rPr sz="2800" spc="25" dirty="0">
                <a:latin typeface="Calibri"/>
                <a:cs typeface="Calibri"/>
              </a:rPr>
              <a:t> </a:t>
            </a:r>
            <a:r>
              <a:rPr sz="2800" spc="-25" dirty="0">
                <a:latin typeface="Calibri"/>
                <a:cs typeface="Calibri"/>
              </a:rPr>
              <a:t>always </a:t>
            </a:r>
            <a:r>
              <a:rPr sz="2800" spc="-20" dirty="0">
                <a:latin typeface="Calibri"/>
                <a:cs typeface="Calibri"/>
              </a:rPr>
              <a:t> </a:t>
            </a:r>
            <a:r>
              <a:rPr sz="2800" spc="-5" dirty="0">
                <a:latin typeface="Calibri"/>
                <a:cs typeface="Calibri"/>
              </a:rPr>
              <a:t>announces</a:t>
            </a:r>
            <a:r>
              <a:rPr sz="2800" spc="30" dirty="0">
                <a:latin typeface="Calibri"/>
                <a:cs typeface="Calibri"/>
              </a:rPr>
              <a:t> </a:t>
            </a:r>
            <a:r>
              <a:rPr sz="2800" spc="-5" dirty="0">
                <a:latin typeface="Calibri"/>
                <a:cs typeface="Calibri"/>
              </a:rPr>
              <a:t>in</a:t>
            </a:r>
            <a:r>
              <a:rPr sz="2800" spc="15" dirty="0">
                <a:latin typeface="Calibri"/>
                <a:cs typeface="Calibri"/>
              </a:rPr>
              <a:t> </a:t>
            </a:r>
            <a:r>
              <a:rPr sz="2800" spc="-5" dirty="0">
                <a:latin typeface="Calibri"/>
                <a:cs typeface="Calibri"/>
              </a:rPr>
              <a:t>modulo-2</a:t>
            </a:r>
            <a:r>
              <a:rPr sz="2800" spc="55" dirty="0">
                <a:latin typeface="Calibri"/>
                <a:cs typeface="Calibri"/>
              </a:rPr>
              <a:t> </a:t>
            </a:r>
            <a:r>
              <a:rPr sz="2800" spc="-10" dirty="0">
                <a:latin typeface="Calibri"/>
                <a:cs typeface="Calibri"/>
              </a:rPr>
              <a:t>arithmetic</a:t>
            </a:r>
            <a:r>
              <a:rPr sz="2800" spc="20" dirty="0">
                <a:latin typeface="Calibri"/>
                <a:cs typeface="Calibri"/>
              </a:rPr>
              <a:t> </a:t>
            </a:r>
            <a:r>
              <a:rPr sz="2800" spc="-5" dirty="0">
                <a:latin typeface="Calibri"/>
                <a:cs typeface="Calibri"/>
              </a:rPr>
              <a:t>the</a:t>
            </a:r>
            <a:r>
              <a:rPr sz="2800" spc="10" dirty="0">
                <a:latin typeface="Calibri"/>
                <a:cs typeface="Calibri"/>
              </a:rPr>
              <a:t> </a:t>
            </a:r>
            <a:r>
              <a:rPr sz="2800" spc="-10" dirty="0">
                <a:solidFill>
                  <a:srgbClr val="006FC0"/>
                </a:solidFill>
                <a:latin typeface="Calibri"/>
                <a:cs typeface="Calibri"/>
              </a:rPr>
              <a:t>sequence</a:t>
            </a:r>
            <a:r>
              <a:rPr sz="2800" spc="45" dirty="0">
                <a:solidFill>
                  <a:srgbClr val="006FC0"/>
                </a:solidFill>
                <a:latin typeface="Calibri"/>
                <a:cs typeface="Calibri"/>
              </a:rPr>
              <a:t> </a:t>
            </a:r>
            <a:r>
              <a:rPr sz="2800" spc="-10" dirty="0">
                <a:solidFill>
                  <a:srgbClr val="006FC0"/>
                </a:solidFill>
                <a:latin typeface="Calibri"/>
                <a:cs typeface="Calibri"/>
              </a:rPr>
              <a:t>number</a:t>
            </a:r>
            <a:r>
              <a:rPr sz="2800" spc="35" dirty="0">
                <a:solidFill>
                  <a:srgbClr val="006FC0"/>
                </a:solidFill>
                <a:latin typeface="Calibri"/>
                <a:cs typeface="Calibri"/>
              </a:rPr>
              <a:t> </a:t>
            </a:r>
            <a:r>
              <a:rPr sz="2800" spc="-5" dirty="0">
                <a:solidFill>
                  <a:srgbClr val="006FC0"/>
                </a:solidFill>
                <a:latin typeface="Calibri"/>
                <a:cs typeface="Calibri"/>
              </a:rPr>
              <a:t>of</a:t>
            </a:r>
            <a:r>
              <a:rPr sz="2800" spc="5" dirty="0">
                <a:solidFill>
                  <a:srgbClr val="006FC0"/>
                </a:solidFill>
                <a:latin typeface="Calibri"/>
                <a:cs typeface="Calibri"/>
              </a:rPr>
              <a:t> </a:t>
            </a:r>
            <a:r>
              <a:rPr sz="2800" spc="-5" dirty="0">
                <a:solidFill>
                  <a:srgbClr val="006FC0"/>
                </a:solidFill>
                <a:latin typeface="Calibri"/>
                <a:cs typeface="Calibri"/>
              </a:rPr>
              <a:t>the </a:t>
            </a:r>
            <a:r>
              <a:rPr sz="2800" spc="-620" dirty="0">
                <a:solidFill>
                  <a:srgbClr val="006FC0"/>
                </a:solidFill>
                <a:latin typeface="Calibri"/>
                <a:cs typeface="Calibri"/>
              </a:rPr>
              <a:t> </a:t>
            </a:r>
            <a:r>
              <a:rPr sz="2800" spc="-15" dirty="0">
                <a:solidFill>
                  <a:srgbClr val="006FC0"/>
                </a:solidFill>
                <a:latin typeface="Calibri"/>
                <a:cs typeface="Calibri"/>
              </a:rPr>
              <a:t>next</a:t>
            </a:r>
            <a:r>
              <a:rPr sz="2800" spc="5" dirty="0">
                <a:solidFill>
                  <a:srgbClr val="006FC0"/>
                </a:solidFill>
                <a:latin typeface="Calibri"/>
                <a:cs typeface="Calibri"/>
              </a:rPr>
              <a:t> </a:t>
            </a:r>
            <a:r>
              <a:rPr sz="2800" spc="-20" dirty="0">
                <a:solidFill>
                  <a:srgbClr val="006FC0"/>
                </a:solidFill>
                <a:latin typeface="Calibri"/>
                <a:cs typeface="Calibri"/>
              </a:rPr>
              <a:t>frame</a:t>
            </a:r>
            <a:r>
              <a:rPr sz="2800" spc="-5" dirty="0">
                <a:solidFill>
                  <a:srgbClr val="006FC0"/>
                </a:solidFill>
                <a:latin typeface="Calibri"/>
                <a:cs typeface="Calibri"/>
              </a:rPr>
              <a:t> </a:t>
            </a:r>
            <a:r>
              <a:rPr sz="2800" spc="-15" dirty="0">
                <a:solidFill>
                  <a:srgbClr val="006FC0"/>
                </a:solidFill>
                <a:latin typeface="Calibri"/>
                <a:cs typeface="Calibri"/>
              </a:rPr>
              <a:t>expected</a:t>
            </a:r>
            <a:r>
              <a:rPr sz="2800" spc="-15" dirty="0">
                <a:latin typeface="Calibri"/>
                <a:cs typeface="Calibri"/>
              </a:rPr>
              <a:t>.</a:t>
            </a:r>
            <a:endParaRPr sz="2800" dirty="0">
              <a:latin typeface="Calibri"/>
              <a:cs typeface="Calibri"/>
            </a:endParaRPr>
          </a:p>
        </p:txBody>
      </p:sp>
    </p:spTree>
    <p:extLst>
      <p:ext uri="{BB962C8B-B14F-4D97-AF65-F5344CB8AC3E}">
        <p14:creationId xmlns:p14="http://schemas.microsoft.com/office/powerpoint/2010/main" val="64682369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5230" y="-199195"/>
            <a:ext cx="2779871" cy="1367041"/>
          </a:xfrm>
          <a:prstGeom prst="rect">
            <a:avLst/>
          </a:prstGeom>
        </p:spPr>
        <p:txBody>
          <a:bodyPr vert="horz" wrap="square" lIns="0" tIns="12700" rIns="0" bIns="0" rtlCol="0">
            <a:spAutoFit/>
          </a:bodyPr>
          <a:lstStyle/>
          <a:p>
            <a:pPr marL="12700">
              <a:lnSpc>
                <a:spcPct val="100000"/>
              </a:lnSpc>
              <a:spcBef>
                <a:spcPts val="100"/>
              </a:spcBef>
            </a:pPr>
            <a:r>
              <a:rPr b="1" spc="-10" dirty="0">
                <a:latin typeface="Calibri"/>
                <a:cs typeface="Calibri"/>
              </a:rPr>
              <a:t>Stop</a:t>
            </a:r>
            <a:r>
              <a:rPr b="1" spc="-25" dirty="0">
                <a:latin typeface="Calibri"/>
                <a:cs typeface="Calibri"/>
              </a:rPr>
              <a:t> </a:t>
            </a:r>
            <a:r>
              <a:rPr b="1" dirty="0">
                <a:latin typeface="Calibri"/>
                <a:cs typeface="Calibri"/>
              </a:rPr>
              <a:t>And</a:t>
            </a:r>
            <a:r>
              <a:rPr b="1" spc="-25" dirty="0">
                <a:latin typeface="Calibri"/>
                <a:cs typeface="Calibri"/>
              </a:rPr>
              <a:t> </a:t>
            </a:r>
            <a:r>
              <a:rPr b="1" spc="-35" dirty="0">
                <a:latin typeface="Calibri"/>
                <a:cs typeface="Calibri"/>
              </a:rPr>
              <a:t>Wait</a:t>
            </a:r>
            <a:r>
              <a:rPr b="1" spc="-25" dirty="0">
                <a:latin typeface="Calibri"/>
                <a:cs typeface="Calibri"/>
              </a:rPr>
              <a:t> </a:t>
            </a:r>
            <a:r>
              <a:rPr b="1" spc="-15" dirty="0">
                <a:latin typeface="Calibri"/>
                <a:cs typeface="Calibri"/>
              </a:rPr>
              <a:t>ARQ</a:t>
            </a:r>
          </a:p>
        </p:txBody>
      </p:sp>
      <p:grpSp>
        <p:nvGrpSpPr>
          <p:cNvPr id="3" name="object 3"/>
          <p:cNvGrpSpPr/>
          <p:nvPr/>
        </p:nvGrpSpPr>
        <p:grpSpPr>
          <a:xfrm>
            <a:off x="220858" y="0"/>
            <a:ext cx="8923496" cy="6858000"/>
            <a:chOff x="294477" y="0"/>
            <a:chExt cx="11897995" cy="6858000"/>
          </a:xfrm>
        </p:grpSpPr>
        <p:pic>
          <p:nvPicPr>
            <p:cNvPr id="4" name="object 4"/>
            <p:cNvPicPr/>
            <p:nvPr/>
          </p:nvPicPr>
          <p:blipFill>
            <a:blip r:embed="rId2" cstate="print"/>
            <a:stretch>
              <a:fillRect/>
            </a:stretch>
          </p:blipFill>
          <p:spPr>
            <a:xfrm>
              <a:off x="11754611" y="4571"/>
              <a:ext cx="437388" cy="6853426"/>
            </a:xfrm>
            <a:prstGeom prst="rect">
              <a:avLst/>
            </a:prstGeom>
          </p:spPr>
        </p:pic>
        <p:pic>
          <p:nvPicPr>
            <p:cNvPr id="5" name="object 5"/>
            <p:cNvPicPr/>
            <p:nvPr/>
          </p:nvPicPr>
          <p:blipFill>
            <a:blip r:embed="rId3" cstate="print"/>
            <a:stretch>
              <a:fillRect/>
            </a:stretch>
          </p:blipFill>
          <p:spPr>
            <a:xfrm>
              <a:off x="10786871" y="5859779"/>
              <a:ext cx="967740" cy="722376"/>
            </a:xfrm>
            <a:prstGeom prst="rect">
              <a:avLst/>
            </a:prstGeom>
          </p:spPr>
        </p:pic>
        <p:pic>
          <p:nvPicPr>
            <p:cNvPr id="6" name="object 6"/>
            <p:cNvPicPr/>
            <p:nvPr/>
          </p:nvPicPr>
          <p:blipFill>
            <a:blip r:embed="rId4" cstate="print"/>
            <a:stretch>
              <a:fillRect/>
            </a:stretch>
          </p:blipFill>
          <p:spPr>
            <a:xfrm>
              <a:off x="9136380" y="0"/>
              <a:ext cx="2898648" cy="539496"/>
            </a:xfrm>
            <a:prstGeom prst="rect">
              <a:avLst/>
            </a:prstGeom>
          </p:spPr>
        </p:pic>
        <p:pic>
          <p:nvPicPr>
            <p:cNvPr id="7" name="object 7"/>
            <p:cNvPicPr/>
            <p:nvPr/>
          </p:nvPicPr>
          <p:blipFill>
            <a:blip r:embed="rId5" cstate="print"/>
            <a:stretch>
              <a:fillRect/>
            </a:stretch>
          </p:blipFill>
          <p:spPr>
            <a:xfrm>
              <a:off x="294477" y="218010"/>
              <a:ext cx="2317313" cy="682398"/>
            </a:xfrm>
            <a:prstGeom prst="rect">
              <a:avLst/>
            </a:prstGeom>
          </p:spPr>
        </p:pic>
        <p:pic>
          <p:nvPicPr>
            <p:cNvPr id="8" name="object 8"/>
            <p:cNvPicPr/>
            <p:nvPr/>
          </p:nvPicPr>
          <p:blipFill>
            <a:blip r:embed="rId6" cstate="print"/>
            <a:stretch>
              <a:fillRect/>
            </a:stretch>
          </p:blipFill>
          <p:spPr>
            <a:xfrm>
              <a:off x="1193292" y="745234"/>
              <a:ext cx="9444228" cy="6051802"/>
            </a:xfrm>
            <a:prstGeom prst="rect">
              <a:avLst/>
            </a:prstGeom>
          </p:spPr>
        </p:pic>
      </p:grpSp>
    </p:spTree>
    <p:extLst>
      <p:ext uri="{BB962C8B-B14F-4D97-AF65-F5344CB8AC3E}">
        <p14:creationId xmlns:p14="http://schemas.microsoft.com/office/powerpoint/2010/main" val="58613902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660047" y="1440335"/>
            <a:ext cx="7809071" cy="6138219"/>
          </a:xfrm>
          <a:prstGeom prst="rect">
            <a:avLst/>
          </a:prstGeom>
        </p:spPr>
        <p:txBody>
          <a:bodyPr vert="horz" wrap="square" lIns="0" tIns="160655" rIns="0" bIns="0" rtlCol="0">
            <a:spAutoFit/>
          </a:bodyPr>
          <a:lstStyle/>
          <a:p>
            <a:pPr marL="12700">
              <a:lnSpc>
                <a:spcPct val="100000"/>
              </a:lnSpc>
              <a:spcBef>
                <a:spcPts val="1265"/>
              </a:spcBef>
            </a:pPr>
            <a:r>
              <a:rPr sz="2800" b="1" i="1" spc="-5" dirty="0">
                <a:latin typeface="Calibri"/>
                <a:cs typeface="Calibri"/>
              </a:rPr>
              <a:t>Figure</a:t>
            </a:r>
            <a:r>
              <a:rPr sz="2800" b="1" i="1" spc="10" dirty="0">
                <a:latin typeface="Calibri"/>
                <a:cs typeface="Calibri"/>
              </a:rPr>
              <a:t> </a:t>
            </a:r>
            <a:r>
              <a:rPr sz="2800" i="1" spc="-10" dirty="0">
                <a:latin typeface="Calibri"/>
                <a:cs typeface="Calibri"/>
              </a:rPr>
              <a:t>shows</a:t>
            </a:r>
            <a:r>
              <a:rPr sz="2800" i="1" spc="5" dirty="0">
                <a:latin typeface="Calibri"/>
                <a:cs typeface="Calibri"/>
              </a:rPr>
              <a:t> </a:t>
            </a:r>
            <a:r>
              <a:rPr sz="2800" i="1" spc="-5" dirty="0">
                <a:latin typeface="Calibri"/>
                <a:cs typeface="Calibri"/>
              </a:rPr>
              <a:t>an</a:t>
            </a:r>
            <a:r>
              <a:rPr sz="2800" i="1" spc="10" dirty="0">
                <a:latin typeface="Calibri"/>
                <a:cs typeface="Calibri"/>
              </a:rPr>
              <a:t> </a:t>
            </a:r>
            <a:r>
              <a:rPr sz="2800" i="1" spc="-25" dirty="0">
                <a:latin typeface="Calibri"/>
                <a:cs typeface="Calibri"/>
              </a:rPr>
              <a:t>example</a:t>
            </a:r>
            <a:r>
              <a:rPr sz="2800" i="1" spc="15" dirty="0">
                <a:latin typeface="Calibri"/>
                <a:cs typeface="Calibri"/>
              </a:rPr>
              <a:t> </a:t>
            </a:r>
            <a:r>
              <a:rPr sz="2800" i="1" dirty="0">
                <a:latin typeface="Calibri"/>
                <a:cs typeface="Calibri"/>
              </a:rPr>
              <a:t>of</a:t>
            </a:r>
            <a:r>
              <a:rPr sz="2800" i="1" spc="-10" dirty="0">
                <a:latin typeface="Calibri"/>
                <a:cs typeface="Calibri"/>
              </a:rPr>
              <a:t> </a:t>
            </a:r>
            <a:r>
              <a:rPr sz="2800" i="1" spc="-20" dirty="0">
                <a:latin typeface="Calibri"/>
                <a:cs typeface="Calibri"/>
              </a:rPr>
              <a:t>Stop-and-Wait</a:t>
            </a:r>
            <a:r>
              <a:rPr sz="2800" i="1" spc="25" dirty="0">
                <a:latin typeface="Calibri"/>
                <a:cs typeface="Calibri"/>
              </a:rPr>
              <a:t> </a:t>
            </a:r>
            <a:r>
              <a:rPr sz="2800" i="1" spc="-10" dirty="0">
                <a:latin typeface="Calibri"/>
                <a:cs typeface="Calibri"/>
              </a:rPr>
              <a:t>ARQ.</a:t>
            </a:r>
            <a:endParaRPr sz="2800">
              <a:latin typeface="Calibri"/>
              <a:cs typeface="Calibri"/>
            </a:endParaRPr>
          </a:p>
          <a:p>
            <a:pPr marL="469900" indent="-457834">
              <a:lnSpc>
                <a:spcPct val="100000"/>
              </a:lnSpc>
              <a:spcBef>
                <a:spcPts val="1160"/>
              </a:spcBef>
              <a:buFont typeface="Arial MT"/>
              <a:buChar char="•"/>
              <a:tabLst>
                <a:tab pos="469900" algn="l"/>
                <a:tab pos="470534" algn="l"/>
              </a:tabLst>
            </a:pPr>
            <a:r>
              <a:rPr sz="2800" i="1" spc="-15" dirty="0">
                <a:latin typeface="Calibri"/>
                <a:cs typeface="Calibri"/>
              </a:rPr>
              <a:t>Frame</a:t>
            </a:r>
            <a:r>
              <a:rPr sz="2800" i="1" spc="10" dirty="0">
                <a:latin typeface="Calibri"/>
                <a:cs typeface="Calibri"/>
              </a:rPr>
              <a:t> </a:t>
            </a:r>
            <a:r>
              <a:rPr sz="2800" i="1" spc="-5" dirty="0">
                <a:latin typeface="Calibri"/>
                <a:cs typeface="Calibri"/>
              </a:rPr>
              <a:t>0</a:t>
            </a:r>
            <a:r>
              <a:rPr sz="2800" i="1" spc="15" dirty="0">
                <a:latin typeface="Calibri"/>
                <a:cs typeface="Calibri"/>
              </a:rPr>
              <a:t> </a:t>
            </a:r>
            <a:r>
              <a:rPr sz="2800" i="1" spc="-10" dirty="0">
                <a:latin typeface="Calibri"/>
                <a:cs typeface="Calibri"/>
              </a:rPr>
              <a:t>is</a:t>
            </a:r>
            <a:r>
              <a:rPr sz="2800" i="1" spc="5" dirty="0">
                <a:latin typeface="Calibri"/>
                <a:cs typeface="Calibri"/>
              </a:rPr>
              <a:t> </a:t>
            </a:r>
            <a:r>
              <a:rPr sz="2800" i="1" spc="-15" dirty="0">
                <a:latin typeface="Calibri"/>
                <a:cs typeface="Calibri"/>
              </a:rPr>
              <a:t>sent</a:t>
            </a:r>
            <a:r>
              <a:rPr sz="2800" i="1" spc="10" dirty="0">
                <a:latin typeface="Calibri"/>
                <a:cs typeface="Calibri"/>
              </a:rPr>
              <a:t> </a:t>
            </a:r>
            <a:r>
              <a:rPr sz="2800" i="1" spc="-5" dirty="0">
                <a:latin typeface="Calibri"/>
                <a:cs typeface="Calibri"/>
              </a:rPr>
              <a:t>and </a:t>
            </a:r>
            <a:r>
              <a:rPr sz="2800" i="1" spc="-10" dirty="0">
                <a:latin typeface="Calibri"/>
                <a:cs typeface="Calibri"/>
              </a:rPr>
              <a:t>acknowledged.</a:t>
            </a:r>
            <a:endParaRPr sz="2800">
              <a:latin typeface="Calibri"/>
              <a:cs typeface="Calibri"/>
            </a:endParaRPr>
          </a:p>
          <a:p>
            <a:pPr marL="469900" indent="-457834">
              <a:lnSpc>
                <a:spcPct val="100000"/>
              </a:lnSpc>
              <a:spcBef>
                <a:spcPts val="1685"/>
              </a:spcBef>
              <a:buFont typeface="Arial MT"/>
              <a:buChar char="•"/>
              <a:tabLst>
                <a:tab pos="469900" algn="l"/>
                <a:tab pos="470534" algn="l"/>
              </a:tabLst>
            </a:pPr>
            <a:r>
              <a:rPr sz="2800" i="1" spc="-15" dirty="0">
                <a:latin typeface="Calibri"/>
                <a:cs typeface="Calibri"/>
              </a:rPr>
              <a:t>Frame</a:t>
            </a:r>
            <a:r>
              <a:rPr sz="2800" i="1" spc="10" dirty="0">
                <a:latin typeface="Calibri"/>
                <a:cs typeface="Calibri"/>
              </a:rPr>
              <a:t> </a:t>
            </a:r>
            <a:r>
              <a:rPr sz="2800" i="1" spc="-5" dirty="0">
                <a:latin typeface="Calibri"/>
                <a:cs typeface="Calibri"/>
              </a:rPr>
              <a:t>1</a:t>
            </a:r>
            <a:r>
              <a:rPr sz="2800" i="1" spc="10" dirty="0">
                <a:latin typeface="Calibri"/>
                <a:cs typeface="Calibri"/>
              </a:rPr>
              <a:t> </a:t>
            </a:r>
            <a:r>
              <a:rPr sz="2800" i="1" spc="-10" dirty="0">
                <a:latin typeface="Calibri"/>
                <a:cs typeface="Calibri"/>
              </a:rPr>
              <a:t>is</a:t>
            </a:r>
            <a:r>
              <a:rPr sz="2800" i="1" spc="5" dirty="0">
                <a:latin typeface="Calibri"/>
                <a:cs typeface="Calibri"/>
              </a:rPr>
              <a:t> </a:t>
            </a:r>
            <a:r>
              <a:rPr sz="2800" i="1" spc="-15" dirty="0">
                <a:latin typeface="Calibri"/>
                <a:cs typeface="Calibri"/>
              </a:rPr>
              <a:t>lost</a:t>
            </a:r>
            <a:r>
              <a:rPr sz="2800" i="1" spc="-5" dirty="0">
                <a:latin typeface="Calibri"/>
                <a:cs typeface="Calibri"/>
              </a:rPr>
              <a:t> and</a:t>
            </a:r>
            <a:r>
              <a:rPr sz="2800" i="1" spc="10" dirty="0">
                <a:latin typeface="Calibri"/>
                <a:cs typeface="Calibri"/>
              </a:rPr>
              <a:t> </a:t>
            </a:r>
            <a:r>
              <a:rPr sz="2800" i="1" spc="-10" dirty="0">
                <a:latin typeface="Calibri"/>
                <a:cs typeface="Calibri"/>
              </a:rPr>
              <a:t>resent</a:t>
            </a:r>
            <a:r>
              <a:rPr sz="2800" i="1" dirty="0">
                <a:latin typeface="Calibri"/>
                <a:cs typeface="Calibri"/>
              </a:rPr>
              <a:t> </a:t>
            </a:r>
            <a:r>
              <a:rPr sz="2800" i="1" spc="-10" dirty="0">
                <a:latin typeface="Calibri"/>
                <a:cs typeface="Calibri"/>
              </a:rPr>
              <a:t>after</a:t>
            </a:r>
            <a:r>
              <a:rPr sz="2800" i="1" dirty="0">
                <a:latin typeface="Calibri"/>
                <a:cs typeface="Calibri"/>
              </a:rPr>
              <a:t> </a:t>
            </a:r>
            <a:r>
              <a:rPr sz="2800" i="1" spc="-5" dirty="0">
                <a:latin typeface="Calibri"/>
                <a:cs typeface="Calibri"/>
              </a:rPr>
              <a:t>the</a:t>
            </a:r>
            <a:r>
              <a:rPr sz="2800" i="1" spc="15" dirty="0">
                <a:latin typeface="Calibri"/>
                <a:cs typeface="Calibri"/>
              </a:rPr>
              <a:t> </a:t>
            </a:r>
            <a:r>
              <a:rPr sz="2800" i="1" spc="-5" dirty="0">
                <a:latin typeface="Calibri"/>
                <a:cs typeface="Calibri"/>
              </a:rPr>
              <a:t>time-out.</a:t>
            </a:r>
            <a:endParaRPr sz="2800">
              <a:latin typeface="Calibri"/>
              <a:cs typeface="Calibri"/>
            </a:endParaRPr>
          </a:p>
          <a:p>
            <a:pPr marL="469900" indent="-457834" algn="just">
              <a:lnSpc>
                <a:spcPct val="100000"/>
              </a:lnSpc>
              <a:spcBef>
                <a:spcPts val="1680"/>
              </a:spcBef>
              <a:buFont typeface="Arial MT"/>
              <a:buChar char="•"/>
              <a:tabLst>
                <a:tab pos="470534" algn="l"/>
              </a:tabLst>
            </a:pPr>
            <a:r>
              <a:rPr sz="2800" i="1" spc="-5" dirty="0">
                <a:latin typeface="Calibri"/>
                <a:cs typeface="Calibri"/>
              </a:rPr>
              <a:t>The</a:t>
            </a:r>
            <a:r>
              <a:rPr sz="2800" i="1" dirty="0">
                <a:latin typeface="Calibri"/>
                <a:cs typeface="Calibri"/>
              </a:rPr>
              <a:t> </a:t>
            </a:r>
            <a:r>
              <a:rPr sz="2800" i="1" spc="-10" dirty="0">
                <a:latin typeface="Calibri"/>
                <a:cs typeface="Calibri"/>
              </a:rPr>
              <a:t>resent</a:t>
            </a:r>
            <a:r>
              <a:rPr sz="2800" i="1" spc="5" dirty="0">
                <a:latin typeface="Calibri"/>
                <a:cs typeface="Calibri"/>
              </a:rPr>
              <a:t> </a:t>
            </a:r>
            <a:r>
              <a:rPr sz="2800" i="1" spc="-10" dirty="0">
                <a:latin typeface="Calibri"/>
                <a:cs typeface="Calibri"/>
              </a:rPr>
              <a:t>frame</a:t>
            </a:r>
            <a:r>
              <a:rPr sz="2800" i="1" spc="15" dirty="0">
                <a:latin typeface="Calibri"/>
                <a:cs typeface="Calibri"/>
              </a:rPr>
              <a:t> </a:t>
            </a:r>
            <a:r>
              <a:rPr sz="2800" i="1" spc="-5" dirty="0">
                <a:latin typeface="Calibri"/>
                <a:cs typeface="Calibri"/>
              </a:rPr>
              <a:t>1</a:t>
            </a:r>
            <a:r>
              <a:rPr sz="2800" i="1" spc="15" dirty="0">
                <a:latin typeface="Calibri"/>
                <a:cs typeface="Calibri"/>
              </a:rPr>
              <a:t> </a:t>
            </a:r>
            <a:r>
              <a:rPr sz="2800" i="1" spc="-10" dirty="0">
                <a:latin typeface="Calibri"/>
                <a:cs typeface="Calibri"/>
              </a:rPr>
              <a:t>is</a:t>
            </a:r>
            <a:r>
              <a:rPr sz="2800" i="1" spc="10" dirty="0">
                <a:latin typeface="Calibri"/>
                <a:cs typeface="Calibri"/>
              </a:rPr>
              <a:t> </a:t>
            </a:r>
            <a:r>
              <a:rPr sz="2800" i="1" spc="-10" dirty="0">
                <a:latin typeface="Calibri"/>
                <a:cs typeface="Calibri"/>
              </a:rPr>
              <a:t>acknowledged</a:t>
            </a:r>
            <a:r>
              <a:rPr sz="2800" i="1" spc="15" dirty="0">
                <a:latin typeface="Calibri"/>
                <a:cs typeface="Calibri"/>
              </a:rPr>
              <a:t> </a:t>
            </a:r>
            <a:r>
              <a:rPr sz="2800" i="1" spc="-5" dirty="0">
                <a:latin typeface="Calibri"/>
                <a:cs typeface="Calibri"/>
              </a:rPr>
              <a:t>and the</a:t>
            </a:r>
            <a:r>
              <a:rPr sz="2800" i="1" spc="15" dirty="0">
                <a:latin typeface="Calibri"/>
                <a:cs typeface="Calibri"/>
              </a:rPr>
              <a:t> </a:t>
            </a:r>
            <a:r>
              <a:rPr sz="2800" i="1" spc="-5" dirty="0">
                <a:latin typeface="Calibri"/>
                <a:cs typeface="Calibri"/>
              </a:rPr>
              <a:t>timer</a:t>
            </a:r>
            <a:r>
              <a:rPr sz="2800" i="1" spc="15" dirty="0">
                <a:latin typeface="Calibri"/>
                <a:cs typeface="Calibri"/>
              </a:rPr>
              <a:t> </a:t>
            </a:r>
            <a:r>
              <a:rPr sz="2800" i="1" spc="-20" dirty="0">
                <a:latin typeface="Calibri"/>
                <a:cs typeface="Calibri"/>
              </a:rPr>
              <a:t>stops.</a:t>
            </a:r>
            <a:endParaRPr sz="2800">
              <a:latin typeface="Calibri"/>
              <a:cs typeface="Calibri"/>
            </a:endParaRPr>
          </a:p>
          <a:p>
            <a:pPr marL="469900" marR="5080" indent="-457834" algn="just">
              <a:lnSpc>
                <a:spcPct val="150000"/>
              </a:lnSpc>
              <a:buFont typeface="Arial MT"/>
              <a:buChar char="•"/>
              <a:tabLst>
                <a:tab pos="470534" algn="l"/>
              </a:tabLst>
            </a:pPr>
            <a:r>
              <a:rPr sz="2800" i="1" spc="-15" dirty="0">
                <a:latin typeface="Calibri"/>
                <a:cs typeface="Calibri"/>
              </a:rPr>
              <a:t>Frame </a:t>
            </a:r>
            <a:r>
              <a:rPr sz="2800" i="1" spc="-5" dirty="0">
                <a:latin typeface="Calibri"/>
                <a:cs typeface="Calibri"/>
              </a:rPr>
              <a:t>0 </a:t>
            </a:r>
            <a:r>
              <a:rPr sz="2800" i="1" spc="-10" dirty="0">
                <a:latin typeface="Calibri"/>
                <a:cs typeface="Calibri"/>
              </a:rPr>
              <a:t>is </a:t>
            </a:r>
            <a:r>
              <a:rPr sz="2800" i="1" spc="-15" dirty="0">
                <a:latin typeface="Calibri"/>
                <a:cs typeface="Calibri"/>
              </a:rPr>
              <a:t>sent </a:t>
            </a:r>
            <a:r>
              <a:rPr sz="2800" i="1" spc="-5" dirty="0">
                <a:latin typeface="Calibri"/>
                <a:cs typeface="Calibri"/>
              </a:rPr>
              <a:t>and </a:t>
            </a:r>
            <a:r>
              <a:rPr sz="2800" i="1" spc="-10" dirty="0">
                <a:latin typeface="Calibri"/>
                <a:cs typeface="Calibri"/>
              </a:rPr>
              <a:t>acknowledged, </a:t>
            </a:r>
            <a:r>
              <a:rPr sz="2800" i="1" spc="-5" dirty="0">
                <a:latin typeface="Calibri"/>
                <a:cs typeface="Calibri"/>
              </a:rPr>
              <a:t>but the </a:t>
            </a:r>
            <a:r>
              <a:rPr sz="2800" i="1" spc="-10" dirty="0">
                <a:latin typeface="Calibri"/>
                <a:cs typeface="Calibri"/>
              </a:rPr>
              <a:t>acknowledgment is lost. </a:t>
            </a:r>
            <a:r>
              <a:rPr sz="2800" i="1" spc="-5" dirty="0">
                <a:latin typeface="Calibri"/>
                <a:cs typeface="Calibri"/>
              </a:rPr>
              <a:t> The</a:t>
            </a:r>
            <a:r>
              <a:rPr sz="2800" i="1" spc="254" dirty="0">
                <a:latin typeface="Calibri"/>
                <a:cs typeface="Calibri"/>
              </a:rPr>
              <a:t> </a:t>
            </a:r>
            <a:r>
              <a:rPr sz="2800" i="1" spc="-10" dirty="0">
                <a:latin typeface="Calibri"/>
                <a:cs typeface="Calibri"/>
              </a:rPr>
              <a:t>sender</a:t>
            </a:r>
            <a:r>
              <a:rPr sz="2800" i="1" spc="265" dirty="0">
                <a:latin typeface="Calibri"/>
                <a:cs typeface="Calibri"/>
              </a:rPr>
              <a:t> </a:t>
            </a:r>
            <a:r>
              <a:rPr sz="2800" i="1" spc="-5" dirty="0">
                <a:latin typeface="Calibri"/>
                <a:cs typeface="Calibri"/>
              </a:rPr>
              <a:t>has</a:t>
            </a:r>
            <a:r>
              <a:rPr sz="2800" i="1" spc="254" dirty="0">
                <a:latin typeface="Calibri"/>
                <a:cs typeface="Calibri"/>
              </a:rPr>
              <a:t> </a:t>
            </a:r>
            <a:r>
              <a:rPr sz="2800" i="1" spc="-5" dirty="0">
                <a:latin typeface="Calibri"/>
                <a:cs typeface="Calibri"/>
              </a:rPr>
              <a:t>no</a:t>
            </a:r>
            <a:r>
              <a:rPr sz="2800" i="1" spc="260" dirty="0">
                <a:latin typeface="Calibri"/>
                <a:cs typeface="Calibri"/>
              </a:rPr>
              <a:t> </a:t>
            </a:r>
            <a:r>
              <a:rPr sz="2800" i="1" spc="-10" dirty="0">
                <a:latin typeface="Calibri"/>
                <a:cs typeface="Calibri"/>
              </a:rPr>
              <a:t>idea</a:t>
            </a:r>
            <a:r>
              <a:rPr sz="2800" i="1" spc="254" dirty="0">
                <a:latin typeface="Calibri"/>
                <a:cs typeface="Calibri"/>
              </a:rPr>
              <a:t> </a:t>
            </a:r>
            <a:r>
              <a:rPr sz="2800" i="1" spc="-10" dirty="0">
                <a:latin typeface="Calibri"/>
                <a:cs typeface="Calibri"/>
              </a:rPr>
              <a:t>if</a:t>
            </a:r>
            <a:r>
              <a:rPr sz="2800" i="1" spc="254" dirty="0">
                <a:latin typeface="Calibri"/>
                <a:cs typeface="Calibri"/>
              </a:rPr>
              <a:t> </a:t>
            </a:r>
            <a:r>
              <a:rPr sz="2800" i="1" spc="-5" dirty="0">
                <a:latin typeface="Calibri"/>
                <a:cs typeface="Calibri"/>
              </a:rPr>
              <a:t>the</a:t>
            </a:r>
            <a:r>
              <a:rPr sz="2800" i="1" spc="250" dirty="0">
                <a:latin typeface="Calibri"/>
                <a:cs typeface="Calibri"/>
              </a:rPr>
              <a:t> </a:t>
            </a:r>
            <a:r>
              <a:rPr sz="2800" i="1" spc="-10" dirty="0">
                <a:latin typeface="Calibri"/>
                <a:cs typeface="Calibri"/>
              </a:rPr>
              <a:t>frame</a:t>
            </a:r>
            <a:r>
              <a:rPr sz="2800" i="1" spc="260" dirty="0">
                <a:latin typeface="Calibri"/>
                <a:cs typeface="Calibri"/>
              </a:rPr>
              <a:t> </a:t>
            </a:r>
            <a:r>
              <a:rPr sz="2800" i="1" dirty="0">
                <a:latin typeface="Calibri"/>
                <a:cs typeface="Calibri"/>
              </a:rPr>
              <a:t>or</a:t>
            </a:r>
            <a:r>
              <a:rPr sz="2800" i="1" spc="254" dirty="0">
                <a:latin typeface="Calibri"/>
                <a:cs typeface="Calibri"/>
              </a:rPr>
              <a:t> </a:t>
            </a:r>
            <a:r>
              <a:rPr sz="2800" i="1" spc="-5" dirty="0">
                <a:latin typeface="Calibri"/>
                <a:cs typeface="Calibri"/>
              </a:rPr>
              <a:t>the</a:t>
            </a:r>
            <a:r>
              <a:rPr sz="2800" i="1" spc="260" dirty="0">
                <a:latin typeface="Calibri"/>
                <a:cs typeface="Calibri"/>
              </a:rPr>
              <a:t> </a:t>
            </a:r>
            <a:r>
              <a:rPr sz="2800" i="1" spc="-10" dirty="0">
                <a:latin typeface="Calibri"/>
                <a:cs typeface="Calibri"/>
              </a:rPr>
              <a:t>acknowledgment</a:t>
            </a:r>
            <a:r>
              <a:rPr sz="2800" i="1" spc="265" dirty="0">
                <a:latin typeface="Calibri"/>
                <a:cs typeface="Calibri"/>
              </a:rPr>
              <a:t> </a:t>
            </a:r>
            <a:r>
              <a:rPr sz="2800" i="1" spc="-10" dirty="0">
                <a:latin typeface="Calibri"/>
                <a:cs typeface="Calibri"/>
              </a:rPr>
              <a:t>is</a:t>
            </a:r>
            <a:r>
              <a:rPr sz="2800" i="1" spc="260" dirty="0">
                <a:latin typeface="Calibri"/>
                <a:cs typeface="Calibri"/>
              </a:rPr>
              <a:t> </a:t>
            </a:r>
            <a:r>
              <a:rPr sz="2800" i="1" spc="-10" dirty="0">
                <a:latin typeface="Calibri"/>
                <a:cs typeface="Calibri"/>
              </a:rPr>
              <a:t>lost, </a:t>
            </a:r>
            <a:r>
              <a:rPr sz="2800" i="1" spc="-620" dirty="0">
                <a:latin typeface="Calibri"/>
                <a:cs typeface="Calibri"/>
              </a:rPr>
              <a:t> </a:t>
            </a:r>
            <a:r>
              <a:rPr sz="2800" i="1" spc="-5" dirty="0">
                <a:latin typeface="Calibri"/>
                <a:cs typeface="Calibri"/>
              </a:rPr>
              <a:t>so</a:t>
            </a:r>
            <a:r>
              <a:rPr sz="2800" i="1" spc="5" dirty="0">
                <a:latin typeface="Calibri"/>
                <a:cs typeface="Calibri"/>
              </a:rPr>
              <a:t> </a:t>
            </a:r>
            <a:r>
              <a:rPr sz="2800" i="1" spc="-10" dirty="0">
                <a:latin typeface="Calibri"/>
                <a:cs typeface="Calibri"/>
              </a:rPr>
              <a:t>after</a:t>
            </a:r>
            <a:r>
              <a:rPr sz="2800" i="1" spc="5" dirty="0">
                <a:latin typeface="Calibri"/>
                <a:cs typeface="Calibri"/>
              </a:rPr>
              <a:t> </a:t>
            </a:r>
            <a:r>
              <a:rPr sz="2800" i="1" spc="-5" dirty="0">
                <a:latin typeface="Calibri"/>
                <a:cs typeface="Calibri"/>
              </a:rPr>
              <a:t>the</a:t>
            </a:r>
            <a:r>
              <a:rPr sz="2800" i="1" dirty="0">
                <a:latin typeface="Calibri"/>
                <a:cs typeface="Calibri"/>
              </a:rPr>
              <a:t> </a:t>
            </a:r>
            <a:r>
              <a:rPr sz="2800" i="1" spc="-5" dirty="0">
                <a:latin typeface="Calibri"/>
                <a:cs typeface="Calibri"/>
              </a:rPr>
              <a:t>time-out,</a:t>
            </a:r>
            <a:r>
              <a:rPr sz="2800" i="1" spc="30" dirty="0">
                <a:latin typeface="Calibri"/>
                <a:cs typeface="Calibri"/>
              </a:rPr>
              <a:t> </a:t>
            </a:r>
            <a:r>
              <a:rPr sz="2800" i="1" spc="-10" dirty="0">
                <a:latin typeface="Calibri"/>
                <a:cs typeface="Calibri"/>
              </a:rPr>
              <a:t>it</a:t>
            </a:r>
            <a:r>
              <a:rPr sz="2800" i="1" spc="15" dirty="0">
                <a:latin typeface="Calibri"/>
                <a:cs typeface="Calibri"/>
              </a:rPr>
              <a:t> </a:t>
            </a:r>
            <a:r>
              <a:rPr sz="2800" i="1" spc="-5" dirty="0">
                <a:latin typeface="Calibri"/>
                <a:cs typeface="Calibri"/>
              </a:rPr>
              <a:t>resends</a:t>
            </a:r>
            <a:r>
              <a:rPr sz="2800" i="1" spc="5" dirty="0">
                <a:latin typeface="Calibri"/>
                <a:cs typeface="Calibri"/>
              </a:rPr>
              <a:t> </a:t>
            </a:r>
            <a:r>
              <a:rPr sz="2800" i="1" spc="-10" dirty="0">
                <a:latin typeface="Calibri"/>
                <a:cs typeface="Calibri"/>
              </a:rPr>
              <a:t>frame</a:t>
            </a:r>
            <a:r>
              <a:rPr sz="2800" i="1" spc="5" dirty="0">
                <a:latin typeface="Calibri"/>
                <a:cs typeface="Calibri"/>
              </a:rPr>
              <a:t> </a:t>
            </a:r>
            <a:r>
              <a:rPr sz="2800" i="1" spc="-5" dirty="0">
                <a:latin typeface="Calibri"/>
                <a:cs typeface="Calibri"/>
              </a:rPr>
              <a:t>0,</a:t>
            </a:r>
            <a:r>
              <a:rPr sz="2800" i="1" spc="30" dirty="0">
                <a:latin typeface="Calibri"/>
                <a:cs typeface="Calibri"/>
              </a:rPr>
              <a:t> </a:t>
            </a:r>
            <a:r>
              <a:rPr sz="2800" i="1" spc="-5" dirty="0">
                <a:latin typeface="Calibri"/>
                <a:cs typeface="Calibri"/>
              </a:rPr>
              <a:t>which</a:t>
            </a:r>
            <a:r>
              <a:rPr sz="2800" i="1" spc="-10" dirty="0">
                <a:latin typeface="Calibri"/>
                <a:cs typeface="Calibri"/>
              </a:rPr>
              <a:t> is</a:t>
            </a:r>
            <a:r>
              <a:rPr sz="2800" i="1" spc="10" dirty="0">
                <a:latin typeface="Calibri"/>
                <a:cs typeface="Calibri"/>
              </a:rPr>
              <a:t> </a:t>
            </a:r>
            <a:r>
              <a:rPr sz="2800" i="1" spc="-10" dirty="0">
                <a:latin typeface="Calibri"/>
                <a:cs typeface="Calibri"/>
              </a:rPr>
              <a:t>acknowledged.</a:t>
            </a:r>
            <a:endParaRPr sz="2800">
              <a:latin typeface="Calibri"/>
              <a:cs typeface="Calibri"/>
            </a:endParaRPr>
          </a:p>
        </p:txBody>
      </p:sp>
      <p:sp>
        <p:nvSpPr>
          <p:cNvPr id="5" name="object 5"/>
          <p:cNvSpPr txBox="1">
            <a:spLocks noGrp="1"/>
          </p:cNvSpPr>
          <p:nvPr>
            <p:ph type="title"/>
          </p:nvPr>
        </p:nvSpPr>
        <p:spPr>
          <a:xfrm>
            <a:off x="2470311" y="-8727"/>
            <a:ext cx="3769043" cy="997709"/>
          </a:xfrm>
          <a:prstGeom prst="rect">
            <a:avLst/>
          </a:prstGeom>
        </p:spPr>
        <p:txBody>
          <a:bodyPr vert="horz" wrap="square" lIns="0" tIns="12700" rIns="0" bIns="0" rtlCol="0">
            <a:spAutoFit/>
          </a:bodyPr>
          <a:lstStyle/>
          <a:p>
            <a:pPr marL="12700">
              <a:lnSpc>
                <a:spcPct val="100000"/>
              </a:lnSpc>
              <a:spcBef>
                <a:spcPts val="100"/>
              </a:spcBef>
            </a:pPr>
            <a:r>
              <a:rPr sz="3200" b="1" spc="-10" dirty="0">
                <a:latin typeface="Calibri"/>
                <a:cs typeface="Calibri"/>
              </a:rPr>
              <a:t>Stop </a:t>
            </a:r>
            <a:r>
              <a:rPr sz="3200" b="1" dirty="0">
                <a:latin typeface="Calibri"/>
                <a:cs typeface="Calibri"/>
              </a:rPr>
              <a:t>And</a:t>
            </a:r>
            <a:r>
              <a:rPr sz="3200" b="1" spc="-30" dirty="0">
                <a:latin typeface="Calibri"/>
                <a:cs typeface="Calibri"/>
              </a:rPr>
              <a:t> Wait</a:t>
            </a:r>
            <a:r>
              <a:rPr sz="3200" b="1" spc="-10" dirty="0">
                <a:latin typeface="Calibri"/>
                <a:cs typeface="Calibri"/>
              </a:rPr>
              <a:t> </a:t>
            </a:r>
            <a:r>
              <a:rPr sz="3200" b="1" spc="-15" dirty="0">
                <a:latin typeface="Calibri"/>
                <a:cs typeface="Calibri"/>
              </a:rPr>
              <a:t>ARQ</a:t>
            </a:r>
            <a:r>
              <a:rPr sz="3200" b="1" spc="-5" dirty="0">
                <a:latin typeface="Calibri"/>
                <a:cs typeface="Calibri"/>
              </a:rPr>
              <a:t> </a:t>
            </a:r>
            <a:r>
              <a:rPr sz="3200" i="1" spc="-15" dirty="0">
                <a:latin typeface="Calibri"/>
                <a:cs typeface="Calibri"/>
              </a:rPr>
              <a:t>(Example)</a:t>
            </a:r>
            <a:endParaRPr sz="3200">
              <a:latin typeface="Calibri"/>
              <a:cs typeface="Calibri"/>
            </a:endParaRPr>
          </a:p>
        </p:txBody>
      </p:sp>
    </p:spTree>
    <p:extLst>
      <p:ext uri="{BB962C8B-B14F-4D97-AF65-F5344CB8AC3E}">
        <p14:creationId xmlns:p14="http://schemas.microsoft.com/office/powerpoint/2010/main" val="39147519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2470311" y="-8727"/>
            <a:ext cx="3769043" cy="997709"/>
          </a:xfrm>
          <a:prstGeom prst="rect">
            <a:avLst/>
          </a:prstGeom>
        </p:spPr>
        <p:txBody>
          <a:bodyPr vert="horz" wrap="square" lIns="0" tIns="12700" rIns="0" bIns="0" rtlCol="0">
            <a:spAutoFit/>
          </a:bodyPr>
          <a:lstStyle/>
          <a:p>
            <a:pPr marL="12700">
              <a:lnSpc>
                <a:spcPct val="100000"/>
              </a:lnSpc>
              <a:spcBef>
                <a:spcPts val="100"/>
              </a:spcBef>
            </a:pPr>
            <a:r>
              <a:rPr sz="3200" b="1" spc="-10" dirty="0">
                <a:latin typeface="Calibri"/>
                <a:cs typeface="Calibri"/>
              </a:rPr>
              <a:t>Stop </a:t>
            </a:r>
            <a:r>
              <a:rPr sz="3200" b="1" dirty="0">
                <a:latin typeface="Calibri"/>
                <a:cs typeface="Calibri"/>
              </a:rPr>
              <a:t>And</a:t>
            </a:r>
            <a:r>
              <a:rPr sz="3200" b="1" spc="-30" dirty="0">
                <a:latin typeface="Calibri"/>
                <a:cs typeface="Calibri"/>
              </a:rPr>
              <a:t> Wait</a:t>
            </a:r>
            <a:r>
              <a:rPr sz="3200" b="1" spc="-10" dirty="0">
                <a:latin typeface="Calibri"/>
                <a:cs typeface="Calibri"/>
              </a:rPr>
              <a:t> </a:t>
            </a:r>
            <a:r>
              <a:rPr sz="3200" b="1" spc="-15" dirty="0">
                <a:latin typeface="Calibri"/>
                <a:cs typeface="Calibri"/>
              </a:rPr>
              <a:t>ARQ</a:t>
            </a:r>
            <a:r>
              <a:rPr sz="3200" b="1" spc="-5" dirty="0">
                <a:latin typeface="Calibri"/>
                <a:cs typeface="Calibri"/>
              </a:rPr>
              <a:t> </a:t>
            </a:r>
            <a:r>
              <a:rPr sz="3200" i="1" spc="-15" dirty="0">
                <a:latin typeface="Calibri"/>
                <a:cs typeface="Calibri"/>
              </a:rPr>
              <a:t>(Example)</a:t>
            </a:r>
            <a:endParaRPr sz="3200">
              <a:latin typeface="Calibri"/>
              <a:cs typeface="Calibri"/>
            </a:endParaRPr>
          </a:p>
        </p:txBody>
      </p:sp>
      <p:pic>
        <p:nvPicPr>
          <p:cNvPr id="5" name="object 5"/>
          <p:cNvPicPr/>
          <p:nvPr/>
        </p:nvPicPr>
        <p:blipFill>
          <a:blip r:embed="rId4" cstate="print"/>
          <a:stretch>
            <a:fillRect/>
          </a:stretch>
        </p:blipFill>
        <p:spPr>
          <a:xfrm>
            <a:off x="1145288" y="839722"/>
            <a:ext cx="6272783" cy="5923786"/>
          </a:xfrm>
          <a:prstGeom prst="rect">
            <a:avLst/>
          </a:prstGeom>
        </p:spPr>
      </p:pic>
    </p:spTree>
    <p:extLst>
      <p:ext uri="{BB962C8B-B14F-4D97-AF65-F5344CB8AC3E}">
        <p14:creationId xmlns:p14="http://schemas.microsoft.com/office/powerpoint/2010/main" val="132724879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660046" y="1588773"/>
            <a:ext cx="7809548" cy="4736553"/>
          </a:xfrm>
          <a:prstGeom prst="rect">
            <a:avLst/>
          </a:prstGeom>
        </p:spPr>
        <p:txBody>
          <a:bodyPr vert="horz" wrap="square" lIns="0" tIns="12065" rIns="0" bIns="0" rtlCol="0">
            <a:spAutoFit/>
          </a:bodyPr>
          <a:lstStyle/>
          <a:p>
            <a:pPr marL="12700">
              <a:lnSpc>
                <a:spcPct val="100000"/>
              </a:lnSpc>
              <a:spcBef>
                <a:spcPts val="95"/>
              </a:spcBef>
            </a:pPr>
            <a:r>
              <a:rPr sz="2800" b="1" i="1" spc="-10" dirty="0">
                <a:solidFill>
                  <a:srgbClr val="C00000"/>
                </a:solidFill>
                <a:latin typeface="Calibri"/>
                <a:cs typeface="Calibri"/>
              </a:rPr>
              <a:t>Efficiency:</a:t>
            </a:r>
            <a:endParaRPr sz="2800">
              <a:latin typeface="Calibri"/>
              <a:cs typeface="Calibri"/>
            </a:endParaRPr>
          </a:p>
          <a:p>
            <a:pPr marL="469900" marR="7620" indent="-457834">
              <a:lnSpc>
                <a:spcPct val="100000"/>
              </a:lnSpc>
              <a:buFont typeface="Arial MT"/>
              <a:buChar char="•"/>
              <a:tabLst>
                <a:tab pos="469900" algn="l"/>
                <a:tab pos="470534" algn="l"/>
              </a:tabLst>
            </a:pPr>
            <a:r>
              <a:rPr sz="2800" i="1" spc="-40" dirty="0">
                <a:latin typeface="Calibri"/>
                <a:cs typeface="Calibri"/>
              </a:rPr>
              <a:t>Very</a:t>
            </a:r>
            <a:r>
              <a:rPr sz="2800" i="1" spc="204" dirty="0">
                <a:latin typeface="Calibri"/>
                <a:cs typeface="Calibri"/>
              </a:rPr>
              <a:t> </a:t>
            </a:r>
            <a:r>
              <a:rPr sz="2800" i="1" spc="-10" dirty="0">
                <a:latin typeface="Calibri"/>
                <a:cs typeface="Calibri"/>
              </a:rPr>
              <a:t>inefficient</a:t>
            </a:r>
            <a:r>
              <a:rPr sz="2800" i="1" spc="210" dirty="0">
                <a:latin typeface="Calibri"/>
                <a:cs typeface="Calibri"/>
              </a:rPr>
              <a:t> </a:t>
            </a:r>
            <a:r>
              <a:rPr sz="2800" i="1" spc="-10" dirty="0">
                <a:latin typeface="Calibri"/>
                <a:cs typeface="Calibri"/>
              </a:rPr>
              <a:t>if</a:t>
            </a:r>
            <a:r>
              <a:rPr sz="2800" i="1" spc="210" dirty="0">
                <a:latin typeface="Calibri"/>
                <a:cs typeface="Calibri"/>
              </a:rPr>
              <a:t> </a:t>
            </a:r>
            <a:r>
              <a:rPr sz="2800" i="1" spc="-5" dirty="0">
                <a:latin typeface="Calibri"/>
                <a:cs typeface="Calibri"/>
              </a:rPr>
              <a:t>channel</a:t>
            </a:r>
            <a:r>
              <a:rPr sz="2800" i="1" spc="200" dirty="0">
                <a:latin typeface="Calibri"/>
                <a:cs typeface="Calibri"/>
              </a:rPr>
              <a:t> </a:t>
            </a:r>
            <a:r>
              <a:rPr sz="2800" i="1" spc="-10" dirty="0">
                <a:latin typeface="Calibri"/>
                <a:cs typeface="Calibri"/>
              </a:rPr>
              <a:t>is</a:t>
            </a:r>
            <a:r>
              <a:rPr sz="2800" i="1" spc="210" dirty="0">
                <a:latin typeface="Calibri"/>
                <a:cs typeface="Calibri"/>
              </a:rPr>
              <a:t> </a:t>
            </a:r>
            <a:r>
              <a:rPr sz="2800" b="1" i="1" spc="-5" dirty="0">
                <a:solidFill>
                  <a:srgbClr val="FF0000"/>
                </a:solidFill>
                <a:latin typeface="Calibri"/>
                <a:cs typeface="Calibri"/>
              </a:rPr>
              <a:t>thick</a:t>
            </a:r>
            <a:r>
              <a:rPr sz="2800" b="1" i="1" spc="210" dirty="0">
                <a:solidFill>
                  <a:srgbClr val="FF0000"/>
                </a:solidFill>
                <a:latin typeface="Calibri"/>
                <a:cs typeface="Calibri"/>
              </a:rPr>
              <a:t> </a:t>
            </a:r>
            <a:r>
              <a:rPr sz="2800" i="1" spc="-10" dirty="0">
                <a:latin typeface="Calibri"/>
                <a:cs typeface="Calibri"/>
              </a:rPr>
              <a:t>(large</a:t>
            </a:r>
            <a:r>
              <a:rPr sz="2800" i="1" spc="220" dirty="0">
                <a:latin typeface="Calibri"/>
                <a:cs typeface="Calibri"/>
              </a:rPr>
              <a:t> </a:t>
            </a:r>
            <a:r>
              <a:rPr sz="2800" i="1" spc="-10" dirty="0">
                <a:latin typeface="Calibri"/>
                <a:cs typeface="Calibri"/>
              </a:rPr>
              <a:t>bandwidth)and</a:t>
            </a:r>
            <a:r>
              <a:rPr sz="2800" i="1" spc="220" dirty="0">
                <a:latin typeface="Calibri"/>
                <a:cs typeface="Calibri"/>
              </a:rPr>
              <a:t> </a:t>
            </a:r>
            <a:r>
              <a:rPr sz="2800" b="1" i="1" spc="-5" dirty="0">
                <a:solidFill>
                  <a:srgbClr val="FF0000"/>
                </a:solidFill>
                <a:latin typeface="Calibri"/>
                <a:cs typeface="Calibri"/>
              </a:rPr>
              <a:t>long</a:t>
            </a:r>
            <a:r>
              <a:rPr sz="2800" b="1" i="1" spc="204" dirty="0">
                <a:solidFill>
                  <a:srgbClr val="FF0000"/>
                </a:solidFill>
                <a:latin typeface="Calibri"/>
                <a:cs typeface="Calibri"/>
              </a:rPr>
              <a:t> </a:t>
            </a:r>
            <a:r>
              <a:rPr sz="2800" i="1" spc="-10" dirty="0">
                <a:latin typeface="Calibri"/>
                <a:cs typeface="Calibri"/>
              </a:rPr>
              <a:t>(round </a:t>
            </a:r>
            <a:r>
              <a:rPr sz="2800" i="1" spc="-620" dirty="0">
                <a:latin typeface="Calibri"/>
                <a:cs typeface="Calibri"/>
              </a:rPr>
              <a:t> </a:t>
            </a:r>
            <a:r>
              <a:rPr sz="2800" i="1" spc="-5" dirty="0">
                <a:latin typeface="Calibri"/>
                <a:cs typeface="Calibri"/>
              </a:rPr>
              <a:t>trip</a:t>
            </a:r>
            <a:r>
              <a:rPr sz="2800" i="1" dirty="0">
                <a:latin typeface="Calibri"/>
                <a:cs typeface="Calibri"/>
              </a:rPr>
              <a:t> </a:t>
            </a:r>
            <a:r>
              <a:rPr sz="2800" i="1" spc="-10" dirty="0">
                <a:latin typeface="Calibri"/>
                <a:cs typeface="Calibri"/>
              </a:rPr>
              <a:t>delay</a:t>
            </a:r>
            <a:r>
              <a:rPr sz="2800" i="1" spc="15" dirty="0">
                <a:latin typeface="Calibri"/>
                <a:cs typeface="Calibri"/>
              </a:rPr>
              <a:t> </a:t>
            </a:r>
            <a:r>
              <a:rPr sz="2800" i="1" spc="-10" dirty="0">
                <a:latin typeface="Calibri"/>
                <a:cs typeface="Calibri"/>
              </a:rPr>
              <a:t>is</a:t>
            </a:r>
            <a:r>
              <a:rPr sz="2800" i="1" spc="5" dirty="0">
                <a:latin typeface="Calibri"/>
                <a:cs typeface="Calibri"/>
              </a:rPr>
              <a:t> </a:t>
            </a:r>
            <a:r>
              <a:rPr sz="2800" i="1" spc="-5" dirty="0">
                <a:latin typeface="Calibri"/>
                <a:cs typeface="Calibri"/>
              </a:rPr>
              <a:t>long).</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indent="-457834">
              <a:lnSpc>
                <a:spcPct val="100000"/>
              </a:lnSpc>
              <a:buFont typeface="Arial MT"/>
              <a:buChar char="•"/>
              <a:tabLst>
                <a:tab pos="469900" algn="l"/>
                <a:tab pos="470534" algn="l"/>
                <a:tab pos="1158875" algn="l"/>
                <a:tab pos="2440305" algn="l"/>
                <a:tab pos="2894330" algn="l"/>
                <a:tab pos="3834765" algn="l"/>
                <a:tab pos="4554220" algn="l"/>
                <a:tab pos="4935220" algn="l"/>
                <a:tab pos="5941695" algn="l"/>
                <a:tab pos="6575425" algn="l"/>
                <a:tab pos="9251950" algn="l"/>
              </a:tabLst>
            </a:pPr>
            <a:r>
              <a:rPr sz="2800" i="1" spc="-5" dirty="0">
                <a:latin typeface="Calibri"/>
                <a:cs typeface="Calibri"/>
              </a:rPr>
              <a:t>The	product	</a:t>
            </a:r>
            <a:r>
              <a:rPr sz="2800" i="1" dirty="0">
                <a:latin typeface="Calibri"/>
                <a:cs typeface="Calibri"/>
              </a:rPr>
              <a:t>of	</a:t>
            </a:r>
            <a:r>
              <a:rPr sz="2800" i="1" spc="-5" dirty="0">
                <a:latin typeface="Calibri"/>
                <a:cs typeface="Calibri"/>
              </a:rPr>
              <a:t>these	two	</a:t>
            </a:r>
            <a:r>
              <a:rPr sz="2800" i="1" spc="-10" dirty="0">
                <a:latin typeface="Calibri"/>
                <a:cs typeface="Calibri"/>
              </a:rPr>
              <a:t>is	called	</a:t>
            </a:r>
            <a:r>
              <a:rPr sz="2800" i="1" spc="-5" dirty="0">
                <a:latin typeface="Calibri"/>
                <a:cs typeface="Calibri"/>
              </a:rPr>
              <a:t>the	</a:t>
            </a:r>
            <a:r>
              <a:rPr sz="2800" b="1" i="1" spc="-5" dirty="0">
                <a:solidFill>
                  <a:srgbClr val="006FC0"/>
                </a:solidFill>
                <a:latin typeface="Calibri"/>
                <a:cs typeface="Calibri"/>
              </a:rPr>
              <a:t>bandwidth-delay	product</a:t>
            </a:r>
            <a:endParaRPr sz="2800">
              <a:latin typeface="Calibri"/>
              <a:cs typeface="Calibri"/>
            </a:endParaRPr>
          </a:p>
          <a:p>
            <a:pPr marL="469900">
              <a:lnSpc>
                <a:spcPct val="100000"/>
              </a:lnSpc>
            </a:pPr>
            <a:r>
              <a:rPr sz="2800" i="1" spc="-10" dirty="0">
                <a:latin typeface="Calibri"/>
                <a:cs typeface="Calibri"/>
              </a:rPr>
              <a:t>(volume</a:t>
            </a:r>
            <a:r>
              <a:rPr sz="2800" i="1" dirty="0">
                <a:latin typeface="Calibri"/>
                <a:cs typeface="Calibri"/>
              </a:rPr>
              <a:t> </a:t>
            </a:r>
            <a:r>
              <a:rPr sz="2800" i="1" spc="-5" dirty="0">
                <a:latin typeface="Calibri"/>
                <a:cs typeface="Calibri"/>
              </a:rPr>
              <a:t>of</a:t>
            </a:r>
            <a:r>
              <a:rPr sz="2800" i="1" spc="-20" dirty="0">
                <a:latin typeface="Calibri"/>
                <a:cs typeface="Calibri"/>
              </a:rPr>
              <a:t> </a:t>
            </a:r>
            <a:r>
              <a:rPr sz="2800" i="1" spc="-5" dirty="0">
                <a:latin typeface="Calibri"/>
                <a:cs typeface="Calibri"/>
              </a:rPr>
              <a:t>the</a:t>
            </a:r>
            <a:r>
              <a:rPr sz="2800" i="1" spc="5" dirty="0">
                <a:latin typeface="Calibri"/>
                <a:cs typeface="Calibri"/>
              </a:rPr>
              <a:t> </a:t>
            </a:r>
            <a:r>
              <a:rPr sz="2800" i="1" spc="-5" dirty="0">
                <a:latin typeface="Calibri"/>
                <a:cs typeface="Calibri"/>
              </a:rPr>
              <a:t>pipe</a:t>
            </a:r>
            <a:r>
              <a:rPr sz="2800" i="1" spc="-10" dirty="0">
                <a:latin typeface="Calibri"/>
                <a:cs typeface="Calibri"/>
              </a:rPr>
              <a:t> in</a:t>
            </a:r>
            <a:r>
              <a:rPr sz="2800" i="1" spc="-5" dirty="0">
                <a:latin typeface="Calibri"/>
                <a:cs typeface="Calibri"/>
              </a:rPr>
              <a:t> bits).</a:t>
            </a:r>
            <a:endParaRPr sz="2800">
              <a:latin typeface="Calibri"/>
              <a:cs typeface="Calibri"/>
            </a:endParaRPr>
          </a:p>
          <a:p>
            <a:pPr>
              <a:lnSpc>
                <a:spcPct val="100000"/>
              </a:lnSpc>
              <a:spcBef>
                <a:spcPts val="5"/>
              </a:spcBef>
            </a:pPr>
            <a:endParaRPr sz="2750">
              <a:latin typeface="Calibri"/>
              <a:cs typeface="Calibri"/>
            </a:endParaRPr>
          </a:p>
          <a:p>
            <a:pPr marL="469900" marR="5080" indent="-457834">
              <a:lnSpc>
                <a:spcPct val="100000"/>
              </a:lnSpc>
              <a:buFont typeface="Arial MT"/>
              <a:buChar char="•"/>
              <a:tabLst>
                <a:tab pos="550545" algn="l"/>
                <a:tab pos="551180" algn="l"/>
              </a:tabLst>
            </a:pPr>
            <a:r>
              <a:rPr dirty="0"/>
              <a:t>	</a:t>
            </a:r>
            <a:r>
              <a:rPr sz="2800" i="1" spc="-5" dirty="0">
                <a:latin typeface="Calibri"/>
                <a:cs typeface="Calibri"/>
              </a:rPr>
              <a:t>The</a:t>
            </a:r>
            <a:r>
              <a:rPr sz="2800" i="1" dirty="0">
                <a:latin typeface="Calibri"/>
                <a:cs typeface="Calibri"/>
              </a:rPr>
              <a:t> </a:t>
            </a:r>
            <a:r>
              <a:rPr sz="2800" b="1" i="1" spc="-5" dirty="0">
                <a:solidFill>
                  <a:srgbClr val="006FC0"/>
                </a:solidFill>
                <a:latin typeface="Calibri"/>
                <a:cs typeface="Calibri"/>
              </a:rPr>
              <a:t>bandwidth-delay</a:t>
            </a:r>
            <a:r>
              <a:rPr sz="2800" b="1" i="1" spc="20" dirty="0">
                <a:solidFill>
                  <a:srgbClr val="006FC0"/>
                </a:solidFill>
                <a:latin typeface="Calibri"/>
                <a:cs typeface="Calibri"/>
              </a:rPr>
              <a:t> </a:t>
            </a:r>
            <a:r>
              <a:rPr sz="2800" b="1" i="1" spc="-5" dirty="0">
                <a:solidFill>
                  <a:srgbClr val="006FC0"/>
                </a:solidFill>
                <a:latin typeface="Calibri"/>
                <a:cs typeface="Calibri"/>
              </a:rPr>
              <a:t>product</a:t>
            </a:r>
            <a:r>
              <a:rPr sz="2800" b="1" i="1" spc="10" dirty="0">
                <a:solidFill>
                  <a:srgbClr val="006FC0"/>
                </a:solidFill>
                <a:latin typeface="Calibri"/>
                <a:cs typeface="Calibri"/>
              </a:rPr>
              <a:t> </a:t>
            </a:r>
            <a:r>
              <a:rPr sz="2800" i="1" spc="-10" dirty="0">
                <a:latin typeface="Calibri"/>
                <a:cs typeface="Calibri"/>
              </a:rPr>
              <a:t>is</a:t>
            </a:r>
            <a:r>
              <a:rPr sz="2800" i="1" spc="10" dirty="0">
                <a:latin typeface="Calibri"/>
                <a:cs typeface="Calibri"/>
              </a:rPr>
              <a:t> </a:t>
            </a:r>
            <a:r>
              <a:rPr sz="2800" i="1" spc="-5" dirty="0">
                <a:latin typeface="Calibri"/>
                <a:cs typeface="Calibri"/>
              </a:rPr>
              <a:t>a</a:t>
            </a:r>
            <a:r>
              <a:rPr sz="2800" i="1" spc="20" dirty="0">
                <a:latin typeface="Calibri"/>
                <a:cs typeface="Calibri"/>
              </a:rPr>
              <a:t> </a:t>
            </a:r>
            <a:r>
              <a:rPr sz="2800" i="1" spc="-5" dirty="0">
                <a:latin typeface="Calibri"/>
                <a:cs typeface="Calibri"/>
              </a:rPr>
              <a:t>measure</a:t>
            </a:r>
            <a:r>
              <a:rPr sz="2800" i="1" spc="10" dirty="0">
                <a:latin typeface="Calibri"/>
                <a:cs typeface="Calibri"/>
              </a:rPr>
              <a:t> </a:t>
            </a:r>
            <a:r>
              <a:rPr sz="2800" i="1" dirty="0">
                <a:latin typeface="Calibri"/>
                <a:cs typeface="Calibri"/>
              </a:rPr>
              <a:t>of</a:t>
            </a:r>
            <a:r>
              <a:rPr sz="2800" i="1" spc="5" dirty="0">
                <a:latin typeface="Calibri"/>
                <a:cs typeface="Calibri"/>
              </a:rPr>
              <a:t> </a:t>
            </a:r>
            <a:r>
              <a:rPr sz="2800" i="1" spc="-5" dirty="0">
                <a:latin typeface="Calibri"/>
                <a:cs typeface="Calibri"/>
              </a:rPr>
              <a:t>the</a:t>
            </a:r>
            <a:r>
              <a:rPr sz="2800" i="1" spc="30" dirty="0">
                <a:latin typeface="Calibri"/>
                <a:cs typeface="Calibri"/>
              </a:rPr>
              <a:t> </a:t>
            </a:r>
            <a:r>
              <a:rPr sz="2800" i="1" spc="-5" dirty="0">
                <a:latin typeface="Calibri"/>
                <a:cs typeface="Calibri"/>
              </a:rPr>
              <a:t>number</a:t>
            </a:r>
            <a:r>
              <a:rPr sz="2800" i="1" dirty="0">
                <a:latin typeface="Calibri"/>
                <a:cs typeface="Calibri"/>
              </a:rPr>
              <a:t> of</a:t>
            </a:r>
            <a:r>
              <a:rPr sz="2800" i="1" spc="10" dirty="0">
                <a:latin typeface="Calibri"/>
                <a:cs typeface="Calibri"/>
              </a:rPr>
              <a:t> </a:t>
            </a:r>
            <a:r>
              <a:rPr sz="2800" i="1" spc="-10" dirty="0">
                <a:latin typeface="Calibri"/>
                <a:cs typeface="Calibri"/>
              </a:rPr>
              <a:t>bits</a:t>
            </a:r>
            <a:r>
              <a:rPr sz="2800" i="1" spc="5" dirty="0">
                <a:latin typeface="Calibri"/>
                <a:cs typeface="Calibri"/>
              </a:rPr>
              <a:t> </a:t>
            </a:r>
            <a:r>
              <a:rPr sz="2800" i="1" dirty="0">
                <a:latin typeface="Calibri"/>
                <a:cs typeface="Calibri"/>
              </a:rPr>
              <a:t>we </a:t>
            </a:r>
            <a:r>
              <a:rPr sz="2800" i="1" spc="-615" dirty="0">
                <a:latin typeface="Calibri"/>
                <a:cs typeface="Calibri"/>
              </a:rPr>
              <a:t> </a:t>
            </a:r>
            <a:r>
              <a:rPr sz="2800" i="1" spc="-10" dirty="0">
                <a:latin typeface="Calibri"/>
                <a:cs typeface="Calibri"/>
              </a:rPr>
              <a:t>can </a:t>
            </a:r>
            <a:r>
              <a:rPr sz="2800" i="1" spc="-5" dirty="0">
                <a:latin typeface="Calibri"/>
                <a:cs typeface="Calibri"/>
              </a:rPr>
              <a:t>send</a:t>
            </a:r>
            <a:r>
              <a:rPr sz="2800" i="1" spc="5" dirty="0">
                <a:latin typeface="Calibri"/>
                <a:cs typeface="Calibri"/>
              </a:rPr>
              <a:t> </a:t>
            </a:r>
            <a:r>
              <a:rPr sz="2800" i="1" spc="-5" dirty="0">
                <a:latin typeface="Calibri"/>
                <a:cs typeface="Calibri"/>
              </a:rPr>
              <a:t>out</a:t>
            </a:r>
            <a:r>
              <a:rPr sz="2800" i="1" spc="10" dirty="0">
                <a:latin typeface="Calibri"/>
                <a:cs typeface="Calibri"/>
              </a:rPr>
              <a:t> </a:t>
            </a:r>
            <a:r>
              <a:rPr sz="2800" i="1" spc="-5" dirty="0">
                <a:latin typeface="Calibri"/>
                <a:cs typeface="Calibri"/>
              </a:rPr>
              <a:t>of</a:t>
            </a:r>
            <a:r>
              <a:rPr sz="2800" i="1" spc="-15" dirty="0">
                <a:latin typeface="Calibri"/>
                <a:cs typeface="Calibri"/>
              </a:rPr>
              <a:t> </a:t>
            </a:r>
            <a:r>
              <a:rPr sz="2800" i="1" spc="-5" dirty="0">
                <a:latin typeface="Calibri"/>
                <a:cs typeface="Calibri"/>
              </a:rPr>
              <a:t>our</a:t>
            </a:r>
            <a:r>
              <a:rPr sz="2800" i="1" spc="10" dirty="0">
                <a:latin typeface="Calibri"/>
                <a:cs typeface="Calibri"/>
              </a:rPr>
              <a:t> </a:t>
            </a:r>
            <a:r>
              <a:rPr sz="2800" i="1" spc="-25" dirty="0">
                <a:latin typeface="Calibri"/>
                <a:cs typeface="Calibri"/>
              </a:rPr>
              <a:t>system</a:t>
            </a:r>
            <a:r>
              <a:rPr sz="2800" i="1" spc="5" dirty="0">
                <a:latin typeface="Calibri"/>
                <a:cs typeface="Calibri"/>
              </a:rPr>
              <a:t> </a:t>
            </a:r>
            <a:r>
              <a:rPr sz="2800" i="1" spc="-5" dirty="0">
                <a:latin typeface="Calibri"/>
                <a:cs typeface="Calibri"/>
              </a:rPr>
              <a:t>while</a:t>
            </a:r>
            <a:r>
              <a:rPr sz="2800" i="1" dirty="0">
                <a:latin typeface="Calibri"/>
                <a:cs typeface="Calibri"/>
              </a:rPr>
              <a:t> </a:t>
            </a:r>
            <a:r>
              <a:rPr sz="2800" i="1" spc="-5" dirty="0">
                <a:latin typeface="Calibri"/>
                <a:cs typeface="Calibri"/>
              </a:rPr>
              <a:t>waiting</a:t>
            </a:r>
            <a:r>
              <a:rPr sz="2800" i="1" dirty="0">
                <a:latin typeface="Calibri"/>
                <a:cs typeface="Calibri"/>
              </a:rPr>
              <a:t> </a:t>
            </a:r>
            <a:r>
              <a:rPr sz="2800" i="1" spc="-20" dirty="0">
                <a:latin typeface="Calibri"/>
                <a:cs typeface="Calibri"/>
              </a:rPr>
              <a:t>for</a:t>
            </a:r>
            <a:r>
              <a:rPr sz="2800" i="1" spc="15" dirty="0">
                <a:latin typeface="Calibri"/>
                <a:cs typeface="Calibri"/>
              </a:rPr>
              <a:t> </a:t>
            </a:r>
            <a:r>
              <a:rPr sz="2800" i="1" spc="-25" dirty="0">
                <a:latin typeface="Calibri"/>
                <a:cs typeface="Calibri"/>
              </a:rPr>
              <a:t>ACK</a:t>
            </a:r>
            <a:r>
              <a:rPr sz="2800" i="1" spc="-10" dirty="0">
                <a:latin typeface="Calibri"/>
                <a:cs typeface="Calibri"/>
              </a:rPr>
              <a:t> </a:t>
            </a:r>
            <a:r>
              <a:rPr sz="2800" i="1" spc="-5" dirty="0">
                <a:latin typeface="Calibri"/>
                <a:cs typeface="Calibri"/>
              </a:rPr>
              <a:t>from</a:t>
            </a:r>
            <a:r>
              <a:rPr sz="2800" i="1" spc="20" dirty="0">
                <a:latin typeface="Calibri"/>
                <a:cs typeface="Calibri"/>
              </a:rPr>
              <a:t> </a:t>
            </a:r>
            <a:r>
              <a:rPr sz="2800" i="1" spc="-5" dirty="0">
                <a:latin typeface="Calibri"/>
                <a:cs typeface="Calibri"/>
              </a:rPr>
              <a:t>the </a:t>
            </a:r>
            <a:r>
              <a:rPr sz="2800" i="1" spc="-35" dirty="0">
                <a:latin typeface="Calibri"/>
                <a:cs typeface="Calibri"/>
              </a:rPr>
              <a:t>receiver.</a:t>
            </a:r>
            <a:endParaRPr sz="2800">
              <a:latin typeface="Calibri"/>
              <a:cs typeface="Calibri"/>
            </a:endParaRPr>
          </a:p>
        </p:txBody>
      </p:sp>
      <p:sp>
        <p:nvSpPr>
          <p:cNvPr id="5" name="object 5"/>
          <p:cNvSpPr txBox="1">
            <a:spLocks noGrp="1"/>
          </p:cNvSpPr>
          <p:nvPr>
            <p:ph type="title"/>
          </p:nvPr>
        </p:nvSpPr>
        <p:spPr>
          <a:xfrm>
            <a:off x="2965230" y="-199195"/>
            <a:ext cx="2779871" cy="1367041"/>
          </a:xfrm>
          <a:prstGeom prst="rect">
            <a:avLst/>
          </a:prstGeom>
        </p:spPr>
        <p:txBody>
          <a:bodyPr vert="horz" wrap="square" lIns="0" tIns="12700" rIns="0" bIns="0" rtlCol="0">
            <a:spAutoFit/>
          </a:bodyPr>
          <a:lstStyle/>
          <a:p>
            <a:pPr marL="12700">
              <a:lnSpc>
                <a:spcPct val="100000"/>
              </a:lnSpc>
              <a:spcBef>
                <a:spcPts val="100"/>
              </a:spcBef>
            </a:pPr>
            <a:r>
              <a:rPr b="1" spc="-10" dirty="0">
                <a:latin typeface="Calibri"/>
                <a:cs typeface="Calibri"/>
              </a:rPr>
              <a:t>Stop</a:t>
            </a:r>
            <a:r>
              <a:rPr b="1" spc="-25" dirty="0">
                <a:latin typeface="Calibri"/>
                <a:cs typeface="Calibri"/>
              </a:rPr>
              <a:t> </a:t>
            </a:r>
            <a:r>
              <a:rPr b="1" dirty="0">
                <a:latin typeface="Calibri"/>
                <a:cs typeface="Calibri"/>
              </a:rPr>
              <a:t>And</a:t>
            </a:r>
            <a:r>
              <a:rPr b="1" spc="-25" dirty="0">
                <a:latin typeface="Calibri"/>
                <a:cs typeface="Calibri"/>
              </a:rPr>
              <a:t> </a:t>
            </a:r>
            <a:r>
              <a:rPr b="1" spc="-35" dirty="0">
                <a:latin typeface="Calibri"/>
                <a:cs typeface="Calibri"/>
              </a:rPr>
              <a:t>Wait</a:t>
            </a:r>
            <a:r>
              <a:rPr b="1" spc="-25" dirty="0">
                <a:latin typeface="Calibri"/>
                <a:cs typeface="Calibri"/>
              </a:rPr>
              <a:t> </a:t>
            </a:r>
            <a:r>
              <a:rPr b="1" spc="-15" dirty="0">
                <a:latin typeface="Calibri"/>
                <a:cs typeface="Calibri"/>
              </a:rPr>
              <a:t>ARQ</a:t>
            </a:r>
          </a:p>
        </p:txBody>
      </p:sp>
    </p:spTree>
    <p:extLst>
      <p:ext uri="{BB962C8B-B14F-4D97-AF65-F5344CB8AC3E}">
        <p14:creationId xmlns:p14="http://schemas.microsoft.com/office/powerpoint/2010/main" val="394323320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660045" y="1588769"/>
            <a:ext cx="7810024" cy="3844001"/>
          </a:xfrm>
          <a:prstGeom prst="rect">
            <a:avLst/>
          </a:prstGeom>
        </p:spPr>
        <p:txBody>
          <a:bodyPr vert="horz" wrap="square" lIns="0" tIns="12065" rIns="0" bIns="0" rtlCol="0">
            <a:spAutoFit/>
          </a:bodyPr>
          <a:lstStyle/>
          <a:p>
            <a:pPr marL="12700" algn="just">
              <a:lnSpc>
                <a:spcPct val="100000"/>
              </a:lnSpc>
              <a:spcBef>
                <a:spcPts val="95"/>
              </a:spcBef>
            </a:pPr>
            <a:r>
              <a:rPr sz="2800" b="1" i="1" spc="-15" dirty="0">
                <a:solidFill>
                  <a:srgbClr val="C00000"/>
                </a:solidFill>
                <a:latin typeface="Calibri"/>
                <a:cs typeface="Calibri"/>
              </a:rPr>
              <a:t>Example</a:t>
            </a:r>
            <a:r>
              <a:rPr sz="2800" b="1" i="1" spc="-30" dirty="0">
                <a:solidFill>
                  <a:srgbClr val="C00000"/>
                </a:solidFill>
                <a:latin typeface="Calibri"/>
                <a:cs typeface="Calibri"/>
              </a:rPr>
              <a:t> </a:t>
            </a:r>
            <a:r>
              <a:rPr sz="2800" b="1" i="1" spc="-5" dirty="0">
                <a:solidFill>
                  <a:srgbClr val="C00000"/>
                </a:solidFill>
                <a:latin typeface="Calibri"/>
                <a:cs typeface="Calibri"/>
              </a:rPr>
              <a:t>1:</a:t>
            </a:r>
            <a:endParaRPr sz="2800">
              <a:latin typeface="Calibri"/>
              <a:cs typeface="Calibri"/>
            </a:endParaRPr>
          </a:p>
          <a:p>
            <a:pPr marL="12700" marR="5080" algn="just">
              <a:lnSpc>
                <a:spcPct val="100000"/>
              </a:lnSpc>
            </a:pPr>
            <a:r>
              <a:rPr sz="2800" i="1" spc="-5" dirty="0">
                <a:latin typeface="Calibri"/>
                <a:cs typeface="Calibri"/>
              </a:rPr>
              <a:t>Assume that, </a:t>
            </a:r>
            <a:r>
              <a:rPr sz="2800" i="1" spc="-10" dirty="0">
                <a:latin typeface="Calibri"/>
                <a:cs typeface="Calibri"/>
              </a:rPr>
              <a:t>in </a:t>
            </a:r>
            <a:r>
              <a:rPr sz="2800" i="1" spc="-5" dirty="0">
                <a:latin typeface="Calibri"/>
                <a:cs typeface="Calibri"/>
              </a:rPr>
              <a:t>a </a:t>
            </a:r>
            <a:r>
              <a:rPr sz="2800" i="1" spc="-15" dirty="0">
                <a:latin typeface="Calibri"/>
                <a:cs typeface="Calibri"/>
              </a:rPr>
              <a:t>Stop-and-Wait </a:t>
            </a:r>
            <a:r>
              <a:rPr sz="2800" i="1" spc="-10" dirty="0">
                <a:latin typeface="Calibri"/>
                <a:cs typeface="Calibri"/>
              </a:rPr>
              <a:t>ARQ </a:t>
            </a:r>
            <a:r>
              <a:rPr sz="2800" i="1" spc="-20" dirty="0">
                <a:latin typeface="Calibri"/>
                <a:cs typeface="Calibri"/>
              </a:rPr>
              <a:t>system, </a:t>
            </a:r>
            <a:r>
              <a:rPr sz="2800" i="1" spc="-5" dirty="0">
                <a:latin typeface="Calibri"/>
                <a:cs typeface="Calibri"/>
              </a:rPr>
              <a:t>the </a:t>
            </a:r>
            <a:r>
              <a:rPr sz="2800" i="1" spc="-10" dirty="0">
                <a:latin typeface="Calibri"/>
                <a:cs typeface="Calibri"/>
              </a:rPr>
              <a:t>bandwidth </a:t>
            </a:r>
            <a:r>
              <a:rPr sz="2800" i="1" dirty="0">
                <a:latin typeface="Calibri"/>
                <a:cs typeface="Calibri"/>
              </a:rPr>
              <a:t>of </a:t>
            </a:r>
            <a:r>
              <a:rPr sz="2800" i="1" spc="-5" dirty="0">
                <a:latin typeface="Calibri"/>
                <a:cs typeface="Calibri"/>
              </a:rPr>
              <a:t>the </a:t>
            </a:r>
            <a:r>
              <a:rPr sz="2800" i="1" spc="-10" dirty="0">
                <a:latin typeface="Calibri"/>
                <a:cs typeface="Calibri"/>
              </a:rPr>
              <a:t>line </a:t>
            </a:r>
            <a:r>
              <a:rPr sz="2800" i="1" spc="-5" dirty="0">
                <a:latin typeface="Calibri"/>
                <a:cs typeface="Calibri"/>
              </a:rPr>
              <a:t> </a:t>
            </a:r>
            <a:r>
              <a:rPr sz="2800" i="1" spc="-10" dirty="0">
                <a:latin typeface="Calibri"/>
                <a:cs typeface="Calibri"/>
              </a:rPr>
              <a:t>is </a:t>
            </a:r>
            <a:r>
              <a:rPr sz="2800" i="1" spc="-5" dirty="0">
                <a:latin typeface="Calibri"/>
                <a:cs typeface="Calibri"/>
              </a:rPr>
              <a:t>1 Mbps, and 1 bit </a:t>
            </a:r>
            <a:r>
              <a:rPr sz="2800" i="1" spc="-30" dirty="0">
                <a:latin typeface="Calibri"/>
                <a:cs typeface="Calibri"/>
              </a:rPr>
              <a:t>takes </a:t>
            </a:r>
            <a:r>
              <a:rPr sz="2800" i="1" dirty="0">
                <a:latin typeface="Calibri"/>
                <a:cs typeface="Calibri"/>
              </a:rPr>
              <a:t>20 </a:t>
            </a:r>
            <a:r>
              <a:rPr sz="2800" i="1" spc="-10" dirty="0">
                <a:latin typeface="Calibri"/>
                <a:cs typeface="Calibri"/>
              </a:rPr>
              <a:t>ms </a:t>
            </a:r>
            <a:r>
              <a:rPr sz="2800" i="1" spc="-25" dirty="0">
                <a:latin typeface="Calibri"/>
                <a:cs typeface="Calibri"/>
              </a:rPr>
              <a:t>to </a:t>
            </a:r>
            <a:r>
              <a:rPr sz="2800" i="1" spc="-30" dirty="0">
                <a:latin typeface="Calibri"/>
                <a:cs typeface="Calibri"/>
              </a:rPr>
              <a:t>make </a:t>
            </a:r>
            <a:r>
              <a:rPr sz="2800" i="1" spc="-5" dirty="0">
                <a:latin typeface="Calibri"/>
                <a:cs typeface="Calibri"/>
              </a:rPr>
              <a:t>a round trip. What </a:t>
            </a:r>
            <a:r>
              <a:rPr sz="2800" i="1" spc="-10" dirty="0">
                <a:latin typeface="Calibri"/>
                <a:cs typeface="Calibri"/>
              </a:rPr>
              <a:t>is </a:t>
            </a:r>
            <a:r>
              <a:rPr sz="2800" i="1" spc="-5" dirty="0">
                <a:latin typeface="Calibri"/>
                <a:cs typeface="Calibri"/>
              </a:rPr>
              <a:t>the </a:t>
            </a:r>
            <a:r>
              <a:rPr sz="2800" i="1" dirty="0">
                <a:latin typeface="Calibri"/>
                <a:cs typeface="Calibri"/>
              </a:rPr>
              <a:t> </a:t>
            </a:r>
            <a:r>
              <a:rPr sz="2800" i="1" spc="-10" dirty="0">
                <a:latin typeface="Calibri"/>
                <a:cs typeface="Calibri"/>
              </a:rPr>
              <a:t>bandwidth-delay </a:t>
            </a:r>
            <a:r>
              <a:rPr sz="2800" i="1" spc="-5" dirty="0">
                <a:latin typeface="Calibri"/>
                <a:cs typeface="Calibri"/>
              </a:rPr>
              <a:t>product? If the </a:t>
            </a:r>
            <a:r>
              <a:rPr sz="2800" i="1" spc="-25" dirty="0">
                <a:latin typeface="Calibri"/>
                <a:cs typeface="Calibri"/>
              </a:rPr>
              <a:t>system </a:t>
            </a:r>
            <a:r>
              <a:rPr sz="2800" i="1" spc="-15" dirty="0">
                <a:latin typeface="Calibri"/>
                <a:cs typeface="Calibri"/>
              </a:rPr>
              <a:t>data </a:t>
            </a:r>
            <a:r>
              <a:rPr sz="2800" i="1" spc="-10" dirty="0">
                <a:latin typeface="Calibri"/>
                <a:cs typeface="Calibri"/>
              </a:rPr>
              <a:t>frames are </a:t>
            </a:r>
            <a:r>
              <a:rPr sz="2800" i="1" dirty="0">
                <a:latin typeface="Calibri"/>
                <a:cs typeface="Calibri"/>
              </a:rPr>
              <a:t>1000 </a:t>
            </a:r>
            <a:r>
              <a:rPr sz="2800" i="1" spc="-10" dirty="0">
                <a:latin typeface="Calibri"/>
                <a:cs typeface="Calibri"/>
              </a:rPr>
              <a:t>bits </a:t>
            </a:r>
            <a:r>
              <a:rPr sz="2800" i="1" dirty="0">
                <a:latin typeface="Calibri"/>
                <a:cs typeface="Calibri"/>
              </a:rPr>
              <a:t>in </a:t>
            </a:r>
            <a:r>
              <a:rPr sz="2800" i="1" spc="5" dirty="0">
                <a:latin typeface="Calibri"/>
                <a:cs typeface="Calibri"/>
              </a:rPr>
              <a:t> </a:t>
            </a:r>
            <a:r>
              <a:rPr sz="2800" i="1" spc="-10" dirty="0">
                <a:latin typeface="Calibri"/>
                <a:cs typeface="Calibri"/>
              </a:rPr>
              <a:t>length,</a:t>
            </a:r>
            <a:r>
              <a:rPr sz="2800" i="1" spc="20" dirty="0">
                <a:latin typeface="Calibri"/>
                <a:cs typeface="Calibri"/>
              </a:rPr>
              <a:t> </a:t>
            </a:r>
            <a:r>
              <a:rPr sz="2800" i="1" spc="-5" dirty="0">
                <a:latin typeface="Calibri"/>
                <a:cs typeface="Calibri"/>
              </a:rPr>
              <a:t>what</a:t>
            </a:r>
            <a:r>
              <a:rPr sz="2800" i="1" spc="-10" dirty="0">
                <a:latin typeface="Calibri"/>
                <a:cs typeface="Calibri"/>
              </a:rPr>
              <a:t> is</a:t>
            </a:r>
            <a:r>
              <a:rPr sz="2800" i="1" spc="5" dirty="0">
                <a:latin typeface="Calibri"/>
                <a:cs typeface="Calibri"/>
              </a:rPr>
              <a:t> </a:t>
            </a:r>
            <a:r>
              <a:rPr sz="2800" i="1" spc="-5" dirty="0">
                <a:latin typeface="Calibri"/>
                <a:cs typeface="Calibri"/>
              </a:rPr>
              <a:t>the</a:t>
            </a:r>
            <a:r>
              <a:rPr sz="2800" i="1" spc="5" dirty="0">
                <a:latin typeface="Calibri"/>
                <a:cs typeface="Calibri"/>
              </a:rPr>
              <a:t> </a:t>
            </a:r>
            <a:r>
              <a:rPr sz="2800" i="1" spc="-15" dirty="0">
                <a:latin typeface="Calibri"/>
                <a:cs typeface="Calibri"/>
              </a:rPr>
              <a:t>utilization</a:t>
            </a:r>
            <a:r>
              <a:rPr sz="2800" i="1" spc="10" dirty="0">
                <a:latin typeface="Calibri"/>
                <a:cs typeface="Calibri"/>
              </a:rPr>
              <a:t> </a:t>
            </a:r>
            <a:r>
              <a:rPr sz="2800" i="1" spc="-15" dirty="0">
                <a:latin typeface="Calibri"/>
                <a:cs typeface="Calibri"/>
              </a:rPr>
              <a:t>percentage</a:t>
            </a:r>
            <a:r>
              <a:rPr sz="2800" i="1" spc="5" dirty="0">
                <a:latin typeface="Calibri"/>
                <a:cs typeface="Calibri"/>
              </a:rPr>
              <a:t> </a:t>
            </a:r>
            <a:r>
              <a:rPr sz="2800" i="1" dirty="0">
                <a:latin typeface="Calibri"/>
                <a:cs typeface="Calibri"/>
              </a:rPr>
              <a:t>of</a:t>
            </a:r>
            <a:r>
              <a:rPr sz="2800" i="1" spc="5" dirty="0">
                <a:latin typeface="Calibri"/>
                <a:cs typeface="Calibri"/>
              </a:rPr>
              <a:t> </a:t>
            </a:r>
            <a:r>
              <a:rPr sz="2800" i="1" spc="-5" dirty="0">
                <a:latin typeface="Calibri"/>
                <a:cs typeface="Calibri"/>
              </a:rPr>
              <a:t>the</a:t>
            </a:r>
            <a:r>
              <a:rPr sz="2800" i="1" dirty="0">
                <a:latin typeface="Calibri"/>
                <a:cs typeface="Calibri"/>
              </a:rPr>
              <a:t> </a:t>
            </a:r>
            <a:r>
              <a:rPr sz="2800" i="1" spc="-10" dirty="0">
                <a:latin typeface="Calibri"/>
                <a:cs typeface="Calibri"/>
              </a:rPr>
              <a:t>link?</a:t>
            </a:r>
            <a:endParaRPr sz="2800">
              <a:latin typeface="Calibri"/>
              <a:cs typeface="Calibri"/>
            </a:endParaRPr>
          </a:p>
          <a:p>
            <a:pPr>
              <a:lnSpc>
                <a:spcPct val="100000"/>
              </a:lnSpc>
              <a:spcBef>
                <a:spcPts val="5"/>
              </a:spcBef>
            </a:pPr>
            <a:endParaRPr sz="2500">
              <a:latin typeface="Calibri"/>
              <a:cs typeface="Calibri"/>
            </a:endParaRPr>
          </a:p>
          <a:p>
            <a:pPr marL="12700">
              <a:lnSpc>
                <a:spcPct val="100000"/>
              </a:lnSpc>
              <a:spcBef>
                <a:spcPts val="5"/>
              </a:spcBef>
            </a:pPr>
            <a:r>
              <a:rPr sz="2800" b="1" i="1" spc="-5" dirty="0">
                <a:solidFill>
                  <a:srgbClr val="C00000"/>
                </a:solidFill>
                <a:latin typeface="Calibri"/>
                <a:cs typeface="Calibri"/>
              </a:rPr>
              <a:t>Solution:</a:t>
            </a:r>
            <a:endParaRPr sz="2800">
              <a:latin typeface="Calibri"/>
              <a:cs typeface="Calibri"/>
            </a:endParaRPr>
          </a:p>
          <a:p>
            <a:pPr marL="12700">
              <a:lnSpc>
                <a:spcPct val="100000"/>
              </a:lnSpc>
            </a:pPr>
            <a:r>
              <a:rPr sz="2800" i="1" spc="-5" dirty="0">
                <a:latin typeface="Calibri"/>
                <a:cs typeface="Calibri"/>
              </a:rPr>
              <a:t>The</a:t>
            </a:r>
            <a:r>
              <a:rPr sz="2800" i="1" spc="-15" dirty="0">
                <a:latin typeface="Calibri"/>
                <a:cs typeface="Calibri"/>
              </a:rPr>
              <a:t> </a:t>
            </a:r>
            <a:r>
              <a:rPr sz="2800" i="1" spc="-5" dirty="0">
                <a:latin typeface="Calibri"/>
                <a:cs typeface="Calibri"/>
              </a:rPr>
              <a:t>bandwidth-delay</a:t>
            </a:r>
            <a:r>
              <a:rPr sz="2800" i="1" spc="-20" dirty="0">
                <a:latin typeface="Calibri"/>
                <a:cs typeface="Calibri"/>
              </a:rPr>
              <a:t> </a:t>
            </a:r>
            <a:r>
              <a:rPr sz="2800" i="1" spc="-5" dirty="0">
                <a:latin typeface="Calibri"/>
                <a:cs typeface="Calibri"/>
              </a:rPr>
              <a:t>product</a:t>
            </a:r>
            <a:r>
              <a:rPr sz="2800" i="1" spc="-20" dirty="0">
                <a:latin typeface="Calibri"/>
                <a:cs typeface="Calibri"/>
              </a:rPr>
              <a:t> </a:t>
            </a:r>
            <a:r>
              <a:rPr sz="2800" i="1" spc="-10" dirty="0">
                <a:latin typeface="Calibri"/>
                <a:cs typeface="Calibri"/>
              </a:rPr>
              <a:t>is:</a:t>
            </a:r>
            <a:endParaRPr sz="2800">
              <a:latin typeface="Calibri"/>
              <a:cs typeface="Calibri"/>
            </a:endParaRPr>
          </a:p>
        </p:txBody>
      </p:sp>
      <p:sp>
        <p:nvSpPr>
          <p:cNvPr id="5" name="object 5"/>
          <p:cNvSpPr txBox="1">
            <a:spLocks noGrp="1"/>
          </p:cNvSpPr>
          <p:nvPr>
            <p:ph type="title"/>
          </p:nvPr>
        </p:nvSpPr>
        <p:spPr>
          <a:xfrm>
            <a:off x="2965230" y="-199195"/>
            <a:ext cx="2779871" cy="1367041"/>
          </a:xfrm>
          <a:prstGeom prst="rect">
            <a:avLst/>
          </a:prstGeom>
        </p:spPr>
        <p:txBody>
          <a:bodyPr vert="horz" wrap="square" lIns="0" tIns="12700" rIns="0" bIns="0" rtlCol="0">
            <a:spAutoFit/>
          </a:bodyPr>
          <a:lstStyle/>
          <a:p>
            <a:pPr marL="12700">
              <a:lnSpc>
                <a:spcPct val="100000"/>
              </a:lnSpc>
              <a:spcBef>
                <a:spcPts val="100"/>
              </a:spcBef>
            </a:pPr>
            <a:r>
              <a:rPr b="1" spc="-10" dirty="0">
                <a:latin typeface="Calibri"/>
                <a:cs typeface="Calibri"/>
              </a:rPr>
              <a:t>Stop</a:t>
            </a:r>
            <a:r>
              <a:rPr b="1" spc="-25" dirty="0">
                <a:latin typeface="Calibri"/>
                <a:cs typeface="Calibri"/>
              </a:rPr>
              <a:t> </a:t>
            </a:r>
            <a:r>
              <a:rPr b="1" dirty="0">
                <a:latin typeface="Calibri"/>
                <a:cs typeface="Calibri"/>
              </a:rPr>
              <a:t>And</a:t>
            </a:r>
            <a:r>
              <a:rPr b="1" spc="-25" dirty="0">
                <a:latin typeface="Calibri"/>
                <a:cs typeface="Calibri"/>
              </a:rPr>
              <a:t> </a:t>
            </a:r>
            <a:r>
              <a:rPr b="1" spc="-35" dirty="0">
                <a:latin typeface="Calibri"/>
                <a:cs typeface="Calibri"/>
              </a:rPr>
              <a:t>Wait</a:t>
            </a:r>
            <a:r>
              <a:rPr b="1" spc="-25" dirty="0">
                <a:latin typeface="Calibri"/>
                <a:cs typeface="Calibri"/>
              </a:rPr>
              <a:t> </a:t>
            </a:r>
            <a:r>
              <a:rPr b="1" spc="-15" dirty="0">
                <a:latin typeface="Calibri"/>
                <a:cs typeface="Calibri"/>
              </a:rPr>
              <a:t>ARQ</a:t>
            </a:r>
          </a:p>
        </p:txBody>
      </p:sp>
      <p:pic>
        <p:nvPicPr>
          <p:cNvPr id="6" name="object 6"/>
          <p:cNvPicPr/>
          <p:nvPr/>
        </p:nvPicPr>
        <p:blipFill>
          <a:blip r:embed="rId4" cstate="print"/>
          <a:stretch>
            <a:fillRect/>
          </a:stretch>
        </p:blipFill>
        <p:spPr>
          <a:xfrm>
            <a:off x="2125979" y="5337969"/>
            <a:ext cx="4510278" cy="726026"/>
          </a:xfrm>
          <a:prstGeom prst="rect">
            <a:avLst/>
          </a:prstGeom>
        </p:spPr>
      </p:pic>
    </p:spTree>
    <p:extLst>
      <p:ext uri="{BB962C8B-B14F-4D97-AF65-F5344CB8AC3E}">
        <p14:creationId xmlns:p14="http://schemas.microsoft.com/office/powerpoint/2010/main" val="195201900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660046" y="1588771"/>
            <a:ext cx="7807643" cy="4736553"/>
          </a:xfrm>
          <a:prstGeom prst="rect">
            <a:avLst/>
          </a:prstGeom>
        </p:spPr>
        <p:txBody>
          <a:bodyPr vert="horz" wrap="square" lIns="0" tIns="12065" rIns="0" bIns="0" rtlCol="0">
            <a:spAutoFit/>
          </a:bodyPr>
          <a:lstStyle/>
          <a:p>
            <a:pPr marL="12700" marR="5080" algn="just">
              <a:lnSpc>
                <a:spcPct val="100000"/>
              </a:lnSpc>
              <a:spcBef>
                <a:spcPts val="95"/>
              </a:spcBef>
            </a:pPr>
            <a:r>
              <a:rPr sz="2800" i="1" spc="-5" dirty="0">
                <a:latin typeface="Calibri"/>
                <a:cs typeface="Calibri"/>
              </a:rPr>
              <a:t>The </a:t>
            </a:r>
            <a:r>
              <a:rPr sz="2800" i="1" spc="-30" dirty="0">
                <a:latin typeface="Calibri"/>
                <a:cs typeface="Calibri"/>
              </a:rPr>
              <a:t>system </a:t>
            </a:r>
            <a:r>
              <a:rPr sz="2800" i="1" spc="-10" dirty="0">
                <a:latin typeface="Calibri"/>
                <a:cs typeface="Calibri"/>
              </a:rPr>
              <a:t>can send </a:t>
            </a:r>
            <a:r>
              <a:rPr sz="2800" i="1" dirty="0">
                <a:latin typeface="Calibri"/>
                <a:cs typeface="Calibri"/>
              </a:rPr>
              <a:t>20,000 </a:t>
            </a:r>
            <a:r>
              <a:rPr sz="2800" i="1" spc="-10" dirty="0">
                <a:latin typeface="Calibri"/>
                <a:cs typeface="Calibri"/>
              </a:rPr>
              <a:t>bits during </a:t>
            </a:r>
            <a:r>
              <a:rPr sz="2800" i="1" spc="-5" dirty="0">
                <a:latin typeface="Calibri"/>
                <a:cs typeface="Calibri"/>
              </a:rPr>
              <a:t>the </a:t>
            </a:r>
            <a:r>
              <a:rPr sz="2800" i="1" spc="-10" dirty="0">
                <a:latin typeface="Calibri"/>
                <a:cs typeface="Calibri"/>
              </a:rPr>
              <a:t>time it </a:t>
            </a:r>
            <a:r>
              <a:rPr sz="2800" i="1" spc="-30" dirty="0">
                <a:latin typeface="Calibri"/>
                <a:cs typeface="Calibri"/>
              </a:rPr>
              <a:t>takes </a:t>
            </a:r>
            <a:r>
              <a:rPr sz="2800" i="1" spc="-20" dirty="0">
                <a:latin typeface="Calibri"/>
                <a:cs typeface="Calibri"/>
              </a:rPr>
              <a:t>for </a:t>
            </a:r>
            <a:r>
              <a:rPr sz="2800" i="1" spc="-5" dirty="0">
                <a:latin typeface="Calibri"/>
                <a:cs typeface="Calibri"/>
              </a:rPr>
              <a:t>the </a:t>
            </a:r>
            <a:r>
              <a:rPr sz="2800" i="1" spc="-15" dirty="0">
                <a:latin typeface="Calibri"/>
                <a:cs typeface="Calibri"/>
              </a:rPr>
              <a:t>data </a:t>
            </a:r>
            <a:r>
              <a:rPr sz="2800" i="1" spc="-45" dirty="0">
                <a:latin typeface="Calibri"/>
                <a:cs typeface="Calibri"/>
              </a:rPr>
              <a:t>to </a:t>
            </a:r>
            <a:r>
              <a:rPr sz="2800" i="1" spc="-40" dirty="0">
                <a:latin typeface="Calibri"/>
                <a:cs typeface="Calibri"/>
              </a:rPr>
              <a:t> </a:t>
            </a:r>
            <a:r>
              <a:rPr sz="2800" i="1" spc="-5" dirty="0">
                <a:latin typeface="Calibri"/>
                <a:cs typeface="Calibri"/>
              </a:rPr>
              <a:t>go </a:t>
            </a:r>
            <a:r>
              <a:rPr sz="2800" i="1" spc="-10" dirty="0">
                <a:latin typeface="Calibri"/>
                <a:cs typeface="Calibri"/>
              </a:rPr>
              <a:t>from </a:t>
            </a:r>
            <a:r>
              <a:rPr sz="2800" i="1" spc="-5" dirty="0">
                <a:latin typeface="Calibri"/>
                <a:cs typeface="Calibri"/>
              </a:rPr>
              <a:t>the </a:t>
            </a:r>
            <a:r>
              <a:rPr sz="2800" i="1" spc="-10" dirty="0">
                <a:latin typeface="Calibri"/>
                <a:cs typeface="Calibri"/>
              </a:rPr>
              <a:t>sender </a:t>
            </a:r>
            <a:r>
              <a:rPr sz="2800" i="1" spc="-25" dirty="0">
                <a:latin typeface="Calibri"/>
                <a:cs typeface="Calibri"/>
              </a:rPr>
              <a:t>to </a:t>
            </a:r>
            <a:r>
              <a:rPr sz="2800" i="1" spc="-5" dirty="0">
                <a:latin typeface="Calibri"/>
                <a:cs typeface="Calibri"/>
              </a:rPr>
              <a:t>the receiver and then </a:t>
            </a:r>
            <a:r>
              <a:rPr sz="2800" i="1" spc="-10" dirty="0">
                <a:latin typeface="Calibri"/>
                <a:cs typeface="Calibri"/>
              </a:rPr>
              <a:t>back </a:t>
            </a:r>
            <a:r>
              <a:rPr sz="2800" i="1" spc="-5" dirty="0">
                <a:latin typeface="Calibri"/>
                <a:cs typeface="Calibri"/>
              </a:rPr>
              <a:t>again. </a:t>
            </a:r>
            <a:r>
              <a:rPr sz="2800" i="1" spc="-35" dirty="0">
                <a:latin typeface="Calibri"/>
                <a:cs typeface="Calibri"/>
              </a:rPr>
              <a:t>However, </a:t>
            </a:r>
            <a:r>
              <a:rPr sz="2800" i="1" spc="-5" dirty="0">
                <a:latin typeface="Calibri"/>
                <a:cs typeface="Calibri"/>
              </a:rPr>
              <a:t>the </a:t>
            </a:r>
            <a:r>
              <a:rPr sz="2800" i="1" dirty="0">
                <a:latin typeface="Calibri"/>
                <a:cs typeface="Calibri"/>
              </a:rPr>
              <a:t> </a:t>
            </a:r>
            <a:r>
              <a:rPr sz="2800" i="1" spc="-25" dirty="0">
                <a:latin typeface="Calibri"/>
                <a:cs typeface="Calibri"/>
              </a:rPr>
              <a:t>system</a:t>
            </a:r>
            <a:r>
              <a:rPr sz="2800" i="1" spc="-10" dirty="0">
                <a:latin typeface="Calibri"/>
                <a:cs typeface="Calibri"/>
              </a:rPr>
              <a:t> </a:t>
            </a:r>
            <a:r>
              <a:rPr sz="2800" i="1" spc="-5" dirty="0">
                <a:latin typeface="Calibri"/>
                <a:cs typeface="Calibri"/>
              </a:rPr>
              <a:t>sends</a:t>
            </a:r>
            <a:r>
              <a:rPr sz="2800" i="1" spc="5" dirty="0">
                <a:latin typeface="Calibri"/>
                <a:cs typeface="Calibri"/>
              </a:rPr>
              <a:t> </a:t>
            </a:r>
            <a:r>
              <a:rPr sz="2800" i="1" spc="-5" dirty="0">
                <a:latin typeface="Calibri"/>
                <a:cs typeface="Calibri"/>
              </a:rPr>
              <a:t>only 1000</a:t>
            </a:r>
            <a:r>
              <a:rPr sz="2800" i="1" spc="35" dirty="0">
                <a:latin typeface="Calibri"/>
                <a:cs typeface="Calibri"/>
              </a:rPr>
              <a:t> </a:t>
            </a:r>
            <a:r>
              <a:rPr sz="2800" i="1" spc="-5" dirty="0">
                <a:latin typeface="Calibri"/>
                <a:cs typeface="Calibri"/>
              </a:rPr>
              <a:t>bits.</a:t>
            </a:r>
            <a:endParaRPr sz="2800">
              <a:latin typeface="Calibri"/>
              <a:cs typeface="Calibri"/>
            </a:endParaRPr>
          </a:p>
          <a:p>
            <a:pPr>
              <a:lnSpc>
                <a:spcPct val="100000"/>
              </a:lnSpc>
              <a:spcBef>
                <a:spcPts val="5"/>
              </a:spcBef>
            </a:pPr>
            <a:endParaRPr sz="2750">
              <a:latin typeface="Calibri"/>
              <a:cs typeface="Calibri"/>
            </a:endParaRPr>
          </a:p>
          <a:p>
            <a:pPr marL="12700" algn="just">
              <a:lnSpc>
                <a:spcPct val="100000"/>
              </a:lnSpc>
            </a:pPr>
            <a:r>
              <a:rPr sz="2800" i="1" spc="-65" dirty="0">
                <a:latin typeface="Calibri"/>
                <a:cs typeface="Calibri"/>
              </a:rPr>
              <a:t>We</a:t>
            </a:r>
            <a:r>
              <a:rPr sz="2800" i="1" spc="15" dirty="0">
                <a:latin typeface="Calibri"/>
                <a:cs typeface="Calibri"/>
              </a:rPr>
              <a:t> </a:t>
            </a:r>
            <a:r>
              <a:rPr sz="2800" i="1" spc="-10" dirty="0">
                <a:latin typeface="Calibri"/>
                <a:cs typeface="Calibri"/>
              </a:rPr>
              <a:t>can</a:t>
            </a:r>
            <a:r>
              <a:rPr sz="2800" i="1" dirty="0">
                <a:latin typeface="Calibri"/>
                <a:cs typeface="Calibri"/>
              </a:rPr>
              <a:t> </a:t>
            </a:r>
            <a:r>
              <a:rPr sz="2800" i="1" spc="-10" dirty="0">
                <a:latin typeface="Calibri"/>
                <a:cs typeface="Calibri"/>
              </a:rPr>
              <a:t>say</a:t>
            </a:r>
            <a:r>
              <a:rPr sz="2800" i="1" dirty="0">
                <a:latin typeface="Calibri"/>
                <a:cs typeface="Calibri"/>
              </a:rPr>
              <a:t> </a:t>
            </a:r>
            <a:r>
              <a:rPr sz="2800" i="1" spc="-5" dirty="0">
                <a:latin typeface="Calibri"/>
                <a:cs typeface="Calibri"/>
              </a:rPr>
              <a:t>that</a:t>
            </a:r>
            <a:r>
              <a:rPr sz="2800" i="1" spc="10" dirty="0">
                <a:latin typeface="Calibri"/>
                <a:cs typeface="Calibri"/>
              </a:rPr>
              <a:t> </a:t>
            </a:r>
            <a:r>
              <a:rPr sz="2800" i="1" spc="-5" dirty="0">
                <a:latin typeface="Calibri"/>
                <a:cs typeface="Calibri"/>
              </a:rPr>
              <a:t>the</a:t>
            </a:r>
            <a:r>
              <a:rPr sz="2800" i="1" spc="20" dirty="0">
                <a:latin typeface="Calibri"/>
                <a:cs typeface="Calibri"/>
              </a:rPr>
              <a:t> </a:t>
            </a:r>
            <a:r>
              <a:rPr sz="2800" b="1" i="1" spc="-5" dirty="0">
                <a:solidFill>
                  <a:srgbClr val="006FC0"/>
                </a:solidFill>
                <a:latin typeface="Calibri"/>
                <a:cs typeface="Calibri"/>
              </a:rPr>
              <a:t>link</a:t>
            </a:r>
            <a:r>
              <a:rPr sz="2800" b="1" i="1" spc="10" dirty="0">
                <a:solidFill>
                  <a:srgbClr val="006FC0"/>
                </a:solidFill>
                <a:latin typeface="Calibri"/>
                <a:cs typeface="Calibri"/>
              </a:rPr>
              <a:t> </a:t>
            </a:r>
            <a:r>
              <a:rPr sz="2800" b="1" i="1" spc="-10" dirty="0">
                <a:solidFill>
                  <a:srgbClr val="006FC0"/>
                </a:solidFill>
                <a:latin typeface="Calibri"/>
                <a:cs typeface="Calibri"/>
              </a:rPr>
              <a:t>utilization</a:t>
            </a:r>
            <a:r>
              <a:rPr sz="2800" b="1" i="1" spc="40" dirty="0">
                <a:solidFill>
                  <a:srgbClr val="006FC0"/>
                </a:solidFill>
                <a:latin typeface="Calibri"/>
                <a:cs typeface="Calibri"/>
              </a:rPr>
              <a:t> </a:t>
            </a:r>
            <a:r>
              <a:rPr sz="2800" i="1" spc="-10" dirty="0">
                <a:latin typeface="Calibri"/>
                <a:cs typeface="Calibri"/>
              </a:rPr>
              <a:t>is</a:t>
            </a:r>
            <a:r>
              <a:rPr sz="2800" i="1" dirty="0">
                <a:latin typeface="Calibri"/>
                <a:cs typeface="Calibri"/>
              </a:rPr>
              <a:t> </a:t>
            </a:r>
            <a:r>
              <a:rPr sz="2800" i="1" spc="-5" dirty="0">
                <a:latin typeface="Calibri"/>
                <a:cs typeface="Calibri"/>
              </a:rPr>
              <a:t>only</a:t>
            </a:r>
            <a:r>
              <a:rPr sz="2800" i="1" dirty="0">
                <a:latin typeface="Calibri"/>
                <a:cs typeface="Calibri"/>
              </a:rPr>
              <a:t> </a:t>
            </a:r>
            <a:r>
              <a:rPr sz="2800" b="1" i="1" spc="-5" dirty="0">
                <a:latin typeface="Calibri"/>
                <a:cs typeface="Calibri"/>
              </a:rPr>
              <a:t>1000/20,000</a:t>
            </a:r>
            <a:r>
              <a:rPr sz="2800" i="1" spc="-5" dirty="0">
                <a:latin typeface="Calibri"/>
                <a:cs typeface="Calibri"/>
              </a:rPr>
              <a:t>,</a:t>
            </a:r>
            <a:r>
              <a:rPr sz="2800" i="1" spc="65" dirty="0">
                <a:latin typeface="Calibri"/>
                <a:cs typeface="Calibri"/>
              </a:rPr>
              <a:t> </a:t>
            </a:r>
            <a:r>
              <a:rPr sz="2800" i="1" dirty="0">
                <a:latin typeface="Calibri"/>
                <a:cs typeface="Calibri"/>
              </a:rPr>
              <a:t>or</a:t>
            </a:r>
            <a:r>
              <a:rPr sz="2800" i="1" spc="5" dirty="0">
                <a:latin typeface="Calibri"/>
                <a:cs typeface="Calibri"/>
              </a:rPr>
              <a:t> </a:t>
            </a:r>
            <a:r>
              <a:rPr sz="2800" b="1" i="1" spc="-5" dirty="0">
                <a:latin typeface="Calibri"/>
                <a:cs typeface="Calibri"/>
              </a:rPr>
              <a:t>5</a:t>
            </a:r>
            <a:r>
              <a:rPr sz="2800" b="1" i="1" spc="20" dirty="0">
                <a:latin typeface="Calibri"/>
                <a:cs typeface="Calibri"/>
              </a:rPr>
              <a:t> </a:t>
            </a:r>
            <a:r>
              <a:rPr sz="2800" b="1" i="1" spc="-15" dirty="0">
                <a:latin typeface="Calibri"/>
                <a:cs typeface="Calibri"/>
              </a:rPr>
              <a:t>percent</a:t>
            </a:r>
            <a:r>
              <a:rPr sz="2800" i="1" spc="-15" dirty="0">
                <a:latin typeface="Calibri"/>
                <a:cs typeface="Calibri"/>
              </a:rPr>
              <a:t>.</a:t>
            </a:r>
            <a:endParaRPr sz="2800">
              <a:latin typeface="Calibri"/>
              <a:cs typeface="Calibri"/>
            </a:endParaRPr>
          </a:p>
          <a:p>
            <a:pPr>
              <a:lnSpc>
                <a:spcPct val="100000"/>
              </a:lnSpc>
              <a:spcBef>
                <a:spcPts val="5"/>
              </a:spcBef>
            </a:pPr>
            <a:endParaRPr sz="2750">
              <a:latin typeface="Calibri"/>
              <a:cs typeface="Calibri"/>
            </a:endParaRPr>
          </a:p>
          <a:p>
            <a:pPr marL="12700" marR="5715" algn="just">
              <a:lnSpc>
                <a:spcPct val="100000"/>
              </a:lnSpc>
            </a:pPr>
            <a:r>
              <a:rPr sz="2800" i="1" spc="-25" dirty="0">
                <a:latin typeface="Calibri"/>
                <a:cs typeface="Calibri"/>
              </a:rPr>
              <a:t>For</a:t>
            </a:r>
            <a:r>
              <a:rPr sz="2800" i="1" spc="-20" dirty="0">
                <a:latin typeface="Calibri"/>
                <a:cs typeface="Calibri"/>
              </a:rPr>
              <a:t> </a:t>
            </a:r>
            <a:r>
              <a:rPr sz="2800" i="1" spc="-5" dirty="0">
                <a:latin typeface="Calibri"/>
                <a:cs typeface="Calibri"/>
              </a:rPr>
              <a:t>this reason, </a:t>
            </a:r>
            <a:r>
              <a:rPr sz="2800" i="1" spc="-20" dirty="0">
                <a:latin typeface="Calibri"/>
                <a:cs typeface="Calibri"/>
              </a:rPr>
              <a:t>for</a:t>
            </a:r>
            <a:r>
              <a:rPr sz="2800" i="1" spc="-15" dirty="0">
                <a:latin typeface="Calibri"/>
                <a:cs typeface="Calibri"/>
              </a:rPr>
              <a:t> </a:t>
            </a:r>
            <a:r>
              <a:rPr sz="2800" i="1" spc="-5" dirty="0">
                <a:latin typeface="Calibri"/>
                <a:cs typeface="Calibri"/>
              </a:rPr>
              <a:t>a </a:t>
            </a:r>
            <a:r>
              <a:rPr sz="2800" i="1" spc="-10" dirty="0">
                <a:latin typeface="Calibri"/>
                <a:cs typeface="Calibri"/>
              </a:rPr>
              <a:t>link </a:t>
            </a:r>
            <a:r>
              <a:rPr sz="2800" i="1" spc="-5" dirty="0">
                <a:latin typeface="Calibri"/>
                <a:cs typeface="Calibri"/>
              </a:rPr>
              <a:t>with a </a:t>
            </a:r>
            <a:r>
              <a:rPr sz="2800" i="1" spc="-10" dirty="0">
                <a:latin typeface="Calibri"/>
                <a:cs typeface="Calibri"/>
              </a:rPr>
              <a:t>high bandwidth</a:t>
            </a:r>
            <a:r>
              <a:rPr sz="2800" i="1" spc="610" dirty="0">
                <a:latin typeface="Calibri"/>
                <a:cs typeface="Calibri"/>
              </a:rPr>
              <a:t> </a:t>
            </a:r>
            <a:r>
              <a:rPr sz="2800" i="1" spc="-10" dirty="0">
                <a:latin typeface="Calibri"/>
                <a:cs typeface="Calibri"/>
              </a:rPr>
              <a:t>or </a:t>
            </a:r>
            <a:r>
              <a:rPr sz="2800" i="1" spc="-5" dirty="0">
                <a:latin typeface="Calibri"/>
                <a:cs typeface="Calibri"/>
              </a:rPr>
              <a:t>long </a:t>
            </a:r>
            <a:r>
              <a:rPr sz="2800" i="1" spc="-35" dirty="0">
                <a:latin typeface="Calibri"/>
                <a:cs typeface="Calibri"/>
              </a:rPr>
              <a:t>delay,</a:t>
            </a:r>
            <a:r>
              <a:rPr sz="2800" i="1" spc="565" dirty="0">
                <a:latin typeface="Calibri"/>
                <a:cs typeface="Calibri"/>
              </a:rPr>
              <a:t> </a:t>
            </a:r>
            <a:r>
              <a:rPr sz="2800" i="1" spc="-5" dirty="0">
                <a:latin typeface="Calibri"/>
                <a:cs typeface="Calibri"/>
              </a:rPr>
              <a:t>the </a:t>
            </a:r>
            <a:r>
              <a:rPr sz="2800" i="1" spc="-10" dirty="0">
                <a:latin typeface="Calibri"/>
                <a:cs typeface="Calibri"/>
              </a:rPr>
              <a:t>use </a:t>
            </a:r>
            <a:r>
              <a:rPr sz="2800" i="1" spc="-5" dirty="0">
                <a:latin typeface="Calibri"/>
                <a:cs typeface="Calibri"/>
              </a:rPr>
              <a:t> </a:t>
            </a:r>
            <a:r>
              <a:rPr sz="2800" i="1" dirty="0">
                <a:latin typeface="Calibri"/>
                <a:cs typeface="Calibri"/>
              </a:rPr>
              <a:t>of </a:t>
            </a:r>
            <a:r>
              <a:rPr sz="2800" i="1" spc="-20" dirty="0">
                <a:latin typeface="Calibri"/>
                <a:cs typeface="Calibri"/>
              </a:rPr>
              <a:t>Stop-and-Wait</a:t>
            </a:r>
            <a:r>
              <a:rPr sz="2800" i="1" spc="10" dirty="0">
                <a:latin typeface="Calibri"/>
                <a:cs typeface="Calibri"/>
              </a:rPr>
              <a:t> </a:t>
            </a:r>
            <a:r>
              <a:rPr sz="2800" i="1" spc="-10" dirty="0">
                <a:latin typeface="Calibri"/>
                <a:cs typeface="Calibri"/>
              </a:rPr>
              <a:t>ARQ</a:t>
            </a:r>
            <a:r>
              <a:rPr sz="2800" i="1" spc="15" dirty="0">
                <a:latin typeface="Calibri"/>
                <a:cs typeface="Calibri"/>
              </a:rPr>
              <a:t> </a:t>
            </a:r>
            <a:r>
              <a:rPr sz="2800" i="1" spc="-15" dirty="0">
                <a:latin typeface="Calibri"/>
                <a:cs typeface="Calibri"/>
              </a:rPr>
              <a:t>wastes</a:t>
            </a:r>
            <a:r>
              <a:rPr sz="2800" i="1" spc="-10" dirty="0">
                <a:latin typeface="Calibri"/>
                <a:cs typeface="Calibri"/>
              </a:rPr>
              <a:t> </a:t>
            </a:r>
            <a:r>
              <a:rPr sz="2800" i="1" spc="-5" dirty="0">
                <a:latin typeface="Calibri"/>
                <a:cs typeface="Calibri"/>
              </a:rPr>
              <a:t>the</a:t>
            </a:r>
            <a:r>
              <a:rPr sz="2800" i="1" spc="10" dirty="0">
                <a:latin typeface="Calibri"/>
                <a:cs typeface="Calibri"/>
              </a:rPr>
              <a:t> </a:t>
            </a:r>
            <a:r>
              <a:rPr sz="2800" i="1" spc="-5" dirty="0">
                <a:latin typeface="Calibri"/>
                <a:cs typeface="Calibri"/>
              </a:rPr>
              <a:t>capacity</a:t>
            </a:r>
            <a:r>
              <a:rPr sz="2800" i="1" spc="-10" dirty="0">
                <a:latin typeface="Calibri"/>
                <a:cs typeface="Calibri"/>
              </a:rPr>
              <a:t> </a:t>
            </a:r>
            <a:r>
              <a:rPr sz="2800" i="1" dirty="0">
                <a:latin typeface="Calibri"/>
                <a:cs typeface="Calibri"/>
              </a:rPr>
              <a:t>of </a:t>
            </a:r>
            <a:r>
              <a:rPr sz="2800" i="1" spc="-5" dirty="0">
                <a:latin typeface="Calibri"/>
                <a:cs typeface="Calibri"/>
              </a:rPr>
              <a:t>the</a:t>
            </a:r>
            <a:r>
              <a:rPr sz="2800" i="1" dirty="0">
                <a:latin typeface="Calibri"/>
                <a:cs typeface="Calibri"/>
              </a:rPr>
              <a:t> </a:t>
            </a:r>
            <a:r>
              <a:rPr sz="2800" i="1" spc="-10" dirty="0">
                <a:latin typeface="Calibri"/>
                <a:cs typeface="Calibri"/>
              </a:rPr>
              <a:t>link.</a:t>
            </a:r>
            <a:endParaRPr sz="2800">
              <a:latin typeface="Calibri"/>
              <a:cs typeface="Calibri"/>
            </a:endParaRPr>
          </a:p>
        </p:txBody>
      </p:sp>
      <p:sp>
        <p:nvSpPr>
          <p:cNvPr id="5" name="object 5"/>
          <p:cNvSpPr txBox="1">
            <a:spLocks noGrp="1"/>
          </p:cNvSpPr>
          <p:nvPr>
            <p:ph type="title"/>
          </p:nvPr>
        </p:nvSpPr>
        <p:spPr>
          <a:xfrm>
            <a:off x="2965230" y="-199195"/>
            <a:ext cx="2779871" cy="1367041"/>
          </a:xfrm>
          <a:prstGeom prst="rect">
            <a:avLst/>
          </a:prstGeom>
        </p:spPr>
        <p:txBody>
          <a:bodyPr vert="horz" wrap="square" lIns="0" tIns="12700" rIns="0" bIns="0" rtlCol="0">
            <a:spAutoFit/>
          </a:bodyPr>
          <a:lstStyle/>
          <a:p>
            <a:pPr marL="12700">
              <a:lnSpc>
                <a:spcPct val="100000"/>
              </a:lnSpc>
              <a:spcBef>
                <a:spcPts val="100"/>
              </a:spcBef>
            </a:pPr>
            <a:r>
              <a:rPr b="1" spc="-10" dirty="0">
                <a:latin typeface="Calibri"/>
                <a:cs typeface="Calibri"/>
              </a:rPr>
              <a:t>Stop</a:t>
            </a:r>
            <a:r>
              <a:rPr b="1" spc="-25" dirty="0">
                <a:latin typeface="Calibri"/>
                <a:cs typeface="Calibri"/>
              </a:rPr>
              <a:t> </a:t>
            </a:r>
            <a:r>
              <a:rPr b="1" dirty="0">
                <a:latin typeface="Calibri"/>
                <a:cs typeface="Calibri"/>
              </a:rPr>
              <a:t>And</a:t>
            </a:r>
            <a:r>
              <a:rPr b="1" spc="-25" dirty="0">
                <a:latin typeface="Calibri"/>
                <a:cs typeface="Calibri"/>
              </a:rPr>
              <a:t> </a:t>
            </a:r>
            <a:r>
              <a:rPr b="1" spc="-35" dirty="0">
                <a:latin typeface="Calibri"/>
                <a:cs typeface="Calibri"/>
              </a:rPr>
              <a:t>Wait</a:t>
            </a:r>
            <a:r>
              <a:rPr b="1" spc="-25" dirty="0">
                <a:latin typeface="Calibri"/>
                <a:cs typeface="Calibri"/>
              </a:rPr>
              <a:t> </a:t>
            </a:r>
            <a:r>
              <a:rPr b="1" spc="-15" dirty="0">
                <a:latin typeface="Calibri"/>
                <a:cs typeface="Calibri"/>
              </a:rPr>
              <a:t>ARQ</a:t>
            </a:r>
          </a:p>
        </p:txBody>
      </p:sp>
    </p:spTree>
    <p:extLst>
      <p:ext uri="{BB962C8B-B14F-4D97-AF65-F5344CB8AC3E}">
        <p14:creationId xmlns:p14="http://schemas.microsoft.com/office/powerpoint/2010/main" val="417697435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665990" y="1193751"/>
            <a:ext cx="7808119" cy="5159746"/>
          </a:xfrm>
          <a:prstGeom prst="rect">
            <a:avLst/>
          </a:prstGeom>
        </p:spPr>
        <p:txBody>
          <a:bodyPr vert="horz" wrap="square" lIns="0" tIns="12065" rIns="0" bIns="0" rtlCol="0">
            <a:spAutoFit/>
          </a:bodyPr>
          <a:lstStyle/>
          <a:p>
            <a:pPr marL="12700">
              <a:lnSpc>
                <a:spcPct val="100000"/>
              </a:lnSpc>
              <a:spcBef>
                <a:spcPts val="95"/>
              </a:spcBef>
            </a:pPr>
            <a:r>
              <a:rPr sz="2800" b="1" i="1" spc="-10" dirty="0">
                <a:solidFill>
                  <a:srgbClr val="C00000"/>
                </a:solidFill>
                <a:latin typeface="Calibri"/>
                <a:cs typeface="Calibri"/>
              </a:rPr>
              <a:t>Pipelining:</a:t>
            </a:r>
            <a:endParaRPr sz="2800">
              <a:latin typeface="Calibri"/>
              <a:cs typeface="Calibri"/>
            </a:endParaRPr>
          </a:p>
          <a:p>
            <a:pPr marL="469900" indent="-457200">
              <a:lnSpc>
                <a:spcPct val="100000"/>
              </a:lnSpc>
              <a:spcBef>
                <a:spcPts val="5"/>
              </a:spcBef>
              <a:buFont typeface="Arial MT"/>
              <a:buChar char="•"/>
              <a:tabLst>
                <a:tab pos="469265" algn="l"/>
                <a:tab pos="469900" algn="l"/>
              </a:tabLst>
            </a:pPr>
            <a:r>
              <a:rPr sz="2800" i="1" spc="-5" dirty="0">
                <a:latin typeface="Calibri"/>
                <a:cs typeface="Calibri"/>
              </a:rPr>
              <a:t>No</a:t>
            </a:r>
            <a:r>
              <a:rPr sz="2800" i="1" spc="5" dirty="0">
                <a:latin typeface="Calibri"/>
                <a:cs typeface="Calibri"/>
              </a:rPr>
              <a:t> </a:t>
            </a:r>
            <a:r>
              <a:rPr sz="2800" i="1" spc="-10" dirty="0">
                <a:latin typeface="Calibri"/>
                <a:cs typeface="Calibri"/>
              </a:rPr>
              <a:t>pipelining</a:t>
            </a:r>
            <a:r>
              <a:rPr sz="2800" i="1" spc="15" dirty="0">
                <a:latin typeface="Calibri"/>
                <a:cs typeface="Calibri"/>
              </a:rPr>
              <a:t> </a:t>
            </a:r>
            <a:r>
              <a:rPr sz="2800" i="1" spc="-10" dirty="0">
                <a:latin typeface="Calibri"/>
                <a:cs typeface="Calibri"/>
              </a:rPr>
              <a:t>in</a:t>
            </a:r>
            <a:r>
              <a:rPr sz="2800" i="1" spc="5" dirty="0">
                <a:latin typeface="Calibri"/>
                <a:cs typeface="Calibri"/>
              </a:rPr>
              <a:t> </a:t>
            </a:r>
            <a:r>
              <a:rPr sz="2800" i="1" spc="-20" dirty="0">
                <a:latin typeface="Calibri"/>
                <a:cs typeface="Calibri"/>
              </a:rPr>
              <a:t>Stop-And-Wait</a:t>
            </a:r>
            <a:r>
              <a:rPr sz="2800" i="1" spc="25" dirty="0">
                <a:latin typeface="Calibri"/>
                <a:cs typeface="Calibri"/>
              </a:rPr>
              <a:t> </a:t>
            </a:r>
            <a:r>
              <a:rPr sz="2800" i="1" spc="-10" dirty="0">
                <a:latin typeface="Calibri"/>
                <a:cs typeface="Calibri"/>
              </a:rPr>
              <a:t>ARQ.</a:t>
            </a:r>
            <a:endParaRPr sz="2800">
              <a:latin typeface="Calibri"/>
              <a:cs typeface="Calibri"/>
            </a:endParaRPr>
          </a:p>
          <a:p>
            <a:pPr>
              <a:lnSpc>
                <a:spcPct val="100000"/>
              </a:lnSpc>
              <a:buFont typeface="Arial MT"/>
              <a:buChar char="•"/>
            </a:pPr>
            <a:endParaRPr sz="2750">
              <a:latin typeface="Calibri"/>
              <a:cs typeface="Calibri"/>
            </a:endParaRPr>
          </a:p>
          <a:p>
            <a:pPr marL="469900" marR="5080" indent="-457200">
              <a:lnSpc>
                <a:spcPct val="100000"/>
              </a:lnSpc>
              <a:buFont typeface="Arial MT"/>
              <a:buChar char="•"/>
              <a:tabLst>
                <a:tab pos="469265" algn="l"/>
                <a:tab pos="469900" algn="l"/>
                <a:tab pos="1129665" algn="l"/>
                <a:tab pos="2024380" algn="l"/>
                <a:tab pos="2510155" algn="l"/>
                <a:tab pos="3336290" algn="l"/>
                <a:tab pos="3933825" algn="l"/>
                <a:tab pos="4305935" algn="l"/>
                <a:tab pos="5357495" algn="l"/>
                <a:tab pos="5843905" algn="l"/>
                <a:tab pos="6838950" algn="l"/>
                <a:tab pos="7499350" algn="l"/>
                <a:tab pos="9307195" algn="l"/>
                <a:tab pos="10044430" algn="l"/>
              </a:tabLst>
            </a:pPr>
            <a:r>
              <a:rPr sz="2800" i="1" spc="-125" dirty="0">
                <a:latin typeface="Calibri"/>
                <a:cs typeface="Calibri"/>
              </a:rPr>
              <a:t>W</a:t>
            </a:r>
            <a:r>
              <a:rPr sz="2800" i="1" spc="-5" dirty="0">
                <a:latin typeface="Calibri"/>
                <a:cs typeface="Calibri"/>
              </a:rPr>
              <a:t>e</a:t>
            </a:r>
            <a:r>
              <a:rPr sz="2800" i="1" dirty="0">
                <a:latin typeface="Calibri"/>
                <a:cs typeface="Calibri"/>
              </a:rPr>
              <a:t>	</a:t>
            </a:r>
            <a:r>
              <a:rPr sz="2800" i="1" spc="-10" dirty="0">
                <a:latin typeface="Calibri"/>
                <a:cs typeface="Calibri"/>
              </a:rPr>
              <a:t>ne</a:t>
            </a:r>
            <a:r>
              <a:rPr sz="2800" i="1" spc="-15" dirty="0">
                <a:latin typeface="Calibri"/>
                <a:cs typeface="Calibri"/>
              </a:rPr>
              <a:t>e</a:t>
            </a:r>
            <a:r>
              <a:rPr sz="2800" i="1" spc="-5" dirty="0">
                <a:latin typeface="Calibri"/>
                <a:cs typeface="Calibri"/>
              </a:rPr>
              <a:t>d</a:t>
            </a:r>
            <a:r>
              <a:rPr sz="2800" i="1" dirty="0">
                <a:latin typeface="Calibri"/>
                <a:cs typeface="Calibri"/>
              </a:rPr>
              <a:t>	</a:t>
            </a:r>
            <a:r>
              <a:rPr sz="2800" i="1" spc="-45" dirty="0">
                <a:latin typeface="Calibri"/>
                <a:cs typeface="Calibri"/>
              </a:rPr>
              <a:t>t</a:t>
            </a:r>
            <a:r>
              <a:rPr sz="2800" i="1" spc="-5" dirty="0">
                <a:latin typeface="Calibri"/>
                <a:cs typeface="Calibri"/>
              </a:rPr>
              <a:t>o</a:t>
            </a:r>
            <a:r>
              <a:rPr sz="2800" i="1" dirty="0">
                <a:latin typeface="Calibri"/>
                <a:cs typeface="Calibri"/>
              </a:rPr>
              <a:t>	</a:t>
            </a:r>
            <a:r>
              <a:rPr sz="2800" i="1" spc="-5" dirty="0">
                <a:latin typeface="Calibri"/>
                <a:cs typeface="Calibri"/>
              </a:rPr>
              <a:t>wait</a:t>
            </a:r>
            <a:r>
              <a:rPr sz="2800" i="1" dirty="0">
                <a:latin typeface="Calibri"/>
                <a:cs typeface="Calibri"/>
              </a:rPr>
              <a:t>	</a:t>
            </a:r>
            <a:r>
              <a:rPr sz="2800" i="1" spc="-45" dirty="0">
                <a:latin typeface="Calibri"/>
                <a:cs typeface="Calibri"/>
              </a:rPr>
              <a:t>f</a:t>
            </a:r>
            <a:r>
              <a:rPr sz="2800" i="1" spc="-10" dirty="0">
                <a:latin typeface="Calibri"/>
                <a:cs typeface="Calibri"/>
              </a:rPr>
              <a:t>o</a:t>
            </a:r>
            <a:r>
              <a:rPr sz="2800" i="1" spc="-5" dirty="0">
                <a:latin typeface="Calibri"/>
                <a:cs typeface="Calibri"/>
              </a:rPr>
              <a:t>r</a:t>
            </a:r>
            <a:r>
              <a:rPr sz="2800" i="1" dirty="0">
                <a:latin typeface="Calibri"/>
                <a:cs typeface="Calibri"/>
              </a:rPr>
              <a:t>	</a:t>
            </a:r>
            <a:r>
              <a:rPr sz="2800" i="1" spc="-5" dirty="0">
                <a:latin typeface="Calibri"/>
                <a:cs typeface="Calibri"/>
              </a:rPr>
              <a:t>a</a:t>
            </a:r>
            <a:r>
              <a:rPr sz="2800" i="1" dirty="0">
                <a:latin typeface="Calibri"/>
                <a:cs typeface="Calibri"/>
              </a:rPr>
              <a:t>	</a:t>
            </a:r>
            <a:r>
              <a:rPr sz="2800" i="1" spc="-10" dirty="0">
                <a:latin typeface="Calibri"/>
                <a:cs typeface="Calibri"/>
              </a:rPr>
              <a:t>fram</a:t>
            </a:r>
            <a:r>
              <a:rPr sz="2800" i="1" spc="-5" dirty="0">
                <a:latin typeface="Calibri"/>
                <a:cs typeface="Calibri"/>
              </a:rPr>
              <a:t>e</a:t>
            </a:r>
            <a:r>
              <a:rPr sz="2800" i="1" dirty="0">
                <a:latin typeface="Calibri"/>
                <a:cs typeface="Calibri"/>
              </a:rPr>
              <a:t>	</a:t>
            </a:r>
            <a:r>
              <a:rPr sz="2800" i="1" spc="-45" dirty="0">
                <a:latin typeface="Calibri"/>
                <a:cs typeface="Calibri"/>
              </a:rPr>
              <a:t>t</a:t>
            </a:r>
            <a:r>
              <a:rPr sz="2800" i="1" spc="-5" dirty="0">
                <a:latin typeface="Calibri"/>
                <a:cs typeface="Calibri"/>
              </a:rPr>
              <a:t>o</a:t>
            </a:r>
            <a:r>
              <a:rPr sz="2800" i="1" dirty="0">
                <a:latin typeface="Calibri"/>
                <a:cs typeface="Calibri"/>
              </a:rPr>
              <a:t>	r</a:t>
            </a:r>
            <a:r>
              <a:rPr sz="2800" i="1" spc="-5" dirty="0">
                <a:latin typeface="Calibri"/>
                <a:cs typeface="Calibri"/>
              </a:rPr>
              <a:t>each</a:t>
            </a:r>
            <a:r>
              <a:rPr sz="2800" i="1" dirty="0">
                <a:latin typeface="Calibri"/>
                <a:cs typeface="Calibri"/>
              </a:rPr>
              <a:t>	</a:t>
            </a:r>
            <a:r>
              <a:rPr sz="2800" i="1" spc="-5" dirty="0">
                <a:latin typeface="Calibri"/>
                <a:cs typeface="Calibri"/>
              </a:rPr>
              <a:t>the</a:t>
            </a:r>
            <a:r>
              <a:rPr sz="2800" i="1" dirty="0">
                <a:latin typeface="Calibri"/>
                <a:cs typeface="Calibri"/>
              </a:rPr>
              <a:t>	</a:t>
            </a:r>
            <a:r>
              <a:rPr sz="2800" i="1" spc="-10" dirty="0">
                <a:latin typeface="Calibri"/>
                <a:cs typeface="Calibri"/>
              </a:rPr>
              <a:t>de</a:t>
            </a:r>
            <a:r>
              <a:rPr sz="2800" i="1" spc="-35" dirty="0">
                <a:latin typeface="Calibri"/>
                <a:cs typeface="Calibri"/>
              </a:rPr>
              <a:t>s</a:t>
            </a:r>
            <a:r>
              <a:rPr sz="2800" i="1" spc="-5" dirty="0">
                <a:latin typeface="Calibri"/>
                <a:cs typeface="Calibri"/>
              </a:rPr>
              <a:t>t</a:t>
            </a:r>
            <a:r>
              <a:rPr sz="2800" i="1" spc="-15" dirty="0">
                <a:latin typeface="Calibri"/>
                <a:cs typeface="Calibri"/>
              </a:rPr>
              <a:t>i</a:t>
            </a:r>
            <a:r>
              <a:rPr sz="2800" i="1" spc="-10" dirty="0">
                <a:latin typeface="Calibri"/>
                <a:cs typeface="Calibri"/>
              </a:rPr>
              <a:t>natio</a:t>
            </a:r>
            <a:r>
              <a:rPr sz="2800" i="1" spc="-5" dirty="0">
                <a:latin typeface="Calibri"/>
                <a:cs typeface="Calibri"/>
              </a:rPr>
              <a:t>n</a:t>
            </a:r>
            <a:r>
              <a:rPr sz="2800" i="1" dirty="0">
                <a:latin typeface="Calibri"/>
                <a:cs typeface="Calibri"/>
              </a:rPr>
              <a:t>	</a:t>
            </a:r>
            <a:r>
              <a:rPr sz="2800" i="1" spc="-5" dirty="0">
                <a:latin typeface="Calibri"/>
                <a:cs typeface="Calibri"/>
              </a:rPr>
              <a:t>and</a:t>
            </a:r>
            <a:r>
              <a:rPr sz="2800" i="1" dirty="0">
                <a:latin typeface="Calibri"/>
                <a:cs typeface="Calibri"/>
              </a:rPr>
              <a:t>	</a:t>
            </a:r>
            <a:r>
              <a:rPr sz="2800" i="1" spc="-5" dirty="0">
                <a:latin typeface="Calibri"/>
                <a:cs typeface="Calibri"/>
              </a:rPr>
              <a:t>be  </a:t>
            </a:r>
            <a:r>
              <a:rPr sz="2800" i="1" spc="-10" dirty="0">
                <a:latin typeface="Calibri"/>
                <a:cs typeface="Calibri"/>
              </a:rPr>
              <a:t>acknowledged</a:t>
            </a:r>
            <a:r>
              <a:rPr sz="2800" i="1" spc="10" dirty="0">
                <a:latin typeface="Calibri"/>
                <a:cs typeface="Calibri"/>
              </a:rPr>
              <a:t> </a:t>
            </a:r>
            <a:r>
              <a:rPr sz="2800" i="1" spc="-15" dirty="0">
                <a:latin typeface="Calibri"/>
                <a:cs typeface="Calibri"/>
              </a:rPr>
              <a:t>before</a:t>
            </a:r>
            <a:r>
              <a:rPr sz="2800" i="1" spc="10" dirty="0">
                <a:latin typeface="Calibri"/>
                <a:cs typeface="Calibri"/>
              </a:rPr>
              <a:t> </a:t>
            </a:r>
            <a:r>
              <a:rPr sz="2800" i="1" spc="-20" dirty="0">
                <a:latin typeface="Calibri"/>
                <a:cs typeface="Calibri"/>
              </a:rPr>
              <a:t>next</a:t>
            </a:r>
            <a:r>
              <a:rPr sz="2800" i="1" spc="20" dirty="0">
                <a:latin typeface="Calibri"/>
                <a:cs typeface="Calibri"/>
              </a:rPr>
              <a:t> </a:t>
            </a:r>
            <a:r>
              <a:rPr sz="2800" i="1" spc="-10" dirty="0">
                <a:latin typeface="Calibri"/>
                <a:cs typeface="Calibri"/>
              </a:rPr>
              <a:t>frame</a:t>
            </a:r>
            <a:r>
              <a:rPr sz="2800" i="1" dirty="0">
                <a:latin typeface="Calibri"/>
                <a:cs typeface="Calibri"/>
              </a:rPr>
              <a:t> </a:t>
            </a:r>
            <a:r>
              <a:rPr sz="2800" i="1" spc="-10" dirty="0">
                <a:latin typeface="Calibri"/>
                <a:cs typeface="Calibri"/>
              </a:rPr>
              <a:t>can</a:t>
            </a:r>
            <a:r>
              <a:rPr sz="2800" i="1" spc="5" dirty="0">
                <a:latin typeface="Calibri"/>
                <a:cs typeface="Calibri"/>
              </a:rPr>
              <a:t> </a:t>
            </a:r>
            <a:r>
              <a:rPr sz="2800" i="1" spc="-5" dirty="0">
                <a:latin typeface="Calibri"/>
                <a:cs typeface="Calibri"/>
              </a:rPr>
              <a:t>be </a:t>
            </a:r>
            <a:r>
              <a:rPr sz="2800" i="1" spc="-10" dirty="0">
                <a:latin typeface="Calibri"/>
                <a:cs typeface="Calibri"/>
              </a:rPr>
              <a:t>sent.</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marR="6350" indent="-457200">
              <a:lnSpc>
                <a:spcPct val="100000"/>
              </a:lnSpc>
              <a:buFont typeface="Arial MT"/>
              <a:buChar char="•"/>
              <a:tabLst>
                <a:tab pos="469265" algn="l"/>
                <a:tab pos="469900" algn="l"/>
              </a:tabLst>
            </a:pPr>
            <a:r>
              <a:rPr sz="2800" i="1" spc="-10" dirty="0">
                <a:latin typeface="Calibri"/>
                <a:cs typeface="Calibri"/>
              </a:rPr>
              <a:t>Pipelining</a:t>
            </a:r>
            <a:r>
              <a:rPr sz="2800" i="1" spc="50" dirty="0">
                <a:latin typeface="Calibri"/>
                <a:cs typeface="Calibri"/>
              </a:rPr>
              <a:t> </a:t>
            </a:r>
            <a:r>
              <a:rPr sz="2800" i="1" spc="-10" dirty="0">
                <a:latin typeface="Calibri"/>
                <a:cs typeface="Calibri"/>
              </a:rPr>
              <a:t>is</a:t>
            </a:r>
            <a:r>
              <a:rPr sz="2800" i="1" spc="40" dirty="0">
                <a:latin typeface="Calibri"/>
                <a:cs typeface="Calibri"/>
              </a:rPr>
              <a:t> </a:t>
            </a:r>
            <a:r>
              <a:rPr sz="2800" i="1" spc="-10" dirty="0">
                <a:latin typeface="Calibri"/>
                <a:cs typeface="Calibri"/>
              </a:rPr>
              <a:t>applicable</a:t>
            </a:r>
            <a:r>
              <a:rPr sz="2800" i="1" spc="25" dirty="0">
                <a:latin typeface="Calibri"/>
                <a:cs typeface="Calibri"/>
              </a:rPr>
              <a:t> </a:t>
            </a:r>
            <a:r>
              <a:rPr sz="2800" i="1" spc="-25" dirty="0">
                <a:latin typeface="Calibri"/>
                <a:cs typeface="Calibri"/>
              </a:rPr>
              <a:t>to</a:t>
            </a:r>
            <a:r>
              <a:rPr sz="2800" i="1" spc="35" dirty="0">
                <a:latin typeface="Calibri"/>
                <a:cs typeface="Calibri"/>
              </a:rPr>
              <a:t> </a:t>
            </a:r>
            <a:r>
              <a:rPr sz="2800" i="1" spc="-20" dirty="0">
                <a:latin typeface="Calibri"/>
                <a:cs typeface="Calibri"/>
              </a:rPr>
              <a:t>next</a:t>
            </a:r>
            <a:r>
              <a:rPr sz="2800" i="1" spc="35" dirty="0">
                <a:latin typeface="Calibri"/>
                <a:cs typeface="Calibri"/>
              </a:rPr>
              <a:t> </a:t>
            </a:r>
            <a:r>
              <a:rPr sz="2800" i="1" dirty="0">
                <a:latin typeface="Calibri"/>
                <a:cs typeface="Calibri"/>
              </a:rPr>
              <a:t>two</a:t>
            </a:r>
            <a:r>
              <a:rPr sz="2800" i="1" spc="40" dirty="0">
                <a:latin typeface="Calibri"/>
                <a:cs typeface="Calibri"/>
              </a:rPr>
              <a:t> </a:t>
            </a:r>
            <a:r>
              <a:rPr sz="2800" i="1" spc="-15" dirty="0">
                <a:latin typeface="Calibri"/>
                <a:cs typeface="Calibri"/>
              </a:rPr>
              <a:t>protocols,</a:t>
            </a:r>
            <a:r>
              <a:rPr sz="2800" i="1" spc="35" dirty="0">
                <a:latin typeface="Calibri"/>
                <a:cs typeface="Calibri"/>
              </a:rPr>
              <a:t> </a:t>
            </a:r>
            <a:r>
              <a:rPr sz="2800" i="1" spc="-5" dirty="0">
                <a:latin typeface="Calibri"/>
                <a:cs typeface="Calibri"/>
              </a:rPr>
              <a:t>wherein</a:t>
            </a:r>
            <a:r>
              <a:rPr sz="2800" i="1" spc="35" dirty="0">
                <a:latin typeface="Calibri"/>
                <a:cs typeface="Calibri"/>
              </a:rPr>
              <a:t> </a:t>
            </a:r>
            <a:r>
              <a:rPr sz="2800" i="1" spc="-5" dirty="0">
                <a:latin typeface="Calibri"/>
                <a:cs typeface="Calibri"/>
              </a:rPr>
              <a:t>several</a:t>
            </a:r>
            <a:r>
              <a:rPr sz="2800" i="1" spc="30" dirty="0">
                <a:latin typeface="Calibri"/>
                <a:cs typeface="Calibri"/>
              </a:rPr>
              <a:t> </a:t>
            </a:r>
            <a:r>
              <a:rPr sz="2800" i="1" spc="-10" dirty="0">
                <a:latin typeface="Calibri"/>
                <a:cs typeface="Calibri"/>
              </a:rPr>
              <a:t>frames </a:t>
            </a:r>
            <a:r>
              <a:rPr sz="2800" i="1" spc="-620" dirty="0">
                <a:latin typeface="Calibri"/>
                <a:cs typeface="Calibri"/>
              </a:rPr>
              <a:t> </a:t>
            </a:r>
            <a:r>
              <a:rPr sz="2800" i="1" spc="-10" dirty="0">
                <a:latin typeface="Calibri"/>
                <a:cs typeface="Calibri"/>
              </a:rPr>
              <a:t>can </a:t>
            </a:r>
            <a:r>
              <a:rPr sz="2800" i="1" spc="-5" dirty="0">
                <a:latin typeface="Calibri"/>
                <a:cs typeface="Calibri"/>
              </a:rPr>
              <a:t>be </a:t>
            </a:r>
            <a:r>
              <a:rPr sz="2800" i="1" spc="-15" dirty="0">
                <a:latin typeface="Calibri"/>
                <a:cs typeface="Calibri"/>
              </a:rPr>
              <a:t>sent</a:t>
            </a:r>
            <a:r>
              <a:rPr sz="2800" i="1" spc="5" dirty="0">
                <a:latin typeface="Calibri"/>
                <a:cs typeface="Calibri"/>
              </a:rPr>
              <a:t> </a:t>
            </a:r>
            <a:r>
              <a:rPr sz="2800" i="1" spc="-15" dirty="0">
                <a:latin typeface="Calibri"/>
                <a:cs typeface="Calibri"/>
              </a:rPr>
              <a:t>before</a:t>
            </a:r>
            <a:r>
              <a:rPr sz="2800" i="1" spc="20" dirty="0">
                <a:latin typeface="Calibri"/>
                <a:cs typeface="Calibri"/>
              </a:rPr>
              <a:t> </a:t>
            </a:r>
            <a:r>
              <a:rPr sz="2800" i="1" spc="-5" dirty="0">
                <a:latin typeface="Calibri"/>
                <a:cs typeface="Calibri"/>
              </a:rPr>
              <a:t>receiving</a:t>
            </a:r>
            <a:r>
              <a:rPr sz="2800" i="1" spc="15" dirty="0">
                <a:latin typeface="Calibri"/>
                <a:cs typeface="Calibri"/>
              </a:rPr>
              <a:t> </a:t>
            </a:r>
            <a:r>
              <a:rPr sz="2800" i="1" spc="-10" dirty="0">
                <a:latin typeface="Calibri"/>
                <a:cs typeface="Calibri"/>
              </a:rPr>
              <a:t>acknowledgement</a:t>
            </a:r>
            <a:r>
              <a:rPr sz="2800" i="1" spc="10" dirty="0">
                <a:latin typeface="Calibri"/>
                <a:cs typeface="Calibri"/>
              </a:rPr>
              <a:t> </a:t>
            </a:r>
            <a:r>
              <a:rPr sz="2800" i="1" spc="-20" dirty="0">
                <a:latin typeface="Calibri"/>
                <a:cs typeface="Calibri"/>
              </a:rPr>
              <a:t>for</a:t>
            </a:r>
            <a:r>
              <a:rPr sz="2800" i="1" spc="5" dirty="0">
                <a:latin typeface="Calibri"/>
                <a:cs typeface="Calibri"/>
              </a:rPr>
              <a:t> </a:t>
            </a:r>
            <a:r>
              <a:rPr sz="2800" i="1" spc="-5" dirty="0">
                <a:latin typeface="Calibri"/>
                <a:cs typeface="Calibri"/>
              </a:rPr>
              <a:t>previous</a:t>
            </a:r>
            <a:r>
              <a:rPr sz="2800" i="1" spc="10" dirty="0">
                <a:latin typeface="Calibri"/>
                <a:cs typeface="Calibri"/>
              </a:rPr>
              <a:t> </a:t>
            </a:r>
            <a:r>
              <a:rPr sz="2800" i="1" spc="-5" dirty="0">
                <a:latin typeface="Calibri"/>
                <a:cs typeface="Calibri"/>
              </a:rPr>
              <a:t>frames.</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indent="-457200">
              <a:lnSpc>
                <a:spcPct val="100000"/>
              </a:lnSpc>
              <a:spcBef>
                <a:spcPts val="5"/>
              </a:spcBef>
              <a:buFont typeface="Arial MT"/>
              <a:buChar char="•"/>
              <a:tabLst>
                <a:tab pos="469265" algn="l"/>
                <a:tab pos="469900" algn="l"/>
              </a:tabLst>
            </a:pPr>
            <a:r>
              <a:rPr sz="2800" i="1" spc="-10" dirty="0">
                <a:latin typeface="Calibri"/>
                <a:cs typeface="Calibri"/>
              </a:rPr>
              <a:t>Pipelining</a:t>
            </a:r>
            <a:r>
              <a:rPr sz="2800" i="1" spc="20" dirty="0">
                <a:latin typeface="Calibri"/>
                <a:cs typeface="Calibri"/>
              </a:rPr>
              <a:t> </a:t>
            </a:r>
            <a:r>
              <a:rPr sz="2800" i="1" spc="-10" dirty="0">
                <a:latin typeface="Calibri"/>
                <a:cs typeface="Calibri"/>
              </a:rPr>
              <a:t>improves</a:t>
            </a:r>
            <a:r>
              <a:rPr sz="2800" i="1" spc="25" dirty="0">
                <a:latin typeface="Calibri"/>
                <a:cs typeface="Calibri"/>
              </a:rPr>
              <a:t> </a:t>
            </a:r>
            <a:r>
              <a:rPr sz="2800" i="1" spc="-20" dirty="0">
                <a:latin typeface="Calibri"/>
                <a:cs typeface="Calibri"/>
              </a:rPr>
              <a:t>efficiency.</a:t>
            </a:r>
            <a:endParaRPr sz="2800">
              <a:latin typeface="Calibri"/>
              <a:cs typeface="Calibri"/>
            </a:endParaRPr>
          </a:p>
        </p:txBody>
      </p:sp>
      <p:sp>
        <p:nvSpPr>
          <p:cNvPr id="5" name="object 5"/>
          <p:cNvSpPr txBox="1">
            <a:spLocks noGrp="1"/>
          </p:cNvSpPr>
          <p:nvPr>
            <p:ph type="title"/>
          </p:nvPr>
        </p:nvSpPr>
        <p:spPr>
          <a:xfrm>
            <a:off x="2965230" y="-199195"/>
            <a:ext cx="2779871" cy="1367041"/>
          </a:xfrm>
          <a:prstGeom prst="rect">
            <a:avLst/>
          </a:prstGeom>
        </p:spPr>
        <p:txBody>
          <a:bodyPr vert="horz" wrap="square" lIns="0" tIns="12700" rIns="0" bIns="0" rtlCol="0">
            <a:spAutoFit/>
          </a:bodyPr>
          <a:lstStyle/>
          <a:p>
            <a:pPr marL="12700">
              <a:lnSpc>
                <a:spcPct val="100000"/>
              </a:lnSpc>
              <a:spcBef>
                <a:spcPts val="100"/>
              </a:spcBef>
            </a:pPr>
            <a:r>
              <a:rPr b="1" spc="-10" dirty="0">
                <a:latin typeface="Calibri"/>
                <a:cs typeface="Calibri"/>
              </a:rPr>
              <a:t>Stop</a:t>
            </a:r>
            <a:r>
              <a:rPr b="1" spc="-25" dirty="0">
                <a:latin typeface="Calibri"/>
                <a:cs typeface="Calibri"/>
              </a:rPr>
              <a:t> </a:t>
            </a:r>
            <a:r>
              <a:rPr b="1" dirty="0">
                <a:latin typeface="Calibri"/>
                <a:cs typeface="Calibri"/>
              </a:rPr>
              <a:t>And</a:t>
            </a:r>
            <a:r>
              <a:rPr b="1" spc="-25" dirty="0">
                <a:latin typeface="Calibri"/>
                <a:cs typeface="Calibri"/>
              </a:rPr>
              <a:t> </a:t>
            </a:r>
            <a:r>
              <a:rPr b="1" spc="-35" dirty="0">
                <a:latin typeface="Calibri"/>
                <a:cs typeface="Calibri"/>
              </a:rPr>
              <a:t>Wait</a:t>
            </a:r>
            <a:r>
              <a:rPr b="1" spc="-25" dirty="0">
                <a:latin typeface="Calibri"/>
                <a:cs typeface="Calibri"/>
              </a:rPr>
              <a:t> </a:t>
            </a:r>
            <a:r>
              <a:rPr b="1" spc="-15" dirty="0">
                <a:latin typeface="Calibri"/>
                <a:cs typeface="Calibri"/>
              </a:rPr>
              <a:t>ARQ</a:t>
            </a:r>
          </a:p>
        </p:txBody>
      </p:sp>
    </p:spTree>
    <p:extLst>
      <p:ext uri="{BB962C8B-B14F-4D97-AF65-F5344CB8AC3E}">
        <p14:creationId xmlns:p14="http://schemas.microsoft.com/office/powerpoint/2010/main" val="38156823"/>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75511" y="1259673"/>
            <a:ext cx="8426291" cy="5598327"/>
          </a:xfrm>
          <a:prstGeom prst="rect">
            <a:avLst/>
          </a:prstGeom>
        </p:spPr>
        <p:txBody>
          <a:bodyPr vert="horz" wrap="square" lIns="0" tIns="12065" rIns="0" bIns="0" rtlCol="0">
            <a:spAutoFit/>
          </a:bodyPr>
          <a:lstStyle/>
          <a:p>
            <a:pPr marL="508000" marR="17780" indent="-457200">
              <a:lnSpc>
                <a:spcPct val="100000"/>
              </a:lnSpc>
              <a:spcBef>
                <a:spcPts val="95"/>
              </a:spcBef>
              <a:buFont typeface="Arial MT"/>
              <a:buChar char="•"/>
              <a:tabLst>
                <a:tab pos="507365" algn="l"/>
                <a:tab pos="508000" algn="l"/>
              </a:tabLst>
            </a:pPr>
            <a:r>
              <a:rPr sz="2800" spc="-130" dirty="0">
                <a:latin typeface="Calibri"/>
                <a:cs typeface="Calibri"/>
              </a:rPr>
              <a:t>To</a:t>
            </a:r>
            <a:r>
              <a:rPr sz="2800" dirty="0">
                <a:latin typeface="Calibri"/>
                <a:cs typeface="Calibri"/>
              </a:rPr>
              <a:t> </a:t>
            </a:r>
            <a:r>
              <a:rPr sz="2800" spc="-20" dirty="0">
                <a:latin typeface="Calibri"/>
                <a:cs typeface="Calibri"/>
              </a:rPr>
              <a:t>improve</a:t>
            </a:r>
            <a:r>
              <a:rPr sz="2800" spc="2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efficiency</a:t>
            </a:r>
            <a:r>
              <a:rPr sz="2800" spc="10" dirty="0">
                <a:latin typeface="Calibri"/>
                <a:cs typeface="Calibri"/>
              </a:rPr>
              <a:t> </a:t>
            </a:r>
            <a:r>
              <a:rPr sz="2800" spc="-5" dirty="0">
                <a:latin typeface="Calibri"/>
                <a:cs typeface="Calibri"/>
              </a:rPr>
              <a:t>of</a:t>
            </a:r>
            <a:r>
              <a:rPr sz="2800" spc="5" dirty="0">
                <a:latin typeface="Calibri"/>
                <a:cs typeface="Calibri"/>
              </a:rPr>
              <a:t> </a:t>
            </a:r>
            <a:r>
              <a:rPr sz="2800" spc="-15" dirty="0">
                <a:latin typeface="Calibri"/>
                <a:cs typeface="Calibri"/>
              </a:rPr>
              <a:t>transmission</a:t>
            </a:r>
            <a:r>
              <a:rPr sz="2800" spc="65" dirty="0">
                <a:latin typeface="Calibri"/>
                <a:cs typeface="Calibri"/>
              </a:rPr>
              <a:t> </a:t>
            </a:r>
            <a:r>
              <a:rPr sz="2800" spc="-10" dirty="0">
                <a:latin typeface="Calibri"/>
                <a:cs typeface="Calibri"/>
              </a:rPr>
              <a:t>(filling</a:t>
            </a:r>
            <a:r>
              <a:rPr sz="2800" spc="5"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pipe),</a:t>
            </a:r>
            <a:r>
              <a:rPr sz="2800" spc="25" dirty="0">
                <a:latin typeface="Calibri"/>
                <a:cs typeface="Calibri"/>
              </a:rPr>
              <a:t> </a:t>
            </a:r>
            <a:r>
              <a:rPr sz="2800" spc="-10" dirty="0">
                <a:latin typeface="Calibri"/>
                <a:cs typeface="Calibri"/>
              </a:rPr>
              <a:t>multiple</a:t>
            </a:r>
            <a:r>
              <a:rPr sz="2800" spc="25" dirty="0">
                <a:latin typeface="Calibri"/>
                <a:cs typeface="Calibri"/>
              </a:rPr>
              <a:t> </a:t>
            </a:r>
            <a:r>
              <a:rPr sz="2800" spc="-15" dirty="0">
                <a:latin typeface="Calibri"/>
                <a:cs typeface="Calibri"/>
              </a:rPr>
              <a:t>frames </a:t>
            </a:r>
            <a:r>
              <a:rPr sz="2800" spc="-620" dirty="0">
                <a:latin typeface="Calibri"/>
                <a:cs typeface="Calibri"/>
              </a:rPr>
              <a:t> </a:t>
            </a:r>
            <a:r>
              <a:rPr sz="2800" spc="-15" dirty="0">
                <a:latin typeface="Calibri"/>
                <a:cs typeface="Calibri"/>
              </a:rPr>
              <a:t>must</a:t>
            </a:r>
            <a:r>
              <a:rPr sz="2800" spc="30" dirty="0">
                <a:latin typeface="Calibri"/>
                <a:cs typeface="Calibri"/>
              </a:rPr>
              <a:t> </a:t>
            </a:r>
            <a:r>
              <a:rPr sz="2800" spc="-5" dirty="0">
                <a:latin typeface="Calibri"/>
                <a:cs typeface="Calibri"/>
              </a:rPr>
              <a:t>be in</a:t>
            </a:r>
            <a:r>
              <a:rPr sz="2800" spc="10" dirty="0">
                <a:latin typeface="Calibri"/>
                <a:cs typeface="Calibri"/>
              </a:rPr>
              <a:t> </a:t>
            </a:r>
            <a:r>
              <a:rPr sz="2800" spc="-15" dirty="0">
                <a:latin typeface="Calibri"/>
                <a:cs typeface="Calibri"/>
              </a:rPr>
              <a:t>transition</a:t>
            </a:r>
            <a:r>
              <a:rPr sz="2800" spc="20" dirty="0">
                <a:latin typeface="Calibri"/>
                <a:cs typeface="Calibri"/>
              </a:rPr>
              <a:t> </a:t>
            </a:r>
            <a:r>
              <a:rPr sz="2800" spc="-5" dirty="0">
                <a:latin typeface="Calibri"/>
                <a:cs typeface="Calibri"/>
              </a:rPr>
              <a:t>while</a:t>
            </a:r>
            <a:r>
              <a:rPr sz="2800" spc="15" dirty="0">
                <a:latin typeface="Calibri"/>
                <a:cs typeface="Calibri"/>
              </a:rPr>
              <a:t> </a:t>
            </a:r>
            <a:r>
              <a:rPr sz="2800" spc="-10" dirty="0">
                <a:latin typeface="Calibri"/>
                <a:cs typeface="Calibri"/>
              </a:rPr>
              <a:t>waiting</a:t>
            </a:r>
            <a:r>
              <a:rPr sz="2800" spc="-5" dirty="0">
                <a:latin typeface="Calibri"/>
                <a:cs typeface="Calibri"/>
              </a:rPr>
              <a:t> </a:t>
            </a:r>
            <a:r>
              <a:rPr sz="2800" spc="-25" dirty="0">
                <a:latin typeface="Calibri"/>
                <a:cs typeface="Calibri"/>
              </a:rPr>
              <a:t>for</a:t>
            </a:r>
            <a:r>
              <a:rPr sz="2800" spc="5" dirty="0">
                <a:latin typeface="Calibri"/>
                <a:cs typeface="Calibri"/>
              </a:rPr>
              <a:t> </a:t>
            </a:r>
            <a:r>
              <a:rPr sz="2800" spc="-5" dirty="0">
                <a:latin typeface="Calibri"/>
                <a:cs typeface="Calibri"/>
              </a:rPr>
              <a:t>acknowledgment.</a:t>
            </a:r>
            <a:endParaRPr sz="2800" dirty="0">
              <a:latin typeface="Calibri"/>
              <a:cs typeface="Calibri"/>
            </a:endParaRPr>
          </a:p>
          <a:p>
            <a:pPr>
              <a:lnSpc>
                <a:spcPct val="100000"/>
              </a:lnSpc>
              <a:spcBef>
                <a:spcPts val="5"/>
              </a:spcBef>
              <a:buFont typeface="Arial MT"/>
              <a:buChar char="•"/>
            </a:pPr>
            <a:endParaRPr sz="2750" dirty="0">
              <a:latin typeface="Calibri"/>
              <a:cs typeface="Calibri"/>
            </a:endParaRPr>
          </a:p>
          <a:p>
            <a:pPr marL="508000" marR="133350" indent="-457200">
              <a:lnSpc>
                <a:spcPct val="100000"/>
              </a:lnSpc>
              <a:buFont typeface="Arial MT"/>
              <a:buChar char="•"/>
              <a:tabLst>
                <a:tab pos="507365" algn="l"/>
                <a:tab pos="508000" algn="l"/>
                <a:tab pos="8470900" algn="l"/>
              </a:tabLst>
            </a:pPr>
            <a:r>
              <a:rPr sz="2800" spc="-10" dirty="0">
                <a:latin typeface="Calibri"/>
                <a:cs typeface="Calibri"/>
              </a:rPr>
              <a:t>Thi</a:t>
            </a:r>
            <a:r>
              <a:rPr sz="2800" spc="-5" dirty="0">
                <a:latin typeface="Calibri"/>
                <a:cs typeface="Calibri"/>
              </a:rPr>
              <a:t>s</a:t>
            </a:r>
            <a:r>
              <a:rPr sz="2800" spc="5" dirty="0">
                <a:latin typeface="Calibri"/>
                <a:cs typeface="Calibri"/>
              </a:rPr>
              <a:t> </a:t>
            </a:r>
            <a:r>
              <a:rPr sz="2800" spc="-10" dirty="0">
                <a:latin typeface="Calibri"/>
                <a:cs typeface="Calibri"/>
              </a:rPr>
              <a:t>p</a:t>
            </a:r>
            <a:r>
              <a:rPr sz="2800" spc="-65" dirty="0">
                <a:latin typeface="Calibri"/>
                <a:cs typeface="Calibri"/>
              </a:rPr>
              <a:t>r</a:t>
            </a:r>
            <a:r>
              <a:rPr sz="2800" spc="-10" dirty="0">
                <a:latin typeface="Calibri"/>
                <a:cs typeface="Calibri"/>
              </a:rPr>
              <a:t>o</a:t>
            </a:r>
            <a:r>
              <a:rPr sz="2800" spc="-30" dirty="0">
                <a:latin typeface="Calibri"/>
                <a:cs typeface="Calibri"/>
              </a:rPr>
              <a:t>t</a:t>
            </a:r>
            <a:r>
              <a:rPr sz="2800" spc="-10" dirty="0">
                <a:latin typeface="Calibri"/>
                <a:cs typeface="Calibri"/>
              </a:rPr>
              <a:t>o</a:t>
            </a:r>
            <a:r>
              <a:rPr sz="2800" spc="-25" dirty="0">
                <a:latin typeface="Calibri"/>
                <a:cs typeface="Calibri"/>
              </a:rPr>
              <a:t>c</a:t>
            </a:r>
            <a:r>
              <a:rPr sz="2800" spc="-10" dirty="0">
                <a:latin typeface="Calibri"/>
                <a:cs typeface="Calibri"/>
              </a:rPr>
              <a:t>o</a:t>
            </a:r>
            <a:r>
              <a:rPr sz="2800" spc="-5" dirty="0">
                <a:latin typeface="Calibri"/>
                <a:cs typeface="Calibri"/>
              </a:rPr>
              <a:t>l</a:t>
            </a:r>
            <a:r>
              <a:rPr sz="2800" spc="15" dirty="0">
                <a:latin typeface="Calibri"/>
                <a:cs typeface="Calibri"/>
              </a:rPr>
              <a:t> </a:t>
            </a:r>
            <a:r>
              <a:rPr sz="2800" spc="-25" dirty="0">
                <a:latin typeface="Calibri"/>
                <a:cs typeface="Calibri"/>
              </a:rPr>
              <a:t>c</a:t>
            </a:r>
            <a:r>
              <a:rPr sz="2800" spc="-5" dirty="0">
                <a:latin typeface="Calibri"/>
                <a:cs typeface="Calibri"/>
              </a:rPr>
              <a:t>an </a:t>
            </a:r>
            <a:r>
              <a:rPr sz="2800" spc="-10" dirty="0">
                <a:latin typeface="Calibri"/>
                <a:cs typeface="Calibri"/>
              </a:rPr>
              <a:t>sen</a:t>
            </a:r>
            <a:r>
              <a:rPr sz="2800" spc="-5" dirty="0">
                <a:latin typeface="Calibri"/>
                <a:cs typeface="Calibri"/>
              </a:rPr>
              <a:t>d</a:t>
            </a:r>
            <a:r>
              <a:rPr sz="2800" spc="15" dirty="0">
                <a:latin typeface="Calibri"/>
                <a:cs typeface="Calibri"/>
              </a:rPr>
              <a:t> </a:t>
            </a:r>
            <a:r>
              <a:rPr sz="2800" spc="-10" dirty="0">
                <a:latin typeface="Calibri"/>
                <a:cs typeface="Calibri"/>
              </a:rPr>
              <a:t>s</a:t>
            </a:r>
            <a:r>
              <a:rPr sz="2800" spc="-20" dirty="0">
                <a:latin typeface="Calibri"/>
                <a:cs typeface="Calibri"/>
              </a:rPr>
              <a:t>e</a:t>
            </a:r>
            <a:r>
              <a:rPr sz="2800" spc="-35" dirty="0">
                <a:latin typeface="Calibri"/>
                <a:cs typeface="Calibri"/>
              </a:rPr>
              <a:t>v</a:t>
            </a:r>
            <a:r>
              <a:rPr sz="2800" spc="-5" dirty="0">
                <a:latin typeface="Calibri"/>
                <a:cs typeface="Calibri"/>
              </a:rPr>
              <a:t>e</a:t>
            </a:r>
            <a:r>
              <a:rPr sz="2800" spc="-70" dirty="0">
                <a:latin typeface="Calibri"/>
                <a:cs typeface="Calibri"/>
              </a:rPr>
              <a:t>r</a:t>
            </a:r>
            <a:r>
              <a:rPr sz="2800" spc="-5" dirty="0">
                <a:latin typeface="Calibri"/>
                <a:cs typeface="Calibri"/>
              </a:rPr>
              <a:t>al </a:t>
            </a:r>
            <a:r>
              <a:rPr sz="2800" spc="-10" dirty="0">
                <a:latin typeface="Calibri"/>
                <a:cs typeface="Calibri"/>
              </a:rPr>
              <a:t>f</a:t>
            </a:r>
            <a:r>
              <a:rPr sz="2800" spc="-70" dirty="0">
                <a:latin typeface="Calibri"/>
                <a:cs typeface="Calibri"/>
              </a:rPr>
              <a:t>r</a:t>
            </a:r>
            <a:r>
              <a:rPr sz="2800" spc="-5" dirty="0">
                <a:latin typeface="Calibri"/>
                <a:cs typeface="Calibri"/>
              </a:rPr>
              <a:t>ames</a:t>
            </a:r>
            <a:r>
              <a:rPr sz="2800" spc="10" dirty="0">
                <a:latin typeface="Calibri"/>
                <a:cs typeface="Calibri"/>
              </a:rPr>
              <a:t> </a:t>
            </a:r>
            <a:r>
              <a:rPr sz="2800" spc="-10" dirty="0">
                <a:latin typeface="Calibri"/>
                <a:cs typeface="Calibri"/>
              </a:rPr>
              <a:t>b</a:t>
            </a:r>
            <a:r>
              <a:rPr sz="2800" spc="-35" dirty="0">
                <a:latin typeface="Calibri"/>
                <a:cs typeface="Calibri"/>
              </a:rPr>
              <a:t>e</a:t>
            </a:r>
            <a:r>
              <a:rPr sz="2800" spc="-70" dirty="0">
                <a:latin typeface="Calibri"/>
                <a:cs typeface="Calibri"/>
              </a:rPr>
              <a:t>f</a:t>
            </a:r>
            <a:r>
              <a:rPr sz="2800" spc="-10" dirty="0">
                <a:latin typeface="Calibri"/>
                <a:cs typeface="Calibri"/>
              </a:rPr>
              <a:t>o</a:t>
            </a:r>
            <a:r>
              <a:rPr sz="2800" spc="-45" dirty="0">
                <a:latin typeface="Calibri"/>
                <a:cs typeface="Calibri"/>
              </a:rPr>
              <a:t>r</a:t>
            </a:r>
            <a:r>
              <a:rPr sz="2800" spc="-5" dirty="0">
                <a:latin typeface="Calibri"/>
                <a:cs typeface="Calibri"/>
              </a:rPr>
              <a:t>e</a:t>
            </a:r>
            <a:r>
              <a:rPr sz="2800" dirty="0">
                <a:latin typeface="Calibri"/>
                <a:cs typeface="Calibri"/>
              </a:rPr>
              <a:t> </a:t>
            </a:r>
            <a:r>
              <a:rPr sz="2800" spc="-45" dirty="0">
                <a:latin typeface="Calibri"/>
                <a:cs typeface="Calibri"/>
              </a:rPr>
              <a:t>r</a:t>
            </a:r>
            <a:r>
              <a:rPr sz="2800" spc="-5" dirty="0">
                <a:latin typeface="Calibri"/>
                <a:cs typeface="Calibri"/>
              </a:rPr>
              <a:t>eceiv</a:t>
            </a:r>
            <a:r>
              <a:rPr sz="2800" spc="-20" dirty="0">
                <a:latin typeface="Calibri"/>
                <a:cs typeface="Calibri"/>
              </a:rPr>
              <a:t>i</a:t>
            </a:r>
            <a:r>
              <a:rPr sz="2800" spc="-10" dirty="0">
                <a:latin typeface="Calibri"/>
                <a:cs typeface="Calibri"/>
              </a:rPr>
              <a:t>n</a:t>
            </a:r>
            <a:r>
              <a:rPr sz="2800" spc="-5" dirty="0">
                <a:latin typeface="Calibri"/>
                <a:cs typeface="Calibri"/>
              </a:rPr>
              <a:t>g</a:t>
            </a:r>
            <a:r>
              <a:rPr sz="2800" dirty="0">
                <a:latin typeface="Calibri"/>
                <a:cs typeface="Calibri"/>
              </a:rPr>
              <a:t>	</a:t>
            </a:r>
            <a:r>
              <a:rPr sz="2800" spc="-5" dirty="0">
                <a:latin typeface="Calibri"/>
                <a:cs typeface="Calibri"/>
              </a:rPr>
              <a:t>a</a:t>
            </a:r>
            <a:r>
              <a:rPr sz="2800" dirty="0">
                <a:latin typeface="Calibri"/>
                <a:cs typeface="Calibri"/>
              </a:rPr>
              <a:t>c</a:t>
            </a:r>
            <a:r>
              <a:rPr sz="2800" spc="-5" dirty="0">
                <a:latin typeface="Calibri"/>
                <a:cs typeface="Calibri"/>
              </a:rPr>
              <a:t>kn</a:t>
            </a:r>
            <a:r>
              <a:rPr sz="2800" spc="-20" dirty="0">
                <a:latin typeface="Calibri"/>
                <a:cs typeface="Calibri"/>
              </a:rPr>
              <a:t>o</a:t>
            </a:r>
            <a:r>
              <a:rPr sz="2800" spc="-5" dirty="0">
                <a:latin typeface="Calibri"/>
                <a:cs typeface="Calibri"/>
              </a:rPr>
              <a:t>wledgme</a:t>
            </a:r>
            <a:r>
              <a:rPr sz="2800" spc="-40" dirty="0">
                <a:latin typeface="Calibri"/>
                <a:cs typeface="Calibri"/>
              </a:rPr>
              <a:t>n</a:t>
            </a:r>
            <a:r>
              <a:rPr sz="2800" spc="-5" dirty="0">
                <a:latin typeface="Calibri"/>
                <a:cs typeface="Calibri"/>
              </a:rPr>
              <a:t>ts  it </a:t>
            </a:r>
            <a:r>
              <a:rPr sz="2800" spc="-25" dirty="0" smtClean="0">
                <a:latin typeface="Calibri"/>
                <a:cs typeface="Calibri"/>
              </a:rPr>
              <a:t>keep</a:t>
            </a:r>
            <a:r>
              <a:rPr lang="en-IN" sz="2800" spc="-25" dirty="0" smtClean="0">
                <a:latin typeface="Calibri"/>
                <a:cs typeface="Calibri"/>
              </a:rPr>
              <a:t>s</a:t>
            </a:r>
            <a:r>
              <a:rPr sz="2800" dirty="0" smtClean="0">
                <a:latin typeface="Calibri"/>
                <a:cs typeface="Calibri"/>
              </a:rPr>
              <a:t> </a:t>
            </a:r>
            <a:r>
              <a:rPr sz="2800" spc="-5" dirty="0">
                <a:latin typeface="Calibri"/>
                <a:cs typeface="Calibri"/>
              </a:rPr>
              <a:t>a </a:t>
            </a:r>
            <a:r>
              <a:rPr sz="2800" spc="-15" dirty="0">
                <a:latin typeface="Calibri"/>
                <a:cs typeface="Calibri"/>
              </a:rPr>
              <a:t>copy</a:t>
            </a:r>
            <a:r>
              <a:rPr sz="2800" spc="5" dirty="0">
                <a:latin typeface="Calibri"/>
                <a:cs typeface="Calibri"/>
              </a:rPr>
              <a:t> </a:t>
            </a:r>
            <a:r>
              <a:rPr sz="2800" spc="-5" dirty="0">
                <a:latin typeface="Calibri"/>
                <a:cs typeface="Calibri"/>
              </a:rPr>
              <a:t>of these</a:t>
            </a:r>
            <a:r>
              <a:rPr sz="2800" spc="10" dirty="0">
                <a:latin typeface="Calibri"/>
                <a:cs typeface="Calibri"/>
              </a:rPr>
              <a:t> </a:t>
            </a:r>
            <a:r>
              <a:rPr sz="2800" spc="-15" dirty="0">
                <a:latin typeface="Calibri"/>
                <a:cs typeface="Calibri"/>
              </a:rPr>
              <a:t>frames</a:t>
            </a:r>
            <a:r>
              <a:rPr sz="2800" spc="10" dirty="0">
                <a:latin typeface="Calibri"/>
                <a:cs typeface="Calibri"/>
              </a:rPr>
              <a:t> </a:t>
            </a:r>
            <a:r>
              <a:rPr sz="2800" spc="-10" dirty="0">
                <a:latin typeface="Calibri"/>
                <a:cs typeface="Calibri"/>
              </a:rPr>
              <a:t>until</a:t>
            </a:r>
            <a:r>
              <a:rPr sz="2800" spc="10" dirty="0">
                <a:latin typeface="Calibri"/>
                <a:cs typeface="Calibri"/>
              </a:rPr>
              <a:t> </a:t>
            </a:r>
            <a:r>
              <a:rPr sz="2800" spc="-5" dirty="0">
                <a:latin typeface="Calibri"/>
                <a:cs typeface="Calibri"/>
              </a:rPr>
              <a:t>the</a:t>
            </a:r>
            <a:r>
              <a:rPr sz="2800" dirty="0">
                <a:latin typeface="Calibri"/>
                <a:cs typeface="Calibri"/>
              </a:rPr>
              <a:t> </a:t>
            </a:r>
            <a:r>
              <a:rPr sz="2800" spc="-5" dirty="0">
                <a:latin typeface="Calibri"/>
                <a:cs typeface="Calibri"/>
              </a:rPr>
              <a:t>acknowledgments</a:t>
            </a:r>
            <a:r>
              <a:rPr sz="2800" spc="20" dirty="0">
                <a:latin typeface="Calibri"/>
                <a:cs typeface="Calibri"/>
              </a:rPr>
              <a:t> </a:t>
            </a:r>
            <a:r>
              <a:rPr sz="2800" spc="-10" dirty="0">
                <a:latin typeface="Calibri"/>
                <a:cs typeface="Calibri"/>
              </a:rPr>
              <a:t>arrive.</a:t>
            </a:r>
            <a:endParaRPr sz="2800" dirty="0">
              <a:latin typeface="Calibri"/>
              <a:cs typeface="Calibri"/>
            </a:endParaRPr>
          </a:p>
          <a:p>
            <a:pPr>
              <a:lnSpc>
                <a:spcPct val="100000"/>
              </a:lnSpc>
              <a:spcBef>
                <a:spcPts val="5"/>
              </a:spcBef>
              <a:buFont typeface="Arial MT"/>
              <a:buChar char="•"/>
            </a:pPr>
            <a:endParaRPr sz="2750" dirty="0">
              <a:latin typeface="Calibri"/>
              <a:cs typeface="Calibri"/>
            </a:endParaRPr>
          </a:p>
          <a:p>
            <a:pPr marL="508000" marR="81915" indent="-457200">
              <a:lnSpc>
                <a:spcPct val="100000"/>
              </a:lnSpc>
              <a:buFont typeface="Arial MT"/>
              <a:buChar char="•"/>
              <a:tabLst>
                <a:tab pos="507365" algn="l"/>
                <a:tab pos="508000" algn="l"/>
              </a:tabLst>
            </a:pPr>
            <a:r>
              <a:rPr sz="2800" spc="-5" dirty="0">
                <a:latin typeface="Calibri"/>
                <a:cs typeface="Calibri"/>
              </a:rPr>
              <a:t>In</a:t>
            </a:r>
            <a:r>
              <a:rPr sz="280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Go-Back-N</a:t>
            </a:r>
            <a:r>
              <a:rPr sz="2800" spc="35" dirty="0">
                <a:latin typeface="Calibri"/>
                <a:cs typeface="Calibri"/>
              </a:rPr>
              <a:t> </a:t>
            </a:r>
            <a:r>
              <a:rPr sz="2800" spc="-20" dirty="0">
                <a:latin typeface="Calibri"/>
                <a:cs typeface="Calibri"/>
              </a:rPr>
              <a:t>Protocol,</a:t>
            </a:r>
            <a:r>
              <a:rPr sz="2800" spc="10" dirty="0">
                <a:latin typeface="Calibri"/>
                <a:cs typeface="Calibri"/>
              </a:rPr>
              <a:t> </a:t>
            </a:r>
            <a:r>
              <a:rPr sz="2800" spc="-5" dirty="0">
                <a:latin typeface="Calibri"/>
                <a:cs typeface="Calibri"/>
              </a:rPr>
              <a:t>the</a:t>
            </a:r>
            <a:r>
              <a:rPr sz="2800" spc="30" dirty="0">
                <a:latin typeface="Calibri"/>
                <a:cs typeface="Calibri"/>
              </a:rPr>
              <a:t> </a:t>
            </a:r>
            <a:r>
              <a:rPr sz="2800" b="1" spc="-5" dirty="0">
                <a:solidFill>
                  <a:srgbClr val="006FC0"/>
                </a:solidFill>
                <a:latin typeface="Calibri"/>
                <a:cs typeface="Calibri"/>
              </a:rPr>
              <a:t>sequence</a:t>
            </a:r>
            <a:r>
              <a:rPr sz="2800" b="1" spc="30" dirty="0">
                <a:solidFill>
                  <a:srgbClr val="006FC0"/>
                </a:solidFill>
                <a:latin typeface="Calibri"/>
                <a:cs typeface="Calibri"/>
              </a:rPr>
              <a:t> </a:t>
            </a:r>
            <a:r>
              <a:rPr sz="2800" b="1" spc="-10" dirty="0">
                <a:solidFill>
                  <a:srgbClr val="006FC0"/>
                </a:solidFill>
                <a:latin typeface="Calibri"/>
                <a:cs typeface="Calibri"/>
              </a:rPr>
              <a:t>numbers</a:t>
            </a:r>
            <a:r>
              <a:rPr sz="2800" b="1" spc="5" dirty="0">
                <a:solidFill>
                  <a:srgbClr val="006FC0"/>
                </a:solidFill>
                <a:latin typeface="Calibri"/>
                <a:cs typeface="Calibri"/>
              </a:rPr>
              <a:t> </a:t>
            </a:r>
            <a:r>
              <a:rPr sz="2800" spc="-20" dirty="0">
                <a:latin typeface="Calibri"/>
                <a:cs typeface="Calibri"/>
              </a:rPr>
              <a:t>are</a:t>
            </a:r>
            <a:r>
              <a:rPr sz="2800" spc="10" dirty="0">
                <a:latin typeface="Calibri"/>
                <a:cs typeface="Calibri"/>
              </a:rPr>
              <a:t> </a:t>
            </a:r>
            <a:r>
              <a:rPr sz="2800" spc="-5" dirty="0">
                <a:latin typeface="Calibri"/>
                <a:cs typeface="Calibri"/>
              </a:rPr>
              <a:t>modulo</a:t>
            </a:r>
            <a:r>
              <a:rPr sz="2800" spc="25" dirty="0">
                <a:latin typeface="Calibri"/>
                <a:cs typeface="Calibri"/>
              </a:rPr>
              <a:t> </a:t>
            </a:r>
            <a:r>
              <a:rPr lang="en-IN" sz="2800" b="1" spc="5" dirty="0">
                <a:solidFill>
                  <a:srgbClr val="D00000"/>
                </a:solidFill>
                <a:cs typeface="Calibri"/>
              </a:rPr>
              <a:t>2</a:t>
            </a:r>
            <a:r>
              <a:rPr lang="en-IN" sz="2775" b="1" spc="7" baseline="25525" dirty="0">
                <a:solidFill>
                  <a:srgbClr val="D00000"/>
                </a:solidFill>
                <a:cs typeface="Calibri"/>
              </a:rPr>
              <a:t>m</a:t>
            </a:r>
            <a:r>
              <a:rPr lang="en-IN" sz="2800" spc="25" dirty="0" smtClean="0">
                <a:latin typeface="Calibri"/>
                <a:cs typeface="Calibri"/>
              </a:rPr>
              <a:t> </a:t>
            </a:r>
            <a:r>
              <a:rPr sz="2800" spc="-5" dirty="0" smtClean="0">
                <a:latin typeface="Calibri"/>
                <a:cs typeface="Calibri"/>
              </a:rPr>
              <a:t>i.e</a:t>
            </a:r>
            <a:r>
              <a:rPr sz="2800" spc="-5" dirty="0">
                <a:latin typeface="Calibri"/>
                <a:cs typeface="Calibri"/>
              </a:rPr>
              <a:t>.</a:t>
            </a:r>
            <a:r>
              <a:rPr sz="2800" spc="5" dirty="0">
                <a:latin typeface="Calibri"/>
                <a:cs typeface="Calibri"/>
              </a:rPr>
              <a:t> </a:t>
            </a:r>
            <a:r>
              <a:rPr sz="2800" spc="-5" dirty="0">
                <a:latin typeface="Calibri"/>
                <a:cs typeface="Calibri"/>
              </a:rPr>
              <a:t>the </a:t>
            </a:r>
            <a:r>
              <a:rPr sz="2800" spc="-615" dirty="0">
                <a:latin typeface="Calibri"/>
                <a:cs typeface="Calibri"/>
              </a:rPr>
              <a:t> </a:t>
            </a:r>
            <a:r>
              <a:rPr sz="2800" spc="-10" dirty="0">
                <a:latin typeface="Calibri"/>
                <a:cs typeface="Calibri"/>
              </a:rPr>
              <a:t>sequence</a:t>
            </a:r>
            <a:r>
              <a:rPr sz="2800" spc="25" dirty="0">
                <a:latin typeface="Calibri"/>
                <a:cs typeface="Calibri"/>
              </a:rPr>
              <a:t> </a:t>
            </a:r>
            <a:r>
              <a:rPr sz="2800" spc="-20" dirty="0">
                <a:latin typeface="Calibri"/>
                <a:cs typeface="Calibri"/>
              </a:rPr>
              <a:t>numbers</a:t>
            </a:r>
            <a:r>
              <a:rPr sz="2800" spc="50" dirty="0">
                <a:latin typeface="Calibri"/>
                <a:cs typeface="Calibri"/>
              </a:rPr>
              <a:t> </a:t>
            </a:r>
            <a:r>
              <a:rPr sz="2800" spc="-20" dirty="0">
                <a:latin typeface="Calibri"/>
                <a:cs typeface="Calibri"/>
              </a:rPr>
              <a:t>range</a:t>
            </a:r>
            <a:r>
              <a:rPr sz="2800" dirty="0">
                <a:latin typeface="Calibri"/>
                <a:cs typeface="Calibri"/>
              </a:rPr>
              <a:t> </a:t>
            </a:r>
            <a:r>
              <a:rPr sz="2800" spc="-20" dirty="0">
                <a:latin typeface="Calibri"/>
                <a:cs typeface="Calibri"/>
              </a:rPr>
              <a:t>from</a:t>
            </a:r>
            <a:r>
              <a:rPr sz="2800" spc="30" dirty="0">
                <a:latin typeface="Calibri"/>
                <a:cs typeface="Calibri"/>
              </a:rPr>
              <a:t> </a:t>
            </a:r>
            <a:r>
              <a:rPr sz="2800" b="1" spc="-5" dirty="0">
                <a:solidFill>
                  <a:srgbClr val="D00000"/>
                </a:solidFill>
                <a:latin typeface="Calibri"/>
                <a:cs typeface="Calibri"/>
              </a:rPr>
              <a:t>0</a:t>
            </a:r>
            <a:r>
              <a:rPr sz="2800" b="1" spc="10" dirty="0">
                <a:solidFill>
                  <a:srgbClr val="D00000"/>
                </a:solidFill>
                <a:latin typeface="Calibri"/>
                <a:cs typeface="Calibri"/>
              </a:rPr>
              <a:t> </a:t>
            </a:r>
            <a:r>
              <a:rPr sz="2800" b="1" spc="-15" dirty="0">
                <a:solidFill>
                  <a:srgbClr val="D00000"/>
                </a:solidFill>
                <a:latin typeface="Calibri"/>
                <a:cs typeface="Calibri"/>
              </a:rPr>
              <a:t>to</a:t>
            </a:r>
            <a:r>
              <a:rPr sz="2800" b="1" spc="5" dirty="0">
                <a:solidFill>
                  <a:srgbClr val="D00000"/>
                </a:solidFill>
                <a:latin typeface="Calibri"/>
                <a:cs typeface="Calibri"/>
              </a:rPr>
              <a:t> 2</a:t>
            </a:r>
            <a:r>
              <a:rPr sz="2775" b="1" spc="7" baseline="25525" dirty="0">
                <a:solidFill>
                  <a:srgbClr val="D00000"/>
                </a:solidFill>
                <a:latin typeface="Calibri"/>
                <a:cs typeface="Calibri"/>
              </a:rPr>
              <a:t>m</a:t>
            </a:r>
            <a:r>
              <a:rPr sz="2775" b="1" spc="330" baseline="25525" dirty="0">
                <a:solidFill>
                  <a:srgbClr val="D00000"/>
                </a:solidFill>
                <a:latin typeface="Calibri"/>
                <a:cs typeface="Calibri"/>
              </a:rPr>
              <a:t> </a:t>
            </a:r>
            <a:r>
              <a:rPr sz="2800" b="1" spc="-5" dirty="0">
                <a:solidFill>
                  <a:srgbClr val="D00000"/>
                </a:solidFill>
                <a:latin typeface="Calibri"/>
                <a:cs typeface="Calibri"/>
              </a:rPr>
              <a:t>-</a:t>
            </a:r>
            <a:r>
              <a:rPr sz="2800" b="1" spc="15" dirty="0">
                <a:solidFill>
                  <a:srgbClr val="D00000"/>
                </a:solidFill>
                <a:latin typeface="Calibri"/>
                <a:cs typeface="Calibri"/>
              </a:rPr>
              <a:t> </a:t>
            </a:r>
            <a:r>
              <a:rPr sz="2800" b="1" spc="-5" dirty="0">
                <a:solidFill>
                  <a:srgbClr val="D00000"/>
                </a:solidFill>
                <a:latin typeface="Calibri"/>
                <a:cs typeface="Calibri"/>
              </a:rPr>
              <a:t>1</a:t>
            </a:r>
            <a:r>
              <a:rPr sz="2800" spc="-5" dirty="0">
                <a:latin typeface="Calibri"/>
                <a:cs typeface="Calibri"/>
              </a:rPr>
              <a:t>,</a:t>
            </a:r>
            <a:r>
              <a:rPr sz="2800" spc="10" dirty="0">
                <a:latin typeface="Calibri"/>
                <a:cs typeface="Calibri"/>
              </a:rPr>
              <a:t> </a:t>
            </a:r>
            <a:r>
              <a:rPr sz="2800" spc="-15" dirty="0">
                <a:latin typeface="Calibri"/>
                <a:cs typeface="Calibri"/>
              </a:rPr>
              <a:t>where</a:t>
            </a:r>
            <a:r>
              <a:rPr sz="2800" spc="5" dirty="0">
                <a:latin typeface="Calibri"/>
                <a:cs typeface="Calibri"/>
              </a:rPr>
              <a:t> </a:t>
            </a:r>
            <a:r>
              <a:rPr sz="2800" spc="-5" dirty="0">
                <a:latin typeface="Calibri"/>
                <a:cs typeface="Calibri"/>
              </a:rPr>
              <a:t>m</a:t>
            </a:r>
            <a:r>
              <a:rPr sz="2800" spc="10"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the</a:t>
            </a:r>
            <a:r>
              <a:rPr sz="2800" spc="15" dirty="0">
                <a:latin typeface="Calibri"/>
                <a:cs typeface="Calibri"/>
              </a:rPr>
              <a:t> </a:t>
            </a:r>
            <a:r>
              <a:rPr sz="2800" spc="-25" dirty="0">
                <a:latin typeface="Calibri"/>
                <a:cs typeface="Calibri"/>
              </a:rPr>
              <a:t>size</a:t>
            </a:r>
            <a:r>
              <a:rPr sz="2800" spc="5" dirty="0">
                <a:latin typeface="Calibri"/>
                <a:cs typeface="Calibri"/>
              </a:rPr>
              <a:t> </a:t>
            </a:r>
            <a:r>
              <a:rPr sz="2800" spc="-5" dirty="0">
                <a:latin typeface="Calibri"/>
                <a:cs typeface="Calibri"/>
              </a:rPr>
              <a:t>of the </a:t>
            </a:r>
            <a:r>
              <a:rPr sz="2800" dirty="0">
                <a:latin typeface="Calibri"/>
                <a:cs typeface="Calibri"/>
              </a:rPr>
              <a:t> </a:t>
            </a:r>
            <a:r>
              <a:rPr sz="2800" spc="-10" dirty="0">
                <a:latin typeface="Calibri"/>
                <a:cs typeface="Calibri"/>
              </a:rPr>
              <a:t>sequence</a:t>
            </a:r>
            <a:r>
              <a:rPr sz="2800" spc="25" dirty="0">
                <a:latin typeface="Calibri"/>
                <a:cs typeface="Calibri"/>
              </a:rPr>
              <a:t> </a:t>
            </a:r>
            <a:r>
              <a:rPr sz="2800" spc="-10" dirty="0">
                <a:latin typeface="Calibri"/>
                <a:cs typeface="Calibri"/>
              </a:rPr>
              <a:t>number</a:t>
            </a:r>
            <a:r>
              <a:rPr sz="2800" spc="40" dirty="0">
                <a:latin typeface="Calibri"/>
                <a:cs typeface="Calibri"/>
              </a:rPr>
              <a:t> </a:t>
            </a:r>
            <a:r>
              <a:rPr sz="2800" spc="-10" dirty="0">
                <a:latin typeface="Calibri"/>
                <a:cs typeface="Calibri"/>
              </a:rPr>
              <a:t>field</a:t>
            </a:r>
            <a:r>
              <a:rPr sz="2800" spc="-5" dirty="0">
                <a:latin typeface="Calibri"/>
                <a:cs typeface="Calibri"/>
              </a:rPr>
              <a:t> </a:t>
            </a:r>
            <a:r>
              <a:rPr sz="2800" spc="-10" dirty="0">
                <a:latin typeface="Calibri"/>
                <a:cs typeface="Calibri"/>
              </a:rPr>
              <a:t>in</a:t>
            </a:r>
            <a:r>
              <a:rPr sz="2800" spc="15" dirty="0">
                <a:latin typeface="Calibri"/>
                <a:cs typeface="Calibri"/>
              </a:rPr>
              <a:t> </a:t>
            </a:r>
            <a:r>
              <a:rPr sz="2800" spc="-10" dirty="0">
                <a:latin typeface="Calibri"/>
                <a:cs typeface="Calibri"/>
              </a:rPr>
              <a:t>bits.</a:t>
            </a:r>
            <a:endParaRPr sz="2800" dirty="0">
              <a:latin typeface="Calibri"/>
              <a:cs typeface="Calibri"/>
            </a:endParaRPr>
          </a:p>
        </p:txBody>
      </p:sp>
      <p:sp>
        <p:nvSpPr>
          <p:cNvPr id="5" name="object 5"/>
          <p:cNvSpPr txBox="1">
            <a:spLocks noGrp="1"/>
          </p:cNvSpPr>
          <p:nvPr>
            <p:ph type="title"/>
          </p:nvPr>
        </p:nvSpPr>
        <p:spPr>
          <a:xfrm>
            <a:off x="3236119" y="-199195"/>
            <a:ext cx="2239328"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Go-Back-N</a:t>
            </a:r>
            <a:r>
              <a:rPr b="1" spc="-60" dirty="0">
                <a:latin typeface="Calibri"/>
                <a:cs typeface="Calibri"/>
              </a:rPr>
              <a:t> </a:t>
            </a:r>
            <a:r>
              <a:rPr b="1" spc="-10" dirty="0">
                <a:latin typeface="Calibri"/>
                <a:cs typeface="Calibri"/>
              </a:rPr>
              <a:t>ARQ</a:t>
            </a:r>
          </a:p>
        </p:txBody>
      </p:sp>
    </p:spTree>
    <p:extLst>
      <p:ext uri="{BB962C8B-B14F-4D97-AF65-F5344CB8AC3E}">
        <p14:creationId xmlns:p14="http://schemas.microsoft.com/office/powerpoint/2010/main" val="181647708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571805" y="1071756"/>
            <a:ext cx="7900035" cy="4736553"/>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D00000"/>
                </a:solidFill>
                <a:latin typeface="Calibri"/>
                <a:cs typeface="Calibri"/>
              </a:rPr>
              <a:t>Sliding</a:t>
            </a:r>
            <a:r>
              <a:rPr sz="2800" b="1" spc="-25" dirty="0">
                <a:solidFill>
                  <a:srgbClr val="D00000"/>
                </a:solidFill>
                <a:latin typeface="Calibri"/>
                <a:cs typeface="Calibri"/>
              </a:rPr>
              <a:t> </a:t>
            </a:r>
            <a:r>
              <a:rPr sz="2800" b="1" spc="-10" dirty="0">
                <a:solidFill>
                  <a:srgbClr val="D00000"/>
                </a:solidFill>
                <a:latin typeface="Calibri"/>
                <a:cs typeface="Calibri"/>
              </a:rPr>
              <a:t>Window:</a:t>
            </a:r>
            <a:endParaRPr sz="2800">
              <a:latin typeface="Calibri"/>
              <a:cs typeface="Calibri"/>
            </a:endParaRPr>
          </a:p>
          <a:p>
            <a:pPr marL="469900" marR="1018540" indent="-457200">
              <a:lnSpc>
                <a:spcPct val="100000"/>
              </a:lnSpc>
              <a:buFont typeface="Arial MT"/>
              <a:buChar char="•"/>
              <a:tabLst>
                <a:tab pos="469265" algn="l"/>
                <a:tab pos="469900" algn="l"/>
              </a:tabLst>
            </a:pPr>
            <a:r>
              <a:rPr sz="2800" spc="-10" dirty="0">
                <a:latin typeface="Calibri"/>
                <a:cs typeface="Calibri"/>
              </a:rPr>
              <a:t>Sliding</a:t>
            </a:r>
            <a:r>
              <a:rPr sz="2800" spc="15" dirty="0">
                <a:latin typeface="Calibri"/>
                <a:cs typeface="Calibri"/>
              </a:rPr>
              <a:t> </a:t>
            </a:r>
            <a:r>
              <a:rPr sz="2800" spc="-10" dirty="0">
                <a:latin typeface="Calibri"/>
                <a:cs typeface="Calibri"/>
              </a:rPr>
              <a:t>window</a:t>
            </a:r>
            <a:r>
              <a:rPr sz="2800" spc="15"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an</a:t>
            </a:r>
            <a:r>
              <a:rPr sz="2800" spc="10" dirty="0">
                <a:latin typeface="Calibri"/>
                <a:cs typeface="Calibri"/>
              </a:rPr>
              <a:t> </a:t>
            </a:r>
            <a:r>
              <a:rPr sz="2800" spc="-20" dirty="0">
                <a:latin typeface="Calibri"/>
                <a:cs typeface="Calibri"/>
              </a:rPr>
              <a:t>abstract</a:t>
            </a:r>
            <a:r>
              <a:rPr sz="2800" spc="15" dirty="0">
                <a:latin typeface="Calibri"/>
                <a:cs typeface="Calibri"/>
              </a:rPr>
              <a:t> </a:t>
            </a:r>
            <a:r>
              <a:rPr sz="2800" spc="-10" dirty="0">
                <a:latin typeface="Calibri"/>
                <a:cs typeface="Calibri"/>
              </a:rPr>
              <a:t>concept</a:t>
            </a:r>
            <a:r>
              <a:rPr sz="2800" spc="25" dirty="0">
                <a:latin typeface="Calibri"/>
                <a:cs typeface="Calibri"/>
              </a:rPr>
              <a:t> </a:t>
            </a:r>
            <a:r>
              <a:rPr sz="2800" spc="-10" dirty="0">
                <a:latin typeface="Calibri"/>
                <a:cs typeface="Calibri"/>
              </a:rPr>
              <a:t>that</a:t>
            </a:r>
            <a:r>
              <a:rPr sz="2800" spc="10" dirty="0">
                <a:latin typeface="Calibri"/>
                <a:cs typeface="Calibri"/>
              </a:rPr>
              <a:t> </a:t>
            </a:r>
            <a:r>
              <a:rPr sz="2800" spc="-10" dirty="0">
                <a:latin typeface="Calibri"/>
                <a:cs typeface="Calibri"/>
              </a:rPr>
              <a:t>defines</a:t>
            </a:r>
            <a:r>
              <a:rPr sz="2800" dirty="0">
                <a:latin typeface="Calibri"/>
                <a:cs typeface="Calibri"/>
              </a:rPr>
              <a:t> </a:t>
            </a:r>
            <a:r>
              <a:rPr sz="2800" spc="-5" dirty="0">
                <a:latin typeface="Calibri"/>
                <a:cs typeface="Calibri"/>
              </a:rPr>
              <a:t>the</a:t>
            </a:r>
            <a:r>
              <a:rPr sz="2800" dirty="0">
                <a:latin typeface="Calibri"/>
                <a:cs typeface="Calibri"/>
              </a:rPr>
              <a:t> </a:t>
            </a:r>
            <a:r>
              <a:rPr sz="2800" spc="-20" dirty="0">
                <a:latin typeface="Calibri"/>
                <a:cs typeface="Calibri"/>
              </a:rPr>
              <a:t>range</a:t>
            </a:r>
            <a:r>
              <a:rPr sz="2800" dirty="0">
                <a:latin typeface="Calibri"/>
                <a:cs typeface="Calibri"/>
              </a:rPr>
              <a:t> </a:t>
            </a:r>
            <a:r>
              <a:rPr sz="2800" spc="-10" dirty="0">
                <a:latin typeface="Calibri"/>
                <a:cs typeface="Calibri"/>
              </a:rPr>
              <a:t>of </a:t>
            </a:r>
            <a:r>
              <a:rPr sz="2800" spc="-620" dirty="0">
                <a:latin typeface="Calibri"/>
                <a:cs typeface="Calibri"/>
              </a:rPr>
              <a:t> </a:t>
            </a:r>
            <a:r>
              <a:rPr sz="2800" spc="-10" dirty="0">
                <a:latin typeface="Calibri"/>
                <a:cs typeface="Calibri"/>
              </a:rPr>
              <a:t>sequence</a:t>
            </a:r>
            <a:r>
              <a:rPr sz="2800" spc="20" dirty="0">
                <a:latin typeface="Calibri"/>
                <a:cs typeface="Calibri"/>
              </a:rPr>
              <a:t> </a:t>
            </a:r>
            <a:r>
              <a:rPr sz="2800" spc="-20" dirty="0">
                <a:latin typeface="Calibri"/>
                <a:cs typeface="Calibri"/>
              </a:rPr>
              <a:t>numbers.</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marR="5080" indent="-457200">
              <a:lnSpc>
                <a:spcPct val="100000"/>
              </a:lnSpc>
              <a:buFont typeface="Arial MT"/>
              <a:buChar char="•"/>
              <a:tabLst>
                <a:tab pos="469265" algn="l"/>
                <a:tab pos="469900" algn="l"/>
              </a:tabLst>
            </a:pPr>
            <a:r>
              <a:rPr sz="2800" spc="-5" dirty="0">
                <a:latin typeface="Calibri"/>
                <a:cs typeface="Calibri"/>
              </a:rPr>
              <a:t>The</a:t>
            </a:r>
            <a:r>
              <a:rPr sz="2800" dirty="0">
                <a:latin typeface="Calibri"/>
                <a:cs typeface="Calibri"/>
              </a:rPr>
              <a:t> </a:t>
            </a:r>
            <a:r>
              <a:rPr sz="2800" spc="-20" dirty="0">
                <a:latin typeface="Calibri"/>
                <a:cs typeface="Calibri"/>
              </a:rPr>
              <a:t>range</a:t>
            </a:r>
            <a:r>
              <a:rPr sz="2800" spc="5" dirty="0">
                <a:latin typeface="Calibri"/>
                <a:cs typeface="Calibri"/>
              </a:rPr>
              <a:t> </a:t>
            </a:r>
            <a:r>
              <a:rPr sz="2800" spc="-5" dirty="0">
                <a:latin typeface="Calibri"/>
                <a:cs typeface="Calibri"/>
              </a:rPr>
              <a:t>which</a:t>
            </a:r>
            <a:r>
              <a:rPr sz="2800" spc="25"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concern</a:t>
            </a:r>
            <a:r>
              <a:rPr sz="2800" spc="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sender</a:t>
            </a:r>
            <a:r>
              <a:rPr sz="2800" spc="15" dirty="0">
                <a:latin typeface="Calibri"/>
                <a:cs typeface="Calibri"/>
              </a:rPr>
              <a:t> </a:t>
            </a:r>
            <a:r>
              <a:rPr sz="2800" spc="-5" dirty="0">
                <a:latin typeface="Calibri"/>
                <a:cs typeface="Calibri"/>
              </a:rPr>
              <a:t>is</a:t>
            </a:r>
            <a:r>
              <a:rPr sz="2800" spc="10" dirty="0">
                <a:latin typeface="Calibri"/>
                <a:cs typeface="Calibri"/>
              </a:rPr>
              <a:t> </a:t>
            </a:r>
            <a:r>
              <a:rPr sz="2800" spc="-10" dirty="0">
                <a:latin typeface="Calibri"/>
                <a:cs typeface="Calibri"/>
              </a:rPr>
              <a:t>called</a:t>
            </a:r>
            <a:r>
              <a:rPr sz="2800" spc="10"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send</a:t>
            </a:r>
            <a:r>
              <a:rPr sz="2800" spc="25" dirty="0">
                <a:latin typeface="Calibri"/>
                <a:cs typeface="Calibri"/>
              </a:rPr>
              <a:t> </a:t>
            </a:r>
            <a:r>
              <a:rPr sz="2800" spc="-10" dirty="0">
                <a:latin typeface="Calibri"/>
                <a:cs typeface="Calibri"/>
              </a:rPr>
              <a:t>sliding </a:t>
            </a:r>
            <a:r>
              <a:rPr sz="2800" spc="-620" dirty="0">
                <a:latin typeface="Calibri"/>
                <a:cs typeface="Calibri"/>
              </a:rPr>
              <a:t> </a:t>
            </a:r>
            <a:r>
              <a:rPr sz="2800" spc="-10" dirty="0">
                <a:latin typeface="Calibri"/>
                <a:cs typeface="Calibri"/>
              </a:rPr>
              <a:t>window;</a:t>
            </a:r>
            <a:r>
              <a:rPr sz="2800" spc="20"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range</a:t>
            </a:r>
            <a:r>
              <a:rPr sz="2800" spc="5" dirty="0">
                <a:latin typeface="Calibri"/>
                <a:cs typeface="Calibri"/>
              </a:rPr>
              <a:t> </a:t>
            </a:r>
            <a:r>
              <a:rPr sz="2800" spc="-10" dirty="0">
                <a:latin typeface="Calibri"/>
                <a:cs typeface="Calibri"/>
              </a:rPr>
              <a:t>that</a:t>
            </a:r>
            <a:r>
              <a:rPr sz="2800" spc="-5" dirty="0">
                <a:latin typeface="Calibri"/>
                <a:cs typeface="Calibri"/>
              </a:rPr>
              <a:t> is</a:t>
            </a:r>
            <a:r>
              <a:rPr sz="2800" spc="15"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concern</a:t>
            </a:r>
            <a:r>
              <a:rPr sz="2800" spc="1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 </a:t>
            </a:r>
            <a:r>
              <a:rPr sz="2800" spc="-10" dirty="0">
                <a:latin typeface="Calibri"/>
                <a:cs typeface="Calibri"/>
              </a:rPr>
              <a:t>receiver</a:t>
            </a:r>
            <a:r>
              <a:rPr sz="2800" spc="5" dirty="0">
                <a:latin typeface="Calibri"/>
                <a:cs typeface="Calibri"/>
              </a:rPr>
              <a:t> </a:t>
            </a:r>
            <a:r>
              <a:rPr sz="2800" spc="-5" dirty="0">
                <a:latin typeface="Calibri"/>
                <a:cs typeface="Calibri"/>
              </a:rPr>
              <a:t>is</a:t>
            </a:r>
            <a:r>
              <a:rPr sz="2800" spc="5" dirty="0">
                <a:latin typeface="Calibri"/>
                <a:cs typeface="Calibri"/>
              </a:rPr>
              <a:t> </a:t>
            </a:r>
            <a:r>
              <a:rPr sz="2800" spc="-10" dirty="0">
                <a:latin typeface="Calibri"/>
                <a:cs typeface="Calibri"/>
              </a:rPr>
              <a:t>called</a:t>
            </a:r>
            <a:r>
              <a:rPr sz="2800" dirty="0">
                <a:latin typeface="Calibri"/>
                <a:cs typeface="Calibri"/>
              </a:rPr>
              <a:t> </a:t>
            </a:r>
            <a:r>
              <a:rPr sz="2800" spc="-5" dirty="0">
                <a:latin typeface="Calibri"/>
                <a:cs typeface="Calibri"/>
              </a:rPr>
              <a:t>the </a:t>
            </a:r>
            <a:r>
              <a:rPr sz="2800" dirty="0">
                <a:latin typeface="Calibri"/>
                <a:cs typeface="Calibri"/>
              </a:rPr>
              <a:t> </a:t>
            </a:r>
            <a:r>
              <a:rPr sz="2800" spc="-15" dirty="0">
                <a:latin typeface="Calibri"/>
                <a:cs typeface="Calibri"/>
              </a:rPr>
              <a:t>receive</a:t>
            </a:r>
            <a:r>
              <a:rPr sz="2800" spc="-5" dirty="0">
                <a:latin typeface="Calibri"/>
                <a:cs typeface="Calibri"/>
              </a:rPr>
              <a:t> </a:t>
            </a:r>
            <a:r>
              <a:rPr sz="2800" spc="-10" dirty="0">
                <a:latin typeface="Calibri"/>
                <a:cs typeface="Calibri"/>
              </a:rPr>
              <a:t>sliding</a:t>
            </a:r>
            <a:r>
              <a:rPr sz="2800" spc="30" dirty="0">
                <a:latin typeface="Calibri"/>
                <a:cs typeface="Calibri"/>
              </a:rPr>
              <a:t> </a:t>
            </a:r>
            <a:r>
              <a:rPr sz="2800" spc="-35" dirty="0">
                <a:latin typeface="Calibri"/>
                <a:cs typeface="Calibri"/>
              </a:rPr>
              <a:t>window.</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marR="202565" indent="-457200">
              <a:lnSpc>
                <a:spcPct val="100000"/>
              </a:lnSpc>
              <a:spcBef>
                <a:spcPts val="5"/>
              </a:spcBef>
              <a:buFont typeface="Arial MT"/>
              <a:buChar char="•"/>
              <a:tabLst>
                <a:tab pos="469265" algn="l"/>
                <a:tab pos="469900" algn="l"/>
              </a:tabLst>
            </a:pPr>
            <a:r>
              <a:rPr sz="2800" spc="-10" dirty="0">
                <a:latin typeface="Calibri"/>
                <a:cs typeface="Calibri"/>
              </a:rPr>
              <a:t>The</a:t>
            </a:r>
            <a:r>
              <a:rPr sz="2800" dirty="0">
                <a:latin typeface="Calibri"/>
                <a:cs typeface="Calibri"/>
              </a:rPr>
              <a:t> </a:t>
            </a:r>
            <a:r>
              <a:rPr sz="2800" spc="-10" dirty="0">
                <a:latin typeface="Calibri"/>
                <a:cs typeface="Calibri"/>
              </a:rPr>
              <a:t>window</a:t>
            </a:r>
            <a:r>
              <a:rPr sz="2800" spc="35" dirty="0">
                <a:latin typeface="Calibri"/>
                <a:cs typeface="Calibri"/>
              </a:rPr>
              <a:t> </a:t>
            </a:r>
            <a:r>
              <a:rPr sz="2800" spc="-15" dirty="0">
                <a:latin typeface="Calibri"/>
                <a:cs typeface="Calibri"/>
              </a:rPr>
              <a:t>at</a:t>
            </a:r>
            <a:r>
              <a:rPr sz="2800" spc="-5" dirty="0">
                <a:latin typeface="Calibri"/>
                <a:cs typeface="Calibri"/>
              </a:rPr>
              <a:t> </a:t>
            </a:r>
            <a:r>
              <a:rPr sz="2800" spc="-20" dirty="0">
                <a:latin typeface="Calibri"/>
                <a:cs typeface="Calibri"/>
              </a:rPr>
              <a:t>any</a:t>
            </a:r>
            <a:r>
              <a:rPr sz="2800" spc="15" dirty="0">
                <a:latin typeface="Calibri"/>
                <a:cs typeface="Calibri"/>
              </a:rPr>
              <a:t> </a:t>
            </a:r>
            <a:r>
              <a:rPr sz="2800" spc="-5" dirty="0">
                <a:latin typeface="Calibri"/>
                <a:cs typeface="Calibri"/>
              </a:rPr>
              <a:t>time</a:t>
            </a:r>
            <a:r>
              <a:rPr sz="2800" spc="5" dirty="0">
                <a:latin typeface="Calibri"/>
                <a:cs typeface="Calibri"/>
              </a:rPr>
              <a:t> </a:t>
            </a:r>
            <a:r>
              <a:rPr sz="2800" spc="-10" dirty="0">
                <a:latin typeface="Calibri"/>
                <a:cs typeface="Calibri"/>
              </a:rPr>
              <a:t>divides</a:t>
            </a:r>
            <a:r>
              <a:rPr sz="2800" spc="4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possible</a:t>
            </a:r>
            <a:r>
              <a:rPr sz="2800" spc="40" dirty="0">
                <a:latin typeface="Calibri"/>
                <a:cs typeface="Calibri"/>
              </a:rPr>
              <a:t> </a:t>
            </a:r>
            <a:r>
              <a:rPr sz="2800" spc="-10" dirty="0">
                <a:latin typeface="Calibri"/>
                <a:cs typeface="Calibri"/>
              </a:rPr>
              <a:t>sequence</a:t>
            </a:r>
            <a:r>
              <a:rPr sz="2800" spc="30" dirty="0">
                <a:latin typeface="Calibri"/>
                <a:cs typeface="Calibri"/>
              </a:rPr>
              <a:t> </a:t>
            </a:r>
            <a:r>
              <a:rPr sz="2800" spc="-20" dirty="0">
                <a:latin typeface="Calibri"/>
                <a:cs typeface="Calibri"/>
              </a:rPr>
              <a:t>numbers</a:t>
            </a:r>
            <a:r>
              <a:rPr sz="2800" spc="55" dirty="0">
                <a:latin typeface="Calibri"/>
                <a:cs typeface="Calibri"/>
              </a:rPr>
              <a:t> </a:t>
            </a:r>
            <a:r>
              <a:rPr sz="2800" spc="-20" dirty="0">
                <a:latin typeface="Calibri"/>
                <a:cs typeface="Calibri"/>
              </a:rPr>
              <a:t>into </a:t>
            </a:r>
            <a:r>
              <a:rPr sz="2800" spc="-620" dirty="0">
                <a:latin typeface="Calibri"/>
                <a:cs typeface="Calibri"/>
              </a:rPr>
              <a:t> </a:t>
            </a:r>
            <a:r>
              <a:rPr sz="2800" spc="-25" dirty="0">
                <a:latin typeface="Calibri"/>
                <a:cs typeface="Calibri"/>
              </a:rPr>
              <a:t>four</a:t>
            </a:r>
            <a:r>
              <a:rPr sz="2800" dirty="0">
                <a:latin typeface="Calibri"/>
                <a:cs typeface="Calibri"/>
              </a:rPr>
              <a:t> </a:t>
            </a:r>
            <a:r>
              <a:rPr sz="2800" spc="-10" dirty="0">
                <a:latin typeface="Calibri"/>
                <a:cs typeface="Calibri"/>
              </a:rPr>
              <a:t>regions.</a:t>
            </a:r>
            <a:endParaRPr sz="2800">
              <a:latin typeface="Calibri"/>
              <a:cs typeface="Calibri"/>
            </a:endParaRPr>
          </a:p>
        </p:txBody>
      </p:sp>
      <p:sp>
        <p:nvSpPr>
          <p:cNvPr id="5" name="object 5"/>
          <p:cNvSpPr txBox="1">
            <a:spLocks noGrp="1"/>
          </p:cNvSpPr>
          <p:nvPr>
            <p:ph type="title"/>
          </p:nvPr>
        </p:nvSpPr>
        <p:spPr>
          <a:xfrm>
            <a:off x="3236119" y="-199195"/>
            <a:ext cx="2239328"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Go-Back-N</a:t>
            </a:r>
            <a:r>
              <a:rPr b="1" spc="-60" dirty="0">
                <a:latin typeface="Calibri"/>
                <a:cs typeface="Calibri"/>
              </a:rPr>
              <a:t> </a:t>
            </a:r>
            <a:r>
              <a:rPr b="1" spc="-10" dirty="0">
                <a:latin typeface="Calibri"/>
                <a:cs typeface="Calibri"/>
              </a:rPr>
              <a:t>ARQ</a:t>
            </a:r>
          </a:p>
        </p:txBody>
      </p:sp>
    </p:spTree>
    <p:extLst>
      <p:ext uri="{BB962C8B-B14F-4D97-AF65-F5344CB8AC3E}">
        <p14:creationId xmlns:p14="http://schemas.microsoft.com/office/powerpoint/2010/main" val="231792301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819609" y="643247"/>
            <a:ext cx="3257074" cy="751488"/>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Send</a:t>
            </a:r>
            <a:r>
              <a:rPr sz="2400" b="1" spc="-25" dirty="0">
                <a:latin typeface="Calibri"/>
                <a:cs typeface="Calibri"/>
              </a:rPr>
              <a:t> </a:t>
            </a:r>
            <a:r>
              <a:rPr sz="2400" b="1" spc="-5" dirty="0">
                <a:latin typeface="Calibri"/>
                <a:cs typeface="Calibri"/>
              </a:rPr>
              <a:t>Window</a:t>
            </a:r>
            <a:r>
              <a:rPr sz="2400" b="1" spc="-15" dirty="0">
                <a:latin typeface="Calibri"/>
                <a:cs typeface="Calibri"/>
              </a:rPr>
              <a:t> for</a:t>
            </a:r>
            <a:r>
              <a:rPr sz="2400" b="1" spc="-20" dirty="0">
                <a:latin typeface="Calibri"/>
                <a:cs typeface="Calibri"/>
              </a:rPr>
              <a:t> </a:t>
            </a:r>
            <a:r>
              <a:rPr sz="2400" b="1" spc="-5" dirty="0">
                <a:latin typeface="Calibri"/>
                <a:cs typeface="Calibri"/>
              </a:rPr>
              <a:t>Go-Back-N</a:t>
            </a:r>
            <a:r>
              <a:rPr sz="2400" b="1" spc="-30" dirty="0">
                <a:latin typeface="Calibri"/>
                <a:cs typeface="Calibri"/>
              </a:rPr>
              <a:t> </a:t>
            </a:r>
            <a:r>
              <a:rPr sz="2400" b="1" spc="-10" dirty="0">
                <a:latin typeface="Calibri"/>
                <a:cs typeface="Calibri"/>
              </a:rPr>
              <a:t>ARQ:</a:t>
            </a:r>
            <a:endParaRPr sz="2400">
              <a:latin typeface="Calibri"/>
              <a:cs typeface="Calibri"/>
            </a:endParaRPr>
          </a:p>
        </p:txBody>
      </p:sp>
      <p:pic>
        <p:nvPicPr>
          <p:cNvPr id="5" name="object 5"/>
          <p:cNvPicPr/>
          <p:nvPr/>
        </p:nvPicPr>
        <p:blipFill>
          <a:blip r:embed="rId4" cstate="print"/>
          <a:stretch>
            <a:fillRect/>
          </a:stretch>
        </p:blipFill>
        <p:spPr>
          <a:xfrm>
            <a:off x="626364" y="1412752"/>
            <a:ext cx="7262622" cy="5162497"/>
          </a:xfrm>
          <a:prstGeom prst="rect">
            <a:avLst/>
          </a:prstGeom>
        </p:spPr>
      </p:pic>
    </p:spTree>
    <p:extLst>
      <p:ext uri="{BB962C8B-B14F-4D97-AF65-F5344CB8AC3E}">
        <p14:creationId xmlns:p14="http://schemas.microsoft.com/office/powerpoint/2010/main" val="175661396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1981200" y="366144"/>
            <a:ext cx="4648199" cy="382156"/>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Calibri"/>
                <a:cs typeface="Calibri"/>
              </a:rPr>
              <a:t>Go-Back-N</a:t>
            </a:r>
            <a:r>
              <a:rPr sz="2400" b="1" spc="-60" dirty="0">
                <a:latin typeface="Calibri"/>
                <a:cs typeface="Calibri"/>
              </a:rPr>
              <a:t> </a:t>
            </a:r>
            <a:r>
              <a:rPr sz="2400" b="1" spc="-10" dirty="0">
                <a:latin typeface="Calibri"/>
                <a:cs typeface="Calibri"/>
              </a:rPr>
              <a:t>ARQ</a:t>
            </a:r>
          </a:p>
        </p:txBody>
      </p:sp>
      <p:sp>
        <p:nvSpPr>
          <p:cNvPr id="5" name="object 5"/>
          <p:cNvSpPr txBox="1"/>
          <p:nvPr/>
        </p:nvSpPr>
        <p:spPr>
          <a:xfrm>
            <a:off x="545226" y="795691"/>
            <a:ext cx="7788116" cy="5767605"/>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D00000"/>
                </a:solidFill>
                <a:latin typeface="Calibri"/>
                <a:cs typeface="Calibri"/>
              </a:rPr>
              <a:t>Send</a:t>
            </a:r>
            <a:r>
              <a:rPr sz="2800" b="1" spc="-20" dirty="0">
                <a:solidFill>
                  <a:srgbClr val="D00000"/>
                </a:solidFill>
                <a:latin typeface="Calibri"/>
                <a:cs typeface="Calibri"/>
              </a:rPr>
              <a:t> </a:t>
            </a:r>
            <a:r>
              <a:rPr sz="2800" b="1" spc="-10" dirty="0">
                <a:solidFill>
                  <a:srgbClr val="D00000"/>
                </a:solidFill>
                <a:latin typeface="Calibri"/>
                <a:cs typeface="Calibri"/>
              </a:rPr>
              <a:t>Window </a:t>
            </a:r>
            <a:r>
              <a:rPr sz="2800" b="1" spc="-5" dirty="0">
                <a:solidFill>
                  <a:srgbClr val="D00000"/>
                </a:solidFill>
                <a:latin typeface="Calibri"/>
                <a:cs typeface="Calibri"/>
              </a:rPr>
              <a:t>:</a:t>
            </a:r>
            <a:endParaRPr sz="2800" dirty="0">
              <a:latin typeface="Calibri"/>
              <a:cs typeface="Calibri"/>
            </a:endParaRPr>
          </a:p>
          <a:p>
            <a:pPr marL="469900" marR="869950" indent="-457200">
              <a:lnSpc>
                <a:spcPct val="100000"/>
              </a:lnSpc>
              <a:buFont typeface="Arial MT"/>
              <a:buChar char="•"/>
              <a:tabLst>
                <a:tab pos="469265" algn="l"/>
                <a:tab pos="469900" algn="l"/>
              </a:tabLst>
            </a:pPr>
            <a:r>
              <a:rPr sz="2800" spc="-10" dirty="0">
                <a:latin typeface="Calibri"/>
                <a:cs typeface="Calibri"/>
              </a:rPr>
              <a:t>Sliding</a:t>
            </a:r>
            <a:r>
              <a:rPr sz="2800" spc="15" dirty="0">
                <a:latin typeface="Calibri"/>
                <a:cs typeface="Calibri"/>
              </a:rPr>
              <a:t> </a:t>
            </a:r>
            <a:r>
              <a:rPr sz="2800" spc="-10" dirty="0">
                <a:latin typeface="Calibri"/>
                <a:cs typeface="Calibri"/>
              </a:rPr>
              <a:t>window</a:t>
            </a:r>
            <a:r>
              <a:rPr sz="2800" spc="15" dirty="0">
                <a:latin typeface="Calibri"/>
                <a:cs typeface="Calibri"/>
              </a:rPr>
              <a:t> </a:t>
            </a:r>
            <a:r>
              <a:rPr sz="2800" spc="-5" dirty="0">
                <a:latin typeface="Calibri"/>
                <a:cs typeface="Calibri"/>
              </a:rPr>
              <a:t>is</a:t>
            </a:r>
            <a:r>
              <a:rPr sz="2800" spc="5" dirty="0">
                <a:latin typeface="Calibri"/>
                <a:cs typeface="Calibri"/>
              </a:rPr>
              <a:t> </a:t>
            </a:r>
            <a:r>
              <a:rPr sz="2800" spc="-5" dirty="0">
                <a:latin typeface="Calibri"/>
                <a:cs typeface="Calibri"/>
              </a:rPr>
              <a:t>an</a:t>
            </a:r>
            <a:r>
              <a:rPr sz="2800" spc="10" dirty="0">
                <a:latin typeface="Calibri"/>
                <a:cs typeface="Calibri"/>
              </a:rPr>
              <a:t> </a:t>
            </a:r>
            <a:r>
              <a:rPr sz="2800" spc="-20" dirty="0">
                <a:latin typeface="Calibri"/>
                <a:cs typeface="Calibri"/>
              </a:rPr>
              <a:t>abstract</a:t>
            </a:r>
            <a:r>
              <a:rPr sz="2800" spc="15" dirty="0">
                <a:latin typeface="Calibri"/>
                <a:cs typeface="Calibri"/>
              </a:rPr>
              <a:t> </a:t>
            </a:r>
            <a:r>
              <a:rPr sz="2800" spc="-10" dirty="0">
                <a:latin typeface="Calibri"/>
                <a:cs typeface="Calibri"/>
              </a:rPr>
              <a:t>concept</a:t>
            </a:r>
            <a:r>
              <a:rPr sz="2800" spc="25" dirty="0">
                <a:latin typeface="Calibri"/>
                <a:cs typeface="Calibri"/>
              </a:rPr>
              <a:t> </a:t>
            </a:r>
            <a:r>
              <a:rPr sz="2800" spc="-10" dirty="0">
                <a:latin typeface="Calibri"/>
                <a:cs typeface="Calibri"/>
              </a:rPr>
              <a:t>that</a:t>
            </a:r>
            <a:r>
              <a:rPr sz="2800" spc="10" dirty="0">
                <a:latin typeface="Calibri"/>
                <a:cs typeface="Calibri"/>
              </a:rPr>
              <a:t> </a:t>
            </a:r>
            <a:r>
              <a:rPr sz="2800" spc="-10" dirty="0">
                <a:latin typeface="Calibri"/>
                <a:cs typeface="Calibri"/>
              </a:rPr>
              <a:t>defines</a:t>
            </a:r>
            <a:r>
              <a:rPr sz="2800" dirty="0">
                <a:latin typeface="Calibri"/>
                <a:cs typeface="Calibri"/>
              </a:rPr>
              <a:t> </a:t>
            </a:r>
            <a:r>
              <a:rPr sz="2800" spc="-5" dirty="0">
                <a:latin typeface="Calibri"/>
                <a:cs typeface="Calibri"/>
              </a:rPr>
              <a:t>the</a:t>
            </a:r>
            <a:r>
              <a:rPr sz="2800" dirty="0">
                <a:latin typeface="Calibri"/>
                <a:cs typeface="Calibri"/>
              </a:rPr>
              <a:t> </a:t>
            </a:r>
            <a:r>
              <a:rPr sz="2800" spc="-20" dirty="0">
                <a:latin typeface="Calibri"/>
                <a:cs typeface="Calibri"/>
              </a:rPr>
              <a:t>range</a:t>
            </a:r>
            <a:r>
              <a:rPr sz="2800" dirty="0">
                <a:latin typeface="Calibri"/>
                <a:cs typeface="Calibri"/>
              </a:rPr>
              <a:t> </a:t>
            </a:r>
            <a:r>
              <a:rPr sz="2800" spc="-10" dirty="0">
                <a:latin typeface="Calibri"/>
                <a:cs typeface="Calibri"/>
              </a:rPr>
              <a:t>of </a:t>
            </a:r>
            <a:r>
              <a:rPr sz="2800" spc="-620" dirty="0">
                <a:latin typeface="Calibri"/>
                <a:cs typeface="Calibri"/>
              </a:rPr>
              <a:t> </a:t>
            </a:r>
            <a:r>
              <a:rPr sz="2800" spc="-10" dirty="0">
                <a:latin typeface="Calibri"/>
                <a:cs typeface="Calibri"/>
              </a:rPr>
              <a:t>sequence</a:t>
            </a:r>
            <a:r>
              <a:rPr sz="2800" spc="20" dirty="0">
                <a:latin typeface="Calibri"/>
                <a:cs typeface="Calibri"/>
              </a:rPr>
              <a:t> </a:t>
            </a:r>
            <a:r>
              <a:rPr sz="2800" spc="-20" dirty="0">
                <a:latin typeface="Calibri"/>
                <a:cs typeface="Calibri"/>
              </a:rPr>
              <a:t>numbers.</a:t>
            </a:r>
            <a:endParaRPr sz="2800" dirty="0">
              <a:latin typeface="Calibri"/>
              <a:cs typeface="Calibri"/>
            </a:endParaRPr>
          </a:p>
          <a:p>
            <a:pPr marL="469900" marR="1527810" indent="-457200">
              <a:lnSpc>
                <a:spcPct val="100000"/>
              </a:lnSpc>
              <a:buFont typeface="Arial MT"/>
              <a:buChar char="•"/>
              <a:tabLst>
                <a:tab pos="469265" algn="l"/>
                <a:tab pos="469900" algn="l"/>
              </a:tabLst>
            </a:pPr>
            <a:r>
              <a:rPr sz="2800" spc="-10" dirty="0">
                <a:latin typeface="Calibri"/>
                <a:cs typeface="Calibri"/>
              </a:rPr>
              <a:t>The</a:t>
            </a:r>
            <a:r>
              <a:rPr sz="2800" spc="-5" dirty="0">
                <a:latin typeface="Calibri"/>
                <a:cs typeface="Calibri"/>
              </a:rPr>
              <a:t> </a:t>
            </a:r>
            <a:r>
              <a:rPr sz="2800" spc="-10" dirty="0">
                <a:latin typeface="Calibri"/>
                <a:cs typeface="Calibri"/>
              </a:rPr>
              <a:t>send</a:t>
            </a:r>
            <a:r>
              <a:rPr sz="2800" spc="25" dirty="0">
                <a:latin typeface="Calibri"/>
                <a:cs typeface="Calibri"/>
              </a:rPr>
              <a:t> </a:t>
            </a:r>
            <a:r>
              <a:rPr sz="2800" spc="-10" dirty="0">
                <a:latin typeface="Calibri"/>
                <a:cs typeface="Calibri"/>
              </a:rPr>
              <a:t>window</a:t>
            </a:r>
            <a:r>
              <a:rPr sz="2800" spc="35" dirty="0">
                <a:latin typeface="Calibri"/>
                <a:cs typeface="Calibri"/>
              </a:rPr>
              <a:t> </a:t>
            </a:r>
            <a:r>
              <a:rPr sz="2800" spc="-10" dirty="0">
                <a:latin typeface="Calibri"/>
                <a:cs typeface="Calibri"/>
              </a:rPr>
              <a:t>can</a:t>
            </a:r>
            <a:r>
              <a:rPr sz="2800" dirty="0">
                <a:latin typeface="Calibri"/>
                <a:cs typeface="Calibri"/>
              </a:rPr>
              <a:t> </a:t>
            </a:r>
            <a:r>
              <a:rPr sz="2800" spc="-10" dirty="0">
                <a:latin typeface="Calibri"/>
                <a:cs typeface="Calibri"/>
              </a:rPr>
              <a:t>slide</a:t>
            </a:r>
            <a:r>
              <a:rPr sz="2800" spc="20" dirty="0">
                <a:latin typeface="Calibri"/>
                <a:cs typeface="Calibri"/>
              </a:rPr>
              <a:t> </a:t>
            </a:r>
            <a:r>
              <a:rPr sz="2800" spc="-10" dirty="0">
                <a:latin typeface="Calibri"/>
                <a:cs typeface="Calibri"/>
              </a:rPr>
              <a:t>one</a:t>
            </a:r>
            <a:r>
              <a:rPr sz="2800" spc="10" dirty="0">
                <a:latin typeface="Calibri"/>
                <a:cs typeface="Calibri"/>
              </a:rPr>
              <a:t> </a:t>
            </a:r>
            <a:r>
              <a:rPr sz="2800" spc="-5" dirty="0">
                <a:latin typeface="Calibri"/>
                <a:cs typeface="Calibri"/>
              </a:rPr>
              <a:t>or</a:t>
            </a:r>
            <a:r>
              <a:rPr sz="2800" dirty="0">
                <a:latin typeface="Calibri"/>
                <a:cs typeface="Calibri"/>
              </a:rPr>
              <a:t> </a:t>
            </a:r>
            <a:r>
              <a:rPr sz="2800" spc="-15" dirty="0">
                <a:latin typeface="Calibri"/>
                <a:cs typeface="Calibri"/>
              </a:rPr>
              <a:t>more</a:t>
            </a:r>
            <a:r>
              <a:rPr sz="2800" spc="5" dirty="0">
                <a:latin typeface="Calibri"/>
                <a:cs typeface="Calibri"/>
              </a:rPr>
              <a:t> </a:t>
            </a:r>
            <a:r>
              <a:rPr sz="2800" spc="-10" dirty="0">
                <a:latin typeface="Calibri"/>
                <a:cs typeface="Calibri"/>
              </a:rPr>
              <a:t>slots</a:t>
            </a:r>
            <a:r>
              <a:rPr sz="2800" spc="25" dirty="0">
                <a:latin typeface="Calibri"/>
                <a:cs typeface="Calibri"/>
              </a:rPr>
              <a:t> </a:t>
            </a:r>
            <a:r>
              <a:rPr sz="2800" spc="-5" dirty="0">
                <a:latin typeface="Calibri"/>
                <a:cs typeface="Calibri"/>
              </a:rPr>
              <a:t>when</a:t>
            </a:r>
            <a:r>
              <a:rPr sz="2800" spc="15" dirty="0">
                <a:latin typeface="Calibri"/>
                <a:cs typeface="Calibri"/>
              </a:rPr>
              <a:t> </a:t>
            </a:r>
            <a:r>
              <a:rPr sz="2800" spc="-5" dirty="0">
                <a:latin typeface="Calibri"/>
                <a:cs typeface="Calibri"/>
              </a:rPr>
              <a:t>a</a:t>
            </a:r>
            <a:r>
              <a:rPr sz="2800" dirty="0">
                <a:latin typeface="Calibri"/>
                <a:cs typeface="Calibri"/>
              </a:rPr>
              <a:t> </a:t>
            </a:r>
            <a:r>
              <a:rPr sz="2800" spc="-15" dirty="0">
                <a:latin typeface="Calibri"/>
                <a:cs typeface="Calibri"/>
              </a:rPr>
              <a:t>valid </a:t>
            </a:r>
            <a:r>
              <a:rPr sz="2800" spc="-615" dirty="0">
                <a:latin typeface="Calibri"/>
                <a:cs typeface="Calibri"/>
              </a:rPr>
              <a:t> </a:t>
            </a:r>
            <a:r>
              <a:rPr sz="2800" spc="-10" dirty="0">
                <a:latin typeface="Calibri"/>
                <a:cs typeface="Calibri"/>
              </a:rPr>
              <a:t>acknowledgment</a:t>
            </a:r>
            <a:r>
              <a:rPr sz="2800" spc="10" dirty="0">
                <a:latin typeface="Calibri"/>
                <a:cs typeface="Calibri"/>
              </a:rPr>
              <a:t> </a:t>
            </a:r>
            <a:r>
              <a:rPr sz="2800" spc="-10" dirty="0">
                <a:latin typeface="Calibri"/>
                <a:cs typeface="Calibri"/>
              </a:rPr>
              <a:t>arrives.</a:t>
            </a:r>
            <a:endParaRPr sz="2800" dirty="0">
              <a:latin typeface="Calibri"/>
              <a:cs typeface="Calibri"/>
            </a:endParaRPr>
          </a:p>
          <a:p>
            <a:pPr>
              <a:lnSpc>
                <a:spcPct val="100000"/>
              </a:lnSpc>
              <a:spcBef>
                <a:spcPts val="45"/>
              </a:spcBef>
              <a:buFont typeface="Arial MT"/>
              <a:buChar char="•"/>
            </a:pPr>
            <a:endParaRPr sz="3800" dirty="0">
              <a:latin typeface="Calibri"/>
              <a:cs typeface="Calibri"/>
            </a:endParaRPr>
          </a:p>
          <a:p>
            <a:pPr marL="12700">
              <a:lnSpc>
                <a:spcPct val="100000"/>
              </a:lnSpc>
            </a:pPr>
            <a:r>
              <a:rPr sz="2800" b="1" spc="-15" dirty="0">
                <a:solidFill>
                  <a:srgbClr val="D00000"/>
                </a:solidFill>
                <a:latin typeface="Calibri"/>
                <a:cs typeface="Calibri"/>
              </a:rPr>
              <a:t>Receive</a:t>
            </a:r>
            <a:r>
              <a:rPr sz="2800" b="1" spc="10" dirty="0">
                <a:solidFill>
                  <a:srgbClr val="D00000"/>
                </a:solidFill>
                <a:latin typeface="Calibri"/>
                <a:cs typeface="Calibri"/>
              </a:rPr>
              <a:t> </a:t>
            </a:r>
            <a:r>
              <a:rPr sz="2800" b="1" spc="-10" dirty="0">
                <a:solidFill>
                  <a:srgbClr val="D00000"/>
                </a:solidFill>
                <a:latin typeface="Calibri"/>
                <a:cs typeface="Calibri"/>
              </a:rPr>
              <a:t>Window</a:t>
            </a:r>
            <a:r>
              <a:rPr sz="2800" b="1" spc="-20" dirty="0">
                <a:solidFill>
                  <a:srgbClr val="D00000"/>
                </a:solidFill>
                <a:latin typeface="Calibri"/>
                <a:cs typeface="Calibri"/>
              </a:rPr>
              <a:t> </a:t>
            </a:r>
            <a:r>
              <a:rPr sz="2800" b="1" spc="-5" dirty="0">
                <a:solidFill>
                  <a:srgbClr val="D00000"/>
                </a:solidFill>
                <a:latin typeface="Calibri"/>
                <a:cs typeface="Calibri"/>
              </a:rPr>
              <a:t>:</a:t>
            </a:r>
            <a:endParaRPr sz="2800" dirty="0">
              <a:latin typeface="Calibri"/>
              <a:cs typeface="Calibri"/>
            </a:endParaRPr>
          </a:p>
          <a:p>
            <a:pPr marL="469900" marR="5080" indent="-457200">
              <a:lnSpc>
                <a:spcPct val="100000"/>
              </a:lnSpc>
              <a:spcBef>
                <a:spcPts val="5"/>
              </a:spcBef>
              <a:buFont typeface="Arial MT"/>
              <a:buChar char="•"/>
              <a:tabLst>
                <a:tab pos="469265" algn="l"/>
                <a:tab pos="469900" algn="l"/>
                <a:tab pos="5287645" algn="l"/>
              </a:tabLst>
            </a:pPr>
            <a:r>
              <a:rPr sz="2800" spc="-10" dirty="0">
                <a:latin typeface="Calibri"/>
                <a:cs typeface="Calibri"/>
              </a:rPr>
              <a:t>The</a:t>
            </a:r>
            <a:r>
              <a:rPr sz="2800" dirty="0">
                <a:latin typeface="Calibri"/>
                <a:cs typeface="Calibri"/>
              </a:rPr>
              <a:t> </a:t>
            </a:r>
            <a:r>
              <a:rPr sz="2800" spc="-15" dirty="0">
                <a:latin typeface="Calibri"/>
                <a:cs typeface="Calibri"/>
              </a:rPr>
              <a:t>receive</a:t>
            </a:r>
            <a:r>
              <a:rPr sz="2800" spc="5" dirty="0">
                <a:latin typeface="Calibri"/>
                <a:cs typeface="Calibri"/>
              </a:rPr>
              <a:t> </a:t>
            </a:r>
            <a:r>
              <a:rPr sz="2800" spc="-10" dirty="0">
                <a:latin typeface="Calibri"/>
                <a:cs typeface="Calibri"/>
              </a:rPr>
              <a:t>window</a:t>
            </a:r>
            <a:r>
              <a:rPr sz="2800" spc="35" dirty="0">
                <a:latin typeface="Calibri"/>
                <a:cs typeface="Calibri"/>
              </a:rPr>
              <a:t> </a:t>
            </a:r>
            <a:r>
              <a:rPr sz="2800" spc="-5" dirty="0">
                <a:latin typeface="Calibri"/>
                <a:cs typeface="Calibri"/>
              </a:rPr>
              <a:t>is</a:t>
            </a:r>
            <a:r>
              <a:rPr sz="2800" spc="5" dirty="0">
                <a:latin typeface="Calibri"/>
                <a:cs typeface="Calibri"/>
              </a:rPr>
              <a:t> </a:t>
            </a:r>
            <a:r>
              <a:rPr sz="2800" dirty="0">
                <a:latin typeface="Calibri"/>
                <a:cs typeface="Calibri"/>
              </a:rPr>
              <a:t>an</a:t>
            </a:r>
            <a:r>
              <a:rPr sz="2800" spc="5" dirty="0">
                <a:latin typeface="Calibri"/>
                <a:cs typeface="Calibri"/>
              </a:rPr>
              <a:t> </a:t>
            </a:r>
            <a:r>
              <a:rPr sz="2800" spc="-20" dirty="0">
                <a:latin typeface="Calibri"/>
                <a:cs typeface="Calibri"/>
              </a:rPr>
              <a:t>abstract</a:t>
            </a:r>
            <a:r>
              <a:rPr sz="2800" spc="25" dirty="0">
                <a:latin typeface="Calibri"/>
                <a:cs typeface="Calibri"/>
              </a:rPr>
              <a:t> </a:t>
            </a:r>
            <a:r>
              <a:rPr sz="2800" spc="-10" dirty="0">
                <a:latin typeface="Calibri"/>
                <a:cs typeface="Calibri"/>
              </a:rPr>
              <a:t>concept</a:t>
            </a:r>
            <a:r>
              <a:rPr sz="2800" spc="15" dirty="0">
                <a:latin typeface="Calibri"/>
                <a:cs typeface="Calibri"/>
              </a:rPr>
              <a:t> </a:t>
            </a:r>
            <a:r>
              <a:rPr sz="2800" spc="-15" dirty="0">
                <a:latin typeface="Calibri"/>
                <a:cs typeface="Calibri"/>
              </a:rPr>
              <a:t>defining</a:t>
            </a:r>
            <a:r>
              <a:rPr sz="2800" spc="30" dirty="0">
                <a:latin typeface="Calibri"/>
                <a:cs typeface="Calibri"/>
              </a:rPr>
              <a:t> </a:t>
            </a:r>
            <a:r>
              <a:rPr sz="2800" spc="-5" dirty="0">
                <a:latin typeface="Calibri"/>
                <a:cs typeface="Calibri"/>
              </a:rPr>
              <a:t>an</a:t>
            </a:r>
            <a:r>
              <a:rPr sz="2800" spc="15" dirty="0">
                <a:latin typeface="Calibri"/>
                <a:cs typeface="Calibri"/>
              </a:rPr>
              <a:t> </a:t>
            </a:r>
            <a:r>
              <a:rPr sz="2800" spc="-5" dirty="0">
                <a:latin typeface="Calibri"/>
                <a:cs typeface="Calibri"/>
              </a:rPr>
              <a:t>imaginary</a:t>
            </a:r>
            <a:r>
              <a:rPr sz="2800" spc="10" dirty="0">
                <a:latin typeface="Calibri"/>
                <a:cs typeface="Calibri"/>
              </a:rPr>
              <a:t> </a:t>
            </a:r>
            <a:r>
              <a:rPr sz="2800" spc="-30" dirty="0">
                <a:latin typeface="Calibri"/>
                <a:cs typeface="Calibri"/>
              </a:rPr>
              <a:t>box </a:t>
            </a:r>
            <a:r>
              <a:rPr sz="2800" spc="-620" dirty="0">
                <a:latin typeface="Calibri"/>
                <a:cs typeface="Calibri"/>
              </a:rPr>
              <a:t> </a:t>
            </a:r>
            <a:r>
              <a:rPr sz="2800" spc="-5" dirty="0">
                <a:latin typeface="Calibri"/>
                <a:cs typeface="Calibri"/>
              </a:rPr>
              <a:t>of</a:t>
            </a:r>
            <a:r>
              <a:rPr sz="2800" spc="5" dirty="0">
                <a:latin typeface="Calibri"/>
                <a:cs typeface="Calibri"/>
              </a:rPr>
              <a:t> </a:t>
            </a:r>
            <a:r>
              <a:rPr sz="2800" spc="-25" dirty="0">
                <a:latin typeface="Calibri"/>
                <a:cs typeface="Calibri"/>
              </a:rPr>
              <a:t>size</a:t>
            </a:r>
            <a:r>
              <a:rPr sz="2800" spc="10" dirty="0">
                <a:latin typeface="Calibri"/>
                <a:cs typeface="Calibri"/>
              </a:rPr>
              <a:t> </a:t>
            </a:r>
            <a:r>
              <a:rPr sz="2800" spc="-5" dirty="0">
                <a:latin typeface="Calibri"/>
                <a:cs typeface="Calibri"/>
              </a:rPr>
              <a:t>1</a:t>
            </a:r>
            <a:r>
              <a:rPr sz="2800" spc="25" dirty="0">
                <a:latin typeface="Calibri"/>
                <a:cs typeface="Calibri"/>
              </a:rPr>
              <a:t> </a:t>
            </a:r>
            <a:r>
              <a:rPr sz="2800" spc="-5" dirty="0">
                <a:latin typeface="Calibri"/>
                <a:cs typeface="Calibri"/>
              </a:rPr>
              <a:t>with</a:t>
            </a:r>
            <a:r>
              <a:rPr sz="2800" spc="15" dirty="0">
                <a:latin typeface="Calibri"/>
                <a:cs typeface="Calibri"/>
              </a:rPr>
              <a:t> </a:t>
            </a:r>
            <a:r>
              <a:rPr sz="2800" spc="-10" dirty="0">
                <a:latin typeface="Calibri"/>
                <a:cs typeface="Calibri"/>
              </a:rPr>
              <a:t>one</a:t>
            </a:r>
            <a:r>
              <a:rPr sz="2800" spc="5" dirty="0">
                <a:latin typeface="Calibri"/>
                <a:cs typeface="Calibri"/>
              </a:rPr>
              <a:t> </a:t>
            </a:r>
            <a:r>
              <a:rPr sz="2800" spc="-10" dirty="0">
                <a:latin typeface="Calibri"/>
                <a:cs typeface="Calibri"/>
              </a:rPr>
              <a:t>single</a:t>
            </a:r>
            <a:r>
              <a:rPr sz="2800" spc="20" dirty="0">
                <a:latin typeface="Calibri"/>
                <a:cs typeface="Calibri"/>
              </a:rPr>
              <a:t> </a:t>
            </a:r>
            <a:r>
              <a:rPr sz="2800" spc="-10" dirty="0">
                <a:latin typeface="Calibri"/>
                <a:cs typeface="Calibri"/>
              </a:rPr>
              <a:t>variable	</a:t>
            </a:r>
            <a:r>
              <a:rPr sz="2800" spc="-5" dirty="0">
                <a:latin typeface="Calibri"/>
                <a:cs typeface="Calibri"/>
              </a:rPr>
              <a:t>Rn.</a:t>
            </a:r>
            <a:endParaRPr sz="2800" dirty="0">
              <a:latin typeface="Calibri"/>
              <a:cs typeface="Calibri"/>
            </a:endParaRPr>
          </a:p>
          <a:p>
            <a:pPr marL="469900" marR="288925" indent="-457200">
              <a:lnSpc>
                <a:spcPct val="100000"/>
              </a:lnSpc>
              <a:buFont typeface="Arial MT"/>
              <a:buChar char="•"/>
              <a:tabLst>
                <a:tab pos="469265" algn="l"/>
                <a:tab pos="469900" algn="l"/>
              </a:tabLst>
            </a:pPr>
            <a:r>
              <a:rPr sz="2800" spc="-5" dirty="0">
                <a:latin typeface="Calibri"/>
                <a:cs typeface="Calibri"/>
              </a:rPr>
              <a:t>The</a:t>
            </a:r>
            <a:r>
              <a:rPr sz="2800" dirty="0">
                <a:latin typeface="Calibri"/>
                <a:cs typeface="Calibri"/>
              </a:rPr>
              <a:t> </a:t>
            </a:r>
            <a:r>
              <a:rPr sz="2800" spc="-10" dirty="0">
                <a:latin typeface="Calibri"/>
                <a:cs typeface="Calibri"/>
              </a:rPr>
              <a:t>window</a:t>
            </a:r>
            <a:r>
              <a:rPr sz="2800" spc="30" dirty="0">
                <a:latin typeface="Calibri"/>
                <a:cs typeface="Calibri"/>
              </a:rPr>
              <a:t> </a:t>
            </a:r>
            <a:r>
              <a:rPr sz="2800" spc="-10" dirty="0">
                <a:latin typeface="Calibri"/>
                <a:cs typeface="Calibri"/>
              </a:rPr>
              <a:t>slides</a:t>
            </a:r>
            <a:r>
              <a:rPr sz="2800" spc="25" dirty="0">
                <a:latin typeface="Calibri"/>
                <a:cs typeface="Calibri"/>
              </a:rPr>
              <a:t> </a:t>
            </a:r>
            <a:r>
              <a:rPr sz="2800" spc="-5" dirty="0">
                <a:latin typeface="Calibri"/>
                <a:cs typeface="Calibri"/>
              </a:rPr>
              <a:t>when</a:t>
            </a:r>
            <a:r>
              <a:rPr sz="2800" spc="10" dirty="0">
                <a:latin typeface="Calibri"/>
                <a:cs typeface="Calibri"/>
              </a:rPr>
              <a:t> </a:t>
            </a:r>
            <a:r>
              <a:rPr sz="2800" spc="-5" dirty="0">
                <a:latin typeface="Calibri"/>
                <a:cs typeface="Calibri"/>
              </a:rPr>
              <a:t>a</a:t>
            </a:r>
            <a:r>
              <a:rPr sz="2800" dirty="0">
                <a:latin typeface="Calibri"/>
                <a:cs typeface="Calibri"/>
              </a:rPr>
              <a:t> </a:t>
            </a:r>
            <a:r>
              <a:rPr sz="2800" spc="-15" dirty="0">
                <a:latin typeface="Calibri"/>
                <a:cs typeface="Calibri"/>
              </a:rPr>
              <a:t>correct</a:t>
            </a:r>
            <a:r>
              <a:rPr sz="2800" spc="10" dirty="0">
                <a:latin typeface="Calibri"/>
                <a:cs typeface="Calibri"/>
              </a:rPr>
              <a:t> </a:t>
            </a:r>
            <a:r>
              <a:rPr sz="2800" spc="-15" dirty="0">
                <a:latin typeface="Calibri"/>
                <a:cs typeface="Calibri"/>
              </a:rPr>
              <a:t>frame</a:t>
            </a:r>
            <a:r>
              <a:rPr sz="2800" dirty="0">
                <a:latin typeface="Calibri"/>
                <a:cs typeface="Calibri"/>
              </a:rPr>
              <a:t> </a:t>
            </a:r>
            <a:r>
              <a:rPr sz="2800" spc="-5" dirty="0">
                <a:latin typeface="Calibri"/>
                <a:cs typeface="Calibri"/>
              </a:rPr>
              <a:t>has</a:t>
            </a:r>
            <a:r>
              <a:rPr sz="2800" spc="10" dirty="0">
                <a:latin typeface="Calibri"/>
                <a:cs typeface="Calibri"/>
              </a:rPr>
              <a:t> </a:t>
            </a:r>
            <a:r>
              <a:rPr sz="2800" spc="-10" dirty="0">
                <a:latin typeface="Calibri"/>
                <a:cs typeface="Calibri"/>
              </a:rPr>
              <a:t>arrived;</a:t>
            </a:r>
            <a:r>
              <a:rPr sz="2800" spc="5" dirty="0">
                <a:latin typeface="Calibri"/>
                <a:cs typeface="Calibri"/>
              </a:rPr>
              <a:t> </a:t>
            </a:r>
            <a:r>
              <a:rPr sz="2800" spc="-10" dirty="0">
                <a:latin typeface="Calibri"/>
                <a:cs typeface="Calibri"/>
              </a:rPr>
              <a:t>sliding</a:t>
            </a:r>
            <a:r>
              <a:rPr sz="2800" spc="45" dirty="0">
                <a:latin typeface="Calibri"/>
                <a:cs typeface="Calibri"/>
              </a:rPr>
              <a:t> </a:t>
            </a:r>
            <a:r>
              <a:rPr sz="2800" spc="-15" dirty="0">
                <a:latin typeface="Calibri"/>
                <a:cs typeface="Calibri"/>
              </a:rPr>
              <a:t>occurs </a:t>
            </a:r>
            <a:r>
              <a:rPr sz="2800" spc="-615" dirty="0">
                <a:latin typeface="Calibri"/>
                <a:cs typeface="Calibri"/>
              </a:rPr>
              <a:t> </a:t>
            </a:r>
            <a:r>
              <a:rPr sz="2800" spc="-10" dirty="0">
                <a:latin typeface="Calibri"/>
                <a:cs typeface="Calibri"/>
              </a:rPr>
              <a:t>one</a:t>
            </a:r>
            <a:r>
              <a:rPr sz="2800" dirty="0">
                <a:latin typeface="Calibri"/>
                <a:cs typeface="Calibri"/>
              </a:rPr>
              <a:t> </a:t>
            </a:r>
            <a:r>
              <a:rPr sz="2800" spc="-10" dirty="0">
                <a:latin typeface="Calibri"/>
                <a:cs typeface="Calibri"/>
              </a:rPr>
              <a:t>slot</a:t>
            </a:r>
            <a:r>
              <a:rPr sz="2800" dirty="0">
                <a:latin typeface="Calibri"/>
                <a:cs typeface="Calibri"/>
              </a:rPr>
              <a:t> </a:t>
            </a:r>
            <a:r>
              <a:rPr sz="2800" spc="-15" dirty="0">
                <a:latin typeface="Calibri"/>
                <a:cs typeface="Calibri"/>
              </a:rPr>
              <a:t>at</a:t>
            </a:r>
            <a:r>
              <a:rPr sz="2800" spc="-10" dirty="0">
                <a:latin typeface="Calibri"/>
                <a:cs typeface="Calibri"/>
              </a:rPr>
              <a:t> </a:t>
            </a:r>
            <a:r>
              <a:rPr sz="2800" spc="-5" dirty="0">
                <a:latin typeface="Calibri"/>
                <a:cs typeface="Calibri"/>
              </a:rPr>
              <a:t>a</a:t>
            </a:r>
            <a:r>
              <a:rPr sz="2800" dirty="0">
                <a:latin typeface="Calibri"/>
                <a:cs typeface="Calibri"/>
              </a:rPr>
              <a:t> </a:t>
            </a:r>
            <a:r>
              <a:rPr sz="2800" spc="-5" dirty="0">
                <a:latin typeface="Calibri"/>
                <a:cs typeface="Calibri"/>
              </a:rPr>
              <a:t>time.</a:t>
            </a:r>
            <a:endParaRPr sz="2800" dirty="0">
              <a:latin typeface="Calibri"/>
              <a:cs typeface="Calibri"/>
            </a:endParaRPr>
          </a:p>
        </p:txBody>
      </p:sp>
    </p:spTree>
    <p:extLst>
      <p:ext uri="{BB962C8B-B14F-4D97-AF65-F5344CB8AC3E}">
        <p14:creationId xmlns:p14="http://schemas.microsoft.com/office/powerpoint/2010/main" val="179808488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689307" y="643247"/>
            <a:ext cx="3518059" cy="751488"/>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Calibri"/>
                <a:cs typeface="Calibri"/>
              </a:rPr>
              <a:t>Receive</a:t>
            </a:r>
            <a:r>
              <a:rPr sz="2400" b="1" spc="-25" dirty="0">
                <a:latin typeface="Calibri"/>
                <a:cs typeface="Calibri"/>
              </a:rPr>
              <a:t> </a:t>
            </a:r>
            <a:r>
              <a:rPr sz="2400" b="1" spc="-5" dirty="0">
                <a:latin typeface="Calibri"/>
                <a:cs typeface="Calibri"/>
              </a:rPr>
              <a:t>Window</a:t>
            </a:r>
            <a:r>
              <a:rPr sz="2400" b="1" spc="-25" dirty="0">
                <a:latin typeface="Calibri"/>
                <a:cs typeface="Calibri"/>
              </a:rPr>
              <a:t> </a:t>
            </a:r>
            <a:r>
              <a:rPr sz="2400" b="1" spc="-15" dirty="0">
                <a:latin typeface="Calibri"/>
                <a:cs typeface="Calibri"/>
              </a:rPr>
              <a:t>for</a:t>
            </a:r>
            <a:r>
              <a:rPr sz="2400" b="1" spc="-10" dirty="0">
                <a:latin typeface="Calibri"/>
                <a:cs typeface="Calibri"/>
              </a:rPr>
              <a:t> </a:t>
            </a:r>
            <a:r>
              <a:rPr sz="2400" b="1" spc="-5" dirty="0">
                <a:latin typeface="Calibri"/>
                <a:cs typeface="Calibri"/>
              </a:rPr>
              <a:t>Go-Back-N</a:t>
            </a:r>
            <a:r>
              <a:rPr sz="2400" b="1" spc="-20" dirty="0">
                <a:latin typeface="Calibri"/>
                <a:cs typeface="Calibri"/>
              </a:rPr>
              <a:t> </a:t>
            </a:r>
            <a:r>
              <a:rPr sz="2400" b="1" spc="-10" dirty="0">
                <a:latin typeface="Calibri"/>
                <a:cs typeface="Calibri"/>
              </a:rPr>
              <a:t>ARQ:</a:t>
            </a:r>
            <a:endParaRPr sz="2400">
              <a:latin typeface="Calibri"/>
              <a:cs typeface="Calibri"/>
            </a:endParaRPr>
          </a:p>
        </p:txBody>
      </p:sp>
      <p:pic>
        <p:nvPicPr>
          <p:cNvPr id="5" name="object 5"/>
          <p:cNvPicPr/>
          <p:nvPr/>
        </p:nvPicPr>
        <p:blipFill>
          <a:blip r:embed="rId4" cstate="print"/>
          <a:stretch>
            <a:fillRect/>
          </a:stretch>
        </p:blipFill>
        <p:spPr>
          <a:xfrm>
            <a:off x="538355" y="1728221"/>
            <a:ext cx="7551801" cy="4409889"/>
          </a:xfrm>
          <a:prstGeom prst="rect">
            <a:avLst/>
          </a:prstGeom>
        </p:spPr>
      </p:pic>
    </p:spTree>
    <p:extLst>
      <p:ext uri="{BB962C8B-B14F-4D97-AF65-F5344CB8AC3E}">
        <p14:creationId xmlns:p14="http://schemas.microsoft.com/office/powerpoint/2010/main" val="49314320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3082765" y="-126298"/>
            <a:ext cx="2239328"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Go-Back-N</a:t>
            </a:r>
            <a:r>
              <a:rPr b="1" spc="-60" dirty="0">
                <a:latin typeface="Calibri"/>
                <a:cs typeface="Calibri"/>
              </a:rPr>
              <a:t> </a:t>
            </a:r>
            <a:r>
              <a:rPr b="1" spc="-10" dirty="0">
                <a:latin typeface="Calibri"/>
                <a:cs typeface="Calibri"/>
              </a:rPr>
              <a:t>ARQ</a:t>
            </a:r>
          </a:p>
        </p:txBody>
      </p:sp>
      <p:pic>
        <p:nvPicPr>
          <p:cNvPr id="5" name="object 5"/>
          <p:cNvPicPr/>
          <p:nvPr/>
        </p:nvPicPr>
        <p:blipFill>
          <a:blip r:embed="rId4" cstate="print"/>
          <a:stretch>
            <a:fillRect/>
          </a:stretch>
        </p:blipFill>
        <p:spPr>
          <a:xfrm>
            <a:off x="750950" y="991683"/>
            <a:ext cx="6520815" cy="5694107"/>
          </a:xfrm>
          <a:prstGeom prst="rect">
            <a:avLst/>
          </a:prstGeom>
        </p:spPr>
      </p:pic>
    </p:spTree>
    <p:extLst>
      <p:ext uri="{BB962C8B-B14F-4D97-AF65-F5344CB8AC3E}">
        <p14:creationId xmlns:p14="http://schemas.microsoft.com/office/powerpoint/2010/main" val="27842337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3082765" y="-126298"/>
            <a:ext cx="2239328"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Go-Back-N</a:t>
            </a:r>
            <a:r>
              <a:rPr b="1" spc="-60" dirty="0">
                <a:latin typeface="Calibri"/>
                <a:cs typeface="Calibri"/>
              </a:rPr>
              <a:t> </a:t>
            </a:r>
            <a:r>
              <a:rPr b="1" spc="-10" dirty="0">
                <a:latin typeface="Calibri"/>
                <a:cs typeface="Calibri"/>
              </a:rPr>
              <a:t>ARQ</a:t>
            </a:r>
          </a:p>
        </p:txBody>
      </p:sp>
      <p:grpSp>
        <p:nvGrpSpPr>
          <p:cNvPr id="5" name="object 5"/>
          <p:cNvGrpSpPr/>
          <p:nvPr/>
        </p:nvGrpSpPr>
        <p:grpSpPr>
          <a:xfrm>
            <a:off x="2686050" y="609602"/>
            <a:ext cx="6057900" cy="5972555"/>
            <a:chOff x="5746951" y="1308951"/>
            <a:chExt cx="5530850" cy="4226560"/>
          </a:xfrm>
        </p:grpSpPr>
        <p:pic>
          <p:nvPicPr>
            <p:cNvPr id="6" name="object 6"/>
            <p:cNvPicPr/>
            <p:nvPr/>
          </p:nvPicPr>
          <p:blipFill>
            <a:blip r:embed="rId4" cstate="print"/>
            <a:stretch>
              <a:fillRect/>
            </a:stretch>
          </p:blipFill>
          <p:spPr>
            <a:xfrm>
              <a:off x="5746951" y="1308951"/>
              <a:ext cx="5530700" cy="4226382"/>
            </a:xfrm>
            <a:prstGeom prst="rect">
              <a:avLst/>
            </a:prstGeom>
          </p:spPr>
        </p:pic>
        <p:pic>
          <p:nvPicPr>
            <p:cNvPr id="7" name="object 7"/>
            <p:cNvPicPr/>
            <p:nvPr/>
          </p:nvPicPr>
          <p:blipFill>
            <a:blip r:embed="rId5" cstate="print"/>
            <a:stretch>
              <a:fillRect/>
            </a:stretch>
          </p:blipFill>
          <p:spPr>
            <a:xfrm>
              <a:off x="5911595" y="1473708"/>
              <a:ext cx="5215128" cy="3910584"/>
            </a:xfrm>
            <a:prstGeom prst="rect">
              <a:avLst/>
            </a:prstGeom>
          </p:spPr>
        </p:pic>
      </p:grpSp>
      <p:sp>
        <p:nvSpPr>
          <p:cNvPr id="8" name="object 8"/>
          <p:cNvSpPr txBox="1"/>
          <p:nvPr/>
        </p:nvSpPr>
        <p:spPr>
          <a:xfrm>
            <a:off x="228600" y="1662832"/>
            <a:ext cx="2194084" cy="6530634"/>
          </a:xfrm>
          <a:prstGeom prst="rect">
            <a:avLst/>
          </a:prstGeom>
        </p:spPr>
        <p:txBody>
          <a:bodyPr vert="horz" wrap="square" lIns="0" tIns="13335" rIns="0" bIns="0" rtlCol="0">
            <a:spAutoFit/>
          </a:bodyPr>
          <a:lstStyle/>
          <a:p>
            <a:pPr marL="12700">
              <a:lnSpc>
                <a:spcPct val="100000"/>
              </a:lnSpc>
              <a:spcBef>
                <a:spcPts val="105"/>
              </a:spcBef>
            </a:pPr>
            <a:r>
              <a:rPr sz="3200" b="1" spc="-15" dirty="0">
                <a:solidFill>
                  <a:srgbClr val="C00000"/>
                </a:solidFill>
                <a:latin typeface="Calibri"/>
                <a:cs typeface="Calibri"/>
              </a:rPr>
              <a:t>NOTE:</a:t>
            </a:r>
            <a:endParaRPr sz="3200" dirty="0">
              <a:latin typeface="Calibri"/>
              <a:cs typeface="Calibri"/>
            </a:endParaRPr>
          </a:p>
          <a:p>
            <a:pPr marL="469900" marR="5080" indent="-457200">
              <a:lnSpc>
                <a:spcPct val="100000"/>
              </a:lnSpc>
              <a:spcBef>
                <a:spcPts val="15"/>
              </a:spcBef>
              <a:buFont typeface="Arial MT"/>
              <a:buChar char="•"/>
              <a:tabLst>
                <a:tab pos="469265" algn="l"/>
                <a:tab pos="469900" algn="l"/>
              </a:tabLst>
            </a:pPr>
            <a:r>
              <a:rPr sz="2800" i="1" spc="-5" dirty="0">
                <a:latin typeface="Calibri"/>
                <a:cs typeface="Calibri"/>
              </a:rPr>
              <a:t>In Go-Back-N </a:t>
            </a:r>
            <a:r>
              <a:rPr sz="2800" i="1" dirty="0">
                <a:latin typeface="Calibri"/>
                <a:cs typeface="Calibri"/>
              </a:rPr>
              <a:t> </a:t>
            </a:r>
            <a:r>
              <a:rPr sz="2800" i="1" spc="25" dirty="0">
                <a:latin typeface="Calibri"/>
                <a:cs typeface="Calibri"/>
              </a:rPr>
              <a:t>ARQ, </a:t>
            </a:r>
            <a:r>
              <a:rPr sz="2800" i="1" spc="-5" dirty="0">
                <a:latin typeface="Calibri"/>
                <a:cs typeface="Calibri"/>
              </a:rPr>
              <a:t>the </a:t>
            </a:r>
            <a:r>
              <a:rPr sz="2800" i="1" spc="-15" dirty="0">
                <a:latin typeface="Calibri"/>
                <a:cs typeface="Calibri"/>
              </a:rPr>
              <a:t>size </a:t>
            </a:r>
            <a:r>
              <a:rPr sz="2800" i="1" spc="-10" dirty="0">
                <a:latin typeface="Calibri"/>
                <a:cs typeface="Calibri"/>
              </a:rPr>
              <a:t>of </a:t>
            </a:r>
            <a:r>
              <a:rPr sz="2800" i="1" spc="-5" dirty="0">
                <a:latin typeface="Calibri"/>
                <a:cs typeface="Calibri"/>
              </a:rPr>
              <a:t> the</a:t>
            </a:r>
            <a:r>
              <a:rPr sz="2800" i="1" spc="-35" dirty="0">
                <a:latin typeface="Calibri"/>
                <a:cs typeface="Calibri"/>
              </a:rPr>
              <a:t> </a:t>
            </a:r>
            <a:r>
              <a:rPr sz="2800" i="1" spc="-10" dirty="0">
                <a:latin typeface="Calibri"/>
                <a:cs typeface="Calibri"/>
              </a:rPr>
              <a:t>send</a:t>
            </a:r>
            <a:r>
              <a:rPr sz="2800" i="1" spc="-20" dirty="0">
                <a:latin typeface="Calibri"/>
                <a:cs typeface="Calibri"/>
              </a:rPr>
              <a:t> </a:t>
            </a:r>
            <a:r>
              <a:rPr sz="2800" i="1" spc="-5" dirty="0">
                <a:latin typeface="Calibri"/>
                <a:cs typeface="Calibri"/>
              </a:rPr>
              <a:t>window </a:t>
            </a:r>
            <a:r>
              <a:rPr sz="2800" i="1" spc="-620" dirty="0">
                <a:latin typeface="Calibri"/>
                <a:cs typeface="Calibri"/>
              </a:rPr>
              <a:t> </a:t>
            </a:r>
            <a:r>
              <a:rPr sz="2800" i="1" spc="-15" dirty="0">
                <a:latin typeface="Calibri"/>
                <a:cs typeface="Calibri"/>
              </a:rPr>
              <a:t>must</a:t>
            </a:r>
            <a:r>
              <a:rPr sz="2800" i="1" spc="105" dirty="0">
                <a:latin typeface="Calibri"/>
                <a:cs typeface="Calibri"/>
              </a:rPr>
              <a:t> </a:t>
            </a:r>
            <a:r>
              <a:rPr sz="2800" i="1" spc="-5" dirty="0">
                <a:latin typeface="Calibri"/>
                <a:cs typeface="Calibri"/>
              </a:rPr>
              <a:t>be</a:t>
            </a:r>
            <a:r>
              <a:rPr sz="2800" i="1" spc="114" dirty="0">
                <a:latin typeface="Calibri"/>
                <a:cs typeface="Calibri"/>
              </a:rPr>
              <a:t> </a:t>
            </a:r>
            <a:r>
              <a:rPr sz="2800" i="1" spc="-10" dirty="0">
                <a:latin typeface="Calibri"/>
                <a:cs typeface="Calibri"/>
              </a:rPr>
              <a:t>less </a:t>
            </a:r>
            <a:r>
              <a:rPr sz="2800" i="1" spc="-5" dirty="0">
                <a:latin typeface="Calibri"/>
                <a:cs typeface="Calibri"/>
              </a:rPr>
              <a:t> than 2m;</a:t>
            </a:r>
            <a:endParaRPr sz="2800" dirty="0">
              <a:latin typeface="Calibri"/>
              <a:cs typeface="Calibri"/>
            </a:endParaRPr>
          </a:p>
          <a:p>
            <a:pPr>
              <a:lnSpc>
                <a:spcPct val="100000"/>
              </a:lnSpc>
              <a:spcBef>
                <a:spcPts val="5"/>
              </a:spcBef>
              <a:buFont typeface="Arial MT"/>
              <a:buChar char="•"/>
            </a:pPr>
            <a:endParaRPr sz="2750" dirty="0">
              <a:latin typeface="Calibri"/>
              <a:cs typeface="Calibri"/>
            </a:endParaRPr>
          </a:p>
          <a:p>
            <a:pPr marL="469900" marR="89535" indent="-457200">
              <a:lnSpc>
                <a:spcPct val="100000"/>
              </a:lnSpc>
              <a:buFont typeface="Arial MT"/>
              <a:buChar char="•"/>
              <a:tabLst>
                <a:tab pos="469265" algn="l"/>
                <a:tab pos="469900" algn="l"/>
              </a:tabLst>
            </a:pPr>
            <a:r>
              <a:rPr sz="2800" i="1" spc="-5" dirty="0">
                <a:latin typeface="Calibri"/>
                <a:cs typeface="Calibri"/>
              </a:rPr>
              <a:t>the </a:t>
            </a:r>
            <a:r>
              <a:rPr sz="2800" i="1" spc="-15" dirty="0">
                <a:latin typeface="Calibri"/>
                <a:cs typeface="Calibri"/>
              </a:rPr>
              <a:t>size </a:t>
            </a:r>
            <a:r>
              <a:rPr sz="2800" i="1" spc="-5" dirty="0">
                <a:latin typeface="Calibri"/>
                <a:cs typeface="Calibri"/>
              </a:rPr>
              <a:t>of the </a:t>
            </a:r>
            <a:r>
              <a:rPr sz="2800" i="1" dirty="0">
                <a:latin typeface="Calibri"/>
                <a:cs typeface="Calibri"/>
              </a:rPr>
              <a:t> </a:t>
            </a:r>
            <a:r>
              <a:rPr sz="2800" i="1" spc="-5" dirty="0">
                <a:latin typeface="Calibri"/>
                <a:cs typeface="Calibri"/>
              </a:rPr>
              <a:t>receiver</a:t>
            </a:r>
            <a:r>
              <a:rPr sz="2800" i="1" spc="-60" dirty="0">
                <a:latin typeface="Calibri"/>
                <a:cs typeface="Calibri"/>
              </a:rPr>
              <a:t> </a:t>
            </a:r>
            <a:r>
              <a:rPr sz="2800" i="1" spc="-5" dirty="0">
                <a:latin typeface="Calibri"/>
                <a:cs typeface="Calibri"/>
              </a:rPr>
              <a:t>window </a:t>
            </a:r>
            <a:r>
              <a:rPr sz="2800" i="1" spc="-620" dirty="0">
                <a:latin typeface="Calibri"/>
                <a:cs typeface="Calibri"/>
              </a:rPr>
              <a:t> </a:t>
            </a:r>
            <a:r>
              <a:rPr sz="2800" i="1" spc="-5" dirty="0">
                <a:latin typeface="Calibri"/>
                <a:cs typeface="Calibri"/>
              </a:rPr>
              <a:t>is</a:t>
            </a:r>
            <a:r>
              <a:rPr sz="2800" i="1" spc="-10" dirty="0">
                <a:latin typeface="Calibri"/>
                <a:cs typeface="Calibri"/>
              </a:rPr>
              <a:t> always </a:t>
            </a:r>
            <a:r>
              <a:rPr sz="2800" i="1" spc="-5" dirty="0">
                <a:latin typeface="Calibri"/>
                <a:cs typeface="Calibri"/>
              </a:rPr>
              <a:t>1.</a:t>
            </a:r>
            <a:endParaRPr sz="2800" dirty="0">
              <a:latin typeface="Calibri"/>
              <a:cs typeface="Calibri"/>
            </a:endParaRPr>
          </a:p>
        </p:txBody>
      </p:sp>
    </p:spTree>
    <p:extLst>
      <p:ext uri="{BB962C8B-B14F-4D97-AF65-F5344CB8AC3E}">
        <p14:creationId xmlns:p14="http://schemas.microsoft.com/office/powerpoint/2010/main" val="113930805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571805" y="1071756"/>
            <a:ext cx="7970520" cy="5598327"/>
          </a:xfrm>
          <a:prstGeom prst="rect">
            <a:avLst/>
          </a:prstGeom>
        </p:spPr>
        <p:txBody>
          <a:bodyPr vert="horz" wrap="square" lIns="0" tIns="12065" rIns="0" bIns="0" rtlCol="0">
            <a:spAutoFit/>
          </a:bodyPr>
          <a:lstStyle/>
          <a:p>
            <a:pPr marL="12700">
              <a:lnSpc>
                <a:spcPct val="100000"/>
              </a:lnSpc>
              <a:spcBef>
                <a:spcPts val="95"/>
              </a:spcBef>
            </a:pPr>
            <a:r>
              <a:rPr sz="2800" i="1" spc="-15" dirty="0">
                <a:solidFill>
                  <a:srgbClr val="D00000"/>
                </a:solidFill>
                <a:latin typeface="Calibri"/>
                <a:cs typeface="Calibri"/>
              </a:rPr>
              <a:t>Example:</a:t>
            </a:r>
            <a:endParaRPr sz="2800">
              <a:latin typeface="Calibri"/>
              <a:cs typeface="Calibri"/>
            </a:endParaRPr>
          </a:p>
          <a:p>
            <a:pPr marL="469900" marR="73025" indent="-457200">
              <a:lnSpc>
                <a:spcPct val="100000"/>
              </a:lnSpc>
              <a:buFont typeface="Arial MT"/>
              <a:buChar char="•"/>
              <a:tabLst>
                <a:tab pos="469265" algn="l"/>
                <a:tab pos="469900" algn="l"/>
              </a:tabLst>
            </a:pPr>
            <a:r>
              <a:rPr sz="2800" i="1" spc="-5" dirty="0">
                <a:latin typeface="Calibri"/>
                <a:cs typeface="Calibri"/>
              </a:rPr>
              <a:t>The </a:t>
            </a:r>
            <a:r>
              <a:rPr sz="2800" i="1" spc="-15" dirty="0">
                <a:latin typeface="Calibri"/>
                <a:cs typeface="Calibri"/>
              </a:rPr>
              <a:t>physical </a:t>
            </a:r>
            <a:r>
              <a:rPr sz="2800" i="1" spc="-5" dirty="0">
                <a:latin typeface="Calibri"/>
                <a:cs typeface="Calibri"/>
              </a:rPr>
              <a:t>layer</a:t>
            </a:r>
            <a:r>
              <a:rPr sz="2800" i="1" spc="15" dirty="0">
                <a:latin typeface="Calibri"/>
                <a:cs typeface="Calibri"/>
              </a:rPr>
              <a:t> </a:t>
            </a:r>
            <a:r>
              <a:rPr sz="2800" i="1" spc="-15" dirty="0">
                <a:latin typeface="Calibri"/>
                <a:cs typeface="Calibri"/>
              </a:rPr>
              <a:t>must</a:t>
            </a:r>
            <a:r>
              <a:rPr sz="2800" i="1" dirty="0">
                <a:latin typeface="Calibri"/>
                <a:cs typeface="Calibri"/>
              </a:rPr>
              <a:t> </a:t>
            </a:r>
            <a:r>
              <a:rPr sz="2800" i="1" spc="-5" dirty="0">
                <a:latin typeface="Calibri"/>
                <a:cs typeface="Calibri"/>
              </a:rPr>
              <a:t>wait</a:t>
            </a:r>
            <a:r>
              <a:rPr sz="2800" i="1" spc="5" dirty="0">
                <a:latin typeface="Calibri"/>
                <a:cs typeface="Calibri"/>
              </a:rPr>
              <a:t> </a:t>
            </a:r>
            <a:r>
              <a:rPr sz="2800" i="1" spc="-10" dirty="0">
                <a:latin typeface="Calibri"/>
                <a:cs typeface="Calibri"/>
              </a:rPr>
              <a:t>until</a:t>
            </a:r>
            <a:r>
              <a:rPr sz="2800" i="1" spc="5" dirty="0">
                <a:latin typeface="Calibri"/>
                <a:cs typeface="Calibri"/>
              </a:rPr>
              <a:t> </a:t>
            </a:r>
            <a:r>
              <a:rPr sz="2800" i="1" spc="-5" dirty="0">
                <a:latin typeface="Calibri"/>
                <a:cs typeface="Calibri"/>
              </a:rPr>
              <a:t>this</a:t>
            </a:r>
            <a:r>
              <a:rPr sz="2800" i="1" dirty="0">
                <a:latin typeface="Calibri"/>
                <a:cs typeface="Calibri"/>
              </a:rPr>
              <a:t> </a:t>
            </a:r>
            <a:r>
              <a:rPr sz="2800" i="1" spc="-15" dirty="0">
                <a:latin typeface="Calibri"/>
                <a:cs typeface="Calibri"/>
              </a:rPr>
              <a:t>event</a:t>
            </a:r>
            <a:r>
              <a:rPr sz="2800" i="1" spc="15" dirty="0">
                <a:latin typeface="Calibri"/>
                <a:cs typeface="Calibri"/>
              </a:rPr>
              <a:t> </a:t>
            </a:r>
            <a:r>
              <a:rPr sz="2800" i="1" spc="-5" dirty="0">
                <a:latin typeface="Calibri"/>
                <a:cs typeface="Calibri"/>
              </a:rPr>
              <a:t>is</a:t>
            </a:r>
            <a:r>
              <a:rPr sz="2800" i="1" spc="5" dirty="0">
                <a:latin typeface="Calibri"/>
                <a:cs typeface="Calibri"/>
              </a:rPr>
              <a:t> </a:t>
            </a:r>
            <a:r>
              <a:rPr sz="2800" i="1" spc="-15" dirty="0">
                <a:latin typeface="Calibri"/>
                <a:cs typeface="Calibri"/>
              </a:rPr>
              <a:t>completed</a:t>
            </a:r>
            <a:r>
              <a:rPr sz="2800" i="1" spc="5" dirty="0">
                <a:latin typeface="Calibri"/>
                <a:cs typeface="Calibri"/>
              </a:rPr>
              <a:t> </a:t>
            </a:r>
            <a:r>
              <a:rPr sz="2800" i="1" spc="-5" dirty="0">
                <a:latin typeface="Calibri"/>
                <a:cs typeface="Calibri"/>
              </a:rPr>
              <a:t>and</a:t>
            </a:r>
            <a:r>
              <a:rPr sz="2800" i="1" dirty="0">
                <a:latin typeface="Calibri"/>
                <a:cs typeface="Calibri"/>
              </a:rPr>
              <a:t> </a:t>
            </a:r>
            <a:r>
              <a:rPr sz="2800" i="1" spc="-5" dirty="0">
                <a:latin typeface="Calibri"/>
                <a:cs typeface="Calibri"/>
              </a:rPr>
              <a:t>the</a:t>
            </a:r>
            <a:r>
              <a:rPr sz="2800" i="1" spc="10" dirty="0">
                <a:latin typeface="Calibri"/>
                <a:cs typeface="Calibri"/>
              </a:rPr>
              <a:t> </a:t>
            </a:r>
            <a:r>
              <a:rPr sz="2800" i="1" spc="-15" dirty="0">
                <a:latin typeface="Calibri"/>
                <a:cs typeface="Calibri"/>
              </a:rPr>
              <a:t>data </a:t>
            </a:r>
            <a:r>
              <a:rPr sz="2800" i="1" spc="-620" dirty="0">
                <a:latin typeface="Calibri"/>
                <a:cs typeface="Calibri"/>
              </a:rPr>
              <a:t> </a:t>
            </a:r>
            <a:r>
              <a:rPr sz="2800" i="1" spc="-10" dirty="0">
                <a:latin typeface="Calibri"/>
                <a:cs typeface="Calibri"/>
              </a:rPr>
              <a:t>link </a:t>
            </a:r>
            <a:r>
              <a:rPr sz="2800" i="1" spc="-5" dirty="0">
                <a:latin typeface="Calibri"/>
                <a:cs typeface="Calibri"/>
              </a:rPr>
              <a:t>layer</a:t>
            </a:r>
            <a:r>
              <a:rPr sz="2800" i="1" spc="10" dirty="0">
                <a:latin typeface="Calibri"/>
                <a:cs typeface="Calibri"/>
              </a:rPr>
              <a:t> </a:t>
            </a:r>
            <a:r>
              <a:rPr sz="2800" i="1" spc="-5" dirty="0">
                <a:latin typeface="Calibri"/>
                <a:cs typeface="Calibri"/>
              </a:rPr>
              <a:t>goes</a:t>
            </a:r>
            <a:r>
              <a:rPr sz="2800" i="1" dirty="0">
                <a:latin typeface="Calibri"/>
                <a:cs typeface="Calibri"/>
              </a:rPr>
              <a:t> </a:t>
            </a:r>
            <a:r>
              <a:rPr sz="2800" i="1" spc="-5" dirty="0">
                <a:latin typeface="Calibri"/>
                <a:cs typeface="Calibri"/>
              </a:rPr>
              <a:t>back </a:t>
            </a:r>
            <a:r>
              <a:rPr sz="2800" i="1" spc="-20" dirty="0">
                <a:latin typeface="Calibri"/>
                <a:cs typeface="Calibri"/>
              </a:rPr>
              <a:t>to</a:t>
            </a:r>
            <a:r>
              <a:rPr sz="2800" i="1" dirty="0">
                <a:latin typeface="Calibri"/>
                <a:cs typeface="Calibri"/>
              </a:rPr>
              <a:t> </a:t>
            </a:r>
            <a:r>
              <a:rPr sz="2800" i="1" spc="-5" dirty="0">
                <a:latin typeface="Calibri"/>
                <a:cs typeface="Calibri"/>
              </a:rPr>
              <a:t>its</a:t>
            </a:r>
            <a:r>
              <a:rPr sz="2800" i="1" dirty="0">
                <a:latin typeface="Calibri"/>
                <a:cs typeface="Calibri"/>
              </a:rPr>
              <a:t> </a:t>
            </a:r>
            <a:r>
              <a:rPr sz="2800" i="1" spc="-10" dirty="0">
                <a:latin typeface="Calibri"/>
                <a:cs typeface="Calibri"/>
              </a:rPr>
              <a:t>sleeping</a:t>
            </a:r>
            <a:r>
              <a:rPr sz="2800" i="1" spc="-5" dirty="0">
                <a:latin typeface="Calibri"/>
                <a:cs typeface="Calibri"/>
              </a:rPr>
              <a:t> </a:t>
            </a:r>
            <a:r>
              <a:rPr sz="2800" i="1" spc="-20" dirty="0">
                <a:latin typeface="Calibri"/>
                <a:cs typeface="Calibri"/>
              </a:rPr>
              <a:t>state.</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marR="19050" indent="-457200">
              <a:lnSpc>
                <a:spcPct val="100000"/>
              </a:lnSpc>
              <a:buFont typeface="Arial MT"/>
              <a:buChar char="•"/>
              <a:tabLst>
                <a:tab pos="469265" algn="l"/>
                <a:tab pos="469900" algn="l"/>
              </a:tabLst>
            </a:pPr>
            <a:r>
              <a:rPr sz="2800" i="1" spc="-65" dirty="0">
                <a:latin typeface="Calibri"/>
                <a:cs typeface="Calibri"/>
              </a:rPr>
              <a:t>We</a:t>
            </a:r>
            <a:r>
              <a:rPr sz="2800" i="1" spc="10" dirty="0">
                <a:latin typeface="Calibri"/>
                <a:cs typeface="Calibri"/>
              </a:rPr>
              <a:t> </a:t>
            </a:r>
            <a:r>
              <a:rPr sz="2800" i="1" spc="-5" dirty="0">
                <a:latin typeface="Calibri"/>
                <a:cs typeface="Calibri"/>
              </a:rPr>
              <a:t>have shown</a:t>
            </a:r>
            <a:r>
              <a:rPr sz="2800" i="1" dirty="0">
                <a:latin typeface="Calibri"/>
                <a:cs typeface="Calibri"/>
              </a:rPr>
              <a:t> </a:t>
            </a:r>
            <a:r>
              <a:rPr sz="2800" i="1" spc="-5" dirty="0">
                <a:latin typeface="Calibri"/>
                <a:cs typeface="Calibri"/>
              </a:rPr>
              <a:t>a</a:t>
            </a:r>
            <a:r>
              <a:rPr sz="2800" i="1" spc="-15" dirty="0">
                <a:latin typeface="Calibri"/>
                <a:cs typeface="Calibri"/>
              </a:rPr>
              <a:t> </a:t>
            </a:r>
            <a:r>
              <a:rPr sz="2800" i="1" spc="-5" dirty="0">
                <a:latin typeface="Calibri"/>
                <a:cs typeface="Calibri"/>
              </a:rPr>
              <a:t>vertical</a:t>
            </a:r>
            <a:r>
              <a:rPr sz="2800" i="1" spc="5" dirty="0">
                <a:latin typeface="Calibri"/>
                <a:cs typeface="Calibri"/>
              </a:rPr>
              <a:t> </a:t>
            </a:r>
            <a:r>
              <a:rPr sz="2800" i="1" spc="-10" dirty="0">
                <a:latin typeface="Calibri"/>
                <a:cs typeface="Calibri"/>
              </a:rPr>
              <a:t>line</a:t>
            </a:r>
            <a:r>
              <a:rPr sz="2800" i="1" spc="5" dirty="0">
                <a:latin typeface="Calibri"/>
                <a:cs typeface="Calibri"/>
              </a:rPr>
              <a:t> </a:t>
            </a:r>
            <a:r>
              <a:rPr sz="2800" i="1" spc="-25" dirty="0">
                <a:latin typeface="Calibri"/>
                <a:cs typeface="Calibri"/>
              </a:rPr>
              <a:t>to</a:t>
            </a:r>
            <a:r>
              <a:rPr sz="2800" i="1" dirty="0">
                <a:latin typeface="Calibri"/>
                <a:cs typeface="Calibri"/>
              </a:rPr>
              <a:t> </a:t>
            </a:r>
            <a:r>
              <a:rPr sz="2800" i="1" spc="-10" dirty="0">
                <a:latin typeface="Calibri"/>
                <a:cs typeface="Calibri"/>
              </a:rPr>
              <a:t>indicate</a:t>
            </a:r>
            <a:r>
              <a:rPr sz="2800" i="1" spc="-15" dirty="0">
                <a:latin typeface="Calibri"/>
                <a:cs typeface="Calibri"/>
              </a:rPr>
              <a:t> </a:t>
            </a:r>
            <a:r>
              <a:rPr sz="2800" i="1" spc="-5" dirty="0">
                <a:latin typeface="Calibri"/>
                <a:cs typeface="Calibri"/>
              </a:rPr>
              <a:t>the</a:t>
            </a:r>
            <a:r>
              <a:rPr sz="2800" i="1" spc="10" dirty="0">
                <a:latin typeface="Calibri"/>
                <a:cs typeface="Calibri"/>
              </a:rPr>
              <a:t> </a:t>
            </a:r>
            <a:r>
              <a:rPr sz="2800" i="1" spc="-30" dirty="0">
                <a:latin typeface="Calibri"/>
                <a:cs typeface="Calibri"/>
              </a:rPr>
              <a:t>delay.</a:t>
            </a:r>
            <a:r>
              <a:rPr sz="2800" i="1" spc="-5" dirty="0">
                <a:latin typeface="Calibri"/>
                <a:cs typeface="Calibri"/>
              </a:rPr>
              <a:t> </a:t>
            </a:r>
            <a:r>
              <a:rPr sz="2800" i="1" dirty="0">
                <a:latin typeface="Calibri"/>
                <a:cs typeface="Calibri"/>
              </a:rPr>
              <a:t>It </a:t>
            </a:r>
            <a:r>
              <a:rPr sz="2800" i="1" spc="-5" dirty="0">
                <a:latin typeface="Calibri"/>
                <a:cs typeface="Calibri"/>
              </a:rPr>
              <a:t>is</a:t>
            </a:r>
            <a:r>
              <a:rPr sz="2800" i="1" dirty="0">
                <a:latin typeface="Calibri"/>
                <a:cs typeface="Calibri"/>
              </a:rPr>
              <a:t> </a:t>
            </a:r>
            <a:r>
              <a:rPr sz="2800" i="1" spc="-5" dirty="0">
                <a:latin typeface="Calibri"/>
                <a:cs typeface="Calibri"/>
              </a:rPr>
              <a:t>the</a:t>
            </a:r>
            <a:r>
              <a:rPr sz="2800" i="1" dirty="0">
                <a:latin typeface="Calibri"/>
                <a:cs typeface="Calibri"/>
              </a:rPr>
              <a:t> </a:t>
            </a:r>
            <a:r>
              <a:rPr sz="2800" i="1" spc="-5" dirty="0">
                <a:latin typeface="Calibri"/>
                <a:cs typeface="Calibri"/>
              </a:rPr>
              <a:t>same </a:t>
            </a:r>
            <a:r>
              <a:rPr sz="2800" i="1" spc="-20" dirty="0">
                <a:latin typeface="Calibri"/>
                <a:cs typeface="Calibri"/>
              </a:rPr>
              <a:t>story </a:t>
            </a:r>
            <a:r>
              <a:rPr sz="2800" i="1" spc="-615" dirty="0">
                <a:latin typeface="Calibri"/>
                <a:cs typeface="Calibri"/>
              </a:rPr>
              <a:t> </a:t>
            </a:r>
            <a:r>
              <a:rPr sz="2800" i="1" spc="-5" dirty="0">
                <a:latin typeface="Calibri"/>
                <a:cs typeface="Calibri"/>
              </a:rPr>
              <a:t>with </a:t>
            </a:r>
            <a:r>
              <a:rPr sz="2800" i="1" spc="-25" dirty="0">
                <a:latin typeface="Calibri"/>
                <a:cs typeface="Calibri"/>
              </a:rPr>
              <a:t>ACK</a:t>
            </a:r>
            <a:r>
              <a:rPr sz="2800" i="1" dirty="0">
                <a:latin typeface="Calibri"/>
                <a:cs typeface="Calibri"/>
              </a:rPr>
              <a:t> </a:t>
            </a:r>
            <a:r>
              <a:rPr sz="2800" i="1" spc="-5" dirty="0">
                <a:latin typeface="Calibri"/>
                <a:cs typeface="Calibri"/>
              </a:rPr>
              <a:t>3;</a:t>
            </a:r>
            <a:r>
              <a:rPr sz="2800" i="1" spc="15" dirty="0">
                <a:latin typeface="Calibri"/>
                <a:cs typeface="Calibri"/>
              </a:rPr>
              <a:t> </a:t>
            </a:r>
            <a:r>
              <a:rPr sz="2800" i="1" spc="-10" dirty="0">
                <a:latin typeface="Calibri"/>
                <a:cs typeface="Calibri"/>
              </a:rPr>
              <a:t>but</a:t>
            </a:r>
            <a:r>
              <a:rPr sz="2800" i="1" spc="5" dirty="0">
                <a:latin typeface="Calibri"/>
                <a:cs typeface="Calibri"/>
              </a:rPr>
              <a:t> </a:t>
            </a:r>
            <a:r>
              <a:rPr sz="2800" i="1" spc="-5" dirty="0">
                <a:latin typeface="Calibri"/>
                <a:cs typeface="Calibri"/>
              </a:rPr>
              <a:t>when</a:t>
            </a:r>
            <a:r>
              <a:rPr sz="2800" i="1" spc="5" dirty="0">
                <a:latin typeface="Calibri"/>
                <a:cs typeface="Calibri"/>
              </a:rPr>
              <a:t> </a:t>
            </a:r>
            <a:r>
              <a:rPr sz="2800" i="1" spc="-25" dirty="0">
                <a:latin typeface="Calibri"/>
                <a:cs typeface="Calibri"/>
              </a:rPr>
              <a:t>ACK</a:t>
            </a:r>
            <a:r>
              <a:rPr sz="2800" i="1" dirty="0">
                <a:latin typeface="Calibri"/>
                <a:cs typeface="Calibri"/>
              </a:rPr>
              <a:t> </a:t>
            </a:r>
            <a:r>
              <a:rPr sz="2800" i="1" spc="-5" dirty="0">
                <a:latin typeface="Calibri"/>
                <a:cs typeface="Calibri"/>
              </a:rPr>
              <a:t>3</a:t>
            </a:r>
            <a:r>
              <a:rPr sz="2800" i="1" spc="10" dirty="0">
                <a:latin typeface="Calibri"/>
                <a:cs typeface="Calibri"/>
              </a:rPr>
              <a:t> </a:t>
            </a:r>
            <a:r>
              <a:rPr sz="2800" i="1" spc="-10" dirty="0">
                <a:latin typeface="Calibri"/>
                <a:cs typeface="Calibri"/>
              </a:rPr>
              <a:t>arrives,</a:t>
            </a:r>
            <a:r>
              <a:rPr sz="2800" i="1" spc="10" dirty="0">
                <a:latin typeface="Calibri"/>
                <a:cs typeface="Calibri"/>
              </a:rPr>
              <a:t> </a:t>
            </a:r>
            <a:r>
              <a:rPr sz="2800" i="1" spc="-5" dirty="0">
                <a:latin typeface="Calibri"/>
                <a:cs typeface="Calibri"/>
              </a:rPr>
              <a:t>the</a:t>
            </a:r>
            <a:r>
              <a:rPr sz="2800" i="1" spc="10" dirty="0">
                <a:latin typeface="Calibri"/>
                <a:cs typeface="Calibri"/>
              </a:rPr>
              <a:t> </a:t>
            </a:r>
            <a:r>
              <a:rPr sz="2800" i="1" spc="-10" dirty="0">
                <a:latin typeface="Calibri"/>
                <a:cs typeface="Calibri"/>
              </a:rPr>
              <a:t>sender</a:t>
            </a:r>
            <a:r>
              <a:rPr sz="2800" i="1" dirty="0">
                <a:latin typeface="Calibri"/>
                <a:cs typeface="Calibri"/>
              </a:rPr>
              <a:t> </a:t>
            </a:r>
            <a:r>
              <a:rPr sz="2800" i="1" spc="-5" dirty="0">
                <a:latin typeface="Calibri"/>
                <a:cs typeface="Calibri"/>
              </a:rPr>
              <a:t>is</a:t>
            </a:r>
            <a:r>
              <a:rPr sz="2800" i="1" spc="5" dirty="0">
                <a:latin typeface="Calibri"/>
                <a:cs typeface="Calibri"/>
              </a:rPr>
              <a:t> </a:t>
            </a:r>
            <a:r>
              <a:rPr sz="2800" i="1" spc="-15" dirty="0">
                <a:latin typeface="Calibri"/>
                <a:cs typeface="Calibri"/>
              </a:rPr>
              <a:t>busy</a:t>
            </a:r>
            <a:r>
              <a:rPr sz="2800" i="1" dirty="0">
                <a:latin typeface="Calibri"/>
                <a:cs typeface="Calibri"/>
              </a:rPr>
              <a:t> </a:t>
            </a:r>
            <a:r>
              <a:rPr sz="2800" i="1" spc="-5" dirty="0">
                <a:latin typeface="Calibri"/>
                <a:cs typeface="Calibri"/>
              </a:rPr>
              <a:t>responding</a:t>
            </a:r>
            <a:r>
              <a:rPr sz="2800" i="1" dirty="0">
                <a:latin typeface="Calibri"/>
                <a:cs typeface="Calibri"/>
              </a:rPr>
              <a:t> </a:t>
            </a:r>
            <a:r>
              <a:rPr sz="2800" i="1" spc="-25" dirty="0">
                <a:latin typeface="Calibri"/>
                <a:cs typeface="Calibri"/>
              </a:rPr>
              <a:t>to </a:t>
            </a:r>
            <a:r>
              <a:rPr sz="2800" i="1" spc="-20" dirty="0">
                <a:latin typeface="Calibri"/>
                <a:cs typeface="Calibri"/>
              </a:rPr>
              <a:t> </a:t>
            </a:r>
            <a:r>
              <a:rPr sz="2800" i="1" spc="-25" dirty="0">
                <a:latin typeface="Calibri"/>
                <a:cs typeface="Calibri"/>
              </a:rPr>
              <a:t>ACK</a:t>
            </a:r>
            <a:r>
              <a:rPr sz="2800" i="1" spc="-5" dirty="0">
                <a:latin typeface="Calibri"/>
                <a:cs typeface="Calibri"/>
              </a:rPr>
              <a:t> 2.</a:t>
            </a:r>
            <a:r>
              <a:rPr sz="2800" i="1" spc="15" dirty="0">
                <a:latin typeface="Calibri"/>
                <a:cs typeface="Calibri"/>
              </a:rPr>
              <a:t> </a:t>
            </a:r>
            <a:r>
              <a:rPr sz="2800" i="1" spc="-5" dirty="0">
                <a:latin typeface="Calibri"/>
                <a:cs typeface="Calibri"/>
              </a:rPr>
              <a:t>It happens</a:t>
            </a:r>
            <a:r>
              <a:rPr sz="2800" i="1" dirty="0">
                <a:latin typeface="Calibri"/>
                <a:cs typeface="Calibri"/>
              </a:rPr>
              <a:t> </a:t>
            </a:r>
            <a:r>
              <a:rPr sz="2800" i="1" spc="-10" dirty="0">
                <a:latin typeface="Calibri"/>
                <a:cs typeface="Calibri"/>
              </a:rPr>
              <a:t>again</a:t>
            </a:r>
            <a:r>
              <a:rPr sz="2800" i="1" spc="-15" dirty="0">
                <a:latin typeface="Calibri"/>
                <a:cs typeface="Calibri"/>
              </a:rPr>
              <a:t> </a:t>
            </a:r>
            <a:r>
              <a:rPr sz="2800" i="1" spc="-5" dirty="0">
                <a:latin typeface="Calibri"/>
                <a:cs typeface="Calibri"/>
              </a:rPr>
              <a:t>when</a:t>
            </a:r>
            <a:r>
              <a:rPr sz="2800" i="1" spc="5" dirty="0">
                <a:latin typeface="Calibri"/>
                <a:cs typeface="Calibri"/>
              </a:rPr>
              <a:t> </a:t>
            </a:r>
            <a:r>
              <a:rPr sz="2800" i="1" spc="-25" dirty="0">
                <a:latin typeface="Calibri"/>
                <a:cs typeface="Calibri"/>
              </a:rPr>
              <a:t>ACK</a:t>
            </a:r>
            <a:r>
              <a:rPr sz="2800" i="1" spc="-5" dirty="0">
                <a:latin typeface="Calibri"/>
                <a:cs typeface="Calibri"/>
              </a:rPr>
              <a:t> 4</a:t>
            </a:r>
            <a:r>
              <a:rPr sz="2800" i="1" spc="15" dirty="0">
                <a:latin typeface="Calibri"/>
                <a:cs typeface="Calibri"/>
              </a:rPr>
              <a:t> </a:t>
            </a:r>
            <a:r>
              <a:rPr sz="2800" i="1" spc="-10" dirty="0">
                <a:latin typeface="Calibri"/>
                <a:cs typeface="Calibri"/>
              </a:rPr>
              <a:t>arrives.</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marR="5080" indent="-457200">
              <a:lnSpc>
                <a:spcPct val="100000"/>
              </a:lnSpc>
              <a:spcBef>
                <a:spcPts val="5"/>
              </a:spcBef>
              <a:buFont typeface="Arial MT"/>
              <a:buChar char="•"/>
              <a:tabLst>
                <a:tab pos="469265" algn="l"/>
                <a:tab pos="469900" algn="l"/>
              </a:tabLst>
            </a:pPr>
            <a:r>
              <a:rPr sz="2800" i="1" spc="-10" dirty="0">
                <a:latin typeface="Calibri"/>
                <a:cs typeface="Calibri"/>
              </a:rPr>
              <a:t>Note</a:t>
            </a:r>
            <a:r>
              <a:rPr sz="2800" i="1" dirty="0">
                <a:latin typeface="Calibri"/>
                <a:cs typeface="Calibri"/>
              </a:rPr>
              <a:t> </a:t>
            </a:r>
            <a:r>
              <a:rPr sz="2800" i="1" spc="-5" dirty="0">
                <a:latin typeface="Calibri"/>
                <a:cs typeface="Calibri"/>
              </a:rPr>
              <a:t>that</a:t>
            </a:r>
            <a:r>
              <a:rPr sz="2800" i="1" dirty="0">
                <a:latin typeface="Calibri"/>
                <a:cs typeface="Calibri"/>
              </a:rPr>
              <a:t> </a:t>
            </a:r>
            <a:r>
              <a:rPr sz="2800" i="1" spc="-15" dirty="0">
                <a:latin typeface="Calibri"/>
                <a:cs typeface="Calibri"/>
              </a:rPr>
              <a:t>before</a:t>
            </a:r>
            <a:r>
              <a:rPr sz="2800" i="1" spc="15" dirty="0">
                <a:latin typeface="Calibri"/>
                <a:cs typeface="Calibri"/>
              </a:rPr>
              <a:t> </a:t>
            </a:r>
            <a:r>
              <a:rPr sz="2800" i="1" spc="-5" dirty="0">
                <a:latin typeface="Calibri"/>
                <a:cs typeface="Calibri"/>
              </a:rPr>
              <a:t>the</a:t>
            </a:r>
            <a:r>
              <a:rPr sz="2800" i="1" dirty="0">
                <a:latin typeface="Calibri"/>
                <a:cs typeface="Calibri"/>
              </a:rPr>
              <a:t> </a:t>
            </a:r>
            <a:r>
              <a:rPr sz="2800" i="1" spc="-10" dirty="0">
                <a:latin typeface="Calibri"/>
                <a:cs typeface="Calibri"/>
              </a:rPr>
              <a:t>second</a:t>
            </a:r>
            <a:r>
              <a:rPr sz="2800" i="1" spc="-5" dirty="0">
                <a:latin typeface="Calibri"/>
                <a:cs typeface="Calibri"/>
              </a:rPr>
              <a:t> timer</a:t>
            </a:r>
            <a:r>
              <a:rPr sz="2800" i="1" spc="15" dirty="0">
                <a:latin typeface="Calibri"/>
                <a:cs typeface="Calibri"/>
              </a:rPr>
              <a:t> </a:t>
            </a:r>
            <a:r>
              <a:rPr sz="2800" i="1" spc="-15" dirty="0">
                <a:latin typeface="Calibri"/>
                <a:cs typeface="Calibri"/>
              </a:rPr>
              <a:t>expires,</a:t>
            </a:r>
            <a:r>
              <a:rPr sz="2800" i="1" spc="10" dirty="0">
                <a:latin typeface="Calibri"/>
                <a:cs typeface="Calibri"/>
              </a:rPr>
              <a:t> </a:t>
            </a:r>
            <a:r>
              <a:rPr sz="2800" i="1" spc="-5" dirty="0">
                <a:latin typeface="Calibri"/>
                <a:cs typeface="Calibri"/>
              </a:rPr>
              <a:t>all</a:t>
            </a:r>
            <a:r>
              <a:rPr sz="2800" i="1" spc="5" dirty="0">
                <a:latin typeface="Calibri"/>
                <a:cs typeface="Calibri"/>
              </a:rPr>
              <a:t> </a:t>
            </a:r>
            <a:r>
              <a:rPr sz="2800" i="1" spc="-10" dirty="0">
                <a:latin typeface="Calibri"/>
                <a:cs typeface="Calibri"/>
              </a:rPr>
              <a:t>outstanding</a:t>
            </a:r>
            <a:r>
              <a:rPr sz="2800" i="1" spc="-25" dirty="0">
                <a:latin typeface="Calibri"/>
                <a:cs typeface="Calibri"/>
              </a:rPr>
              <a:t> </a:t>
            </a:r>
            <a:r>
              <a:rPr sz="2800" i="1" spc="-10" dirty="0">
                <a:latin typeface="Calibri"/>
                <a:cs typeface="Calibri"/>
              </a:rPr>
              <a:t>frames</a:t>
            </a:r>
            <a:r>
              <a:rPr sz="2800" i="1" spc="15" dirty="0">
                <a:latin typeface="Calibri"/>
                <a:cs typeface="Calibri"/>
              </a:rPr>
              <a:t> </a:t>
            </a:r>
            <a:r>
              <a:rPr sz="2800" i="1" spc="-10" dirty="0">
                <a:latin typeface="Calibri"/>
                <a:cs typeface="Calibri"/>
              </a:rPr>
              <a:t>have </a:t>
            </a:r>
            <a:r>
              <a:rPr sz="2800" i="1" spc="-615" dirty="0">
                <a:latin typeface="Calibri"/>
                <a:cs typeface="Calibri"/>
              </a:rPr>
              <a:t> </a:t>
            </a:r>
            <a:r>
              <a:rPr sz="2800" i="1" spc="-10" dirty="0">
                <a:latin typeface="Calibri"/>
                <a:cs typeface="Calibri"/>
              </a:rPr>
              <a:t>been</a:t>
            </a:r>
            <a:r>
              <a:rPr sz="2800" i="1" dirty="0">
                <a:latin typeface="Calibri"/>
                <a:cs typeface="Calibri"/>
              </a:rPr>
              <a:t> </a:t>
            </a:r>
            <a:r>
              <a:rPr sz="2800" i="1" spc="-15" dirty="0">
                <a:latin typeface="Calibri"/>
                <a:cs typeface="Calibri"/>
              </a:rPr>
              <a:t>sent</a:t>
            </a:r>
            <a:r>
              <a:rPr sz="2800" i="1" spc="-10" dirty="0">
                <a:latin typeface="Calibri"/>
                <a:cs typeface="Calibri"/>
              </a:rPr>
              <a:t> and</a:t>
            </a:r>
            <a:r>
              <a:rPr sz="2800" i="1" dirty="0">
                <a:latin typeface="Calibri"/>
                <a:cs typeface="Calibri"/>
              </a:rPr>
              <a:t> </a:t>
            </a:r>
            <a:r>
              <a:rPr sz="2800" i="1" spc="-5" dirty="0">
                <a:latin typeface="Calibri"/>
                <a:cs typeface="Calibri"/>
              </a:rPr>
              <a:t>the timer</a:t>
            </a:r>
            <a:r>
              <a:rPr sz="2800" i="1" spc="25" dirty="0">
                <a:latin typeface="Calibri"/>
                <a:cs typeface="Calibri"/>
              </a:rPr>
              <a:t> </a:t>
            </a:r>
            <a:r>
              <a:rPr sz="2800" i="1" spc="-5" dirty="0">
                <a:latin typeface="Calibri"/>
                <a:cs typeface="Calibri"/>
              </a:rPr>
              <a:t>is</a:t>
            </a:r>
            <a:r>
              <a:rPr sz="2800" i="1" dirty="0">
                <a:latin typeface="Calibri"/>
                <a:cs typeface="Calibri"/>
              </a:rPr>
              <a:t> </a:t>
            </a:r>
            <a:r>
              <a:rPr sz="2800" i="1" spc="-15" dirty="0">
                <a:latin typeface="Calibri"/>
                <a:cs typeface="Calibri"/>
              </a:rPr>
              <a:t>stopped.</a:t>
            </a:r>
            <a:endParaRPr sz="2800">
              <a:latin typeface="Calibri"/>
              <a:cs typeface="Calibri"/>
            </a:endParaRPr>
          </a:p>
        </p:txBody>
      </p:sp>
      <p:sp>
        <p:nvSpPr>
          <p:cNvPr id="5" name="object 5"/>
          <p:cNvSpPr txBox="1">
            <a:spLocks noGrp="1"/>
          </p:cNvSpPr>
          <p:nvPr>
            <p:ph type="title"/>
          </p:nvPr>
        </p:nvSpPr>
        <p:spPr>
          <a:xfrm>
            <a:off x="3236119" y="-199195"/>
            <a:ext cx="2239328"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Go-Back-N</a:t>
            </a:r>
            <a:r>
              <a:rPr b="1" spc="-60" dirty="0">
                <a:latin typeface="Calibri"/>
                <a:cs typeface="Calibri"/>
              </a:rPr>
              <a:t> </a:t>
            </a:r>
            <a:r>
              <a:rPr b="1" spc="-10" dirty="0">
                <a:latin typeface="Calibri"/>
                <a:cs typeface="Calibri"/>
              </a:rPr>
              <a:t>ARQ</a:t>
            </a:r>
          </a:p>
        </p:txBody>
      </p:sp>
    </p:spTree>
    <p:extLst>
      <p:ext uri="{BB962C8B-B14F-4D97-AF65-F5344CB8AC3E}">
        <p14:creationId xmlns:p14="http://schemas.microsoft.com/office/powerpoint/2010/main" val="372403890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3236119" y="-199195"/>
            <a:ext cx="2239328"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Go-Back-N</a:t>
            </a:r>
            <a:r>
              <a:rPr b="1" spc="-60" dirty="0">
                <a:latin typeface="Calibri"/>
                <a:cs typeface="Calibri"/>
              </a:rPr>
              <a:t> </a:t>
            </a:r>
            <a:r>
              <a:rPr b="1" spc="-10" dirty="0">
                <a:latin typeface="Calibri"/>
                <a:cs typeface="Calibri"/>
              </a:rPr>
              <a:t>ARQ</a:t>
            </a:r>
          </a:p>
        </p:txBody>
      </p:sp>
      <p:pic>
        <p:nvPicPr>
          <p:cNvPr id="5" name="object 5"/>
          <p:cNvPicPr/>
          <p:nvPr/>
        </p:nvPicPr>
        <p:blipFill>
          <a:blip r:embed="rId4" cstate="print"/>
          <a:stretch>
            <a:fillRect/>
          </a:stretch>
        </p:blipFill>
        <p:spPr>
          <a:xfrm>
            <a:off x="299466" y="819911"/>
            <a:ext cx="7370064" cy="5865876"/>
          </a:xfrm>
          <a:prstGeom prst="rect">
            <a:avLst/>
          </a:prstGeom>
        </p:spPr>
      </p:pic>
    </p:spTree>
    <p:extLst>
      <p:ext uri="{BB962C8B-B14F-4D97-AF65-F5344CB8AC3E}">
        <p14:creationId xmlns:p14="http://schemas.microsoft.com/office/powerpoint/2010/main" val="100128522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2815495" y="-199195"/>
            <a:ext cx="3080384"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Selective</a:t>
            </a:r>
            <a:r>
              <a:rPr b="1" spc="-30" dirty="0">
                <a:latin typeface="Calibri"/>
                <a:cs typeface="Calibri"/>
              </a:rPr>
              <a:t> </a:t>
            </a:r>
            <a:r>
              <a:rPr b="1" spc="-20" dirty="0">
                <a:latin typeface="Calibri"/>
                <a:cs typeface="Calibri"/>
              </a:rPr>
              <a:t>Repeat</a:t>
            </a:r>
            <a:r>
              <a:rPr b="1" spc="-35" dirty="0">
                <a:latin typeface="Calibri"/>
                <a:cs typeface="Calibri"/>
              </a:rPr>
              <a:t> </a:t>
            </a:r>
            <a:r>
              <a:rPr b="1" spc="-15" dirty="0">
                <a:latin typeface="Calibri"/>
                <a:cs typeface="Calibri"/>
              </a:rPr>
              <a:t>ARQ</a:t>
            </a:r>
          </a:p>
        </p:txBody>
      </p:sp>
      <p:sp>
        <p:nvSpPr>
          <p:cNvPr id="5" name="object 5"/>
          <p:cNvSpPr txBox="1"/>
          <p:nvPr/>
        </p:nvSpPr>
        <p:spPr>
          <a:xfrm>
            <a:off x="514656" y="1417779"/>
            <a:ext cx="7291864" cy="6029215"/>
          </a:xfrm>
          <a:prstGeom prst="rect">
            <a:avLst/>
          </a:prstGeom>
        </p:spPr>
        <p:txBody>
          <a:bodyPr vert="horz" wrap="square" lIns="0" tIns="12065" rIns="0" bIns="0" rtlCol="0">
            <a:spAutoFit/>
          </a:bodyPr>
          <a:lstStyle/>
          <a:p>
            <a:pPr marL="469900" indent="-457200">
              <a:lnSpc>
                <a:spcPct val="100000"/>
              </a:lnSpc>
              <a:spcBef>
                <a:spcPts val="95"/>
              </a:spcBef>
              <a:buFont typeface="Arial MT"/>
              <a:buChar char="•"/>
              <a:tabLst>
                <a:tab pos="469265" algn="l"/>
                <a:tab pos="469900" algn="l"/>
              </a:tabLst>
            </a:pPr>
            <a:r>
              <a:rPr sz="2800" spc="-5" dirty="0">
                <a:latin typeface="Calibri"/>
                <a:cs typeface="Calibri"/>
              </a:rPr>
              <a:t>Go-Back-N</a:t>
            </a:r>
            <a:r>
              <a:rPr sz="2800" spc="20" dirty="0">
                <a:latin typeface="Calibri"/>
                <a:cs typeface="Calibri"/>
              </a:rPr>
              <a:t> </a:t>
            </a:r>
            <a:r>
              <a:rPr sz="2800" spc="-10" dirty="0">
                <a:latin typeface="Calibri"/>
                <a:cs typeface="Calibri"/>
              </a:rPr>
              <a:t>ARQ</a:t>
            </a:r>
            <a:r>
              <a:rPr sz="2800" spc="20" dirty="0">
                <a:latin typeface="Calibri"/>
                <a:cs typeface="Calibri"/>
              </a:rPr>
              <a:t> </a:t>
            </a:r>
            <a:r>
              <a:rPr sz="2800" spc="-10" dirty="0">
                <a:latin typeface="Calibri"/>
                <a:cs typeface="Calibri"/>
              </a:rPr>
              <a:t>simplifies</a:t>
            </a:r>
            <a:r>
              <a:rPr sz="2800" spc="40" dirty="0">
                <a:latin typeface="Calibri"/>
                <a:cs typeface="Calibri"/>
              </a:rPr>
              <a:t> </a:t>
            </a:r>
            <a:r>
              <a:rPr sz="2800" spc="-5" dirty="0">
                <a:latin typeface="Calibri"/>
                <a:cs typeface="Calibri"/>
              </a:rPr>
              <a:t>the</a:t>
            </a:r>
            <a:r>
              <a:rPr sz="2800" spc="5" dirty="0">
                <a:latin typeface="Calibri"/>
                <a:cs typeface="Calibri"/>
              </a:rPr>
              <a:t> </a:t>
            </a:r>
            <a:r>
              <a:rPr sz="2800" spc="-15" dirty="0">
                <a:latin typeface="Calibri"/>
                <a:cs typeface="Calibri"/>
              </a:rPr>
              <a:t>process</a:t>
            </a:r>
            <a:r>
              <a:rPr sz="2800" spc="30" dirty="0">
                <a:latin typeface="Calibri"/>
                <a:cs typeface="Calibri"/>
              </a:rPr>
              <a:t> </a:t>
            </a:r>
            <a:r>
              <a:rPr sz="2800" spc="-15" dirty="0">
                <a:latin typeface="Calibri"/>
                <a:cs typeface="Calibri"/>
              </a:rPr>
              <a:t>at</a:t>
            </a:r>
            <a:r>
              <a:rPr sz="2800" dirty="0">
                <a:latin typeface="Calibri"/>
                <a:cs typeface="Calibri"/>
              </a:rPr>
              <a:t> </a:t>
            </a:r>
            <a:r>
              <a:rPr sz="2800" spc="-5" dirty="0">
                <a:latin typeface="Calibri"/>
                <a:cs typeface="Calibri"/>
              </a:rPr>
              <a:t>the</a:t>
            </a:r>
            <a:r>
              <a:rPr sz="2800" spc="5" dirty="0">
                <a:latin typeface="Calibri"/>
                <a:cs typeface="Calibri"/>
              </a:rPr>
              <a:t> </a:t>
            </a:r>
            <a:r>
              <a:rPr sz="2800" spc="-15" dirty="0">
                <a:latin typeface="Calibri"/>
                <a:cs typeface="Calibri"/>
              </a:rPr>
              <a:t>receiver</a:t>
            </a:r>
            <a:r>
              <a:rPr sz="2800" spc="5" dirty="0">
                <a:latin typeface="Calibri"/>
                <a:cs typeface="Calibri"/>
              </a:rPr>
              <a:t> </a:t>
            </a:r>
            <a:r>
              <a:rPr sz="2800" spc="-15" dirty="0">
                <a:latin typeface="Calibri"/>
                <a:cs typeface="Calibri"/>
              </a:rPr>
              <a:t>site.</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marR="280670" indent="-457200">
              <a:lnSpc>
                <a:spcPct val="100000"/>
              </a:lnSpc>
              <a:buFont typeface="Arial MT"/>
              <a:buChar char="•"/>
              <a:tabLst>
                <a:tab pos="469265" algn="l"/>
                <a:tab pos="469900" algn="l"/>
              </a:tabLst>
            </a:pPr>
            <a:r>
              <a:rPr sz="2800" spc="-10" dirty="0">
                <a:latin typeface="Calibri"/>
                <a:cs typeface="Calibri"/>
              </a:rPr>
              <a:t>The</a:t>
            </a:r>
            <a:r>
              <a:rPr sz="2800" spc="-5" dirty="0">
                <a:latin typeface="Calibri"/>
                <a:cs typeface="Calibri"/>
              </a:rPr>
              <a:t> </a:t>
            </a:r>
            <a:r>
              <a:rPr sz="2800" spc="-10" dirty="0">
                <a:latin typeface="Calibri"/>
                <a:cs typeface="Calibri"/>
              </a:rPr>
              <a:t>receiver</a:t>
            </a:r>
            <a:r>
              <a:rPr sz="2800" dirty="0">
                <a:latin typeface="Calibri"/>
                <a:cs typeface="Calibri"/>
              </a:rPr>
              <a:t> </a:t>
            </a:r>
            <a:r>
              <a:rPr sz="2800" spc="-25" dirty="0">
                <a:latin typeface="Calibri"/>
                <a:cs typeface="Calibri"/>
              </a:rPr>
              <a:t>keeps</a:t>
            </a:r>
            <a:r>
              <a:rPr sz="2800" spc="-5" dirty="0">
                <a:latin typeface="Calibri"/>
                <a:cs typeface="Calibri"/>
              </a:rPr>
              <a:t> </a:t>
            </a:r>
            <a:r>
              <a:rPr sz="2800" spc="-15" dirty="0">
                <a:latin typeface="Calibri"/>
                <a:cs typeface="Calibri"/>
              </a:rPr>
              <a:t>track</a:t>
            </a:r>
            <a:r>
              <a:rPr sz="2800" spc="20" dirty="0">
                <a:latin typeface="Calibri"/>
                <a:cs typeface="Calibri"/>
              </a:rPr>
              <a:t> </a:t>
            </a:r>
            <a:r>
              <a:rPr sz="2800" spc="-5" dirty="0">
                <a:latin typeface="Calibri"/>
                <a:cs typeface="Calibri"/>
              </a:rPr>
              <a:t>of </a:t>
            </a:r>
            <a:r>
              <a:rPr sz="2800" spc="-10" dirty="0">
                <a:latin typeface="Calibri"/>
                <a:cs typeface="Calibri"/>
              </a:rPr>
              <a:t>only</a:t>
            </a:r>
            <a:r>
              <a:rPr sz="2800" spc="20" dirty="0">
                <a:latin typeface="Calibri"/>
                <a:cs typeface="Calibri"/>
              </a:rPr>
              <a:t> </a:t>
            </a:r>
            <a:r>
              <a:rPr sz="2800" spc="-10" dirty="0">
                <a:latin typeface="Calibri"/>
                <a:cs typeface="Calibri"/>
              </a:rPr>
              <a:t>one</a:t>
            </a:r>
            <a:r>
              <a:rPr sz="2800" dirty="0">
                <a:latin typeface="Calibri"/>
                <a:cs typeface="Calibri"/>
              </a:rPr>
              <a:t> </a:t>
            </a:r>
            <a:r>
              <a:rPr sz="2800" spc="-10" dirty="0">
                <a:latin typeface="Calibri"/>
                <a:cs typeface="Calibri"/>
              </a:rPr>
              <a:t>variable,</a:t>
            </a:r>
            <a:r>
              <a:rPr sz="2800" spc="10" dirty="0">
                <a:latin typeface="Calibri"/>
                <a:cs typeface="Calibri"/>
              </a:rPr>
              <a:t> </a:t>
            </a:r>
            <a:r>
              <a:rPr sz="2800" spc="-5" dirty="0">
                <a:latin typeface="Calibri"/>
                <a:cs typeface="Calibri"/>
              </a:rPr>
              <a:t>and</a:t>
            </a:r>
            <a:r>
              <a:rPr sz="2800" spc="10" dirty="0">
                <a:latin typeface="Calibri"/>
                <a:cs typeface="Calibri"/>
              </a:rPr>
              <a:t> </a:t>
            </a:r>
            <a:r>
              <a:rPr sz="2800" spc="-15" dirty="0">
                <a:latin typeface="Calibri"/>
                <a:cs typeface="Calibri"/>
              </a:rPr>
              <a:t>there</a:t>
            </a:r>
            <a:r>
              <a:rPr sz="2800" spc="20" dirty="0">
                <a:latin typeface="Calibri"/>
                <a:cs typeface="Calibri"/>
              </a:rPr>
              <a:t> </a:t>
            </a:r>
            <a:r>
              <a:rPr sz="2800" spc="-5" dirty="0">
                <a:latin typeface="Calibri"/>
                <a:cs typeface="Calibri"/>
              </a:rPr>
              <a:t>is</a:t>
            </a:r>
            <a:r>
              <a:rPr sz="2800" dirty="0">
                <a:latin typeface="Calibri"/>
                <a:cs typeface="Calibri"/>
              </a:rPr>
              <a:t> </a:t>
            </a:r>
            <a:r>
              <a:rPr sz="2800" spc="-10" dirty="0">
                <a:latin typeface="Calibri"/>
                <a:cs typeface="Calibri"/>
              </a:rPr>
              <a:t>no </a:t>
            </a:r>
            <a:r>
              <a:rPr sz="2800" spc="-5" dirty="0">
                <a:latin typeface="Calibri"/>
                <a:cs typeface="Calibri"/>
              </a:rPr>
              <a:t> need</a:t>
            </a:r>
            <a:r>
              <a:rPr sz="2800" dirty="0">
                <a:latin typeface="Calibri"/>
                <a:cs typeface="Calibri"/>
              </a:rPr>
              <a:t> </a:t>
            </a:r>
            <a:r>
              <a:rPr sz="2800" spc="-20" dirty="0">
                <a:latin typeface="Calibri"/>
                <a:cs typeface="Calibri"/>
              </a:rPr>
              <a:t>to</a:t>
            </a:r>
            <a:r>
              <a:rPr sz="2800" dirty="0">
                <a:latin typeface="Calibri"/>
                <a:cs typeface="Calibri"/>
              </a:rPr>
              <a:t> </a:t>
            </a:r>
            <a:r>
              <a:rPr sz="2800" spc="-25" dirty="0">
                <a:latin typeface="Calibri"/>
                <a:cs typeface="Calibri"/>
              </a:rPr>
              <a:t>buffer</a:t>
            </a:r>
            <a:r>
              <a:rPr sz="2800" spc="25" dirty="0">
                <a:latin typeface="Calibri"/>
                <a:cs typeface="Calibri"/>
              </a:rPr>
              <a:t> </a:t>
            </a:r>
            <a:r>
              <a:rPr sz="2800" spc="-10" dirty="0">
                <a:latin typeface="Calibri"/>
                <a:cs typeface="Calibri"/>
              </a:rPr>
              <a:t>out-of-order</a:t>
            </a:r>
            <a:r>
              <a:rPr sz="2800" spc="25" dirty="0">
                <a:latin typeface="Calibri"/>
                <a:cs typeface="Calibri"/>
              </a:rPr>
              <a:t> </a:t>
            </a:r>
            <a:r>
              <a:rPr sz="2800" spc="-15" dirty="0">
                <a:latin typeface="Calibri"/>
                <a:cs typeface="Calibri"/>
              </a:rPr>
              <a:t>frames;</a:t>
            </a:r>
            <a:r>
              <a:rPr sz="2800" spc="5" dirty="0">
                <a:latin typeface="Calibri"/>
                <a:cs typeface="Calibri"/>
              </a:rPr>
              <a:t> </a:t>
            </a:r>
            <a:r>
              <a:rPr sz="2800" spc="-10" dirty="0">
                <a:latin typeface="Calibri"/>
                <a:cs typeface="Calibri"/>
              </a:rPr>
              <a:t>they</a:t>
            </a:r>
            <a:r>
              <a:rPr sz="2800" spc="5" dirty="0">
                <a:latin typeface="Calibri"/>
                <a:cs typeface="Calibri"/>
              </a:rPr>
              <a:t> </a:t>
            </a:r>
            <a:r>
              <a:rPr sz="2800" spc="-20" dirty="0">
                <a:latin typeface="Calibri"/>
                <a:cs typeface="Calibri"/>
              </a:rPr>
              <a:t>are</a:t>
            </a:r>
            <a:r>
              <a:rPr sz="2800" spc="10" dirty="0">
                <a:latin typeface="Calibri"/>
                <a:cs typeface="Calibri"/>
              </a:rPr>
              <a:t> </a:t>
            </a:r>
            <a:r>
              <a:rPr sz="2800" spc="-10" dirty="0">
                <a:latin typeface="Calibri"/>
                <a:cs typeface="Calibri"/>
              </a:rPr>
              <a:t>simply</a:t>
            </a:r>
            <a:r>
              <a:rPr sz="2800" spc="20" dirty="0">
                <a:latin typeface="Calibri"/>
                <a:cs typeface="Calibri"/>
              </a:rPr>
              <a:t> </a:t>
            </a:r>
            <a:r>
              <a:rPr sz="2800" spc="-15" dirty="0">
                <a:latin typeface="Calibri"/>
                <a:cs typeface="Calibri"/>
              </a:rPr>
              <a:t>discarded.</a:t>
            </a:r>
            <a:endParaRPr sz="2800">
              <a:latin typeface="Calibri"/>
              <a:cs typeface="Calibri"/>
            </a:endParaRPr>
          </a:p>
          <a:p>
            <a:pPr marL="12700">
              <a:lnSpc>
                <a:spcPct val="100000"/>
              </a:lnSpc>
              <a:spcBef>
                <a:spcPts val="5"/>
              </a:spcBef>
            </a:pPr>
            <a:r>
              <a:rPr sz="2800" spc="-5" dirty="0">
                <a:latin typeface="Arial MT"/>
                <a:cs typeface="Arial MT"/>
              </a:rPr>
              <a:t>•</a:t>
            </a:r>
            <a:endParaRPr sz="2800">
              <a:latin typeface="Arial MT"/>
              <a:cs typeface="Arial MT"/>
            </a:endParaRPr>
          </a:p>
          <a:p>
            <a:pPr marL="469900" indent="-457200">
              <a:lnSpc>
                <a:spcPct val="100000"/>
              </a:lnSpc>
              <a:buFont typeface="Arial MT"/>
              <a:buChar char="•"/>
              <a:tabLst>
                <a:tab pos="469265" algn="l"/>
                <a:tab pos="469900" algn="l"/>
              </a:tabLst>
            </a:pPr>
            <a:r>
              <a:rPr sz="2800" spc="-45" dirty="0">
                <a:latin typeface="Calibri"/>
                <a:cs typeface="Calibri"/>
              </a:rPr>
              <a:t>However,</a:t>
            </a:r>
            <a:r>
              <a:rPr sz="2800" dirty="0">
                <a:latin typeface="Calibri"/>
                <a:cs typeface="Calibri"/>
              </a:rPr>
              <a:t> </a:t>
            </a:r>
            <a:r>
              <a:rPr sz="2800" spc="-10" dirty="0">
                <a:latin typeface="Calibri"/>
                <a:cs typeface="Calibri"/>
              </a:rPr>
              <a:t>this</a:t>
            </a:r>
            <a:r>
              <a:rPr sz="2800" spc="25" dirty="0">
                <a:latin typeface="Calibri"/>
                <a:cs typeface="Calibri"/>
              </a:rPr>
              <a:t> </a:t>
            </a:r>
            <a:r>
              <a:rPr sz="2800" spc="-20" dirty="0">
                <a:latin typeface="Calibri"/>
                <a:cs typeface="Calibri"/>
              </a:rPr>
              <a:t>protocol</a:t>
            </a:r>
            <a:r>
              <a:rPr sz="2800" spc="10" dirty="0">
                <a:latin typeface="Calibri"/>
                <a:cs typeface="Calibri"/>
              </a:rPr>
              <a:t> </a:t>
            </a:r>
            <a:r>
              <a:rPr sz="2800" spc="-5" dirty="0">
                <a:latin typeface="Calibri"/>
                <a:cs typeface="Calibri"/>
              </a:rPr>
              <a:t>is</a:t>
            </a:r>
            <a:r>
              <a:rPr sz="2800" spc="5" dirty="0">
                <a:latin typeface="Calibri"/>
                <a:cs typeface="Calibri"/>
              </a:rPr>
              <a:t> </a:t>
            </a:r>
            <a:r>
              <a:rPr sz="2800" spc="-10" dirty="0">
                <a:latin typeface="Calibri"/>
                <a:cs typeface="Calibri"/>
              </a:rPr>
              <a:t>very</a:t>
            </a:r>
            <a:r>
              <a:rPr sz="2800" spc="20" dirty="0">
                <a:latin typeface="Calibri"/>
                <a:cs typeface="Calibri"/>
              </a:rPr>
              <a:t> </a:t>
            </a:r>
            <a:r>
              <a:rPr sz="2800" spc="-15" dirty="0">
                <a:latin typeface="Calibri"/>
                <a:cs typeface="Calibri"/>
              </a:rPr>
              <a:t>inefficient</a:t>
            </a:r>
            <a:r>
              <a:rPr sz="2800" spc="-5" dirty="0">
                <a:latin typeface="Calibri"/>
                <a:cs typeface="Calibri"/>
              </a:rPr>
              <a:t> </a:t>
            </a:r>
            <a:r>
              <a:rPr sz="2800" spc="-25" dirty="0">
                <a:latin typeface="Calibri"/>
                <a:cs typeface="Calibri"/>
              </a:rPr>
              <a:t>for</a:t>
            </a:r>
            <a:r>
              <a:rPr sz="2800" spc="10" dirty="0">
                <a:latin typeface="Calibri"/>
                <a:cs typeface="Calibri"/>
              </a:rPr>
              <a:t> </a:t>
            </a:r>
            <a:r>
              <a:rPr sz="2800" spc="-5" dirty="0">
                <a:latin typeface="Calibri"/>
                <a:cs typeface="Calibri"/>
              </a:rPr>
              <a:t>a</a:t>
            </a:r>
            <a:r>
              <a:rPr sz="2800" dirty="0">
                <a:latin typeface="Calibri"/>
                <a:cs typeface="Calibri"/>
              </a:rPr>
              <a:t> </a:t>
            </a:r>
            <a:r>
              <a:rPr sz="2800" spc="-20" dirty="0">
                <a:latin typeface="Calibri"/>
                <a:cs typeface="Calibri"/>
              </a:rPr>
              <a:t>noisy</a:t>
            </a:r>
            <a:r>
              <a:rPr sz="2800" spc="25" dirty="0">
                <a:latin typeface="Calibri"/>
                <a:cs typeface="Calibri"/>
              </a:rPr>
              <a:t> </a:t>
            </a:r>
            <a:r>
              <a:rPr sz="2800" spc="-10" dirty="0">
                <a:latin typeface="Calibri"/>
                <a:cs typeface="Calibri"/>
              </a:rPr>
              <a:t>link.</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469900" marR="5080" indent="-457200" algn="just">
              <a:lnSpc>
                <a:spcPct val="100000"/>
              </a:lnSpc>
              <a:buFont typeface="Arial MT"/>
              <a:buChar char="•"/>
              <a:tabLst>
                <a:tab pos="469900" algn="l"/>
              </a:tabLst>
            </a:pPr>
            <a:r>
              <a:rPr sz="2800" spc="-5" dirty="0">
                <a:latin typeface="Calibri"/>
                <a:cs typeface="Calibri"/>
              </a:rPr>
              <a:t>In a </a:t>
            </a:r>
            <a:r>
              <a:rPr sz="2800" spc="-20" dirty="0">
                <a:latin typeface="Calibri"/>
                <a:cs typeface="Calibri"/>
              </a:rPr>
              <a:t>noisy </a:t>
            </a:r>
            <a:r>
              <a:rPr sz="2800" spc="-10" dirty="0">
                <a:latin typeface="Calibri"/>
                <a:cs typeface="Calibri"/>
              </a:rPr>
              <a:t>link </a:t>
            </a:r>
            <a:r>
              <a:rPr sz="2800" spc="-5" dirty="0">
                <a:latin typeface="Calibri"/>
                <a:cs typeface="Calibri"/>
              </a:rPr>
              <a:t>a </a:t>
            </a:r>
            <a:r>
              <a:rPr sz="2800" spc="-20" dirty="0">
                <a:latin typeface="Calibri"/>
                <a:cs typeface="Calibri"/>
              </a:rPr>
              <a:t>frame </a:t>
            </a:r>
            <a:r>
              <a:rPr sz="2800" spc="-10" dirty="0">
                <a:latin typeface="Calibri"/>
                <a:cs typeface="Calibri"/>
              </a:rPr>
              <a:t>has </a:t>
            </a:r>
            <a:r>
              <a:rPr sz="2800" spc="-5" dirty="0">
                <a:latin typeface="Calibri"/>
                <a:cs typeface="Calibri"/>
              </a:rPr>
              <a:t>a </a:t>
            </a:r>
            <a:r>
              <a:rPr sz="2800" spc="-10" dirty="0">
                <a:latin typeface="Calibri"/>
                <a:cs typeface="Calibri"/>
              </a:rPr>
              <a:t>higher </a:t>
            </a:r>
            <a:r>
              <a:rPr sz="2800" spc="-15" dirty="0">
                <a:latin typeface="Calibri"/>
                <a:cs typeface="Calibri"/>
              </a:rPr>
              <a:t>probability </a:t>
            </a:r>
            <a:r>
              <a:rPr sz="2800" spc="-5" dirty="0">
                <a:latin typeface="Calibri"/>
                <a:cs typeface="Calibri"/>
              </a:rPr>
              <a:t>of </a:t>
            </a:r>
            <a:r>
              <a:rPr sz="2800" spc="-10" dirty="0">
                <a:latin typeface="Calibri"/>
                <a:cs typeface="Calibri"/>
              </a:rPr>
              <a:t>damage, </a:t>
            </a:r>
            <a:r>
              <a:rPr sz="2800" spc="-5" dirty="0">
                <a:latin typeface="Calibri"/>
                <a:cs typeface="Calibri"/>
              </a:rPr>
              <a:t>which </a:t>
            </a:r>
            <a:r>
              <a:rPr sz="2800" spc="-620" dirty="0">
                <a:latin typeface="Calibri"/>
                <a:cs typeface="Calibri"/>
              </a:rPr>
              <a:t> </a:t>
            </a:r>
            <a:r>
              <a:rPr sz="2800" spc="-5" dirty="0">
                <a:latin typeface="Calibri"/>
                <a:cs typeface="Calibri"/>
              </a:rPr>
              <a:t>means the </a:t>
            </a:r>
            <a:r>
              <a:rPr sz="2800" spc="-10" dirty="0">
                <a:latin typeface="Calibri"/>
                <a:cs typeface="Calibri"/>
              </a:rPr>
              <a:t>resending </a:t>
            </a:r>
            <a:r>
              <a:rPr sz="2800" spc="-5" dirty="0">
                <a:latin typeface="Calibri"/>
                <a:cs typeface="Calibri"/>
              </a:rPr>
              <a:t>of </a:t>
            </a:r>
            <a:r>
              <a:rPr sz="2800" spc="-10" dirty="0">
                <a:latin typeface="Calibri"/>
                <a:cs typeface="Calibri"/>
              </a:rPr>
              <a:t>multiple </a:t>
            </a:r>
            <a:r>
              <a:rPr sz="2800" spc="-15" dirty="0">
                <a:latin typeface="Calibri"/>
                <a:cs typeface="Calibri"/>
              </a:rPr>
              <a:t>frames. </a:t>
            </a:r>
            <a:r>
              <a:rPr sz="2800" spc="-10" dirty="0">
                <a:latin typeface="Calibri"/>
                <a:cs typeface="Calibri"/>
              </a:rPr>
              <a:t>This resending uses up </a:t>
            </a:r>
            <a:r>
              <a:rPr sz="2800" spc="-5" dirty="0">
                <a:latin typeface="Calibri"/>
                <a:cs typeface="Calibri"/>
              </a:rPr>
              <a:t> the </a:t>
            </a:r>
            <a:r>
              <a:rPr sz="2800" spc="-10" dirty="0">
                <a:latin typeface="Calibri"/>
                <a:cs typeface="Calibri"/>
              </a:rPr>
              <a:t>bandwidth</a:t>
            </a:r>
            <a:r>
              <a:rPr sz="2800" spc="30" dirty="0">
                <a:latin typeface="Calibri"/>
                <a:cs typeface="Calibri"/>
              </a:rPr>
              <a:t> </a:t>
            </a:r>
            <a:r>
              <a:rPr sz="2800" spc="-5" dirty="0">
                <a:latin typeface="Calibri"/>
                <a:cs typeface="Calibri"/>
              </a:rPr>
              <a:t>and</a:t>
            </a:r>
            <a:r>
              <a:rPr sz="2800" spc="5" dirty="0">
                <a:latin typeface="Calibri"/>
                <a:cs typeface="Calibri"/>
              </a:rPr>
              <a:t> </a:t>
            </a:r>
            <a:r>
              <a:rPr sz="2800" spc="-15" dirty="0">
                <a:latin typeface="Calibri"/>
                <a:cs typeface="Calibri"/>
              </a:rPr>
              <a:t>slows</a:t>
            </a:r>
            <a:r>
              <a:rPr sz="2800" spc="20" dirty="0">
                <a:latin typeface="Calibri"/>
                <a:cs typeface="Calibri"/>
              </a:rPr>
              <a:t> </a:t>
            </a:r>
            <a:r>
              <a:rPr sz="2800" spc="-10" dirty="0">
                <a:latin typeface="Calibri"/>
                <a:cs typeface="Calibri"/>
              </a:rPr>
              <a:t>down</a:t>
            </a:r>
            <a:r>
              <a:rPr sz="2800" spc="10" dirty="0">
                <a:latin typeface="Calibri"/>
                <a:cs typeface="Calibri"/>
              </a:rPr>
              <a:t> </a:t>
            </a:r>
            <a:r>
              <a:rPr sz="2800" spc="-5" dirty="0">
                <a:latin typeface="Calibri"/>
                <a:cs typeface="Calibri"/>
              </a:rPr>
              <a:t>the </a:t>
            </a:r>
            <a:r>
              <a:rPr sz="2800" spc="-10" dirty="0">
                <a:latin typeface="Calibri"/>
                <a:cs typeface="Calibri"/>
              </a:rPr>
              <a:t>transmission.</a:t>
            </a:r>
            <a:endParaRPr sz="2800">
              <a:latin typeface="Calibri"/>
              <a:cs typeface="Calibri"/>
            </a:endParaRPr>
          </a:p>
        </p:txBody>
      </p:sp>
    </p:spTree>
    <p:extLst>
      <p:ext uri="{BB962C8B-B14F-4D97-AF65-F5344CB8AC3E}">
        <p14:creationId xmlns:p14="http://schemas.microsoft.com/office/powerpoint/2010/main" val="425208176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2815495" y="-199195"/>
            <a:ext cx="3080384"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Selective</a:t>
            </a:r>
            <a:r>
              <a:rPr b="1" spc="-30" dirty="0">
                <a:latin typeface="Calibri"/>
                <a:cs typeface="Calibri"/>
              </a:rPr>
              <a:t> </a:t>
            </a:r>
            <a:r>
              <a:rPr b="1" spc="-20" dirty="0">
                <a:latin typeface="Calibri"/>
                <a:cs typeface="Calibri"/>
              </a:rPr>
              <a:t>Repeat</a:t>
            </a:r>
            <a:r>
              <a:rPr b="1" spc="-35" dirty="0">
                <a:latin typeface="Calibri"/>
                <a:cs typeface="Calibri"/>
              </a:rPr>
              <a:t> </a:t>
            </a:r>
            <a:r>
              <a:rPr b="1" spc="-15" dirty="0">
                <a:latin typeface="Calibri"/>
                <a:cs typeface="Calibri"/>
              </a:rPr>
              <a:t>ARQ</a:t>
            </a:r>
          </a:p>
        </p:txBody>
      </p:sp>
      <p:sp>
        <p:nvSpPr>
          <p:cNvPr id="5" name="object 5"/>
          <p:cNvSpPr txBox="1"/>
          <p:nvPr/>
        </p:nvSpPr>
        <p:spPr>
          <a:xfrm>
            <a:off x="476554" y="1417780"/>
            <a:ext cx="7554278" cy="6444713"/>
          </a:xfrm>
          <a:prstGeom prst="rect">
            <a:avLst/>
          </a:prstGeom>
        </p:spPr>
        <p:txBody>
          <a:bodyPr vert="horz" wrap="square" lIns="0" tIns="12065" rIns="0" bIns="0" rtlCol="0">
            <a:spAutoFit/>
          </a:bodyPr>
          <a:lstStyle/>
          <a:p>
            <a:pPr marL="520700" marR="30480" indent="-457200">
              <a:lnSpc>
                <a:spcPct val="100000"/>
              </a:lnSpc>
              <a:spcBef>
                <a:spcPts val="95"/>
              </a:spcBef>
              <a:buFont typeface="Arial MT"/>
              <a:buChar char="•"/>
              <a:tabLst>
                <a:tab pos="520065" algn="l"/>
                <a:tab pos="520700" algn="l"/>
              </a:tabLst>
            </a:pPr>
            <a:r>
              <a:rPr sz="2800" spc="-5" dirty="0">
                <a:latin typeface="Calibri"/>
                <a:cs typeface="Calibri"/>
              </a:rPr>
              <a:t>Mechanism</a:t>
            </a:r>
            <a:r>
              <a:rPr sz="2800" spc="30" dirty="0">
                <a:latin typeface="Calibri"/>
                <a:cs typeface="Calibri"/>
              </a:rPr>
              <a:t> </a:t>
            </a:r>
            <a:r>
              <a:rPr sz="2800" spc="-10" dirty="0">
                <a:latin typeface="Calibri"/>
                <a:cs typeface="Calibri"/>
              </a:rPr>
              <a:t>that</a:t>
            </a:r>
            <a:r>
              <a:rPr sz="2800" spc="10" dirty="0">
                <a:latin typeface="Calibri"/>
                <a:cs typeface="Calibri"/>
              </a:rPr>
              <a:t> </a:t>
            </a:r>
            <a:r>
              <a:rPr sz="2800" spc="-5" dirty="0">
                <a:latin typeface="Calibri"/>
                <a:cs typeface="Calibri"/>
              </a:rPr>
              <a:t>does not</a:t>
            </a:r>
            <a:r>
              <a:rPr sz="2800" spc="10" dirty="0">
                <a:latin typeface="Calibri"/>
                <a:cs typeface="Calibri"/>
              </a:rPr>
              <a:t> </a:t>
            </a:r>
            <a:r>
              <a:rPr sz="2800" spc="-10" dirty="0">
                <a:latin typeface="Calibri"/>
                <a:cs typeface="Calibri"/>
              </a:rPr>
              <a:t>resend</a:t>
            </a:r>
            <a:r>
              <a:rPr sz="2800" spc="20" dirty="0">
                <a:latin typeface="Calibri"/>
                <a:cs typeface="Calibri"/>
              </a:rPr>
              <a:t> </a:t>
            </a:r>
            <a:r>
              <a:rPr sz="2800" spc="-5" dirty="0">
                <a:latin typeface="Calibri"/>
                <a:cs typeface="Calibri"/>
              </a:rPr>
              <a:t>N</a:t>
            </a:r>
            <a:r>
              <a:rPr sz="2800" dirty="0">
                <a:latin typeface="Calibri"/>
                <a:cs typeface="Calibri"/>
              </a:rPr>
              <a:t> </a:t>
            </a:r>
            <a:r>
              <a:rPr sz="2800" spc="-15" dirty="0">
                <a:latin typeface="Calibri"/>
                <a:cs typeface="Calibri"/>
              </a:rPr>
              <a:t>frames</a:t>
            </a:r>
            <a:r>
              <a:rPr sz="2800" spc="5" dirty="0">
                <a:latin typeface="Calibri"/>
                <a:cs typeface="Calibri"/>
              </a:rPr>
              <a:t> </a:t>
            </a:r>
            <a:r>
              <a:rPr sz="2800" spc="-5" dirty="0">
                <a:latin typeface="Calibri"/>
                <a:cs typeface="Calibri"/>
              </a:rPr>
              <a:t>when</a:t>
            </a:r>
            <a:r>
              <a:rPr sz="2800" spc="5" dirty="0">
                <a:latin typeface="Calibri"/>
                <a:cs typeface="Calibri"/>
              </a:rPr>
              <a:t> </a:t>
            </a:r>
            <a:r>
              <a:rPr sz="2800" spc="-15" dirty="0">
                <a:latin typeface="Calibri"/>
                <a:cs typeface="Calibri"/>
              </a:rPr>
              <a:t>just</a:t>
            </a:r>
            <a:r>
              <a:rPr sz="2800" spc="35" dirty="0">
                <a:latin typeface="Calibri"/>
                <a:cs typeface="Calibri"/>
              </a:rPr>
              <a:t> </a:t>
            </a:r>
            <a:r>
              <a:rPr sz="2800" spc="-5" dirty="0">
                <a:latin typeface="Calibri"/>
                <a:cs typeface="Calibri"/>
              </a:rPr>
              <a:t>one</a:t>
            </a:r>
            <a:r>
              <a:rPr sz="2800" dirty="0">
                <a:latin typeface="Calibri"/>
                <a:cs typeface="Calibri"/>
              </a:rPr>
              <a:t> </a:t>
            </a:r>
            <a:r>
              <a:rPr sz="2800" spc="-20" dirty="0">
                <a:latin typeface="Calibri"/>
                <a:cs typeface="Calibri"/>
              </a:rPr>
              <a:t>frame</a:t>
            </a:r>
            <a:r>
              <a:rPr sz="2800" spc="-5" dirty="0">
                <a:latin typeface="Calibri"/>
                <a:cs typeface="Calibri"/>
              </a:rPr>
              <a:t> is </a:t>
            </a:r>
            <a:r>
              <a:rPr sz="2800" spc="-620" dirty="0">
                <a:latin typeface="Calibri"/>
                <a:cs typeface="Calibri"/>
              </a:rPr>
              <a:t> </a:t>
            </a:r>
            <a:r>
              <a:rPr sz="2800" spc="-10" dirty="0">
                <a:latin typeface="Calibri"/>
                <a:cs typeface="Calibri"/>
              </a:rPr>
              <a:t>damaged;</a:t>
            </a:r>
            <a:r>
              <a:rPr sz="2800" spc="5" dirty="0">
                <a:latin typeface="Calibri"/>
                <a:cs typeface="Calibri"/>
              </a:rPr>
              <a:t> </a:t>
            </a:r>
            <a:r>
              <a:rPr sz="2800" spc="-10" dirty="0">
                <a:latin typeface="Calibri"/>
                <a:cs typeface="Calibri"/>
              </a:rPr>
              <a:t>only</a:t>
            </a:r>
            <a:r>
              <a:rPr sz="2800" spc="5" dirty="0">
                <a:latin typeface="Calibri"/>
                <a:cs typeface="Calibri"/>
              </a:rPr>
              <a:t> </a:t>
            </a:r>
            <a:r>
              <a:rPr sz="2800" spc="-5" dirty="0">
                <a:latin typeface="Calibri"/>
                <a:cs typeface="Calibri"/>
              </a:rPr>
              <a:t>the</a:t>
            </a:r>
            <a:r>
              <a:rPr sz="2800" spc="5" dirty="0">
                <a:latin typeface="Calibri"/>
                <a:cs typeface="Calibri"/>
              </a:rPr>
              <a:t> </a:t>
            </a:r>
            <a:r>
              <a:rPr sz="2800" spc="-10" dirty="0">
                <a:latin typeface="Calibri"/>
                <a:cs typeface="Calibri"/>
              </a:rPr>
              <a:t>damaged</a:t>
            </a:r>
            <a:r>
              <a:rPr sz="2800" dirty="0">
                <a:latin typeface="Calibri"/>
                <a:cs typeface="Calibri"/>
              </a:rPr>
              <a:t> </a:t>
            </a:r>
            <a:r>
              <a:rPr sz="2800" spc="-20" dirty="0">
                <a:latin typeface="Calibri"/>
                <a:cs typeface="Calibri"/>
              </a:rPr>
              <a:t>frame</a:t>
            </a:r>
            <a:r>
              <a:rPr sz="2800" spc="-5" dirty="0">
                <a:latin typeface="Calibri"/>
                <a:cs typeface="Calibri"/>
              </a:rPr>
              <a:t> is</a:t>
            </a:r>
            <a:r>
              <a:rPr sz="2800" spc="10" dirty="0">
                <a:latin typeface="Calibri"/>
                <a:cs typeface="Calibri"/>
              </a:rPr>
              <a:t> </a:t>
            </a:r>
            <a:r>
              <a:rPr sz="2800" spc="-15" dirty="0">
                <a:latin typeface="Calibri"/>
                <a:cs typeface="Calibri"/>
              </a:rPr>
              <a:t>resent.</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520700" marR="135255" indent="-457200">
              <a:lnSpc>
                <a:spcPct val="100000"/>
              </a:lnSpc>
              <a:buFont typeface="Arial MT"/>
              <a:buChar char="•"/>
              <a:tabLst>
                <a:tab pos="520065" algn="l"/>
                <a:tab pos="520700" algn="l"/>
              </a:tabLst>
            </a:pPr>
            <a:r>
              <a:rPr sz="2800" spc="-15" dirty="0">
                <a:latin typeface="Calibri"/>
                <a:cs typeface="Calibri"/>
              </a:rPr>
              <a:t>More</a:t>
            </a:r>
            <a:r>
              <a:rPr sz="2800" spc="15" dirty="0">
                <a:latin typeface="Calibri"/>
                <a:cs typeface="Calibri"/>
              </a:rPr>
              <a:t> </a:t>
            </a:r>
            <a:r>
              <a:rPr sz="2800" spc="-15" dirty="0">
                <a:latin typeface="Calibri"/>
                <a:cs typeface="Calibri"/>
              </a:rPr>
              <a:t>efficient</a:t>
            </a:r>
            <a:r>
              <a:rPr sz="2800" dirty="0">
                <a:latin typeface="Calibri"/>
                <a:cs typeface="Calibri"/>
              </a:rPr>
              <a:t> </a:t>
            </a:r>
            <a:r>
              <a:rPr sz="2800" spc="-25" dirty="0">
                <a:latin typeface="Calibri"/>
                <a:cs typeface="Calibri"/>
              </a:rPr>
              <a:t>for</a:t>
            </a:r>
            <a:r>
              <a:rPr sz="2800" spc="5" dirty="0">
                <a:latin typeface="Calibri"/>
                <a:cs typeface="Calibri"/>
              </a:rPr>
              <a:t> </a:t>
            </a:r>
            <a:r>
              <a:rPr sz="2800" spc="-20" dirty="0">
                <a:latin typeface="Calibri"/>
                <a:cs typeface="Calibri"/>
              </a:rPr>
              <a:t>noisy</a:t>
            </a:r>
            <a:r>
              <a:rPr sz="2800" spc="20" dirty="0">
                <a:latin typeface="Calibri"/>
                <a:cs typeface="Calibri"/>
              </a:rPr>
              <a:t> </a:t>
            </a:r>
            <a:r>
              <a:rPr sz="2800" spc="-15" dirty="0">
                <a:latin typeface="Calibri"/>
                <a:cs typeface="Calibri"/>
              </a:rPr>
              <a:t>links,</a:t>
            </a:r>
            <a:r>
              <a:rPr sz="2800" spc="20" dirty="0">
                <a:latin typeface="Calibri"/>
                <a:cs typeface="Calibri"/>
              </a:rPr>
              <a:t> </a:t>
            </a:r>
            <a:r>
              <a:rPr sz="2800" spc="-10" dirty="0">
                <a:latin typeface="Calibri"/>
                <a:cs typeface="Calibri"/>
              </a:rPr>
              <a:t>but</a:t>
            </a:r>
            <a:r>
              <a:rPr sz="2800" spc="30" dirty="0">
                <a:latin typeface="Calibri"/>
                <a:cs typeface="Calibri"/>
              </a:rPr>
              <a:t> </a:t>
            </a:r>
            <a:r>
              <a:rPr sz="2800" spc="-5" dirty="0">
                <a:latin typeface="Calibri"/>
                <a:cs typeface="Calibri"/>
              </a:rPr>
              <a:t>the</a:t>
            </a:r>
            <a:r>
              <a:rPr sz="2800" dirty="0">
                <a:latin typeface="Calibri"/>
                <a:cs typeface="Calibri"/>
              </a:rPr>
              <a:t> </a:t>
            </a:r>
            <a:r>
              <a:rPr sz="2800" spc="-15" dirty="0">
                <a:latin typeface="Calibri"/>
                <a:cs typeface="Calibri"/>
              </a:rPr>
              <a:t>processing</a:t>
            </a:r>
            <a:r>
              <a:rPr sz="2800" spc="50" dirty="0">
                <a:latin typeface="Calibri"/>
                <a:cs typeface="Calibri"/>
              </a:rPr>
              <a:t> </a:t>
            </a:r>
            <a:r>
              <a:rPr sz="2800" spc="-15" dirty="0">
                <a:latin typeface="Calibri"/>
                <a:cs typeface="Calibri"/>
              </a:rPr>
              <a:t>at</a:t>
            </a:r>
            <a:r>
              <a:rPr sz="2800" spc="-10"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receiver </a:t>
            </a:r>
            <a:r>
              <a:rPr sz="2800" spc="-5" dirty="0">
                <a:latin typeface="Calibri"/>
                <a:cs typeface="Calibri"/>
              </a:rPr>
              <a:t>is </a:t>
            </a:r>
            <a:r>
              <a:rPr sz="2800" spc="-615" dirty="0">
                <a:latin typeface="Calibri"/>
                <a:cs typeface="Calibri"/>
              </a:rPr>
              <a:t> </a:t>
            </a:r>
            <a:r>
              <a:rPr sz="2800" spc="-15" dirty="0">
                <a:latin typeface="Calibri"/>
                <a:cs typeface="Calibri"/>
              </a:rPr>
              <a:t>more</a:t>
            </a:r>
            <a:r>
              <a:rPr sz="2800" spc="-5" dirty="0">
                <a:latin typeface="Calibri"/>
                <a:cs typeface="Calibri"/>
              </a:rPr>
              <a:t> </a:t>
            </a:r>
            <a:r>
              <a:rPr sz="2800" spc="-15" dirty="0">
                <a:latin typeface="Calibri"/>
                <a:cs typeface="Calibri"/>
              </a:rPr>
              <a:t>complex.</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520700" marR="135255" indent="-457200">
              <a:lnSpc>
                <a:spcPct val="100000"/>
              </a:lnSpc>
              <a:buFont typeface="Arial MT"/>
              <a:buChar char="•"/>
              <a:tabLst>
                <a:tab pos="520065" algn="l"/>
                <a:tab pos="520700" algn="l"/>
              </a:tabLst>
            </a:pPr>
            <a:r>
              <a:rPr sz="2800" spc="-15" dirty="0">
                <a:latin typeface="Calibri"/>
                <a:cs typeface="Calibri"/>
              </a:rPr>
              <a:t>More</a:t>
            </a:r>
            <a:r>
              <a:rPr sz="2800" spc="15" dirty="0">
                <a:latin typeface="Calibri"/>
                <a:cs typeface="Calibri"/>
              </a:rPr>
              <a:t> </a:t>
            </a:r>
            <a:r>
              <a:rPr sz="2800" spc="-15" dirty="0">
                <a:latin typeface="Calibri"/>
                <a:cs typeface="Calibri"/>
              </a:rPr>
              <a:t>efficient</a:t>
            </a:r>
            <a:r>
              <a:rPr sz="2800" dirty="0">
                <a:latin typeface="Calibri"/>
                <a:cs typeface="Calibri"/>
              </a:rPr>
              <a:t> </a:t>
            </a:r>
            <a:r>
              <a:rPr sz="2800" spc="-25" dirty="0">
                <a:latin typeface="Calibri"/>
                <a:cs typeface="Calibri"/>
              </a:rPr>
              <a:t>for</a:t>
            </a:r>
            <a:r>
              <a:rPr sz="2800" spc="5" dirty="0">
                <a:latin typeface="Calibri"/>
                <a:cs typeface="Calibri"/>
              </a:rPr>
              <a:t> </a:t>
            </a:r>
            <a:r>
              <a:rPr sz="2800" spc="-20" dirty="0">
                <a:latin typeface="Calibri"/>
                <a:cs typeface="Calibri"/>
              </a:rPr>
              <a:t>noisy</a:t>
            </a:r>
            <a:r>
              <a:rPr sz="2800" spc="20" dirty="0">
                <a:latin typeface="Calibri"/>
                <a:cs typeface="Calibri"/>
              </a:rPr>
              <a:t> </a:t>
            </a:r>
            <a:r>
              <a:rPr sz="2800" spc="-15" dirty="0">
                <a:latin typeface="Calibri"/>
                <a:cs typeface="Calibri"/>
              </a:rPr>
              <a:t>links,</a:t>
            </a:r>
            <a:r>
              <a:rPr sz="2800" spc="20" dirty="0">
                <a:latin typeface="Calibri"/>
                <a:cs typeface="Calibri"/>
              </a:rPr>
              <a:t> </a:t>
            </a:r>
            <a:r>
              <a:rPr sz="2800" spc="-10" dirty="0">
                <a:latin typeface="Calibri"/>
                <a:cs typeface="Calibri"/>
              </a:rPr>
              <a:t>but</a:t>
            </a:r>
            <a:r>
              <a:rPr sz="2800" spc="30" dirty="0">
                <a:latin typeface="Calibri"/>
                <a:cs typeface="Calibri"/>
              </a:rPr>
              <a:t> </a:t>
            </a:r>
            <a:r>
              <a:rPr sz="2800" spc="-5" dirty="0">
                <a:latin typeface="Calibri"/>
                <a:cs typeface="Calibri"/>
              </a:rPr>
              <a:t>the</a:t>
            </a:r>
            <a:r>
              <a:rPr sz="2800" dirty="0">
                <a:latin typeface="Calibri"/>
                <a:cs typeface="Calibri"/>
              </a:rPr>
              <a:t> </a:t>
            </a:r>
            <a:r>
              <a:rPr sz="2800" spc="-15" dirty="0">
                <a:latin typeface="Calibri"/>
                <a:cs typeface="Calibri"/>
              </a:rPr>
              <a:t>processing</a:t>
            </a:r>
            <a:r>
              <a:rPr sz="2800" spc="50" dirty="0">
                <a:latin typeface="Calibri"/>
                <a:cs typeface="Calibri"/>
              </a:rPr>
              <a:t> </a:t>
            </a:r>
            <a:r>
              <a:rPr sz="2800" spc="-15" dirty="0">
                <a:latin typeface="Calibri"/>
                <a:cs typeface="Calibri"/>
              </a:rPr>
              <a:t>at</a:t>
            </a:r>
            <a:r>
              <a:rPr sz="2800" spc="-10"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receiver </a:t>
            </a:r>
            <a:r>
              <a:rPr sz="2800" spc="-5" dirty="0">
                <a:latin typeface="Calibri"/>
                <a:cs typeface="Calibri"/>
              </a:rPr>
              <a:t>is </a:t>
            </a:r>
            <a:r>
              <a:rPr sz="2800" spc="-615" dirty="0">
                <a:latin typeface="Calibri"/>
                <a:cs typeface="Calibri"/>
              </a:rPr>
              <a:t> </a:t>
            </a:r>
            <a:r>
              <a:rPr sz="2800" spc="-15" dirty="0">
                <a:latin typeface="Calibri"/>
                <a:cs typeface="Calibri"/>
              </a:rPr>
              <a:t>more</a:t>
            </a:r>
            <a:r>
              <a:rPr sz="2800" spc="-5" dirty="0">
                <a:latin typeface="Calibri"/>
                <a:cs typeface="Calibri"/>
              </a:rPr>
              <a:t> </a:t>
            </a:r>
            <a:r>
              <a:rPr sz="2800" spc="-15" dirty="0">
                <a:latin typeface="Calibri"/>
                <a:cs typeface="Calibri"/>
              </a:rPr>
              <a:t>complex.</a:t>
            </a:r>
            <a:endParaRPr sz="2800">
              <a:latin typeface="Calibri"/>
              <a:cs typeface="Calibri"/>
            </a:endParaRPr>
          </a:p>
          <a:p>
            <a:pPr>
              <a:lnSpc>
                <a:spcPct val="100000"/>
              </a:lnSpc>
              <a:spcBef>
                <a:spcPts val="5"/>
              </a:spcBef>
              <a:buFont typeface="Arial MT"/>
              <a:buChar char="•"/>
            </a:pPr>
            <a:endParaRPr sz="2750">
              <a:latin typeface="Calibri"/>
              <a:cs typeface="Calibri"/>
            </a:endParaRPr>
          </a:p>
          <a:p>
            <a:pPr marL="520700" indent="-457200">
              <a:lnSpc>
                <a:spcPct val="100000"/>
              </a:lnSpc>
              <a:spcBef>
                <a:spcPts val="5"/>
              </a:spcBef>
              <a:buFont typeface="Arial MT"/>
              <a:buChar char="•"/>
              <a:tabLst>
                <a:tab pos="520065" algn="l"/>
                <a:tab pos="520700" algn="l"/>
              </a:tabLst>
            </a:pPr>
            <a:r>
              <a:rPr sz="2800" spc="-5" dirty="0">
                <a:latin typeface="Calibri"/>
                <a:cs typeface="Calibri"/>
              </a:rPr>
              <a:t>the </a:t>
            </a:r>
            <a:r>
              <a:rPr sz="2800" spc="-20" dirty="0">
                <a:latin typeface="Calibri"/>
                <a:cs typeface="Calibri"/>
              </a:rPr>
              <a:t>size</a:t>
            </a:r>
            <a:r>
              <a:rPr sz="2800" spc="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a:t>
            </a:r>
            <a:r>
              <a:rPr sz="2800" spc="5" dirty="0">
                <a:latin typeface="Calibri"/>
                <a:cs typeface="Calibri"/>
              </a:rPr>
              <a:t> </a:t>
            </a:r>
            <a:r>
              <a:rPr sz="2800" b="1" spc="-5" dirty="0">
                <a:solidFill>
                  <a:srgbClr val="C00000"/>
                </a:solidFill>
                <a:latin typeface="Calibri"/>
                <a:cs typeface="Calibri"/>
              </a:rPr>
              <a:t>send</a:t>
            </a:r>
            <a:r>
              <a:rPr sz="2800" b="1" spc="10" dirty="0">
                <a:solidFill>
                  <a:srgbClr val="C00000"/>
                </a:solidFill>
                <a:latin typeface="Calibri"/>
                <a:cs typeface="Calibri"/>
              </a:rPr>
              <a:t> </a:t>
            </a:r>
            <a:r>
              <a:rPr sz="2800" b="1" spc="-10" dirty="0">
                <a:solidFill>
                  <a:srgbClr val="C00000"/>
                </a:solidFill>
                <a:latin typeface="Calibri"/>
                <a:cs typeface="Calibri"/>
              </a:rPr>
              <a:t>window</a:t>
            </a:r>
            <a:r>
              <a:rPr sz="2800" b="1" spc="15" dirty="0">
                <a:solidFill>
                  <a:srgbClr val="C00000"/>
                </a:solidFill>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much</a:t>
            </a:r>
            <a:r>
              <a:rPr sz="2800" spc="30" dirty="0">
                <a:latin typeface="Calibri"/>
                <a:cs typeface="Calibri"/>
              </a:rPr>
              <a:t> </a:t>
            </a:r>
            <a:r>
              <a:rPr sz="2800" spc="-10" dirty="0">
                <a:latin typeface="Calibri"/>
                <a:cs typeface="Calibri"/>
              </a:rPr>
              <a:t>smaller;</a:t>
            </a:r>
            <a:r>
              <a:rPr sz="2800" spc="5" dirty="0">
                <a:latin typeface="Calibri"/>
                <a:cs typeface="Calibri"/>
              </a:rPr>
              <a:t> </a:t>
            </a:r>
            <a:r>
              <a:rPr sz="2800" spc="-5" dirty="0">
                <a:latin typeface="Calibri"/>
                <a:cs typeface="Calibri"/>
              </a:rPr>
              <a:t>it</a:t>
            </a:r>
            <a:r>
              <a:rPr sz="2800" spc="10" dirty="0">
                <a:latin typeface="Calibri"/>
                <a:cs typeface="Calibri"/>
              </a:rPr>
              <a:t> </a:t>
            </a:r>
            <a:r>
              <a:rPr sz="2800" spc="-5" dirty="0">
                <a:latin typeface="Calibri"/>
                <a:cs typeface="Calibri"/>
              </a:rPr>
              <a:t>is</a:t>
            </a:r>
            <a:r>
              <a:rPr sz="2800" spc="5" dirty="0">
                <a:latin typeface="Calibri"/>
                <a:cs typeface="Calibri"/>
              </a:rPr>
              <a:t> </a:t>
            </a:r>
            <a:r>
              <a:rPr sz="2800" b="1" spc="5" dirty="0">
                <a:solidFill>
                  <a:srgbClr val="C00000"/>
                </a:solidFill>
                <a:latin typeface="Calibri"/>
                <a:cs typeface="Calibri"/>
              </a:rPr>
              <a:t>2</a:t>
            </a:r>
            <a:r>
              <a:rPr sz="2775" b="1" spc="7" baseline="25525" dirty="0">
                <a:solidFill>
                  <a:srgbClr val="C00000"/>
                </a:solidFill>
                <a:latin typeface="Calibri"/>
                <a:cs typeface="Calibri"/>
              </a:rPr>
              <a:t>m- </a:t>
            </a:r>
            <a:r>
              <a:rPr sz="2775" b="1" baseline="25525" dirty="0">
                <a:solidFill>
                  <a:srgbClr val="C00000"/>
                </a:solidFill>
                <a:latin typeface="Calibri"/>
                <a:cs typeface="Calibri"/>
              </a:rPr>
              <a:t>1</a:t>
            </a:r>
            <a:r>
              <a:rPr sz="2800" dirty="0">
                <a:latin typeface="Calibri"/>
                <a:cs typeface="Calibri"/>
              </a:rPr>
              <a:t>.</a:t>
            </a:r>
            <a:endParaRPr sz="2800">
              <a:latin typeface="Calibri"/>
              <a:cs typeface="Calibri"/>
            </a:endParaRPr>
          </a:p>
          <a:p>
            <a:pPr>
              <a:lnSpc>
                <a:spcPct val="100000"/>
              </a:lnSpc>
              <a:buFont typeface="Arial MT"/>
              <a:buChar char="•"/>
            </a:pPr>
            <a:endParaRPr sz="2750">
              <a:latin typeface="Calibri"/>
              <a:cs typeface="Calibri"/>
            </a:endParaRPr>
          </a:p>
          <a:p>
            <a:pPr marL="520700" indent="-457200">
              <a:lnSpc>
                <a:spcPct val="100000"/>
              </a:lnSpc>
              <a:spcBef>
                <a:spcPts val="5"/>
              </a:spcBef>
              <a:buFont typeface="Arial MT"/>
              <a:buChar char="•"/>
              <a:tabLst>
                <a:tab pos="520065" algn="l"/>
                <a:tab pos="520700" algn="l"/>
              </a:tabLst>
            </a:pPr>
            <a:r>
              <a:rPr sz="2800" spc="-20" dirty="0">
                <a:latin typeface="Calibri"/>
                <a:cs typeface="Calibri"/>
              </a:rPr>
              <a:t>sizes</a:t>
            </a:r>
            <a:r>
              <a:rPr sz="2800" spc="10" dirty="0">
                <a:latin typeface="Calibri"/>
                <a:cs typeface="Calibri"/>
              </a:rPr>
              <a:t> </a:t>
            </a:r>
            <a:r>
              <a:rPr sz="2800" spc="-5" dirty="0">
                <a:latin typeface="Calibri"/>
                <a:cs typeface="Calibri"/>
              </a:rPr>
              <a:t>of </a:t>
            </a:r>
            <a:r>
              <a:rPr sz="2800" spc="-10" dirty="0">
                <a:latin typeface="Calibri"/>
                <a:cs typeface="Calibri"/>
              </a:rPr>
              <a:t>the</a:t>
            </a:r>
            <a:r>
              <a:rPr sz="2800" spc="25" dirty="0">
                <a:latin typeface="Calibri"/>
                <a:cs typeface="Calibri"/>
              </a:rPr>
              <a:t> </a:t>
            </a:r>
            <a:r>
              <a:rPr sz="2800" b="1" spc="-5" dirty="0">
                <a:solidFill>
                  <a:srgbClr val="C00000"/>
                </a:solidFill>
                <a:latin typeface="Calibri"/>
                <a:cs typeface="Calibri"/>
              </a:rPr>
              <a:t>send</a:t>
            </a:r>
            <a:r>
              <a:rPr sz="2800" b="1" spc="5" dirty="0">
                <a:solidFill>
                  <a:srgbClr val="C00000"/>
                </a:solidFill>
                <a:latin typeface="Calibri"/>
                <a:cs typeface="Calibri"/>
              </a:rPr>
              <a:t> </a:t>
            </a:r>
            <a:r>
              <a:rPr sz="2800" b="1" spc="-10" dirty="0">
                <a:solidFill>
                  <a:srgbClr val="C00000"/>
                </a:solidFill>
                <a:latin typeface="Calibri"/>
                <a:cs typeface="Calibri"/>
              </a:rPr>
              <a:t>window</a:t>
            </a:r>
            <a:r>
              <a:rPr sz="2800" b="1" dirty="0">
                <a:solidFill>
                  <a:srgbClr val="C00000"/>
                </a:solidFill>
                <a:latin typeface="Calibri"/>
                <a:cs typeface="Calibri"/>
              </a:rPr>
              <a:t> </a:t>
            </a:r>
            <a:r>
              <a:rPr sz="2800" b="1" spc="-5" dirty="0">
                <a:solidFill>
                  <a:srgbClr val="C00000"/>
                </a:solidFill>
                <a:latin typeface="Calibri"/>
                <a:cs typeface="Calibri"/>
              </a:rPr>
              <a:t>and</a:t>
            </a:r>
            <a:r>
              <a:rPr sz="2800" b="1" dirty="0">
                <a:solidFill>
                  <a:srgbClr val="C00000"/>
                </a:solidFill>
                <a:latin typeface="Calibri"/>
                <a:cs typeface="Calibri"/>
              </a:rPr>
              <a:t> </a:t>
            </a:r>
            <a:r>
              <a:rPr sz="2800" b="1" spc="-15" dirty="0">
                <a:solidFill>
                  <a:srgbClr val="C00000"/>
                </a:solidFill>
                <a:latin typeface="Calibri"/>
                <a:cs typeface="Calibri"/>
              </a:rPr>
              <a:t>receive</a:t>
            </a:r>
            <a:r>
              <a:rPr sz="2800" b="1" spc="45" dirty="0">
                <a:solidFill>
                  <a:srgbClr val="C00000"/>
                </a:solidFill>
                <a:latin typeface="Calibri"/>
                <a:cs typeface="Calibri"/>
              </a:rPr>
              <a:t> </a:t>
            </a:r>
            <a:r>
              <a:rPr sz="2800" b="1" spc="-10" dirty="0">
                <a:solidFill>
                  <a:srgbClr val="C00000"/>
                </a:solidFill>
                <a:latin typeface="Calibri"/>
                <a:cs typeface="Calibri"/>
              </a:rPr>
              <a:t>window</a:t>
            </a:r>
            <a:r>
              <a:rPr sz="2800" b="1" spc="-5" dirty="0">
                <a:solidFill>
                  <a:srgbClr val="C00000"/>
                </a:solidFill>
                <a:latin typeface="Calibri"/>
                <a:cs typeface="Calibri"/>
              </a:rPr>
              <a:t> </a:t>
            </a:r>
            <a:r>
              <a:rPr sz="2800" b="1" spc="-15" dirty="0">
                <a:solidFill>
                  <a:srgbClr val="C00000"/>
                </a:solidFill>
                <a:latin typeface="Calibri"/>
                <a:cs typeface="Calibri"/>
              </a:rPr>
              <a:t>are</a:t>
            </a:r>
            <a:r>
              <a:rPr sz="2800" b="1" spc="15" dirty="0">
                <a:solidFill>
                  <a:srgbClr val="C00000"/>
                </a:solidFill>
                <a:latin typeface="Calibri"/>
                <a:cs typeface="Calibri"/>
              </a:rPr>
              <a:t> </a:t>
            </a:r>
            <a:r>
              <a:rPr sz="2800" b="1" spc="-5" dirty="0">
                <a:solidFill>
                  <a:srgbClr val="C00000"/>
                </a:solidFill>
                <a:latin typeface="Calibri"/>
                <a:cs typeface="Calibri"/>
              </a:rPr>
              <a:t>the</a:t>
            </a:r>
            <a:r>
              <a:rPr sz="2800" b="1" spc="15" dirty="0">
                <a:solidFill>
                  <a:srgbClr val="C00000"/>
                </a:solidFill>
                <a:latin typeface="Calibri"/>
                <a:cs typeface="Calibri"/>
              </a:rPr>
              <a:t> </a:t>
            </a:r>
            <a:r>
              <a:rPr sz="2800" b="1" dirty="0">
                <a:solidFill>
                  <a:srgbClr val="C00000"/>
                </a:solidFill>
                <a:latin typeface="Calibri"/>
                <a:cs typeface="Calibri"/>
              </a:rPr>
              <a:t>same</a:t>
            </a:r>
            <a:r>
              <a:rPr sz="2800" dirty="0">
                <a:solidFill>
                  <a:srgbClr val="C00000"/>
                </a:solidFill>
                <a:latin typeface="Calibri"/>
                <a:cs typeface="Calibri"/>
              </a:rPr>
              <a:t>.</a:t>
            </a:r>
            <a:endParaRPr sz="2800">
              <a:latin typeface="Calibri"/>
              <a:cs typeface="Calibri"/>
            </a:endParaRPr>
          </a:p>
        </p:txBody>
      </p:sp>
    </p:spTree>
    <p:extLst>
      <p:ext uri="{BB962C8B-B14F-4D97-AF65-F5344CB8AC3E}">
        <p14:creationId xmlns:p14="http://schemas.microsoft.com/office/powerpoint/2010/main" val="2002107967"/>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1485903" y="792275"/>
            <a:ext cx="3995261" cy="813684"/>
          </a:xfrm>
          <a:prstGeom prst="rect">
            <a:avLst/>
          </a:prstGeom>
        </p:spPr>
        <p:txBody>
          <a:bodyPr vert="horz" wrap="square" lIns="0" tIns="13335" rIns="0" bIns="0" rtlCol="0">
            <a:spAutoFit/>
          </a:bodyPr>
          <a:lstStyle/>
          <a:p>
            <a:pPr marL="12700">
              <a:lnSpc>
                <a:spcPct val="100000"/>
              </a:lnSpc>
              <a:spcBef>
                <a:spcPts val="105"/>
              </a:spcBef>
            </a:pPr>
            <a:r>
              <a:rPr sz="2600" spc="-5" dirty="0">
                <a:solidFill>
                  <a:srgbClr val="C00000"/>
                </a:solidFill>
                <a:latin typeface="Calibri"/>
                <a:cs typeface="Calibri"/>
              </a:rPr>
              <a:t>Send</a:t>
            </a:r>
            <a:r>
              <a:rPr sz="2600" spc="-25" dirty="0">
                <a:solidFill>
                  <a:srgbClr val="C00000"/>
                </a:solidFill>
                <a:latin typeface="Calibri"/>
                <a:cs typeface="Calibri"/>
              </a:rPr>
              <a:t> </a:t>
            </a:r>
            <a:r>
              <a:rPr sz="2600" spc="-5" dirty="0">
                <a:solidFill>
                  <a:srgbClr val="C00000"/>
                </a:solidFill>
                <a:latin typeface="Calibri"/>
                <a:cs typeface="Calibri"/>
              </a:rPr>
              <a:t>window</a:t>
            </a:r>
            <a:r>
              <a:rPr sz="2600" spc="5" dirty="0">
                <a:solidFill>
                  <a:srgbClr val="C00000"/>
                </a:solidFill>
                <a:latin typeface="Calibri"/>
                <a:cs typeface="Calibri"/>
              </a:rPr>
              <a:t> </a:t>
            </a:r>
            <a:r>
              <a:rPr sz="2600" spc="-25" dirty="0">
                <a:solidFill>
                  <a:srgbClr val="C00000"/>
                </a:solidFill>
                <a:latin typeface="Calibri"/>
                <a:cs typeface="Calibri"/>
              </a:rPr>
              <a:t>for</a:t>
            </a:r>
            <a:r>
              <a:rPr sz="2600" spc="-5" dirty="0">
                <a:solidFill>
                  <a:srgbClr val="C00000"/>
                </a:solidFill>
                <a:latin typeface="Calibri"/>
                <a:cs typeface="Calibri"/>
              </a:rPr>
              <a:t> Selective</a:t>
            </a:r>
            <a:r>
              <a:rPr sz="2600" spc="-25" dirty="0">
                <a:solidFill>
                  <a:srgbClr val="C00000"/>
                </a:solidFill>
                <a:latin typeface="Calibri"/>
                <a:cs typeface="Calibri"/>
              </a:rPr>
              <a:t> </a:t>
            </a:r>
            <a:r>
              <a:rPr sz="2600" spc="-15" dirty="0">
                <a:solidFill>
                  <a:srgbClr val="C00000"/>
                </a:solidFill>
                <a:latin typeface="Calibri"/>
                <a:cs typeface="Calibri"/>
              </a:rPr>
              <a:t>Repeat</a:t>
            </a:r>
            <a:r>
              <a:rPr sz="2600" spc="-10" dirty="0">
                <a:solidFill>
                  <a:srgbClr val="C00000"/>
                </a:solidFill>
                <a:latin typeface="Calibri"/>
                <a:cs typeface="Calibri"/>
              </a:rPr>
              <a:t> </a:t>
            </a:r>
            <a:r>
              <a:rPr sz="2600" spc="-5" dirty="0">
                <a:solidFill>
                  <a:srgbClr val="C00000"/>
                </a:solidFill>
                <a:latin typeface="Calibri"/>
                <a:cs typeface="Calibri"/>
              </a:rPr>
              <a:t>ARQ:</a:t>
            </a:r>
            <a:endParaRPr sz="2600" dirty="0">
              <a:latin typeface="Calibri"/>
              <a:cs typeface="Calibri"/>
            </a:endParaRPr>
          </a:p>
        </p:txBody>
      </p:sp>
      <p:sp>
        <p:nvSpPr>
          <p:cNvPr id="5" name="object 5"/>
          <p:cNvSpPr txBox="1"/>
          <p:nvPr/>
        </p:nvSpPr>
        <p:spPr>
          <a:xfrm>
            <a:off x="2815495" y="200914"/>
            <a:ext cx="3080384" cy="112082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C00000"/>
                </a:solidFill>
                <a:latin typeface="Calibri"/>
                <a:cs typeface="Calibri"/>
              </a:rPr>
              <a:t>Selective</a:t>
            </a:r>
            <a:r>
              <a:rPr sz="3600" b="1" spc="-30" dirty="0">
                <a:solidFill>
                  <a:srgbClr val="C00000"/>
                </a:solidFill>
                <a:latin typeface="Calibri"/>
                <a:cs typeface="Calibri"/>
              </a:rPr>
              <a:t> </a:t>
            </a:r>
            <a:r>
              <a:rPr sz="3600" b="1" spc="-20" dirty="0">
                <a:solidFill>
                  <a:srgbClr val="C00000"/>
                </a:solidFill>
                <a:latin typeface="Calibri"/>
                <a:cs typeface="Calibri"/>
              </a:rPr>
              <a:t>Repeat</a:t>
            </a:r>
            <a:r>
              <a:rPr sz="3600" b="1" spc="-35" dirty="0">
                <a:solidFill>
                  <a:srgbClr val="C00000"/>
                </a:solidFill>
                <a:latin typeface="Calibri"/>
                <a:cs typeface="Calibri"/>
              </a:rPr>
              <a:t> </a:t>
            </a:r>
            <a:r>
              <a:rPr sz="3600" b="1" spc="-15" dirty="0">
                <a:solidFill>
                  <a:srgbClr val="C00000"/>
                </a:solidFill>
                <a:latin typeface="Calibri"/>
                <a:cs typeface="Calibri"/>
              </a:rPr>
              <a:t>ARQ</a:t>
            </a:r>
            <a:endParaRPr sz="3600">
              <a:latin typeface="Calibri"/>
              <a:cs typeface="Calibri"/>
            </a:endParaRPr>
          </a:p>
        </p:txBody>
      </p:sp>
      <p:pic>
        <p:nvPicPr>
          <p:cNvPr id="6" name="object 6"/>
          <p:cNvPicPr/>
          <p:nvPr/>
        </p:nvPicPr>
        <p:blipFill>
          <a:blip r:embed="rId4" cstate="print"/>
          <a:stretch>
            <a:fillRect/>
          </a:stretch>
        </p:blipFill>
        <p:spPr>
          <a:xfrm>
            <a:off x="332326" y="1295405"/>
            <a:ext cx="8046720" cy="2575667"/>
          </a:xfrm>
          <a:prstGeom prst="rect">
            <a:avLst/>
          </a:prstGeom>
        </p:spPr>
      </p:pic>
      <p:pic>
        <p:nvPicPr>
          <p:cNvPr id="7" name="object 6"/>
          <p:cNvPicPr/>
          <p:nvPr/>
        </p:nvPicPr>
        <p:blipFill>
          <a:blip r:embed="rId5" cstate="print"/>
          <a:stretch>
            <a:fillRect/>
          </a:stretch>
        </p:blipFill>
        <p:spPr>
          <a:xfrm>
            <a:off x="316265" y="3899425"/>
            <a:ext cx="7612380" cy="2781983"/>
          </a:xfrm>
          <a:prstGeom prst="rect">
            <a:avLst/>
          </a:prstGeom>
        </p:spPr>
      </p:pic>
    </p:spTree>
    <p:extLst>
      <p:ext uri="{BB962C8B-B14F-4D97-AF65-F5344CB8AC3E}">
        <p14:creationId xmlns:p14="http://schemas.microsoft.com/office/powerpoint/2010/main" val="59791806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251767" y="1226311"/>
            <a:ext cx="3941921" cy="751488"/>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C00000"/>
                </a:solidFill>
                <a:latin typeface="Calibri"/>
                <a:cs typeface="Calibri"/>
              </a:rPr>
              <a:t>Receive</a:t>
            </a:r>
            <a:r>
              <a:rPr sz="2400" spc="-30" dirty="0">
                <a:solidFill>
                  <a:srgbClr val="C00000"/>
                </a:solidFill>
                <a:latin typeface="Calibri"/>
                <a:cs typeface="Calibri"/>
              </a:rPr>
              <a:t> </a:t>
            </a:r>
            <a:r>
              <a:rPr sz="2400" spc="-5" dirty="0">
                <a:solidFill>
                  <a:srgbClr val="C00000"/>
                </a:solidFill>
                <a:latin typeface="Calibri"/>
                <a:cs typeface="Calibri"/>
              </a:rPr>
              <a:t>window</a:t>
            </a:r>
            <a:r>
              <a:rPr sz="2400" spc="-20" dirty="0">
                <a:solidFill>
                  <a:srgbClr val="C00000"/>
                </a:solidFill>
                <a:latin typeface="Calibri"/>
                <a:cs typeface="Calibri"/>
              </a:rPr>
              <a:t> for</a:t>
            </a:r>
            <a:r>
              <a:rPr sz="2400" spc="-15" dirty="0">
                <a:solidFill>
                  <a:srgbClr val="C00000"/>
                </a:solidFill>
                <a:latin typeface="Calibri"/>
                <a:cs typeface="Calibri"/>
              </a:rPr>
              <a:t> </a:t>
            </a:r>
            <a:r>
              <a:rPr sz="2400" spc="-5" dirty="0">
                <a:solidFill>
                  <a:srgbClr val="C00000"/>
                </a:solidFill>
                <a:latin typeface="Calibri"/>
                <a:cs typeface="Calibri"/>
              </a:rPr>
              <a:t>Selective</a:t>
            </a:r>
            <a:r>
              <a:rPr sz="2400" spc="-15" dirty="0">
                <a:solidFill>
                  <a:srgbClr val="C00000"/>
                </a:solidFill>
                <a:latin typeface="Calibri"/>
                <a:cs typeface="Calibri"/>
              </a:rPr>
              <a:t> </a:t>
            </a:r>
            <a:r>
              <a:rPr sz="2400" spc="-10" dirty="0">
                <a:solidFill>
                  <a:srgbClr val="C00000"/>
                </a:solidFill>
                <a:latin typeface="Calibri"/>
                <a:cs typeface="Calibri"/>
              </a:rPr>
              <a:t>Repeat</a:t>
            </a:r>
            <a:r>
              <a:rPr sz="2400" spc="-25" dirty="0">
                <a:solidFill>
                  <a:srgbClr val="C00000"/>
                </a:solidFill>
                <a:latin typeface="Calibri"/>
                <a:cs typeface="Calibri"/>
              </a:rPr>
              <a:t> </a:t>
            </a:r>
            <a:r>
              <a:rPr sz="2400" spc="-5" dirty="0">
                <a:solidFill>
                  <a:srgbClr val="C00000"/>
                </a:solidFill>
                <a:latin typeface="Calibri"/>
                <a:cs typeface="Calibri"/>
              </a:rPr>
              <a:t>ARQ:</a:t>
            </a:r>
            <a:endParaRPr sz="2400">
              <a:latin typeface="Calibri"/>
              <a:cs typeface="Calibri"/>
            </a:endParaRPr>
          </a:p>
        </p:txBody>
      </p:sp>
      <p:sp>
        <p:nvSpPr>
          <p:cNvPr id="5" name="object 5"/>
          <p:cNvSpPr txBox="1"/>
          <p:nvPr/>
        </p:nvSpPr>
        <p:spPr>
          <a:xfrm>
            <a:off x="2815495" y="200914"/>
            <a:ext cx="3080384" cy="112082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C00000"/>
                </a:solidFill>
                <a:latin typeface="Calibri"/>
                <a:cs typeface="Calibri"/>
              </a:rPr>
              <a:t>Selective</a:t>
            </a:r>
            <a:r>
              <a:rPr sz="3600" b="1" spc="-30" dirty="0">
                <a:solidFill>
                  <a:srgbClr val="C00000"/>
                </a:solidFill>
                <a:latin typeface="Calibri"/>
                <a:cs typeface="Calibri"/>
              </a:rPr>
              <a:t> </a:t>
            </a:r>
            <a:r>
              <a:rPr sz="3600" b="1" spc="-20" dirty="0">
                <a:solidFill>
                  <a:srgbClr val="C00000"/>
                </a:solidFill>
                <a:latin typeface="Calibri"/>
                <a:cs typeface="Calibri"/>
              </a:rPr>
              <a:t>Repeat</a:t>
            </a:r>
            <a:r>
              <a:rPr sz="3600" b="1" spc="-35" dirty="0">
                <a:solidFill>
                  <a:srgbClr val="C00000"/>
                </a:solidFill>
                <a:latin typeface="Calibri"/>
                <a:cs typeface="Calibri"/>
              </a:rPr>
              <a:t> </a:t>
            </a:r>
            <a:r>
              <a:rPr sz="3600" b="1" spc="-15" dirty="0">
                <a:solidFill>
                  <a:srgbClr val="C00000"/>
                </a:solidFill>
                <a:latin typeface="Calibri"/>
                <a:cs typeface="Calibri"/>
              </a:rPr>
              <a:t>ARQ</a:t>
            </a:r>
            <a:endParaRPr sz="3600">
              <a:latin typeface="Calibri"/>
              <a:cs typeface="Calibri"/>
            </a:endParaRPr>
          </a:p>
        </p:txBody>
      </p:sp>
      <p:pic>
        <p:nvPicPr>
          <p:cNvPr id="6" name="object 6"/>
          <p:cNvPicPr/>
          <p:nvPr/>
        </p:nvPicPr>
        <p:blipFill>
          <a:blip r:embed="rId4" cstate="print"/>
          <a:stretch>
            <a:fillRect/>
          </a:stretch>
        </p:blipFill>
        <p:spPr>
          <a:xfrm>
            <a:off x="674370" y="2384379"/>
            <a:ext cx="7612380" cy="2781983"/>
          </a:xfrm>
          <a:prstGeom prst="rect">
            <a:avLst/>
          </a:prstGeom>
        </p:spPr>
      </p:pic>
    </p:spTree>
    <p:extLst>
      <p:ext uri="{BB962C8B-B14F-4D97-AF65-F5344CB8AC3E}">
        <p14:creationId xmlns:p14="http://schemas.microsoft.com/office/powerpoint/2010/main" val="441859810"/>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2815495" y="-199195"/>
            <a:ext cx="3080384"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Selective</a:t>
            </a:r>
            <a:r>
              <a:rPr b="1" spc="-30" dirty="0">
                <a:latin typeface="Calibri"/>
                <a:cs typeface="Calibri"/>
              </a:rPr>
              <a:t> </a:t>
            </a:r>
            <a:r>
              <a:rPr b="1" spc="-20" dirty="0">
                <a:latin typeface="Calibri"/>
                <a:cs typeface="Calibri"/>
              </a:rPr>
              <a:t>Repeat</a:t>
            </a:r>
            <a:r>
              <a:rPr b="1" spc="-35" dirty="0">
                <a:latin typeface="Calibri"/>
                <a:cs typeface="Calibri"/>
              </a:rPr>
              <a:t> </a:t>
            </a:r>
            <a:r>
              <a:rPr b="1" spc="-15" dirty="0">
                <a:latin typeface="Calibri"/>
                <a:cs typeface="Calibri"/>
              </a:rPr>
              <a:t>ARQ</a:t>
            </a:r>
          </a:p>
        </p:txBody>
      </p:sp>
      <p:pic>
        <p:nvPicPr>
          <p:cNvPr id="5" name="object 5"/>
          <p:cNvPicPr/>
          <p:nvPr/>
        </p:nvPicPr>
        <p:blipFill>
          <a:blip r:embed="rId4" cstate="print"/>
          <a:stretch>
            <a:fillRect/>
          </a:stretch>
        </p:blipFill>
        <p:spPr>
          <a:xfrm>
            <a:off x="1143000" y="816863"/>
            <a:ext cx="6526530" cy="5765291"/>
          </a:xfrm>
          <a:prstGeom prst="rect">
            <a:avLst/>
          </a:prstGeom>
        </p:spPr>
      </p:pic>
    </p:spTree>
    <p:extLst>
      <p:ext uri="{BB962C8B-B14F-4D97-AF65-F5344CB8AC3E}">
        <p14:creationId xmlns:p14="http://schemas.microsoft.com/office/powerpoint/2010/main" val="2620572264"/>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p:nvPr/>
        </p:nvSpPr>
        <p:spPr>
          <a:xfrm>
            <a:off x="2815495" y="200914"/>
            <a:ext cx="3080384" cy="112082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C00000"/>
                </a:solidFill>
                <a:latin typeface="Calibri"/>
                <a:cs typeface="Calibri"/>
              </a:rPr>
              <a:t>Selective</a:t>
            </a:r>
            <a:r>
              <a:rPr sz="3600" b="1" spc="-30" dirty="0">
                <a:solidFill>
                  <a:srgbClr val="C00000"/>
                </a:solidFill>
                <a:latin typeface="Calibri"/>
                <a:cs typeface="Calibri"/>
              </a:rPr>
              <a:t> </a:t>
            </a:r>
            <a:r>
              <a:rPr sz="3600" b="1" spc="-20" dirty="0">
                <a:solidFill>
                  <a:srgbClr val="C00000"/>
                </a:solidFill>
                <a:latin typeface="Calibri"/>
                <a:cs typeface="Calibri"/>
              </a:rPr>
              <a:t>Repeat</a:t>
            </a:r>
            <a:r>
              <a:rPr sz="3600" b="1" spc="-35" dirty="0">
                <a:solidFill>
                  <a:srgbClr val="C00000"/>
                </a:solidFill>
                <a:latin typeface="Calibri"/>
                <a:cs typeface="Calibri"/>
              </a:rPr>
              <a:t> </a:t>
            </a:r>
            <a:r>
              <a:rPr sz="3600" b="1" spc="-15" dirty="0">
                <a:solidFill>
                  <a:srgbClr val="C00000"/>
                </a:solidFill>
                <a:latin typeface="Calibri"/>
                <a:cs typeface="Calibri"/>
              </a:rPr>
              <a:t>ARQ</a:t>
            </a:r>
            <a:endParaRPr sz="3600">
              <a:latin typeface="Calibri"/>
              <a:cs typeface="Calibri"/>
            </a:endParaRPr>
          </a:p>
        </p:txBody>
      </p:sp>
      <p:pic>
        <p:nvPicPr>
          <p:cNvPr id="5" name="object 5"/>
          <p:cNvPicPr/>
          <p:nvPr/>
        </p:nvPicPr>
        <p:blipFill>
          <a:blip r:embed="rId4" cstate="print"/>
          <a:stretch>
            <a:fillRect/>
          </a:stretch>
        </p:blipFill>
        <p:spPr>
          <a:xfrm>
            <a:off x="628650" y="1366521"/>
            <a:ext cx="7258050" cy="5215634"/>
          </a:xfrm>
          <a:prstGeom prst="rect">
            <a:avLst/>
          </a:prstGeom>
        </p:spPr>
      </p:pic>
      <p:sp>
        <p:nvSpPr>
          <p:cNvPr id="6" name="object 6"/>
          <p:cNvSpPr txBox="1"/>
          <p:nvPr/>
        </p:nvSpPr>
        <p:spPr>
          <a:xfrm>
            <a:off x="685800" y="914402"/>
            <a:ext cx="3870960" cy="873957"/>
          </a:xfrm>
          <a:prstGeom prst="rect">
            <a:avLst/>
          </a:prstGeom>
        </p:spPr>
        <p:txBody>
          <a:bodyPr vert="horz" wrap="square" lIns="0" tIns="12065" rIns="0" bIns="0" rtlCol="0">
            <a:spAutoFit/>
          </a:bodyPr>
          <a:lstStyle/>
          <a:p>
            <a:pPr marL="12700">
              <a:lnSpc>
                <a:spcPct val="100000"/>
              </a:lnSpc>
              <a:spcBef>
                <a:spcPts val="95"/>
              </a:spcBef>
            </a:pPr>
            <a:r>
              <a:rPr sz="2800" spc="-10" dirty="0">
                <a:solidFill>
                  <a:srgbClr val="C00000"/>
                </a:solidFill>
                <a:latin typeface="Calibri"/>
                <a:cs typeface="Calibri"/>
              </a:rPr>
              <a:t>Selective</a:t>
            </a:r>
            <a:r>
              <a:rPr sz="2800" spc="5" dirty="0">
                <a:solidFill>
                  <a:srgbClr val="C00000"/>
                </a:solidFill>
                <a:latin typeface="Calibri"/>
                <a:cs typeface="Calibri"/>
              </a:rPr>
              <a:t> </a:t>
            </a:r>
            <a:r>
              <a:rPr sz="2800" spc="-15" dirty="0">
                <a:solidFill>
                  <a:srgbClr val="C00000"/>
                </a:solidFill>
                <a:latin typeface="Calibri"/>
                <a:cs typeface="Calibri"/>
              </a:rPr>
              <a:t>Repeat</a:t>
            </a:r>
            <a:r>
              <a:rPr sz="2800" spc="-20" dirty="0">
                <a:solidFill>
                  <a:srgbClr val="C00000"/>
                </a:solidFill>
                <a:latin typeface="Calibri"/>
                <a:cs typeface="Calibri"/>
              </a:rPr>
              <a:t> </a:t>
            </a:r>
            <a:r>
              <a:rPr sz="2800" spc="25" dirty="0">
                <a:solidFill>
                  <a:srgbClr val="C00000"/>
                </a:solidFill>
                <a:latin typeface="Calibri"/>
                <a:cs typeface="Calibri"/>
              </a:rPr>
              <a:t>ARQ,</a:t>
            </a:r>
            <a:r>
              <a:rPr sz="2800" spc="5" dirty="0">
                <a:solidFill>
                  <a:srgbClr val="C00000"/>
                </a:solidFill>
                <a:latin typeface="Calibri"/>
                <a:cs typeface="Calibri"/>
              </a:rPr>
              <a:t> </a:t>
            </a:r>
            <a:r>
              <a:rPr sz="2800" spc="-10" dirty="0">
                <a:solidFill>
                  <a:srgbClr val="C00000"/>
                </a:solidFill>
                <a:latin typeface="Calibri"/>
                <a:cs typeface="Calibri"/>
              </a:rPr>
              <a:t>window</a:t>
            </a:r>
            <a:r>
              <a:rPr sz="2800" spc="20" dirty="0">
                <a:solidFill>
                  <a:srgbClr val="C00000"/>
                </a:solidFill>
                <a:latin typeface="Calibri"/>
                <a:cs typeface="Calibri"/>
              </a:rPr>
              <a:t> </a:t>
            </a:r>
            <a:r>
              <a:rPr sz="2800" spc="-20" dirty="0">
                <a:solidFill>
                  <a:srgbClr val="C00000"/>
                </a:solidFill>
                <a:latin typeface="Calibri"/>
                <a:cs typeface="Calibri"/>
              </a:rPr>
              <a:t>size:</a:t>
            </a:r>
            <a:endParaRPr sz="2800" dirty="0">
              <a:latin typeface="Calibri"/>
              <a:cs typeface="Calibri"/>
            </a:endParaRPr>
          </a:p>
        </p:txBody>
      </p:sp>
    </p:spTree>
    <p:extLst>
      <p:ext uri="{BB962C8B-B14F-4D97-AF65-F5344CB8AC3E}">
        <p14:creationId xmlns:p14="http://schemas.microsoft.com/office/powerpoint/2010/main" val="410416769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2815495" y="-199195"/>
            <a:ext cx="3080384"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Selective</a:t>
            </a:r>
            <a:r>
              <a:rPr b="1" spc="-30" dirty="0">
                <a:latin typeface="Calibri"/>
                <a:cs typeface="Calibri"/>
              </a:rPr>
              <a:t> </a:t>
            </a:r>
            <a:r>
              <a:rPr b="1" spc="-20" dirty="0">
                <a:latin typeface="Calibri"/>
                <a:cs typeface="Calibri"/>
              </a:rPr>
              <a:t>Repeat</a:t>
            </a:r>
            <a:r>
              <a:rPr b="1" spc="-35" dirty="0">
                <a:latin typeface="Calibri"/>
                <a:cs typeface="Calibri"/>
              </a:rPr>
              <a:t> </a:t>
            </a:r>
            <a:r>
              <a:rPr b="1" spc="-15" dirty="0">
                <a:latin typeface="Calibri"/>
                <a:cs typeface="Calibri"/>
              </a:rPr>
              <a:t>ARQ</a:t>
            </a:r>
          </a:p>
        </p:txBody>
      </p:sp>
      <p:sp>
        <p:nvSpPr>
          <p:cNvPr id="5" name="object 5"/>
          <p:cNvSpPr txBox="1"/>
          <p:nvPr/>
        </p:nvSpPr>
        <p:spPr>
          <a:xfrm>
            <a:off x="192026" y="1278641"/>
            <a:ext cx="4551521" cy="718145"/>
          </a:xfrm>
          <a:prstGeom prst="rect">
            <a:avLst/>
          </a:prstGeom>
          <a:solidFill>
            <a:srgbClr val="F8D7C9"/>
          </a:solidFill>
        </p:spPr>
        <p:txBody>
          <a:bodyPr vert="horz" wrap="square" lIns="0" tIns="0" rIns="0" bIns="0" rtlCol="0">
            <a:spAutoFit/>
          </a:bodyPr>
          <a:lstStyle/>
          <a:p>
            <a:pPr marL="92075">
              <a:lnSpc>
                <a:spcPts val="2750"/>
              </a:lnSpc>
            </a:pPr>
            <a:r>
              <a:rPr sz="2600" spc="-5" dirty="0">
                <a:solidFill>
                  <a:srgbClr val="C00000"/>
                </a:solidFill>
                <a:latin typeface="Calibri"/>
                <a:cs typeface="Calibri"/>
              </a:rPr>
              <a:t>Delivery</a:t>
            </a:r>
            <a:r>
              <a:rPr sz="2600" spc="-35" dirty="0">
                <a:solidFill>
                  <a:srgbClr val="C00000"/>
                </a:solidFill>
                <a:latin typeface="Calibri"/>
                <a:cs typeface="Calibri"/>
              </a:rPr>
              <a:t> </a:t>
            </a:r>
            <a:r>
              <a:rPr sz="2600" spc="-5" dirty="0">
                <a:solidFill>
                  <a:srgbClr val="C00000"/>
                </a:solidFill>
                <a:latin typeface="Calibri"/>
                <a:cs typeface="Calibri"/>
              </a:rPr>
              <a:t>of </a:t>
            </a:r>
            <a:r>
              <a:rPr sz="2600" spc="-20" dirty="0">
                <a:solidFill>
                  <a:srgbClr val="C00000"/>
                </a:solidFill>
                <a:latin typeface="Calibri"/>
                <a:cs typeface="Calibri"/>
              </a:rPr>
              <a:t>data</a:t>
            </a:r>
            <a:r>
              <a:rPr sz="2600" dirty="0">
                <a:solidFill>
                  <a:srgbClr val="C00000"/>
                </a:solidFill>
                <a:latin typeface="Calibri"/>
                <a:cs typeface="Calibri"/>
              </a:rPr>
              <a:t> in</a:t>
            </a:r>
            <a:r>
              <a:rPr sz="2600" spc="-10" dirty="0">
                <a:solidFill>
                  <a:srgbClr val="C00000"/>
                </a:solidFill>
                <a:latin typeface="Calibri"/>
                <a:cs typeface="Calibri"/>
              </a:rPr>
              <a:t> </a:t>
            </a:r>
            <a:r>
              <a:rPr sz="2600" spc="-5" dirty="0">
                <a:solidFill>
                  <a:srgbClr val="C00000"/>
                </a:solidFill>
                <a:latin typeface="Calibri"/>
                <a:cs typeface="Calibri"/>
              </a:rPr>
              <a:t>Selective</a:t>
            </a:r>
            <a:r>
              <a:rPr sz="2600" spc="-25" dirty="0">
                <a:solidFill>
                  <a:srgbClr val="C00000"/>
                </a:solidFill>
                <a:latin typeface="Calibri"/>
                <a:cs typeface="Calibri"/>
              </a:rPr>
              <a:t> </a:t>
            </a:r>
            <a:r>
              <a:rPr sz="2600" spc="-15" dirty="0">
                <a:solidFill>
                  <a:srgbClr val="C00000"/>
                </a:solidFill>
                <a:latin typeface="Calibri"/>
                <a:cs typeface="Calibri"/>
              </a:rPr>
              <a:t>Repeat</a:t>
            </a:r>
            <a:r>
              <a:rPr sz="2600" spc="-20" dirty="0">
                <a:solidFill>
                  <a:srgbClr val="C00000"/>
                </a:solidFill>
                <a:latin typeface="Calibri"/>
                <a:cs typeface="Calibri"/>
              </a:rPr>
              <a:t> </a:t>
            </a:r>
            <a:r>
              <a:rPr sz="2600" spc="-5" dirty="0">
                <a:solidFill>
                  <a:srgbClr val="C00000"/>
                </a:solidFill>
                <a:latin typeface="Calibri"/>
                <a:cs typeface="Calibri"/>
              </a:rPr>
              <a:t>ARQ:</a:t>
            </a:r>
            <a:endParaRPr sz="2600">
              <a:latin typeface="Calibri"/>
              <a:cs typeface="Calibri"/>
            </a:endParaRPr>
          </a:p>
        </p:txBody>
      </p:sp>
      <p:pic>
        <p:nvPicPr>
          <p:cNvPr id="6" name="object 6"/>
          <p:cNvPicPr/>
          <p:nvPr/>
        </p:nvPicPr>
        <p:blipFill>
          <a:blip r:embed="rId4" cstate="print"/>
          <a:stretch>
            <a:fillRect/>
          </a:stretch>
        </p:blipFill>
        <p:spPr>
          <a:xfrm>
            <a:off x="1401317" y="2775204"/>
            <a:ext cx="5908167" cy="1840992"/>
          </a:xfrm>
          <a:prstGeom prst="rect">
            <a:avLst/>
          </a:prstGeom>
        </p:spPr>
      </p:pic>
    </p:spTree>
    <p:extLst>
      <p:ext uri="{BB962C8B-B14F-4D97-AF65-F5344CB8AC3E}">
        <p14:creationId xmlns:p14="http://schemas.microsoft.com/office/powerpoint/2010/main" val="406611651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2815495" y="-199195"/>
            <a:ext cx="3080384" cy="1367041"/>
          </a:xfrm>
          <a:prstGeom prst="rect">
            <a:avLst/>
          </a:prstGeom>
        </p:spPr>
        <p:txBody>
          <a:bodyPr vert="horz" wrap="square" lIns="0" tIns="12700" rIns="0" bIns="0" rtlCol="0">
            <a:spAutoFit/>
          </a:bodyPr>
          <a:lstStyle/>
          <a:p>
            <a:pPr marL="12700">
              <a:lnSpc>
                <a:spcPct val="100000"/>
              </a:lnSpc>
              <a:spcBef>
                <a:spcPts val="100"/>
              </a:spcBef>
            </a:pPr>
            <a:r>
              <a:rPr b="1" spc="-5" dirty="0">
                <a:latin typeface="Calibri"/>
                <a:cs typeface="Calibri"/>
              </a:rPr>
              <a:t>Selective</a:t>
            </a:r>
            <a:r>
              <a:rPr b="1" spc="-30" dirty="0">
                <a:latin typeface="Calibri"/>
                <a:cs typeface="Calibri"/>
              </a:rPr>
              <a:t> </a:t>
            </a:r>
            <a:r>
              <a:rPr b="1" spc="-20" dirty="0">
                <a:latin typeface="Calibri"/>
                <a:cs typeface="Calibri"/>
              </a:rPr>
              <a:t>Repeat</a:t>
            </a:r>
            <a:r>
              <a:rPr b="1" spc="-35" dirty="0">
                <a:latin typeface="Calibri"/>
                <a:cs typeface="Calibri"/>
              </a:rPr>
              <a:t> </a:t>
            </a:r>
            <a:r>
              <a:rPr b="1" spc="-15" dirty="0">
                <a:latin typeface="Calibri"/>
                <a:cs typeface="Calibri"/>
              </a:rPr>
              <a:t>ARQ</a:t>
            </a:r>
          </a:p>
        </p:txBody>
      </p:sp>
      <p:sp>
        <p:nvSpPr>
          <p:cNvPr id="5" name="object 5"/>
          <p:cNvSpPr txBox="1"/>
          <p:nvPr/>
        </p:nvSpPr>
        <p:spPr>
          <a:xfrm>
            <a:off x="169166" y="1278639"/>
            <a:ext cx="1445895" cy="538609"/>
          </a:xfrm>
          <a:prstGeom prst="rect">
            <a:avLst/>
          </a:prstGeom>
          <a:solidFill>
            <a:srgbClr val="F8D7C9"/>
          </a:solidFill>
        </p:spPr>
        <p:txBody>
          <a:bodyPr vert="horz" wrap="square" lIns="0" tIns="0" rIns="0" bIns="0" rtlCol="0">
            <a:spAutoFit/>
          </a:bodyPr>
          <a:lstStyle/>
          <a:p>
            <a:pPr marL="92075">
              <a:lnSpc>
                <a:spcPts val="2100"/>
              </a:lnSpc>
            </a:pPr>
            <a:r>
              <a:rPr sz="2100" spc="-10" dirty="0">
                <a:solidFill>
                  <a:srgbClr val="C00000"/>
                </a:solidFill>
                <a:latin typeface="Calibri"/>
                <a:cs typeface="Calibri"/>
              </a:rPr>
              <a:t>Flow</a:t>
            </a:r>
            <a:r>
              <a:rPr sz="2100" spc="-20" dirty="0">
                <a:solidFill>
                  <a:srgbClr val="C00000"/>
                </a:solidFill>
                <a:latin typeface="Calibri"/>
                <a:cs typeface="Calibri"/>
              </a:rPr>
              <a:t> </a:t>
            </a:r>
            <a:r>
              <a:rPr sz="2100" spc="-10" dirty="0">
                <a:solidFill>
                  <a:srgbClr val="C00000"/>
                </a:solidFill>
                <a:latin typeface="Calibri"/>
                <a:cs typeface="Calibri"/>
              </a:rPr>
              <a:t>Diagram</a:t>
            </a:r>
            <a:r>
              <a:rPr sz="1300" spc="-10" dirty="0">
                <a:solidFill>
                  <a:srgbClr val="C00000"/>
                </a:solidFill>
                <a:latin typeface="Calibri"/>
                <a:cs typeface="Calibri"/>
              </a:rPr>
              <a:t>:</a:t>
            </a:r>
            <a:endParaRPr sz="1300">
              <a:latin typeface="Calibri"/>
              <a:cs typeface="Calibri"/>
            </a:endParaRPr>
          </a:p>
        </p:txBody>
      </p:sp>
      <p:pic>
        <p:nvPicPr>
          <p:cNvPr id="6" name="object 6"/>
          <p:cNvPicPr/>
          <p:nvPr/>
        </p:nvPicPr>
        <p:blipFill>
          <a:blip r:embed="rId4" cstate="print"/>
          <a:stretch>
            <a:fillRect/>
          </a:stretch>
        </p:blipFill>
        <p:spPr>
          <a:xfrm>
            <a:off x="1615058" y="1203962"/>
            <a:ext cx="5913882" cy="5501639"/>
          </a:xfrm>
          <a:prstGeom prst="rect">
            <a:avLst/>
          </a:prstGeom>
        </p:spPr>
      </p:pic>
    </p:spTree>
    <p:extLst>
      <p:ext uri="{BB962C8B-B14F-4D97-AF65-F5344CB8AC3E}">
        <p14:creationId xmlns:p14="http://schemas.microsoft.com/office/powerpoint/2010/main" val="20747505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90153" y="5859779"/>
            <a:ext cx="725805" cy="722376"/>
          </a:xfrm>
          <a:prstGeom prst="rect">
            <a:avLst/>
          </a:prstGeom>
        </p:spPr>
      </p:pic>
      <p:pic>
        <p:nvPicPr>
          <p:cNvPr id="3" name="object 3"/>
          <p:cNvPicPr/>
          <p:nvPr/>
        </p:nvPicPr>
        <p:blipFill>
          <a:blip r:embed="rId3" cstate="print"/>
          <a:stretch>
            <a:fillRect/>
          </a:stretch>
        </p:blipFill>
        <p:spPr>
          <a:xfrm>
            <a:off x="6852285" y="0"/>
            <a:ext cx="2173986" cy="539496"/>
          </a:xfrm>
          <a:prstGeom prst="rect">
            <a:avLst/>
          </a:prstGeom>
        </p:spPr>
      </p:pic>
      <p:sp>
        <p:nvSpPr>
          <p:cNvPr id="4" name="object 4"/>
          <p:cNvSpPr txBox="1">
            <a:spLocks noGrp="1"/>
          </p:cNvSpPr>
          <p:nvPr>
            <p:ph type="title"/>
          </p:nvPr>
        </p:nvSpPr>
        <p:spPr>
          <a:xfrm>
            <a:off x="2375441" y="-8727"/>
            <a:ext cx="3960495" cy="997709"/>
          </a:xfrm>
          <a:prstGeom prst="rect">
            <a:avLst/>
          </a:prstGeom>
        </p:spPr>
        <p:txBody>
          <a:bodyPr vert="horz" wrap="square" lIns="0" tIns="12700" rIns="0" bIns="0" rtlCol="0">
            <a:spAutoFit/>
          </a:bodyPr>
          <a:lstStyle/>
          <a:p>
            <a:pPr marL="12700">
              <a:lnSpc>
                <a:spcPct val="100000"/>
              </a:lnSpc>
              <a:spcBef>
                <a:spcPts val="100"/>
              </a:spcBef>
            </a:pPr>
            <a:r>
              <a:rPr sz="3200" b="1" dirty="0">
                <a:latin typeface="Calibri"/>
                <a:cs typeface="Calibri"/>
              </a:rPr>
              <a:t>Piggybacking</a:t>
            </a:r>
            <a:r>
              <a:rPr sz="3200" b="1" spc="-65" dirty="0">
                <a:latin typeface="Calibri"/>
                <a:cs typeface="Calibri"/>
              </a:rPr>
              <a:t> </a:t>
            </a:r>
            <a:r>
              <a:rPr sz="3200" b="1" dirty="0">
                <a:latin typeface="Calibri"/>
                <a:cs typeface="Calibri"/>
              </a:rPr>
              <a:t>in</a:t>
            </a:r>
            <a:r>
              <a:rPr sz="3200" b="1" spc="-15" dirty="0">
                <a:latin typeface="Calibri"/>
                <a:cs typeface="Calibri"/>
              </a:rPr>
              <a:t> </a:t>
            </a:r>
            <a:r>
              <a:rPr sz="3200" b="1" spc="-5" dirty="0">
                <a:latin typeface="Calibri"/>
                <a:cs typeface="Calibri"/>
              </a:rPr>
              <a:t>Go</a:t>
            </a:r>
            <a:r>
              <a:rPr sz="3200" b="1" spc="-15" dirty="0">
                <a:latin typeface="Calibri"/>
                <a:cs typeface="Calibri"/>
              </a:rPr>
              <a:t> </a:t>
            </a:r>
            <a:r>
              <a:rPr sz="3200" b="1" dirty="0">
                <a:latin typeface="Calibri"/>
                <a:cs typeface="Calibri"/>
              </a:rPr>
              <a:t>Back</a:t>
            </a:r>
            <a:r>
              <a:rPr sz="3200" b="1" spc="-30" dirty="0">
                <a:latin typeface="Calibri"/>
                <a:cs typeface="Calibri"/>
              </a:rPr>
              <a:t> </a:t>
            </a:r>
            <a:r>
              <a:rPr sz="3200" b="1" dirty="0">
                <a:latin typeface="Calibri"/>
                <a:cs typeface="Calibri"/>
              </a:rPr>
              <a:t>N</a:t>
            </a:r>
            <a:r>
              <a:rPr sz="3200" b="1" spc="-10" dirty="0">
                <a:latin typeface="Calibri"/>
                <a:cs typeface="Calibri"/>
              </a:rPr>
              <a:t> </a:t>
            </a:r>
            <a:r>
              <a:rPr sz="3200" b="1" spc="-15" dirty="0">
                <a:latin typeface="Calibri"/>
                <a:cs typeface="Calibri"/>
              </a:rPr>
              <a:t>ARQ</a:t>
            </a:r>
            <a:endParaRPr sz="3200">
              <a:latin typeface="Calibri"/>
              <a:cs typeface="Calibri"/>
            </a:endParaRPr>
          </a:p>
        </p:txBody>
      </p:sp>
      <p:pic>
        <p:nvPicPr>
          <p:cNvPr id="5" name="object 5"/>
          <p:cNvPicPr/>
          <p:nvPr/>
        </p:nvPicPr>
        <p:blipFill>
          <a:blip r:embed="rId4" cstate="print"/>
          <a:stretch>
            <a:fillRect/>
          </a:stretch>
        </p:blipFill>
        <p:spPr>
          <a:xfrm>
            <a:off x="1143000" y="948431"/>
            <a:ext cx="6526530" cy="5737357"/>
          </a:xfrm>
          <a:prstGeom prst="rect">
            <a:avLst/>
          </a:prstGeom>
        </p:spPr>
      </p:pic>
    </p:spTree>
    <p:extLst>
      <p:ext uri="{BB962C8B-B14F-4D97-AF65-F5344CB8AC3E}">
        <p14:creationId xmlns:p14="http://schemas.microsoft.com/office/powerpoint/2010/main" val="1720803308"/>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10000"/>
          </a:bodyPr>
          <a:lstStyle/>
          <a:p>
            <a:pPr algn="l">
              <a:spcBef>
                <a:spcPts val="0"/>
              </a:spcBef>
            </a:pPr>
            <a:r>
              <a:rPr lang="en-US" sz="3600" b="1" dirty="0">
                <a:solidFill>
                  <a:schemeClr val="tx1"/>
                </a:solidFill>
                <a:ea typeface="Calibri"/>
                <a:cs typeface="Times New Roman"/>
              </a:rPr>
              <a:t>MULTIPLE ACCESS </a:t>
            </a:r>
            <a:r>
              <a:rPr lang="en-US" sz="3600" b="1" dirty="0" smtClean="0">
                <a:solidFill>
                  <a:schemeClr val="tx1"/>
                </a:solidFill>
                <a:ea typeface="Calibri"/>
                <a:cs typeface="Times New Roman"/>
              </a:rPr>
              <a:t> Protocols:-</a:t>
            </a:r>
            <a:endParaRPr lang="en-US" dirty="0">
              <a:solidFill>
                <a:schemeClr val="tx1"/>
              </a:solidFill>
              <a:ea typeface="Calibri"/>
              <a:cs typeface="Times New Roman"/>
            </a:endParaRPr>
          </a:p>
          <a:p>
            <a:pPr marL="457200" indent="-457200" algn="l">
              <a:spcBef>
                <a:spcPts val="0"/>
              </a:spcBef>
              <a:buFont typeface="Arial" pitchFamily="34" charset="0"/>
              <a:buChar char="•"/>
            </a:pPr>
            <a:r>
              <a:rPr lang="en-US" dirty="0">
                <a:solidFill>
                  <a:schemeClr val="tx1"/>
                </a:solidFill>
                <a:ea typeface="Calibri"/>
                <a:cs typeface="Times New Roman"/>
              </a:rPr>
              <a:t>DLL has two sub layers.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 </a:t>
            </a:r>
          </a:p>
          <a:p>
            <a:pPr algn="l">
              <a:spcBef>
                <a:spcPts val="0"/>
              </a:spcBef>
            </a:pPr>
            <a:endParaRPr lang="en-US" i="1" dirty="0" smtClean="0">
              <a:solidFill>
                <a:schemeClr val="tx1"/>
              </a:solidFill>
              <a:ea typeface="Calibri"/>
              <a:cs typeface="Times New Roman"/>
            </a:endParaRPr>
          </a:p>
          <a:p>
            <a:pPr algn="l">
              <a:spcBef>
                <a:spcPts val="0"/>
              </a:spcBef>
            </a:pPr>
            <a:endParaRPr lang="en-US" i="1" dirty="0" smtClean="0">
              <a:solidFill>
                <a:schemeClr val="tx1"/>
              </a:solidFill>
              <a:ea typeface="Calibri"/>
              <a:cs typeface="Times New Roman"/>
            </a:endParaRPr>
          </a:p>
          <a:p>
            <a:pPr algn="l">
              <a:spcBef>
                <a:spcPts val="0"/>
              </a:spcBef>
            </a:pPr>
            <a:r>
              <a:rPr lang="en-US" i="1" dirty="0" smtClean="0">
                <a:solidFill>
                  <a:schemeClr val="tx1"/>
                </a:solidFill>
                <a:ea typeface="Calibri"/>
                <a:cs typeface="Times New Roman"/>
              </a:rPr>
              <a:t>Upper </a:t>
            </a:r>
            <a:r>
              <a:rPr lang="en-US" i="1" dirty="0">
                <a:solidFill>
                  <a:schemeClr val="tx1"/>
                </a:solidFill>
                <a:ea typeface="Calibri"/>
                <a:cs typeface="Times New Roman"/>
              </a:rPr>
              <a:t>Sub Layer</a:t>
            </a:r>
            <a:r>
              <a:rPr lang="en-US" dirty="0">
                <a:solidFill>
                  <a:schemeClr val="tx1"/>
                </a:solidFill>
                <a:ea typeface="Calibri"/>
                <a:cs typeface="Times New Roman"/>
              </a:rPr>
              <a:t> </a:t>
            </a:r>
            <a:r>
              <a:rPr lang="en-US" dirty="0" smtClean="0">
                <a:solidFill>
                  <a:schemeClr val="tx1"/>
                </a:solidFill>
                <a:ea typeface="Calibri"/>
                <a:cs typeface="Times New Roman"/>
              </a:rPr>
              <a:t>(LLC)-  </a:t>
            </a:r>
            <a:r>
              <a:rPr lang="en-US" dirty="0">
                <a:solidFill>
                  <a:schemeClr val="tx1"/>
                </a:solidFill>
                <a:ea typeface="Calibri"/>
                <a:cs typeface="Times New Roman"/>
              </a:rPr>
              <a:t>it is responsible for Data Link Control.  </a:t>
            </a:r>
            <a:endParaRPr lang="en-US" dirty="0" smtClean="0">
              <a:solidFill>
                <a:schemeClr val="tx1"/>
              </a:solidFill>
              <a:ea typeface="Calibri"/>
              <a:cs typeface="Times New Roman"/>
            </a:endParaRPr>
          </a:p>
          <a:p>
            <a:pPr algn="l">
              <a:spcBef>
                <a:spcPts val="0"/>
              </a:spcBef>
            </a:pPr>
            <a:r>
              <a:rPr lang="en-US" i="1" dirty="0" smtClean="0">
                <a:solidFill>
                  <a:schemeClr val="tx1"/>
                </a:solidFill>
                <a:ea typeface="Calibri"/>
                <a:cs typeface="Times New Roman"/>
              </a:rPr>
              <a:t>Lower </a:t>
            </a:r>
            <a:r>
              <a:rPr lang="en-US" i="1" dirty="0">
                <a:solidFill>
                  <a:schemeClr val="tx1"/>
                </a:solidFill>
                <a:ea typeface="Calibri"/>
                <a:cs typeface="Times New Roman"/>
              </a:rPr>
              <a:t>Sub Layer</a:t>
            </a:r>
            <a:r>
              <a:rPr lang="en-US" dirty="0">
                <a:solidFill>
                  <a:schemeClr val="tx1"/>
                </a:solidFill>
                <a:ea typeface="Calibri"/>
                <a:cs typeface="Times New Roman"/>
              </a:rPr>
              <a:t> </a:t>
            </a:r>
            <a:r>
              <a:rPr lang="en-US" dirty="0" smtClean="0">
                <a:solidFill>
                  <a:schemeClr val="tx1"/>
                </a:solidFill>
                <a:ea typeface="Calibri"/>
                <a:cs typeface="Times New Roman"/>
              </a:rPr>
              <a:t>(MAC)-  </a:t>
            </a:r>
            <a:r>
              <a:rPr lang="en-US" dirty="0">
                <a:solidFill>
                  <a:schemeClr val="tx1"/>
                </a:solidFill>
                <a:ea typeface="Calibri"/>
                <a:cs typeface="Times New Roman"/>
              </a:rPr>
              <a:t>it is responsible for resolving Access to shared media.  (  if the channel is dedicated; we do not need lower sub-Layer).</a:t>
            </a:r>
          </a:p>
          <a:p>
            <a:pPr algn="l">
              <a:spcBef>
                <a:spcPts val="0"/>
              </a:spcBef>
            </a:pPr>
            <a:r>
              <a:rPr lang="en-US" dirty="0">
                <a:solidFill>
                  <a:schemeClr val="tx1"/>
                </a:solidFill>
                <a:ea typeface="Calibri"/>
                <a:cs typeface="Times New Roman"/>
              </a:rPr>
              <a:t> </a:t>
            </a:r>
          </a:p>
          <a:p>
            <a:pPr marL="457200" indent="-457200" algn="l">
              <a:spcBef>
                <a:spcPts val="0"/>
              </a:spcBef>
              <a:buFont typeface="Arial" pitchFamily="34" charset="0"/>
              <a:buChar char="•"/>
            </a:pPr>
            <a:r>
              <a:rPr lang="en-US" dirty="0">
                <a:solidFill>
                  <a:schemeClr val="tx1"/>
                </a:solidFill>
                <a:ea typeface="Calibri"/>
                <a:cs typeface="Times New Roman"/>
              </a:rPr>
              <a:t>Responsibility of Data Link Control </a:t>
            </a:r>
            <a:r>
              <a:rPr lang="en-US" dirty="0">
                <a:solidFill>
                  <a:schemeClr val="tx1"/>
                </a:solidFill>
                <a:ea typeface="Calibri"/>
                <a:cs typeface="Times New Roman"/>
                <a:sym typeface="Wingdings"/>
              </a:rPr>
              <a:t></a:t>
            </a:r>
            <a:r>
              <a:rPr lang="en-US" dirty="0">
                <a:solidFill>
                  <a:schemeClr val="tx1"/>
                </a:solidFill>
                <a:ea typeface="Calibri"/>
                <a:cs typeface="Times New Roman"/>
              </a:rPr>
              <a:t> for Flow and Error control.  (LLC).</a:t>
            </a:r>
          </a:p>
          <a:p>
            <a:pPr marL="457200" indent="-457200" algn="l">
              <a:spcBef>
                <a:spcPts val="0"/>
              </a:spcBef>
              <a:buFont typeface="Arial" pitchFamily="34" charset="0"/>
              <a:buChar char="•"/>
            </a:pPr>
            <a:r>
              <a:rPr lang="en-US" dirty="0">
                <a:solidFill>
                  <a:schemeClr val="tx1"/>
                </a:solidFill>
                <a:ea typeface="Calibri"/>
                <a:cs typeface="Times New Roman"/>
              </a:rPr>
              <a:t>Responsibility of Access resolution </a:t>
            </a:r>
            <a:r>
              <a:rPr lang="en-US" dirty="0">
                <a:solidFill>
                  <a:schemeClr val="tx1"/>
                </a:solidFill>
                <a:ea typeface="Calibri"/>
                <a:cs typeface="Times New Roman"/>
                <a:sym typeface="Wingdings"/>
              </a:rPr>
              <a:t></a:t>
            </a:r>
            <a:r>
              <a:rPr lang="en-US" dirty="0">
                <a:solidFill>
                  <a:schemeClr val="tx1"/>
                </a:solidFill>
                <a:ea typeface="Calibri"/>
                <a:cs typeface="Times New Roman"/>
              </a:rPr>
              <a:t> Multiple Access resolution. ( called MAC layer).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533400"/>
            <a:ext cx="18383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4162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 calcmode="lin" valueType="num">
                                      <p:cBhvr additive="base">
                                        <p:cTn id="43"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9" end="9"/>
                                            </p:txEl>
                                          </p:spTgt>
                                        </p:tgtEl>
                                        <p:attrNameLst>
                                          <p:attrName>style.visibility</p:attrName>
                                        </p:attrNameLst>
                                      </p:cBhvr>
                                      <p:to>
                                        <p:strVal val="visible"/>
                                      </p:to>
                                    </p:set>
                                    <p:anim calcmode="lin" valueType="num">
                                      <p:cBhvr additive="base">
                                        <p:cTn id="49"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marL="457200" indent="-457200" algn="l">
              <a:spcBef>
                <a:spcPts val="0"/>
              </a:spcBef>
              <a:buFont typeface="Arial" pitchFamily="34" charset="0"/>
              <a:buChar char="•"/>
            </a:pPr>
            <a:r>
              <a:rPr lang="en-US" dirty="0">
                <a:solidFill>
                  <a:schemeClr val="tx1"/>
                </a:solidFill>
                <a:ea typeface="Calibri"/>
                <a:cs typeface="Times New Roman"/>
              </a:rPr>
              <a:t>Nodes or stations are connected, and use a common link, called a “ </a:t>
            </a:r>
            <a:r>
              <a:rPr lang="en-US" b="1" dirty="0">
                <a:solidFill>
                  <a:schemeClr val="tx1"/>
                </a:solidFill>
                <a:ea typeface="Calibri"/>
                <a:cs typeface="Times New Roman"/>
              </a:rPr>
              <a:t>Multi-point</a:t>
            </a:r>
            <a:r>
              <a:rPr lang="en-US" dirty="0">
                <a:solidFill>
                  <a:schemeClr val="tx1"/>
                </a:solidFill>
                <a:ea typeface="Calibri"/>
                <a:cs typeface="Times New Roman"/>
              </a:rPr>
              <a:t> “ or “ </a:t>
            </a:r>
            <a:r>
              <a:rPr lang="en-US" b="1" dirty="0">
                <a:solidFill>
                  <a:schemeClr val="tx1"/>
                </a:solidFill>
                <a:ea typeface="Calibri"/>
                <a:cs typeface="Times New Roman"/>
              </a:rPr>
              <a:t>Broadcast Link </a:t>
            </a:r>
            <a:r>
              <a:rPr lang="en-US" dirty="0">
                <a:solidFill>
                  <a:schemeClr val="tx1"/>
                </a:solidFill>
                <a:ea typeface="Calibri"/>
                <a:cs typeface="Times New Roman"/>
              </a:rPr>
              <a:t>“.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So </a:t>
            </a:r>
            <a:r>
              <a:rPr lang="en-US" dirty="0">
                <a:solidFill>
                  <a:schemeClr val="tx1"/>
                </a:solidFill>
                <a:ea typeface="Calibri"/>
                <a:cs typeface="Times New Roman"/>
              </a:rPr>
              <a:t>we need multiple access </a:t>
            </a:r>
            <a:r>
              <a:rPr lang="en-US" dirty="0" smtClean="0">
                <a:solidFill>
                  <a:schemeClr val="tx1"/>
                </a:solidFill>
                <a:ea typeface="Calibri"/>
                <a:cs typeface="Times New Roman"/>
              </a:rPr>
              <a:t>protocols </a:t>
            </a:r>
            <a:r>
              <a:rPr lang="en-US" dirty="0">
                <a:solidFill>
                  <a:schemeClr val="tx1"/>
                </a:solidFill>
                <a:ea typeface="Calibri"/>
                <a:cs typeface="Times New Roman"/>
              </a:rPr>
              <a:t>to co-ordinate access to the link.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Controlling </a:t>
            </a:r>
            <a:r>
              <a:rPr lang="en-US" dirty="0">
                <a:solidFill>
                  <a:schemeClr val="tx1"/>
                </a:solidFill>
                <a:ea typeface="Calibri"/>
                <a:cs typeface="Times New Roman"/>
              </a:rPr>
              <a:t>the access to the medium is </a:t>
            </a:r>
            <a:r>
              <a:rPr lang="en-US" dirty="0" smtClean="0">
                <a:solidFill>
                  <a:schemeClr val="tx1"/>
                </a:solidFill>
                <a:ea typeface="Calibri"/>
                <a:cs typeface="Times New Roman"/>
              </a:rPr>
              <a:t>analogous to </a:t>
            </a:r>
            <a:r>
              <a:rPr lang="en-US" dirty="0">
                <a:solidFill>
                  <a:schemeClr val="tx1"/>
                </a:solidFill>
                <a:ea typeface="Calibri"/>
                <a:cs typeface="Times New Roman"/>
              </a:rPr>
              <a:t>the </a:t>
            </a:r>
            <a:r>
              <a:rPr lang="en-US" dirty="0" smtClean="0">
                <a:solidFill>
                  <a:schemeClr val="tx1"/>
                </a:solidFill>
                <a:ea typeface="Calibri"/>
                <a:cs typeface="Times New Roman"/>
              </a:rPr>
              <a:t>rules of speaking in an assembly:</a:t>
            </a:r>
          </a:p>
          <a:p>
            <a:pPr marL="914400" lvl="1" indent="-457200" algn="l">
              <a:spcBef>
                <a:spcPts val="0"/>
              </a:spcBef>
              <a:buFont typeface="Arial" pitchFamily="34" charset="0"/>
              <a:buChar char="•"/>
            </a:pPr>
            <a:r>
              <a:rPr lang="en-US" dirty="0" smtClean="0">
                <a:solidFill>
                  <a:schemeClr val="tx1"/>
                </a:solidFill>
                <a:ea typeface="Calibri"/>
                <a:cs typeface="Times New Roman"/>
              </a:rPr>
              <a:t>Everyone has right to speak</a:t>
            </a:r>
            <a:endParaRPr lang="en-US" dirty="0">
              <a:solidFill>
                <a:schemeClr val="tx1"/>
              </a:solidFill>
              <a:ea typeface="Calibri"/>
              <a:cs typeface="Times New Roman"/>
            </a:endParaRPr>
          </a:p>
          <a:p>
            <a:pPr marL="914400" lvl="1" indent="-457200" algn="l">
              <a:spcBef>
                <a:spcPts val="0"/>
              </a:spcBef>
              <a:buFont typeface="Arial" pitchFamily="34" charset="0"/>
              <a:buChar char="•"/>
            </a:pPr>
            <a:r>
              <a:rPr lang="en-US" dirty="0" smtClean="0">
                <a:solidFill>
                  <a:schemeClr val="tx1"/>
                </a:solidFill>
                <a:ea typeface="Calibri"/>
                <a:cs typeface="Times New Roman"/>
              </a:rPr>
              <a:t>two </a:t>
            </a:r>
            <a:r>
              <a:rPr lang="en-US" dirty="0">
                <a:solidFill>
                  <a:schemeClr val="tx1"/>
                </a:solidFill>
                <a:ea typeface="Calibri"/>
                <a:cs typeface="Times New Roman"/>
              </a:rPr>
              <a:t>people cannot speak at same </a:t>
            </a:r>
            <a:r>
              <a:rPr lang="en-US" dirty="0" smtClean="0">
                <a:solidFill>
                  <a:schemeClr val="tx1"/>
                </a:solidFill>
                <a:ea typeface="Calibri"/>
                <a:cs typeface="Times New Roman"/>
              </a:rPr>
              <a:t>time</a:t>
            </a:r>
          </a:p>
          <a:p>
            <a:pPr marL="914400" lvl="1" indent="-457200" algn="l">
              <a:spcBef>
                <a:spcPts val="0"/>
              </a:spcBef>
              <a:buFont typeface="Arial" pitchFamily="34" charset="0"/>
              <a:buChar char="•"/>
            </a:pPr>
            <a:r>
              <a:rPr lang="en-US" dirty="0" smtClean="0">
                <a:solidFill>
                  <a:schemeClr val="tx1"/>
                </a:solidFill>
                <a:ea typeface="Calibri"/>
                <a:cs typeface="Times New Roman"/>
              </a:rPr>
              <a:t> </a:t>
            </a:r>
            <a:r>
              <a:rPr lang="en-US" dirty="0">
                <a:solidFill>
                  <a:schemeClr val="tx1"/>
                </a:solidFill>
                <a:ea typeface="Calibri"/>
                <a:cs typeface="Times New Roman"/>
              </a:rPr>
              <a:t>do not interrupt each </a:t>
            </a:r>
            <a:r>
              <a:rPr lang="en-US" dirty="0" smtClean="0">
                <a:solidFill>
                  <a:schemeClr val="tx1"/>
                </a:solidFill>
                <a:ea typeface="Calibri"/>
                <a:cs typeface="Times New Roman"/>
              </a:rPr>
              <a:t>other</a:t>
            </a:r>
          </a:p>
          <a:p>
            <a:pPr marL="914400" lvl="1" indent="-457200" algn="l">
              <a:spcBef>
                <a:spcPts val="0"/>
              </a:spcBef>
              <a:buFont typeface="Arial" pitchFamily="34" charset="0"/>
              <a:buChar char="•"/>
            </a:pPr>
            <a:r>
              <a:rPr lang="en-US" dirty="0" smtClean="0">
                <a:solidFill>
                  <a:schemeClr val="tx1"/>
                </a:solidFill>
                <a:ea typeface="Calibri"/>
                <a:cs typeface="Times New Roman"/>
              </a:rPr>
              <a:t> </a:t>
            </a:r>
            <a:r>
              <a:rPr lang="en-US" dirty="0">
                <a:solidFill>
                  <a:schemeClr val="tx1"/>
                </a:solidFill>
                <a:ea typeface="Calibri"/>
                <a:cs typeface="Times New Roman"/>
              </a:rPr>
              <a:t>do not monopolize the </a:t>
            </a:r>
            <a:r>
              <a:rPr lang="en-US" dirty="0" smtClean="0">
                <a:solidFill>
                  <a:schemeClr val="tx1"/>
                </a:solidFill>
                <a:ea typeface="Calibri"/>
                <a:cs typeface="Times New Roman"/>
              </a:rPr>
              <a:t>discussion</a:t>
            </a:r>
          </a:p>
          <a:p>
            <a:pPr marL="457200" indent="-457200" algn="l">
              <a:spcBef>
                <a:spcPts val="0"/>
              </a:spcBef>
              <a:buFont typeface="Arial" pitchFamily="34" charset="0"/>
              <a:buChar char="•"/>
            </a:pPr>
            <a:r>
              <a:rPr lang="en-US" dirty="0" smtClean="0">
                <a:solidFill>
                  <a:schemeClr val="tx1"/>
                </a:solidFill>
                <a:ea typeface="Calibri"/>
                <a:cs typeface="Times New Roman"/>
              </a:rPr>
              <a:t>Many protocols are used to handle the access to the shared medium/link .All these protocols belong to the MAC </a:t>
            </a:r>
            <a:r>
              <a:rPr lang="en-US" dirty="0" err="1" smtClean="0">
                <a:solidFill>
                  <a:schemeClr val="tx1"/>
                </a:solidFill>
                <a:ea typeface="Calibri"/>
                <a:cs typeface="Times New Roman"/>
              </a:rPr>
              <a:t>sublayer</a:t>
            </a:r>
            <a:r>
              <a:rPr lang="en-US" dirty="0" smtClean="0">
                <a:solidFill>
                  <a:schemeClr val="tx1"/>
                </a:solidFill>
                <a:ea typeface="Calibri"/>
                <a:cs typeface="Times New Roman"/>
              </a:rPr>
              <a:t> in DLL.</a:t>
            </a:r>
            <a:endParaRPr lang="en-US" dirty="0">
              <a:solidFill>
                <a:schemeClr val="tx1"/>
              </a:solidFill>
              <a:ea typeface="Calibri"/>
              <a:cs typeface="Times New Roman"/>
            </a:endParaRPr>
          </a:p>
          <a:p>
            <a:pPr algn="l"/>
            <a:endParaRPr lang="en-US" dirty="0">
              <a:solidFill>
                <a:schemeClr val="tx1"/>
              </a:solidFill>
            </a:endParaRPr>
          </a:p>
        </p:txBody>
      </p:sp>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 calcmode="lin" valueType="num">
                                      <p:cBhvr additive="base">
                                        <p:cTn id="2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 calcmode="lin" valueType="num">
                                      <p:cBhvr additive="base">
                                        <p:cTn id="3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 calcmode="lin" valueType="num">
                                      <p:cBhvr additive="base">
                                        <p:cTn id="4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endParaRPr lang="en-US" dirty="0"/>
          </a:p>
        </p:txBody>
      </p:sp>
      <p:pic>
        <p:nvPicPr>
          <p:cNvPr id="3" name="Picture 2" descr="Related image"/>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229600" cy="6019799"/>
          </a:xfrm>
          <a:prstGeom prst="rect">
            <a:avLst/>
          </a:prstGeom>
          <a:noFill/>
          <a:ln>
            <a:noFill/>
          </a:ln>
        </p:spPr>
      </p:pic>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917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sz="3200" b="1">
              <a:effectLst>
                <a:outerShdw blurRad="38100" dist="38100" dir="2700000" algn="tl">
                  <a:srgbClr val="FFFFFF"/>
                </a:outerShdw>
              </a:effectLst>
              <a:latin typeface="Times New Roman" pitchFamily="18" charset="0"/>
            </a:endParaRPr>
          </a:p>
        </p:txBody>
      </p:sp>
      <p:sp>
        <p:nvSpPr>
          <p:cNvPr id="519171" name="Text Box 3"/>
          <p:cNvSpPr txBox="1">
            <a:spLocks noChangeArrowheads="1"/>
          </p:cNvSpPr>
          <p:nvPr/>
        </p:nvSpPr>
        <p:spPr bwMode="auto">
          <a:xfrm>
            <a:off x="228600" y="406400"/>
            <a:ext cx="3988592" cy="584775"/>
          </a:xfrm>
          <a:prstGeom prst="rect">
            <a:avLst/>
          </a:prstGeom>
          <a:noFill/>
          <a:ln w="9525">
            <a:noFill/>
            <a:miter lim="800000"/>
            <a:headEnd/>
            <a:tailEnd/>
          </a:ln>
          <a:effectLst/>
        </p:spPr>
        <p:txBody>
          <a:bodyPr wrap="none">
            <a:spAutoFit/>
          </a:bodyPr>
          <a:lstStyle/>
          <a:p>
            <a:pPr>
              <a:defRPr/>
            </a:pPr>
            <a:r>
              <a:rPr lang="en-US" sz="3200" b="1" dirty="0" smtClean="0">
                <a:effectLst>
                  <a:outerShdw blurRad="38100" dist="38100" dir="2700000" algn="tl">
                    <a:srgbClr val="C0C0C0"/>
                  </a:outerShdw>
                </a:effectLst>
                <a:latin typeface="Times" pitchFamily="18" charset="0"/>
              </a:rPr>
              <a:t>CHANNELIZATION</a:t>
            </a:r>
            <a:endParaRPr lang="en-US" sz="3200" b="1" dirty="0">
              <a:effectLst>
                <a:outerShdw blurRad="38100" dist="38100" dir="2700000" algn="tl">
                  <a:srgbClr val="C0C0C0"/>
                </a:outerShdw>
              </a:effectLst>
              <a:latin typeface="Times" pitchFamily="18" charset="0"/>
            </a:endParaRPr>
          </a:p>
        </p:txBody>
      </p:sp>
      <p:sp>
        <p:nvSpPr>
          <p:cNvPr id="44036"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endParaRPr lang="en-US" sz="1800" b="1">
              <a:latin typeface="Times New Roman" pitchFamily="18" charset="0"/>
            </a:endParaRPr>
          </a:p>
        </p:txBody>
      </p:sp>
      <p:sp>
        <p:nvSpPr>
          <p:cNvPr id="519173" name="Rectangle 5"/>
          <p:cNvSpPr>
            <a:spLocks noChangeArrowheads="1"/>
          </p:cNvSpPr>
          <p:nvPr/>
        </p:nvSpPr>
        <p:spPr bwMode="auto">
          <a:xfrm>
            <a:off x="304800" y="1514247"/>
            <a:ext cx="8229600" cy="2246769"/>
          </a:xfrm>
          <a:prstGeom prst="rect">
            <a:avLst/>
          </a:prstGeom>
          <a:noFill/>
          <a:ln w="9525">
            <a:noFill/>
            <a:miter lim="800000"/>
            <a:headEnd/>
            <a:tailEnd/>
          </a:ln>
          <a:effectLst/>
        </p:spPr>
        <p:txBody>
          <a:bodyPr anchor="ctr">
            <a:spAutoFit/>
          </a:bodyPr>
          <a:lstStyle/>
          <a:p>
            <a:pPr algn="just">
              <a:defRPr/>
            </a:pPr>
            <a:r>
              <a:rPr lang="en-US" sz="2800" dirty="0">
                <a:solidFill>
                  <a:schemeClr val="hlink"/>
                </a:solidFill>
                <a:latin typeface="Times New Roman" pitchFamily="18" charset="0"/>
              </a:rPr>
              <a:t>Channelization</a:t>
            </a:r>
            <a:r>
              <a:rPr lang="en-US" sz="2800" dirty="0">
                <a:latin typeface="Times New Roman" pitchFamily="18" charset="0"/>
              </a:rPr>
              <a:t> </a:t>
            </a:r>
            <a:r>
              <a:rPr lang="en-IN" sz="2800" dirty="0"/>
              <a:t>allows the total usable bandwidth in a shared channel to be shared across multiple stations based on their time, distance and codes. It can access all the stations at the same time to send the data frames to the </a:t>
            </a:r>
            <a:r>
              <a:rPr lang="en-IN" sz="2800" dirty="0" smtClean="0"/>
              <a:t>channel.</a:t>
            </a:r>
            <a:endParaRPr lang="en-US" sz="2800" dirty="0">
              <a:latin typeface="Times New Roman" pitchFamily="18" charset="0"/>
            </a:endParaRPr>
          </a:p>
        </p:txBody>
      </p:sp>
      <p:sp>
        <p:nvSpPr>
          <p:cNvPr id="44038" name="Rectangle 6"/>
          <p:cNvSpPr>
            <a:spLocks noChangeArrowheads="1"/>
          </p:cNvSpPr>
          <p:nvPr/>
        </p:nvSpPr>
        <p:spPr bwMode="auto">
          <a:xfrm>
            <a:off x="304800" y="4743450"/>
            <a:ext cx="6705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chemeClr val="tx1"/>
              </a:buClr>
              <a:buSzPct val="117000"/>
              <a:buFont typeface="Wingdings" pitchFamily="2" charset="2"/>
              <a:buNone/>
            </a:pPr>
            <a:r>
              <a:rPr lang="en-US" sz="2400" b="1">
                <a:solidFill>
                  <a:srgbClr val="0033CC"/>
                </a:solidFill>
                <a:latin typeface="Times New Roman" pitchFamily="18" charset="0"/>
              </a:rPr>
              <a:t>Frequency-Division Multiple Access (FDMA)</a:t>
            </a:r>
            <a:r>
              <a:rPr lang="fr-FR" sz="2400" b="1">
                <a:solidFill>
                  <a:srgbClr val="0033CC"/>
                </a:solidFill>
                <a:latin typeface="Times New Roman" pitchFamily="18" charset="0"/>
              </a:rPr>
              <a:t/>
            </a:r>
            <a:br>
              <a:rPr lang="fr-FR" sz="2400" b="1">
                <a:solidFill>
                  <a:srgbClr val="0033CC"/>
                </a:solidFill>
                <a:latin typeface="Times New Roman" pitchFamily="18" charset="0"/>
              </a:rPr>
            </a:br>
            <a:r>
              <a:rPr lang="fr-FR" sz="2400" b="1">
                <a:solidFill>
                  <a:srgbClr val="0033CC"/>
                </a:solidFill>
                <a:latin typeface="Times New Roman" pitchFamily="18" charset="0"/>
              </a:rPr>
              <a:t>Time-Division Multiple Access (TDMA)</a:t>
            </a:r>
          </a:p>
          <a:p>
            <a:pPr>
              <a:buClr>
                <a:schemeClr val="tx1"/>
              </a:buClr>
              <a:buSzPct val="117000"/>
              <a:buFont typeface="Wingdings" pitchFamily="2" charset="2"/>
              <a:buNone/>
            </a:pPr>
            <a:r>
              <a:rPr lang="fr-FR" sz="2400" b="1">
                <a:solidFill>
                  <a:srgbClr val="0033CC"/>
                </a:solidFill>
                <a:latin typeface="Times New Roman" pitchFamily="18" charset="0"/>
              </a:rPr>
              <a:t>Code-Division Multiple Access (CDMA)</a:t>
            </a:r>
            <a:endParaRPr lang="en-US" sz="2400" b="1">
              <a:solidFill>
                <a:srgbClr val="0033CC"/>
              </a:solidFill>
              <a:latin typeface="Times New Roman" pitchFamily="18" charset="0"/>
            </a:endParaRPr>
          </a:p>
        </p:txBody>
      </p:sp>
    </p:spTree>
    <p:extLst>
      <p:ext uri="{BB962C8B-B14F-4D97-AF65-F5344CB8AC3E}">
        <p14:creationId xmlns:p14="http://schemas.microsoft.com/office/powerpoint/2010/main" val="483405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4400" b="0" dirty="0">
                <a:effectLst/>
                <a:ea typeface="ＭＳ Ｐゴシック" charset="0"/>
              </a:rPr>
              <a:t>Channel partitioning MAC protocols: TDMA</a:t>
            </a:r>
            <a:endParaRPr lang="en-IN" b="0" dirty="0">
              <a:effectLst/>
            </a:endParaRPr>
          </a:p>
        </p:txBody>
      </p:sp>
      <p:sp>
        <p:nvSpPr>
          <p:cNvPr id="2" name="Content Placeholder 1"/>
          <p:cNvSpPr>
            <a:spLocks noGrp="1"/>
          </p:cNvSpPr>
          <p:nvPr>
            <p:ph idx="1"/>
          </p:nvPr>
        </p:nvSpPr>
        <p:spPr/>
        <p:txBody>
          <a:bodyPr/>
          <a:lstStyle/>
          <a:p>
            <a:pPr>
              <a:lnSpc>
                <a:spcPct val="75000"/>
              </a:lnSpc>
              <a:buFont typeface="Wingdings" charset="0"/>
              <a:buNone/>
              <a:defRPr/>
            </a:pPr>
            <a:r>
              <a:rPr lang="en-US" sz="2800" dirty="0">
                <a:solidFill>
                  <a:srgbClr val="CC0000"/>
                </a:solidFill>
                <a:latin typeface="Times New Roman" pitchFamily="18" charset="0"/>
                <a:ea typeface="ＭＳ Ｐゴシック" charset="0"/>
                <a:cs typeface="Times New Roman" pitchFamily="18" charset="0"/>
              </a:rPr>
              <a:t>TDMA: time division multiple access</a:t>
            </a:r>
            <a:r>
              <a:rPr lang="en-US" sz="2800" dirty="0">
                <a:latin typeface="Times New Roman" pitchFamily="18" charset="0"/>
                <a:ea typeface="ＭＳ Ｐゴシック" charset="0"/>
                <a:cs typeface="Times New Roman" pitchFamily="18" charset="0"/>
              </a:rPr>
              <a:t> </a:t>
            </a:r>
          </a:p>
          <a:p>
            <a:pPr>
              <a:lnSpc>
                <a:spcPct val="75000"/>
              </a:lnSpc>
              <a:buFont typeface="Wingdings" charset="0"/>
              <a:buChar char="v"/>
              <a:defRPr/>
            </a:pPr>
            <a:r>
              <a:rPr lang="en-US" dirty="0">
                <a:latin typeface="Times New Roman" pitchFamily="18" charset="0"/>
                <a:ea typeface="ＭＳ Ｐゴシック" charset="0"/>
                <a:cs typeface="Times New Roman" pitchFamily="18" charset="0"/>
              </a:rPr>
              <a:t>access to channel in "rounds" </a:t>
            </a:r>
          </a:p>
          <a:p>
            <a:pPr>
              <a:lnSpc>
                <a:spcPct val="75000"/>
              </a:lnSpc>
              <a:buFont typeface="Wingdings" charset="0"/>
              <a:buChar char="v"/>
              <a:defRPr/>
            </a:pPr>
            <a:r>
              <a:rPr lang="en-US" dirty="0">
                <a:latin typeface="Times New Roman" pitchFamily="18" charset="0"/>
                <a:ea typeface="ＭＳ Ｐゴシック" charset="0"/>
                <a:cs typeface="Times New Roman" pitchFamily="18" charset="0"/>
              </a:rPr>
              <a:t>each station gets fixed length slot (length = </a:t>
            </a:r>
            <a:r>
              <a:rPr lang="en-US" dirty="0" err="1">
                <a:latin typeface="Times New Roman" pitchFamily="18" charset="0"/>
                <a:ea typeface="ＭＳ Ｐゴシック" charset="0"/>
                <a:cs typeface="Times New Roman" pitchFamily="18" charset="0"/>
              </a:rPr>
              <a:t>pkt</a:t>
            </a:r>
            <a:r>
              <a:rPr lang="en-US" dirty="0">
                <a:latin typeface="Times New Roman" pitchFamily="18" charset="0"/>
                <a:ea typeface="ＭＳ Ｐゴシック" charset="0"/>
                <a:cs typeface="Times New Roman" pitchFamily="18" charset="0"/>
              </a:rPr>
              <a:t> </a:t>
            </a:r>
            <a:r>
              <a:rPr lang="en-US" dirty="0">
                <a:solidFill>
                  <a:srgbClr val="006633"/>
                </a:solidFill>
                <a:latin typeface="Times New Roman" pitchFamily="18" charset="0"/>
                <a:ea typeface="ＭＳ Ｐゴシック" charset="0"/>
                <a:cs typeface="Times New Roman" pitchFamily="18" charset="0"/>
              </a:rPr>
              <a:t>trans time</a:t>
            </a:r>
            <a:r>
              <a:rPr lang="en-US" dirty="0">
                <a:latin typeface="Times New Roman" pitchFamily="18" charset="0"/>
                <a:ea typeface="ＭＳ Ｐゴシック" charset="0"/>
                <a:cs typeface="Times New Roman" pitchFamily="18" charset="0"/>
              </a:rPr>
              <a:t>) in each round </a:t>
            </a:r>
          </a:p>
          <a:p>
            <a:pPr>
              <a:lnSpc>
                <a:spcPct val="75000"/>
              </a:lnSpc>
              <a:buFont typeface="Wingdings" charset="0"/>
              <a:buChar char="v"/>
              <a:defRPr/>
            </a:pPr>
            <a:r>
              <a:rPr lang="en-US" dirty="0">
                <a:solidFill>
                  <a:srgbClr val="0000FF"/>
                </a:solidFill>
                <a:latin typeface="Times New Roman" pitchFamily="18" charset="0"/>
                <a:ea typeface="ＭＳ Ｐゴシック" charset="0"/>
                <a:cs typeface="Times New Roman" pitchFamily="18" charset="0"/>
              </a:rPr>
              <a:t>unused slots go idle </a:t>
            </a:r>
          </a:p>
          <a:p>
            <a:pPr>
              <a:lnSpc>
                <a:spcPct val="75000"/>
              </a:lnSpc>
              <a:buFont typeface="Wingdings" charset="0"/>
              <a:buChar char="v"/>
              <a:defRPr/>
            </a:pPr>
            <a:r>
              <a:rPr lang="en-US" dirty="0">
                <a:latin typeface="Times New Roman" pitchFamily="18" charset="0"/>
                <a:ea typeface="ＭＳ Ｐゴシック" charset="0"/>
                <a:cs typeface="Times New Roman" pitchFamily="18" charset="0"/>
              </a:rPr>
              <a:t>example: 6-station LAN, 1,3,4 have </a:t>
            </a:r>
            <a:r>
              <a:rPr lang="en-US" dirty="0" err="1">
                <a:latin typeface="Times New Roman" pitchFamily="18" charset="0"/>
                <a:ea typeface="ＭＳ Ｐゴシック" charset="0"/>
                <a:cs typeface="Times New Roman" pitchFamily="18" charset="0"/>
              </a:rPr>
              <a:t>pkt</a:t>
            </a:r>
            <a:r>
              <a:rPr lang="en-US" dirty="0">
                <a:latin typeface="Times New Roman" pitchFamily="18" charset="0"/>
                <a:ea typeface="ＭＳ Ｐゴシック" charset="0"/>
                <a:cs typeface="Times New Roman" pitchFamily="18" charset="0"/>
              </a:rPr>
              <a:t>, slots 2,5,6 idle </a:t>
            </a:r>
            <a:endParaRPr lang="en-US" sz="2800" dirty="0">
              <a:latin typeface="Times New Roman" pitchFamily="18" charset="0"/>
              <a:ea typeface="ＭＳ Ｐゴシック" charset="0"/>
              <a:cs typeface="Times New Roman" pitchFamily="18" charset="0"/>
            </a:endParaRPr>
          </a:p>
          <a:p>
            <a:endParaRPr lang="en-IN" dirty="0"/>
          </a:p>
        </p:txBody>
      </p:sp>
      <p:grpSp>
        <p:nvGrpSpPr>
          <p:cNvPr id="4" name="Group 3"/>
          <p:cNvGrpSpPr/>
          <p:nvPr/>
        </p:nvGrpSpPr>
        <p:grpSpPr>
          <a:xfrm>
            <a:off x="1052513" y="4554538"/>
            <a:ext cx="6084887" cy="962025"/>
            <a:chOff x="1052513" y="4554538"/>
            <a:chExt cx="6084887" cy="962025"/>
          </a:xfrm>
        </p:grpSpPr>
        <p:sp>
          <p:nvSpPr>
            <p:cNvPr id="5" name="Line 7"/>
            <p:cNvSpPr>
              <a:spLocks noChangeShapeType="1"/>
            </p:cNvSpPr>
            <p:nvPr/>
          </p:nvSpPr>
          <p:spPr bwMode="auto">
            <a:xfrm>
              <a:off x="1052513" y="5440363"/>
              <a:ext cx="60848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6" name="Line 13"/>
            <p:cNvSpPr>
              <a:spLocks noChangeShapeType="1"/>
            </p:cNvSpPr>
            <p:nvPr/>
          </p:nvSpPr>
          <p:spPr bwMode="auto">
            <a:xfrm>
              <a:off x="1276350" y="5100638"/>
              <a:ext cx="0" cy="3381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7" name="Text Box 23"/>
            <p:cNvSpPr txBox="1">
              <a:spLocks noChangeArrowheads="1"/>
            </p:cNvSpPr>
            <p:nvPr/>
          </p:nvSpPr>
          <p:spPr bwMode="auto">
            <a:xfrm>
              <a:off x="1374775" y="51800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1</a:t>
              </a:r>
            </a:p>
          </p:txBody>
        </p:sp>
        <p:sp>
          <p:nvSpPr>
            <p:cNvPr id="8" name="Text Box 24"/>
            <p:cNvSpPr txBox="1">
              <a:spLocks noChangeArrowheads="1"/>
            </p:cNvSpPr>
            <p:nvPr/>
          </p:nvSpPr>
          <p:spPr bwMode="auto">
            <a:xfrm>
              <a:off x="2320925" y="516572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3</a:t>
              </a:r>
            </a:p>
          </p:txBody>
        </p:sp>
        <p:sp>
          <p:nvSpPr>
            <p:cNvPr id="9" name="Text Box 25"/>
            <p:cNvSpPr txBox="1">
              <a:spLocks noChangeArrowheads="1"/>
            </p:cNvSpPr>
            <p:nvPr/>
          </p:nvSpPr>
          <p:spPr bwMode="auto">
            <a:xfrm>
              <a:off x="2786063" y="5172075"/>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4</a:t>
              </a:r>
            </a:p>
          </p:txBody>
        </p:sp>
        <p:sp>
          <p:nvSpPr>
            <p:cNvPr id="10" name="Line 29"/>
            <p:cNvSpPr>
              <a:spLocks noChangeShapeType="1"/>
            </p:cNvSpPr>
            <p:nvPr/>
          </p:nvSpPr>
          <p:spPr bwMode="auto">
            <a:xfrm>
              <a:off x="4133850" y="5095875"/>
              <a:ext cx="0" cy="3381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1" name="Text Box 30"/>
            <p:cNvSpPr txBox="1">
              <a:spLocks noChangeArrowheads="1"/>
            </p:cNvSpPr>
            <p:nvPr/>
          </p:nvSpPr>
          <p:spPr bwMode="auto">
            <a:xfrm>
              <a:off x="4232275" y="517525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1</a:t>
              </a:r>
            </a:p>
          </p:txBody>
        </p:sp>
        <p:sp>
          <p:nvSpPr>
            <p:cNvPr id="12" name="Text Box 31"/>
            <p:cNvSpPr txBox="1">
              <a:spLocks noChangeArrowheads="1"/>
            </p:cNvSpPr>
            <p:nvPr/>
          </p:nvSpPr>
          <p:spPr bwMode="auto">
            <a:xfrm>
              <a:off x="5178425" y="516096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3</a:t>
              </a:r>
            </a:p>
          </p:txBody>
        </p:sp>
        <p:sp>
          <p:nvSpPr>
            <p:cNvPr id="13" name="Text Box 32"/>
            <p:cNvSpPr txBox="1">
              <a:spLocks noChangeArrowheads="1"/>
            </p:cNvSpPr>
            <p:nvPr/>
          </p:nvSpPr>
          <p:spPr bwMode="auto">
            <a:xfrm>
              <a:off x="5643563" y="5167313"/>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4</a:t>
              </a:r>
            </a:p>
          </p:txBody>
        </p:sp>
        <p:sp>
          <p:nvSpPr>
            <p:cNvPr id="14" name="Line 34"/>
            <p:cNvSpPr>
              <a:spLocks noChangeShapeType="1"/>
            </p:cNvSpPr>
            <p:nvPr/>
          </p:nvSpPr>
          <p:spPr bwMode="auto">
            <a:xfrm>
              <a:off x="175736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5" name="Line 35"/>
            <p:cNvSpPr>
              <a:spLocks noChangeShapeType="1"/>
            </p:cNvSpPr>
            <p:nvPr/>
          </p:nvSpPr>
          <p:spPr bwMode="auto">
            <a:xfrm>
              <a:off x="2233613" y="5210175"/>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6" name="Line 37"/>
            <p:cNvSpPr>
              <a:spLocks noChangeShapeType="1"/>
            </p:cNvSpPr>
            <p:nvPr/>
          </p:nvSpPr>
          <p:spPr bwMode="auto">
            <a:xfrm>
              <a:off x="3186113" y="5210175"/>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7" name="Line 38"/>
            <p:cNvSpPr>
              <a:spLocks noChangeShapeType="1"/>
            </p:cNvSpPr>
            <p:nvPr/>
          </p:nvSpPr>
          <p:spPr bwMode="auto">
            <a:xfrm>
              <a:off x="3667125" y="5200650"/>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8" name="Line 39"/>
            <p:cNvSpPr>
              <a:spLocks noChangeShapeType="1"/>
            </p:cNvSpPr>
            <p:nvPr/>
          </p:nvSpPr>
          <p:spPr bwMode="auto">
            <a:xfrm>
              <a:off x="461486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19" name="Line 40"/>
            <p:cNvSpPr>
              <a:spLocks noChangeShapeType="1"/>
            </p:cNvSpPr>
            <p:nvPr/>
          </p:nvSpPr>
          <p:spPr bwMode="auto">
            <a:xfrm>
              <a:off x="5562600" y="5200650"/>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0" name="Line 41"/>
            <p:cNvSpPr>
              <a:spLocks noChangeShapeType="1"/>
            </p:cNvSpPr>
            <p:nvPr/>
          </p:nvSpPr>
          <p:spPr bwMode="auto">
            <a:xfrm>
              <a:off x="6510338" y="5195888"/>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1" name="Line 42"/>
            <p:cNvSpPr>
              <a:spLocks noChangeShapeType="1"/>
            </p:cNvSpPr>
            <p:nvPr/>
          </p:nvSpPr>
          <p:spPr bwMode="auto">
            <a:xfrm>
              <a:off x="604361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2" name="Line 43"/>
            <p:cNvSpPr>
              <a:spLocks noChangeShapeType="1"/>
            </p:cNvSpPr>
            <p:nvPr/>
          </p:nvSpPr>
          <p:spPr bwMode="auto">
            <a:xfrm>
              <a:off x="6991350" y="5110163"/>
              <a:ext cx="0" cy="3381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3" name="Line 44"/>
            <p:cNvSpPr>
              <a:spLocks noChangeShapeType="1"/>
            </p:cNvSpPr>
            <p:nvPr/>
          </p:nvSpPr>
          <p:spPr bwMode="auto">
            <a:xfrm>
              <a:off x="509111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4" name="Text Box 45"/>
            <p:cNvSpPr txBox="1">
              <a:spLocks noChangeArrowheads="1"/>
            </p:cNvSpPr>
            <p:nvPr/>
          </p:nvSpPr>
          <p:spPr bwMode="auto">
            <a:xfrm>
              <a:off x="2320925" y="4581525"/>
              <a:ext cx="704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smtClean="0">
                  <a:latin typeface="Arial" charset="0"/>
                </a:rPr>
                <a:t>6-slot</a:t>
              </a:r>
            </a:p>
            <a:p>
              <a:pPr>
                <a:defRPr/>
              </a:pPr>
              <a:r>
                <a:rPr lang="en-US" sz="1600" i="0" smtClean="0">
                  <a:latin typeface="Arial" charset="0"/>
                </a:rPr>
                <a:t>frame</a:t>
              </a:r>
            </a:p>
          </p:txBody>
        </p:sp>
        <p:sp>
          <p:nvSpPr>
            <p:cNvPr id="25" name="Line 46"/>
            <p:cNvSpPr>
              <a:spLocks noChangeShapeType="1"/>
            </p:cNvSpPr>
            <p:nvPr/>
          </p:nvSpPr>
          <p:spPr bwMode="auto">
            <a:xfrm>
              <a:off x="3132138" y="4918075"/>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6" name="Line 47"/>
            <p:cNvSpPr>
              <a:spLocks noChangeShapeType="1"/>
            </p:cNvSpPr>
            <p:nvPr/>
          </p:nvSpPr>
          <p:spPr bwMode="auto">
            <a:xfrm flipH="1">
              <a:off x="1287463" y="4913313"/>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7" name="Line 48"/>
            <p:cNvSpPr>
              <a:spLocks noChangeShapeType="1"/>
            </p:cNvSpPr>
            <p:nvPr/>
          </p:nvSpPr>
          <p:spPr bwMode="auto">
            <a:xfrm>
              <a:off x="1266825" y="4826000"/>
              <a:ext cx="0" cy="304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28" name="Text Box 51"/>
            <p:cNvSpPr txBox="1">
              <a:spLocks noChangeArrowheads="1"/>
            </p:cNvSpPr>
            <p:nvPr/>
          </p:nvSpPr>
          <p:spPr bwMode="auto">
            <a:xfrm>
              <a:off x="5184775" y="4554538"/>
              <a:ext cx="704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smtClean="0">
                  <a:latin typeface="Arial" charset="0"/>
                </a:rPr>
                <a:t>6-slot</a:t>
              </a:r>
            </a:p>
            <a:p>
              <a:pPr>
                <a:defRPr/>
              </a:pPr>
              <a:r>
                <a:rPr lang="en-US" sz="1600" i="0" smtClean="0">
                  <a:latin typeface="Arial" charset="0"/>
                </a:rPr>
                <a:t>frame</a:t>
              </a:r>
            </a:p>
          </p:txBody>
        </p:sp>
        <p:sp>
          <p:nvSpPr>
            <p:cNvPr id="29" name="Line 52"/>
            <p:cNvSpPr>
              <a:spLocks noChangeShapeType="1"/>
            </p:cNvSpPr>
            <p:nvPr/>
          </p:nvSpPr>
          <p:spPr bwMode="auto">
            <a:xfrm>
              <a:off x="5995988" y="4924425"/>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sp>
          <p:nvSpPr>
            <p:cNvPr id="30" name="Line 53"/>
            <p:cNvSpPr>
              <a:spLocks noChangeShapeType="1"/>
            </p:cNvSpPr>
            <p:nvPr/>
          </p:nvSpPr>
          <p:spPr bwMode="auto">
            <a:xfrm flipH="1">
              <a:off x="4151313" y="4919663"/>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a:latin typeface="Comic Sans MS" charset="0"/>
                <a:ea typeface="ＭＳ Ｐゴシック" charset="0"/>
              </a:endParaRPr>
            </a:p>
          </p:txBody>
        </p:sp>
      </p:grpSp>
      <p:sp>
        <p:nvSpPr>
          <p:cNvPr id="31" name="Text Box 23"/>
          <p:cNvSpPr txBox="1">
            <a:spLocks noChangeArrowheads="1"/>
          </p:cNvSpPr>
          <p:nvPr/>
        </p:nvSpPr>
        <p:spPr bwMode="auto">
          <a:xfrm>
            <a:off x="1527175" y="53324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smtClean="0">
                <a:solidFill>
                  <a:schemeClr val="bg1"/>
                </a:solidFill>
                <a:latin typeface="Arial" charset="0"/>
              </a:rPr>
              <a:t>1</a:t>
            </a:r>
          </a:p>
        </p:txBody>
      </p:sp>
      <p:sp>
        <p:nvSpPr>
          <p:cNvPr id="32" name="Text Box 24"/>
          <p:cNvSpPr txBox="1">
            <a:spLocks noChangeArrowheads="1"/>
          </p:cNvSpPr>
          <p:nvPr/>
        </p:nvSpPr>
        <p:spPr bwMode="auto">
          <a:xfrm>
            <a:off x="2473325" y="531812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3</a:t>
            </a:r>
          </a:p>
        </p:txBody>
      </p:sp>
      <p:sp>
        <p:nvSpPr>
          <p:cNvPr id="33" name="Text Box 25"/>
          <p:cNvSpPr txBox="1">
            <a:spLocks noChangeArrowheads="1"/>
          </p:cNvSpPr>
          <p:nvPr/>
        </p:nvSpPr>
        <p:spPr bwMode="auto">
          <a:xfrm>
            <a:off x="2938463" y="5324475"/>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4</a:t>
            </a:r>
          </a:p>
        </p:txBody>
      </p:sp>
      <p:sp>
        <p:nvSpPr>
          <p:cNvPr id="34" name="Text Box 30"/>
          <p:cNvSpPr txBox="1">
            <a:spLocks noChangeArrowheads="1"/>
          </p:cNvSpPr>
          <p:nvPr/>
        </p:nvSpPr>
        <p:spPr bwMode="auto">
          <a:xfrm>
            <a:off x="4384675" y="532765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1</a:t>
            </a:r>
          </a:p>
        </p:txBody>
      </p:sp>
      <p:sp>
        <p:nvSpPr>
          <p:cNvPr id="35" name="Text Box 31"/>
          <p:cNvSpPr txBox="1">
            <a:spLocks noChangeArrowheads="1"/>
          </p:cNvSpPr>
          <p:nvPr/>
        </p:nvSpPr>
        <p:spPr bwMode="auto">
          <a:xfrm>
            <a:off x="5330825" y="531336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3</a:t>
            </a:r>
          </a:p>
        </p:txBody>
      </p:sp>
      <p:sp>
        <p:nvSpPr>
          <p:cNvPr id="36" name="Text Box 32"/>
          <p:cNvSpPr txBox="1">
            <a:spLocks noChangeArrowheads="1"/>
          </p:cNvSpPr>
          <p:nvPr/>
        </p:nvSpPr>
        <p:spPr bwMode="auto">
          <a:xfrm>
            <a:off x="5795963" y="5319713"/>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smtClean="0">
                <a:solidFill>
                  <a:schemeClr val="bg1"/>
                </a:solidFill>
                <a:latin typeface="Arial" charset="0"/>
              </a:rPr>
              <a:t>4</a:t>
            </a:r>
          </a:p>
        </p:txBody>
      </p:sp>
    </p:spTree>
    <p:extLst>
      <p:ext uri="{BB962C8B-B14F-4D97-AF65-F5344CB8AC3E}">
        <p14:creationId xmlns:p14="http://schemas.microsoft.com/office/powerpoint/2010/main" val="302125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Time </a:t>
            </a:r>
            <a:r>
              <a:rPr lang="en-IN" dirty="0" smtClean="0"/>
              <a:t>Division Multiple Access </a:t>
            </a:r>
            <a:r>
              <a:rPr lang="en-IN" dirty="0"/>
              <a:t>(TDMA)</a:t>
            </a:r>
            <a:br>
              <a:rPr lang="en-IN" dirty="0"/>
            </a:br>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1143000"/>
            <a:ext cx="6401368" cy="51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09513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Line 2"/>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07" name="Line 3"/>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08" name="Text Box 4"/>
          <p:cNvSpPr txBox="1">
            <a:spLocks noChangeArrowheads="1"/>
          </p:cNvSpPr>
          <p:nvPr/>
        </p:nvSpPr>
        <p:spPr bwMode="auto">
          <a:xfrm>
            <a:off x="304800" y="381000"/>
            <a:ext cx="4262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r>
              <a:rPr lang="en-US" b="1" i="1" dirty="0" smtClean="0">
                <a:latin typeface="Times New Roman" pitchFamily="18" charset="0"/>
              </a:rPr>
              <a:t>Time-division </a:t>
            </a:r>
            <a:r>
              <a:rPr lang="en-US" b="1" i="1" dirty="0">
                <a:latin typeface="Times New Roman" pitchFamily="18" charset="0"/>
              </a:rPr>
              <a:t>multiple access (TDMA)</a:t>
            </a:r>
          </a:p>
        </p:txBody>
      </p:sp>
      <p:sp>
        <p:nvSpPr>
          <p:cNvPr id="47109"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471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43013"/>
            <a:ext cx="7212013"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079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1143000"/>
          </a:xfrm>
        </p:spPr>
        <p:txBody>
          <a:bodyPr>
            <a:noAutofit/>
          </a:bodyPr>
          <a:lstStyle/>
          <a:p>
            <a:r>
              <a:rPr lang="en-US" sz="3600" dirty="0"/>
              <a:t>Frequency </a:t>
            </a:r>
            <a:r>
              <a:rPr lang="en-US" sz="3600" dirty="0" smtClean="0"/>
              <a:t>Division Multiple Access </a:t>
            </a:r>
            <a:r>
              <a:rPr lang="en-US" sz="3600" dirty="0"/>
              <a:t>(FDMA)</a:t>
            </a:r>
            <a:br>
              <a:rPr lang="en-US" sz="3600" dirty="0"/>
            </a:br>
            <a:endParaRPr lang="en-IN" sz="3600" dirty="0"/>
          </a:p>
        </p:txBody>
      </p:sp>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219200"/>
            <a:ext cx="7391400" cy="5206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8601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Line 2"/>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59" name="Line 3"/>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60" name="Text Box 4"/>
          <p:cNvSpPr txBox="1">
            <a:spLocks noChangeArrowheads="1"/>
          </p:cNvSpPr>
          <p:nvPr/>
        </p:nvSpPr>
        <p:spPr bwMode="auto">
          <a:xfrm>
            <a:off x="304800" y="381000"/>
            <a:ext cx="50401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r>
              <a:rPr lang="en-US" sz="2400" b="1" dirty="0" smtClean="0">
                <a:solidFill>
                  <a:schemeClr val="folHlink"/>
                </a:solidFill>
                <a:latin typeface="Times New Roman" pitchFamily="18" charset="0"/>
              </a:rPr>
              <a:t>  </a:t>
            </a:r>
            <a:r>
              <a:rPr lang="en-US" b="1" i="1" dirty="0">
                <a:latin typeface="Times New Roman" pitchFamily="18" charset="0"/>
              </a:rPr>
              <a:t>Frequency-division multiple access (FDMA)</a:t>
            </a:r>
          </a:p>
        </p:txBody>
      </p:sp>
      <p:sp>
        <p:nvSpPr>
          <p:cNvPr id="45061"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450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788" y="1231900"/>
            <a:ext cx="7212012"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84740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IN" dirty="0" smtClean="0"/>
              <a:t>Code Division Multiple Access(CDMA)</a:t>
            </a:r>
            <a:endParaRPr lang="en-IN" dirty="0"/>
          </a:p>
        </p:txBody>
      </p:sp>
      <p:sp>
        <p:nvSpPr>
          <p:cNvPr id="3" name="Content Placeholder 2"/>
          <p:cNvSpPr>
            <a:spLocks noGrp="1"/>
          </p:cNvSpPr>
          <p:nvPr>
            <p:ph idx="1"/>
          </p:nvPr>
        </p:nvSpPr>
        <p:spPr/>
        <p:txBody>
          <a:bodyPr/>
          <a:lstStyle/>
          <a:p>
            <a:endParaRPr lang="en-IN"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133600"/>
            <a:ext cx="8596313" cy="3333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4082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Line 2"/>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0" name="Line 3"/>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0181" name="Text Box 4"/>
          <p:cNvSpPr txBox="1">
            <a:spLocks noChangeArrowheads="1"/>
          </p:cNvSpPr>
          <p:nvPr/>
        </p:nvSpPr>
        <p:spPr bwMode="auto">
          <a:xfrm>
            <a:off x="304800" y="381000"/>
            <a:ext cx="48515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r>
              <a:rPr lang="en-US" sz="2400" dirty="0" smtClean="0">
                <a:solidFill>
                  <a:schemeClr val="folHlink"/>
                </a:solidFill>
              </a:rPr>
              <a:t> </a:t>
            </a:r>
            <a:r>
              <a:rPr lang="en-US" dirty="0"/>
              <a:t>Simple idea of communication with code</a:t>
            </a:r>
          </a:p>
        </p:txBody>
      </p:sp>
      <p:sp>
        <p:nvSpPr>
          <p:cNvPr id="50182" name="Line 5"/>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5018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1338263"/>
            <a:ext cx="7258050" cy="43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240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fontScale="90000"/>
          </a:bodyPr>
          <a:lstStyle/>
          <a:p>
            <a:r>
              <a:rPr lang="en-US" b="1" dirty="0" smtClean="0"/>
              <a:t/>
            </a:r>
            <a:br>
              <a:rPr lang="en-US" b="1" dirty="0" smtClean="0"/>
            </a:br>
            <a:r>
              <a:rPr lang="en-US" b="1" dirty="0" smtClean="0"/>
              <a:t>Controlled Access Protocols:</a:t>
            </a:r>
            <a:br>
              <a:rPr lang="en-US" b="1" dirty="0" smtClean="0"/>
            </a:br>
            <a:endParaRPr lang="en-US"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327275" y="3282156"/>
            <a:ext cx="4489450"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28600" y="609600"/>
            <a:ext cx="8534399" cy="6001643"/>
          </a:xfrm>
          <a:prstGeom prst="rect">
            <a:avLst/>
          </a:prstGeom>
        </p:spPr>
        <p:txBody>
          <a:bodyPr wrap="square">
            <a:spAutoFit/>
          </a:bodyPr>
          <a:lstStyle/>
          <a:p>
            <a:r>
              <a:rPr lang="en-US" sz="2400" b="1" dirty="0" smtClean="0"/>
              <a:t>In Controlled access , the stations consult one another to find which station has the right to send . A station can not send unless it has been authorized by other stations.  </a:t>
            </a:r>
          </a:p>
          <a:p>
            <a:r>
              <a:rPr lang="en-US" sz="2400" b="1" dirty="0" smtClean="0"/>
              <a:t> The  three </a:t>
            </a:r>
            <a:r>
              <a:rPr lang="en-US" sz="2400" b="1" dirty="0"/>
              <a:t>C</a:t>
            </a:r>
            <a:r>
              <a:rPr lang="en-US" sz="2400" b="1" dirty="0" smtClean="0"/>
              <a:t>ontrolled Access protocols are :</a:t>
            </a:r>
          </a:p>
          <a:p>
            <a:r>
              <a:rPr lang="en-US" sz="2400" b="1" dirty="0" smtClean="0"/>
              <a:t>Reservation , Polling  and Token Passing</a:t>
            </a:r>
          </a:p>
          <a:p>
            <a:pPr marL="457200" indent="-457200">
              <a:buAutoNum type="arabicPeriod"/>
            </a:pPr>
            <a:r>
              <a:rPr lang="en-US" sz="2400" b="1" dirty="0" smtClean="0"/>
              <a:t>Reservation </a:t>
            </a:r>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r>
              <a:rPr lang="en-IN" sz="2400" dirty="0" smtClean="0"/>
              <a:t>In </a:t>
            </a:r>
            <a:r>
              <a:rPr lang="en-IN" sz="2400" dirty="0"/>
              <a:t>the reservation method, a station needs to make a reservation before sending data.</a:t>
            </a:r>
          </a:p>
          <a:p>
            <a:pPr fontAlgn="base"/>
            <a:r>
              <a:rPr lang="en-IN" sz="2400" dirty="0"/>
              <a:t>The time line has two kinds of periods:</a:t>
            </a:r>
          </a:p>
          <a:p>
            <a:pPr lvl="1" fontAlgn="base"/>
            <a:r>
              <a:rPr lang="en-IN" sz="2400" dirty="0" smtClean="0"/>
              <a:t>i)Reservation </a:t>
            </a:r>
            <a:r>
              <a:rPr lang="en-IN" sz="2400" dirty="0"/>
              <a:t>interval of fixed time length</a:t>
            </a:r>
          </a:p>
          <a:p>
            <a:pPr lvl="1" fontAlgn="base"/>
            <a:r>
              <a:rPr lang="en-IN" sz="2400" dirty="0" smtClean="0"/>
              <a:t>ii)Data </a:t>
            </a:r>
            <a:r>
              <a:rPr lang="en-IN" sz="2400" dirty="0"/>
              <a:t>transmission period of variable frames.</a:t>
            </a:r>
          </a:p>
          <a:p>
            <a:pPr marL="457200" indent="-457200">
              <a:buAutoNum type="arabicPeriod"/>
            </a:pPr>
            <a:endParaRPr lang="en-IN" sz="2400" dirty="0"/>
          </a:p>
        </p:txBody>
      </p:sp>
    </p:spTree>
    <p:extLst>
      <p:ext uri="{BB962C8B-B14F-4D97-AF65-F5344CB8AC3E}">
        <p14:creationId xmlns:p14="http://schemas.microsoft.com/office/powerpoint/2010/main" val="1064696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fontScale="90000"/>
          </a:bodyPr>
          <a:lstStyle/>
          <a:p>
            <a:r>
              <a:rPr lang="en-US" b="1" dirty="0" smtClean="0"/>
              <a:t/>
            </a:r>
            <a:br>
              <a:rPr lang="en-US" b="1" dirty="0" smtClean="0"/>
            </a:br>
            <a:r>
              <a:rPr lang="en-US" sz="3600" b="1" dirty="0" smtClean="0"/>
              <a:t>Controlled Access Protocols ..</a:t>
            </a:r>
            <a:r>
              <a:rPr lang="en-US" sz="3600" b="1" dirty="0" err="1" smtClean="0"/>
              <a:t>cntd</a:t>
            </a:r>
            <a:r>
              <a:rPr lang="en-US" sz="3600" b="1" dirty="0" smtClean="0"/>
              <a:t>..</a:t>
            </a:r>
            <a:r>
              <a:rPr lang="en-US" b="1" dirty="0" smtClean="0"/>
              <a:t/>
            </a:r>
            <a:br>
              <a:rPr lang="en-US" b="1" dirty="0" smtClean="0"/>
            </a:br>
            <a:endParaRPr lang="en-US" b="1" dirty="0"/>
          </a:p>
        </p:txBody>
      </p:sp>
      <p:sp>
        <p:nvSpPr>
          <p:cNvPr id="4" name="Content Placeholder 3"/>
          <p:cNvSpPr>
            <a:spLocks noGrp="1"/>
          </p:cNvSpPr>
          <p:nvPr>
            <p:ph idx="1"/>
          </p:nvPr>
        </p:nvSpPr>
        <p:spPr>
          <a:xfrm>
            <a:off x="457200" y="685800"/>
            <a:ext cx="8229600" cy="5440363"/>
          </a:xfrm>
        </p:spPr>
        <p:txBody>
          <a:bodyPr>
            <a:normAutofit fontScale="77500" lnSpcReduction="20000"/>
          </a:bodyPr>
          <a:lstStyle/>
          <a:p>
            <a:r>
              <a:rPr lang="en-IN" dirty="0"/>
              <a:t>If there are M stations, the reservation interval is divided into M slots, and each station has one slot</a:t>
            </a:r>
            <a:r>
              <a:rPr lang="en-IN" dirty="0" smtClean="0"/>
              <a:t>.</a:t>
            </a:r>
          </a:p>
          <a:p>
            <a:pPr fontAlgn="base"/>
            <a:r>
              <a:rPr lang="en-IN" dirty="0"/>
              <a:t>Suppose if station 1 has a frame to send, it transmits 1 bit during the slot 1. No other station is allowed to transmit during this slot.</a:t>
            </a:r>
          </a:p>
          <a:p>
            <a:pPr fontAlgn="base"/>
            <a:r>
              <a:rPr lang="en-IN" dirty="0"/>
              <a:t>In general, i </a:t>
            </a:r>
            <a:r>
              <a:rPr lang="en-IN" baseline="30000" dirty="0" err="1"/>
              <a:t>th</a:t>
            </a:r>
            <a:r>
              <a:rPr lang="en-IN" dirty="0"/>
              <a:t> station may announce that it has a frame to send by inserting a 1 bit into i </a:t>
            </a:r>
            <a:r>
              <a:rPr lang="en-IN" baseline="30000" dirty="0" err="1"/>
              <a:t>th</a:t>
            </a:r>
            <a:r>
              <a:rPr lang="en-IN" dirty="0"/>
              <a:t> slot. After all N slots have been checked, each station knows which stations wish to transmit.</a:t>
            </a:r>
          </a:p>
          <a:p>
            <a:pPr fontAlgn="base"/>
            <a:r>
              <a:rPr lang="en-IN" dirty="0"/>
              <a:t>The stations which have reserved their slots transfer their frames in that order.</a:t>
            </a:r>
          </a:p>
          <a:p>
            <a:pPr fontAlgn="base"/>
            <a:r>
              <a:rPr lang="en-IN" dirty="0"/>
              <a:t>After data transmission period, next reservation interval begins.</a:t>
            </a:r>
          </a:p>
          <a:p>
            <a:pPr fontAlgn="base"/>
            <a:r>
              <a:rPr lang="en-IN" dirty="0"/>
              <a:t>Since everyone agrees on who goes next, there will never be any collisions.</a:t>
            </a:r>
          </a:p>
          <a:p>
            <a:endParaRPr lang="en-IN" dirty="0"/>
          </a:p>
          <a:p>
            <a:endParaRPr lang="en-IN" dirty="0"/>
          </a:p>
        </p:txBody>
      </p:sp>
    </p:spTree>
    <p:extLst>
      <p:ext uri="{BB962C8B-B14F-4D97-AF65-F5344CB8AC3E}">
        <p14:creationId xmlns:p14="http://schemas.microsoft.com/office/powerpoint/2010/main" val="16644295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75144"/>
          </a:xfrm>
        </p:spPr>
        <p:txBody>
          <a:bodyPr>
            <a:normAutofit fontScale="90000"/>
          </a:bodyPr>
          <a:lstStyle/>
          <a:p>
            <a:r>
              <a:rPr lang="en-US" b="1" dirty="0" smtClean="0"/>
              <a:t>Polling</a:t>
            </a:r>
            <a:endParaRPr lang="en-US"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54300" y="3117056"/>
            <a:ext cx="3835400"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57200" y="751344"/>
            <a:ext cx="8229600" cy="5632311"/>
          </a:xfrm>
          <a:prstGeom prst="rect">
            <a:avLst/>
          </a:prstGeom>
        </p:spPr>
        <p:txBody>
          <a:bodyPr wrap="square">
            <a:spAutoFit/>
          </a:bodyPr>
          <a:lstStyle/>
          <a:p>
            <a:pPr fontAlgn="base"/>
            <a:r>
              <a:rPr lang="en-IN" sz="2400" dirty="0" smtClean="0"/>
              <a:t>In </a:t>
            </a:r>
            <a:r>
              <a:rPr lang="en-IN" sz="2400" dirty="0"/>
              <a:t>this, one </a:t>
            </a:r>
            <a:r>
              <a:rPr lang="en-IN" sz="2400" dirty="0" smtClean="0"/>
              <a:t>station acts </a:t>
            </a:r>
            <a:r>
              <a:rPr lang="en-IN" sz="2400" dirty="0"/>
              <a:t>as a primary station(controller) and the others are secondary stations. </a:t>
            </a:r>
            <a:endParaRPr lang="en-IN" sz="2400" dirty="0" smtClean="0"/>
          </a:p>
          <a:p>
            <a:pPr fontAlgn="base"/>
            <a:r>
              <a:rPr lang="en-IN" sz="2400" dirty="0" smtClean="0"/>
              <a:t>All </a:t>
            </a:r>
            <a:r>
              <a:rPr lang="en-IN" sz="2400" dirty="0"/>
              <a:t>data exchanges must be made through the controller.</a:t>
            </a:r>
          </a:p>
          <a:p>
            <a:pPr fontAlgn="base"/>
            <a:r>
              <a:rPr lang="en-IN" sz="2400" dirty="0"/>
              <a:t>The message sent by the controller contains the address of the node being selected for granting access</a:t>
            </a:r>
            <a:r>
              <a:rPr lang="en-IN" sz="2400" dirty="0" smtClean="0"/>
              <a:t>.</a:t>
            </a:r>
          </a:p>
          <a:p>
            <a:pPr fontAlgn="base"/>
            <a:endParaRPr lang="en-IN" sz="2400" dirty="0"/>
          </a:p>
          <a:p>
            <a:pPr fontAlgn="base"/>
            <a:endParaRPr lang="en-IN" sz="2400" dirty="0" smtClean="0"/>
          </a:p>
          <a:p>
            <a:pPr fontAlgn="base"/>
            <a:endParaRPr lang="en-IN" sz="2400" dirty="0"/>
          </a:p>
          <a:p>
            <a:pPr fontAlgn="base"/>
            <a:endParaRPr lang="en-IN" sz="2400" dirty="0" smtClean="0"/>
          </a:p>
          <a:p>
            <a:pPr fontAlgn="base"/>
            <a:endParaRPr lang="en-IN" sz="2400" dirty="0"/>
          </a:p>
          <a:p>
            <a:pPr fontAlgn="base"/>
            <a:r>
              <a:rPr lang="en-IN" sz="2400" dirty="0"/>
              <a:t>Although all nodes receive the message but the addressed one responds to it and sends data, if any. If there is no data, usually a “poll reject”(NAK) message is sent back.</a:t>
            </a:r>
          </a:p>
          <a:p>
            <a:pPr fontAlgn="base"/>
            <a:r>
              <a:rPr lang="en-IN" sz="2400" dirty="0"/>
              <a:t>Problems include high overhead of the polling messages and high dependence on the reliability of the controller.</a:t>
            </a:r>
          </a:p>
        </p:txBody>
      </p:sp>
    </p:spTree>
    <p:extLst>
      <p:ext uri="{BB962C8B-B14F-4D97-AF65-F5344CB8AC3E}">
        <p14:creationId xmlns:p14="http://schemas.microsoft.com/office/powerpoint/2010/main" val="19204411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b="1" dirty="0" smtClean="0"/>
              <a:t>Token Passing</a:t>
            </a:r>
            <a:endParaRPr lang="en-US" b="1" dirty="0"/>
          </a:p>
        </p:txBody>
      </p:sp>
      <p:pic>
        <p:nvPicPr>
          <p:cNvPr id="307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52400" y="2286000"/>
            <a:ext cx="3552619" cy="3124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6"/>
          <p:cNvSpPr>
            <a:spLocks noGrp="1"/>
          </p:cNvSpPr>
          <p:nvPr>
            <p:ph sz="half" idx="2"/>
          </p:nvPr>
        </p:nvSpPr>
        <p:spPr>
          <a:xfrm>
            <a:off x="4114800" y="685800"/>
            <a:ext cx="4876800" cy="6172200"/>
          </a:xfrm>
        </p:spPr>
        <p:txBody>
          <a:bodyPr>
            <a:normAutofit fontScale="92500" lnSpcReduction="20000"/>
          </a:bodyPr>
          <a:lstStyle/>
          <a:p>
            <a:pPr marL="285750" indent="-285750" fontAlgn="base"/>
            <a:r>
              <a:rPr lang="en-IN" dirty="0"/>
              <a:t>A token is passed from one station to another adjacent station in the ring .</a:t>
            </a:r>
          </a:p>
          <a:p>
            <a:pPr marL="285750" indent="-285750" fontAlgn="base"/>
            <a:r>
              <a:rPr lang="en-IN" dirty="0"/>
              <a:t>A token represents permission to send. If a station has a frame queued for transmission when it receives the token, it can send that frame before it passes the token to the next station. </a:t>
            </a:r>
          </a:p>
          <a:p>
            <a:pPr marL="285750" indent="-285750" fontAlgn="base"/>
            <a:r>
              <a:rPr lang="en-IN" dirty="0"/>
              <a:t>If it has no queued frame, it passes the token simply.</a:t>
            </a:r>
          </a:p>
          <a:p>
            <a:pPr marL="285750" indent="-285750" fontAlgn="base"/>
            <a:r>
              <a:rPr lang="en-IN" dirty="0"/>
              <a:t>After sending a frame, each station must wait for all N stations (including itself) to send the token to their neighbours and the other N – 1 stations to send a frame, if they have one.</a:t>
            </a:r>
          </a:p>
          <a:p>
            <a:pPr marL="0" indent="0">
              <a:buNone/>
            </a:pPr>
            <a:endParaRPr lang="en-IN" dirty="0"/>
          </a:p>
        </p:txBody>
      </p:sp>
    </p:spTree>
    <p:extLst>
      <p:ext uri="{BB962C8B-B14F-4D97-AF65-F5344CB8AC3E}">
        <p14:creationId xmlns:p14="http://schemas.microsoft.com/office/powerpoint/2010/main" val="23762825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686800" cy="6477000"/>
          </a:xfrm>
        </p:spPr>
        <p:txBody>
          <a:bodyPr>
            <a:normAutofit fontScale="70000" lnSpcReduction="20000"/>
          </a:bodyPr>
          <a:lstStyle/>
          <a:p>
            <a:r>
              <a:rPr lang="en-US" sz="4000" b="1" dirty="0" smtClean="0">
                <a:solidFill>
                  <a:schemeClr val="tx1"/>
                </a:solidFill>
              </a:rPr>
              <a:t>Random </a:t>
            </a:r>
            <a:r>
              <a:rPr lang="en-US" sz="4000" b="1" dirty="0">
                <a:solidFill>
                  <a:schemeClr val="tx1"/>
                </a:solidFill>
              </a:rPr>
              <a:t>Access MAC </a:t>
            </a:r>
            <a:r>
              <a:rPr lang="en-US" sz="4000" b="1" dirty="0" smtClean="0">
                <a:solidFill>
                  <a:schemeClr val="tx1"/>
                </a:solidFill>
              </a:rPr>
              <a:t>Protocols</a:t>
            </a:r>
            <a:endParaRPr lang="en-US" sz="4000" b="1" dirty="0">
              <a:solidFill>
                <a:schemeClr val="tx1"/>
              </a:solidFill>
            </a:endParaRPr>
          </a:p>
          <a:p>
            <a:pPr marL="914400" lvl="1" indent="-457200" algn="l">
              <a:buFont typeface="Arial" pitchFamily="34" charset="0"/>
              <a:buChar char="•"/>
            </a:pPr>
            <a:r>
              <a:rPr lang="en-US" sz="3400" dirty="0">
                <a:solidFill>
                  <a:schemeClr val="tx1"/>
                </a:solidFill>
              </a:rPr>
              <a:t>ALOHA</a:t>
            </a:r>
          </a:p>
          <a:p>
            <a:pPr marL="914400" lvl="1" indent="-457200" algn="l">
              <a:buFont typeface="Arial" pitchFamily="34" charset="0"/>
              <a:buChar char="•"/>
            </a:pPr>
            <a:r>
              <a:rPr lang="en-US" sz="3400" dirty="0">
                <a:solidFill>
                  <a:schemeClr val="tx1"/>
                </a:solidFill>
              </a:rPr>
              <a:t>CSMA</a:t>
            </a:r>
          </a:p>
          <a:p>
            <a:pPr marL="914400" lvl="1" indent="-457200" algn="l">
              <a:buFont typeface="Arial" pitchFamily="34" charset="0"/>
              <a:buChar char="•"/>
            </a:pPr>
            <a:r>
              <a:rPr lang="en-US" sz="3400" dirty="0">
                <a:solidFill>
                  <a:schemeClr val="tx1"/>
                </a:solidFill>
              </a:rPr>
              <a:t>CSMA/CD</a:t>
            </a:r>
          </a:p>
          <a:p>
            <a:pPr marL="914400" lvl="1" indent="-457200" algn="l">
              <a:buFont typeface="Arial" pitchFamily="34" charset="0"/>
              <a:buChar char="•"/>
            </a:pPr>
            <a:r>
              <a:rPr lang="en-US" sz="3400" dirty="0">
                <a:solidFill>
                  <a:schemeClr val="tx1"/>
                </a:solidFill>
              </a:rPr>
              <a:t>CSMA/CA</a:t>
            </a:r>
          </a:p>
          <a:p>
            <a:pPr marL="457200" indent="-457200" algn="l">
              <a:buFont typeface="Wingdings" pitchFamily="2" charset="2"/>
              <a:buChar char="Ø"/>
            </a:pPr>
            <a:r>
              <a:rPr lang="en-US" dirty="0" smtClean="0">
                <a:solidFill>
                  <a:schemeClr val="tx1"/>
                </a:solidFill>
              </a:rPr>
              <a:t>In Random Access techniques , No </a:t>
            </a:r>
            <a:r>
              <a:rPr lang="en-US" dirty="0">
                <a:solidFill>
                  <a:schemeClr val="tx1"/>
                </a:solidFill>
              </a:rPr>
              <a:t>station is superior to another station and none is assigned the control over another.  </a:t>
            </a:r>
            <a:endParaRPr lang="en-US" dirty="0" smtClean="0">
              <a:solidFill>
                <a:schemeClr val="tx1"/>
              </a:solidFill>
            </a:endParaRPr>
          </a:p>
          <a:p>
            <a:pPr marL="457200" indent="-457200" algn="l">
              <a:buFont typeface="Wingdings" pitchFamily="2" charset="2"/>
              <a:buChar char="Ø"/>
            </a:pPr>
            <a:r>
              <a:rPr lang="en-US" dirty="0" smtClean="0">
                <a:solidFill>
                  <a:schemeClr val="tx1"/>
                </a:solidFill>
              </a:rPr>
              <a:t>At </a:t>
            </a:r>
            <a:r>
              <a:rPr lang="en-US" dirty="0">
                <a:solidFill>
                  <a:schemeClr val="tx1"/>
                </a:solidFill>
              </a:rPr>
              <a:t>each instance, a station that has to send data, uses the procedures defined by protocol, and makes a decision to send or not to send the data. </a:t>
            </a:r>
            <a:endParaRPr lang="en-US" dirty="0" smtClean="0">
              <a:solidFill>
                <a:schemeClr val="tx1"/>
              </a:solidFill>
            </a:endParaRPr>
          </a:p>
          <a:p>
            <a:pPr marL="457200" indent="-457200" algn="l">
              <a:buFont typeface="Wingdings" pitchFamily="2" charset="2"/>
              <a:buChar char="Ø"/>
            </a:pPr>
            <a:r>
              <a:rPr lang="en-US" dirty="0" smtClean="0">
                <a:solidFill>
                  <a:schemeClr val="tx1"/>
                </a:solidFill>
              </a:rPr>
              <a:t> </a:t>
            </a:r>
            <a:r>
              <a:rPr lang="en-US" dirty="0">
                <a:solidFill>
                  <a:schemeClr val="tx1"/>
                </a:solidFill>
              </a:rPr>
              <a:t>This decision depends on the state of the medium. ( idle  / busy )</a:t>
            </a:r>
          </a:p>
          <a:p>
            <a:pPr algn="l"/>
            <a:r>
              <a:rPr lang="en-US" dirty="0" smtClean="0">
                <a:solidFill>
                  <a:schemeClr val="tx1"/>
                </a:solidFill>
              </a:rPr>
              <a:t>         Two </a:t>
            </a:r>
            <a:r>
              <a:rPr lang="en-US" dirty="0">
                <a:solidFill>
                  <a:schemeClr val="tx1"/>
                </a:solidFill>
              </a:rPr>
              <a:t>features gives this method its name.  </a:t>
            </a:r>
            <a:endParaRPr lang="en-US" dirty="0" smtClean="0">
              <a:solidFill>
                <a:schemeClr val="tx1"/>
              </a:solidFill>
            </a:endParaRPr>
          </a:p>
          <a:p>
            <a:pPr marL="971550" lvl="1" indent="-514350" algn="l">
              <a:buAutoNum type="arabicPeriod"/>
            </a:pPr>
            <a:r>
              <a:rPr lang="en-US" dirty="0" smtClean="0">
                <a:solidFill>
                  <a:schemeClr val="tx1"/>
                </a:solidFill>
              </a:rPr>
              <a:t>There </a:t>
            </a:r>
            <a:r>
              <a:rPr lang="en-US" dirty="0">
                <a:solidFill>
                  <a:schemeClr val="tx1"/>
                </a:solidFill>
              </a:rPr>
              <a:t>is no </a:t>
            </a:r>
            <a:r>
              <a:rPr lang="en-US" dirty="0" smtClean="0">
                <a:solidFill>
                  <a:schemeClr val="tx1"/>
                </a:solidFill>
              </a:rPr>
              <a:t>scheduled </a:t>
            </a:r>
            <a:r>
              <a:rPr lang="en-US" dirty="0">
                <a:solidFill>
                  <a:schemeClr val="tx1"/>
                </a:solidFill>
              </a:rPr>
              <a:t>time, for a station to transmit.  Transmission is random among the station.  (i.e. these methods called Random Access ).  </a:t>
            </a:r>
            <a:endParaRPr lang="en-US" dirty="0" smtClean="0">
              <a:solidFill>
                <a:schemeClr val="tx1"/>
              </a:solidFill>
            </a:endParaRPr>
          </a:p>
          <a:p>
            <a:pPr marL="971550" lvl="1" indent="-514350" algn="l">
              <a:buAutoNum type="arabicPeriod"/>
            </a:pPr>
            <a:r>
              <a:rPr lang="en-US" dirty="0" smtClean="0">
                <a:solidFill>
                  <a:schemeClr val="tx1"/>
                </a:solidFill>
              </a:rPr>
              <a:t>No </a:t>
            </a:r>
            <a:r>
              <a:rPr lang="en-US" dirty="0">
                <a:solidFill>
                  <a:schemeClr val="tx1"/>
                </a:solidFill>
              </a:rPr>
              <a:t>rule specify which station should send next.  </a:t>
            </a:r>
          </a:p>
          <a:p>
            <a:pPr lvl="1" algn="l"/>
            <a:r>
              <a:rPr lang="en-US" dirty="0">
                <a:solidFill>
                  <a:schemeClr val="tx1"/>
                </a:solidFill>
              </a:rPr>
              <a:t>Stations compete with one another to access the medium.  (i.e. why they are also called, “ Contention methods “.</a:t>
            </a:r>
          </a:p>
          <a:p>
            <a:pPr algn="l"/>
            <a:endParaRPr lang="en-US" dirty="0">
              <a:solidFill>
                <a:schemeClr val="tx1"/>
              </a:solidFill>
            </a:endParaRPr>
          </a:p>
        </p:txBody>
      </p:sp>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 calcmode="lin" valueType="num">
                                      <p:cBhvr additive="base">
                                        <p:cTn id="3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 calcmode="lin" valueType="num">
                                      <p:cBhvr additive="base">
                                        <p:cTn id="4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 calcmode="lin" valueType="num">
                                      <p:cBhvr additive="base">
                                        <p:cTn id="47"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
                                            <p:txEl>
                                              <p:pRg st="9" end="9"/>
                                            </p:txEl>
                                          </p:spTgt>
                                        </p:tgtEl>
                                        <p:attrNameLst>
                                          <p:attrName>style.visibility</p:attrName>
                                        </p:attrNameLst>
                                      </p:cBhvr>
                                      <p:to>
                                        <p:strVal val="visible"/>
                                      </p:to>
                                    </p:set>
                                    <p:anim calcmode="lin" valueType="num">
                                      <p:cBhvr additive="base">
                                        <p:cTn id="51"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
                                            <p:txEl>
                                              <p:pRg st="9" end="9"/>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
                                            <p:txEl>
                                              <p:pRg st="10" end="10"/>
                                            </p:txEl>
                                          </p:spTgt>
                                        </p:tgtEl>
                                        <p:attrNameLst>
                                          <p:attrName>style.visibility</p:attrName>
                                        </p:attrNameLst>
                                      </p:cBhvr>
                                      <p:to>
                                        <p:strVal val="visible"/>
                                      </p:to>
                                    </p:set>
                                    <p:anim calcmode="lin" valueType="num">
                                      <p:cBhvr additive="base">
                                        <p:cTn id="55"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10" end="10"/>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anim calcmode="lin" valueType="num">
                                      <p:cBhvr additive="base">
                                        <p:cTn id="59"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a:bodyPr>
          <a:lstStyle/>
          <a:p>
            <a:pPr marL="457200" indent="-457200" algn="l">
              <a:buFont typeface="Arial" pitchFamily="34" charset="0"/>
              <a:buChar char="•"/>
            </a:pPr>
            <a:r>
              <a:rPr lang="en-US" dirty="0" smtClean="0">
                <a:solidFill>
                  <a:schemeClr val="tx1"/>
                </a:solidFill>
              </a:rPr>
              <a:t>If </a:t>
            </a:r>
            <a:r>
              <a:rPr lang="en-US" dirty="0">
                <a:solidFill>
                  <a:schemeClr val="tx1"/>
                </a:solidFill>
              </a:rPr>
              <a:t>more than one </a:t>
            </a:r>
            <a:r>
              <a:rPr lang="en-US" dirty="0" smtClean="0">
                <a:solidFill>
                  <a:schemeClr val="tx1"/>
                </a:solidFill>
              </a:rPr>
              <a:t>station try </a:t>
            </a:r>
            <a:r>
              <a:rPr lang="en-US" dirty="0">
                <a:solidFill>
                  <a:schemeClr val="tx1"/>
                </a:solidFill>
              </a:rPr>
              <a:t>to send; there arises an access conflict – collision.  ( Frames will be destroyed or changed / modified ).  </a:t>
            </a:r>
            <a:endParaRPr lang="en-US" dirty="0" smtClean="0">
              <a:solidFill>
                <a:schemeClr val="tx1"/>
              </a:solidFill>
            </a:endParaRPr>
          </a:p>
          <a:p>
            <a:pPr marL="457200" indent="-457200" algn="l">
              <a:buFont typeface="Arial" pitchFamily="34" charset="0"/>
              <a:buChar char="•"/>
            </a:pPr>
            <a:r>
              <a:rPr lang="en-US" dirty="0" smtClean="0">
                <a:solidFill>
                  <a:schemeClr val="tx1"/>
                </a:solidFill>
              </a:rPr>
              <a:t>In Random Access protocols , Following questions needs to be addressed</a:t>
            </a:r>
            <a:endParaRPr lang="en-US" dirty="0">
              <a:solidFill>
                <a:schemeClr val="tx1"/>
              </a:solidFill>
            </a:endParaRPr>
          </a:p>
          <a:p>
            <a:pPr algn="l"/>
            <a:r>
              <a:rPr lang="en-US" dirty="0">
                <a:solidFill>
                  <a:schemeClr val="tx1"/>
                </a:solidFill>
              </a:rPr>
              <a:t>-  When can station Access the medium ?  </a:t>
            </a:r>
          </a:p>
          <a:p>
            <a:pPr algn="l"/>
            <a:r>
              <a:rPr lang="en-US" dirty="0">
                <a:solidFill>
                  <a:schemeClr val="tx1"/>
                </a:solidFill>
              </a:rPr>
              <a:t>-  What station can do; if medium is busy ?  </a:t>
            </a:r>
          </a:p>
          <a:p>
            <a:pPr algn="l"/>
            <a:r>
              <a:rPr lang="en-US" dirty="0">
                <a:solidFill>
                  <a:schemeClr val="tx1"/>
                </a:solidFill>
              </a:rPr>
              <a:t>-  How stations </a:t>
            </a:r>
            <a:r>
              <a:rPr lang="en-US" dirty="0" smtClean="0">
                <a:solidFill>
                  <a:schemeClr val="tx1"/>
                </a:solidFill>
              </a:rPr>
              <a:t>come </a:t>
            </a:r>
            <a:r>
              <a:rPr lang="en-US" dirty="0">
                <a:solidFill>
                  <a:schemeClr val="tx1"/>
                </a:solidFill>
              </a:rPr>
              <a:t>to know about successful transfer or collision ?  </a:t>
            </a:r>
          </a:p>
          <a:p>
            <a:pPr algn="l"/>
            <a:r>
              <a:rPr lang="en-US" dirty="0">
                <a:solidFill>
                  <a:schemeClr val="tx1"/>
                </a:solidFill>
              </a:rPr>
              <a:t>-  What station should do in case of Collision ?</a:t>
            </a:r>
          </a:p>
          <a:p>
            <a:pPr algn="l"/>
            <a:endParaRPr lang="en-US" dirty="0">
              <a:solidFill>
                <a:schemeClr val="tx1"/>
              </a:solidFill>
            </a:endParaRPr>
          </a:p>
        </p:txBody>
      </p:sp>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a:bodyPr>
          <a:lstStyle/>
          <a:p>
            <a:pPr algn="l">
              <a:spcBef>
                <a:spcPts val="0"/>
              </a:spcBef>
            </a:pPr>
            <a:r>
              <a:rPr lang="en-US" sz="3600" b="1" dirty="0">
                <a:solidFill>
                  <a:schemeClr val="tx1"/>
                </a:solidFill>
                <a:ea typeface="Calibri"/>
                <a:cs typeface="Times New Roman"/>
              </a:rPr>
              <a:t>ALOHA :-</a:t>
            </a:r>
            <a:endParaRPr lang="en-US" dirty="0">
              <a:solidFill>
                <a:schemeClr val="tx1"/>
              </a:solidFill>
              <a:ea typeface="Calibri"/>
              <a:cs typeface="Times New Roman"/>
            </a:endParaRPr>
          </a:p>
          <a:p>
            <a:pPr marL="457200" indent="-457200" algn="l">
              <a:spcBef>
                <a:spcPts val="0"/>
              </a:spcBef>
              <a:buFont typeface="Arial" pitchFamily="34" charset="0"/>
              <a:buChar char="•"/>
            </a:pPr>
            <a:r>
              <a:rPr lang="en-US" dirty="0">
                <a:solidFill>
                  <a:schemeClr val="tx1"/>
                </a:solidFill>
                <a:ea typeface="Calibri"/>
                <a:cs typeface="Times New Roman"/>
              </a:rPr>
              <a:t>It was the earliest Random Access method, developed at University of Hawaii, in early 1970.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It </a:t>
            </a:r>
            <a:r>
              <a:rPr lang="en-US" dirty="0">
                <a:solidFill>
                  <a:schemeClr val="tx1"/>
                </a:solidFill>
                <a:ea typeface="Calibri"/>
                <a:cs typeface="Times New Roman"/>
              </a:rPr>
              <a:t>was designed for Radio (wireless) LAN, but can be used on any shared medium.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The </a:t>
            </a:r>
            <a:r>
              <a:rPr lang="en-US" dirty="0">
                <a:solidFill>
                  <a:schemeClr val="tx1"/>
                </a:solidFill>
                <a:ea typeface="Calibri"/>
                <a:cs typeface="Times New Roman"/>
              </a:rPr>
              <a:t>medium is shared between stations. </a:t>
            </a:r>
            <a:r>
              <a:rPr lang="en-US" dirty="0" smtClean="0">
                <a:solidFill>
                  <a:schemeClr val="tx1"/>
                </a:solidFill>
                <a:ea typeface="Calibri"/>
                <a:cs typeface="Times New Roman"/>
              </a:rPr>
              <a:t>When </a:t>
            </a:r>
            <a:r>
              <a:rPr lang="en-US" dirty="0">
                <a:solidFill>
                  <a:schemeClr val="tx1"/>
                </a:solidFill>
                <a:ea typeface="Calibri"/>
                <a:cs typeface="Times New Roman"/>
              </a:rPr>
              <a:t>station sends data, the other stations may attempt to send data. </a:t>
            </a:r>
            <a:r>
              <a:rPr lang="en-US" dirty="0" smtClean="0">
                <a:solidFill>
                  <a:schemeClr val="tx1"/>
                </a:solidFill>
                <a:ea typeface="Calibri"/>
                <a:cs typeface="Times New Roman"/>
              </a:rPr>
              <a:t>In </a:t>
            </a:r>
            <a:r>
              <a:rPr lang="en-US" dirty="0">
                <a:solidFill>
                  <a:schemeClr val="tx1"/>
                </a:solidFill>
                <a:ea typeface="Calibri"/>
                <a:cs typeface="Times New Roman"/>
              </a:rPr>
              <a:t>this case it collides and the data frame gets damaged.  </a:t>
            </a:r>
          </a:p>
          <a:p>
            <a:pPr algn="l">
              <a:spcBef>
                <a:spcPts val="0"/>
              </a:spcBef>
            </a:pPr>
            <a:r>
              <a:rPr lang="en-US" i="1" dirty="0" smtClean="0">
                <a:solidFill>
                  <a:schemeClr val="tx1"/>
                </a:solidFill>
                <a:ea typeface="Calibri"/>
                <a:cs typeface="Times New Roman"/>
              </a:rPr>
              <a:t>    ( in the diagram ,Shaded </a:t>
            </a:r>
            <a:r>
              <a:rPr lang="en-US" i="1" dirty="0">
                <a:solidFill>
                  <a:schemeClr val="tx1"/>
                </a:solidFill>
                <a:ea typeface="Calibri"/>
                <a:cs typeface="Times New Roman"/>
              </a:rPr>
              <a:t>regions shows collision</a:t>
            </a:r>
            <a:r>
              <a:rPr lang="en-US" dirty="0">
                <a:solidFill>
                  <a:schemeClr val="tx1"/>
                </a:solidFill>
                <a:ea typeface="Calibri"/>
                <a:cs typeface="Times New Roman"/>
              </a:rPr>
              <a:t> )</a:t>
            </a:r>
          </a:p>
          <a:p>
            <a:pPr marL="457200" indent="-457200" algn="l">
              <a:spcBef>
                <a:spcPts val="0"/>
              </a:spcBef>
              <a:buFont typeface="Arial" pitchFamily="34" charset="0"/>
              <a:buChar char="•"/>
            </a:pPr>
            <a:r>
              <a:rPr lang="en-US" dirty="0">
                <a:solidFill>
                  <a:schemeClr val="tx1"/>
                </a:solidFill>
                <a:ea typeface="Calibri"/>
                <a:cs typeface="Times New Roman"/>
              </a:rPr>
              <a:t> </a:t>
            </a:r>
            <a:r>
              <a:rPr lang="en-US" i="1" dirty="0" smtClean="0">
                <a:solidFill>
                  <a:schemeClr val="tx1"/>
                </a:solidFill>
                <a:ea typeface="Calibri"/>
                <a:cs typeface="Times New Roman"/>
              </a:rPr>
              <a:t>Original </a:t>
            </a:r>
            <a:r>
              <a:rPr lang="en-US" i="1" dirty="0">
                <a:solidFill>
                  <a:schemeClr val="tx1"/>
                </a:solidFill>
                <a:ea typeface="Calibri"/>
                <a:cs typeface="Times New Roman"/>
              </a:rPr>
              <a:t>ALOHA protocol is called PURE </a:t>
            </a:r>
            <a:r>
              <a:rPr lang="en-US" i="1" dirty="0" smtClean="0">
                <a:solidFill>
                  <a:schemeClr val="tx1"/>
                </a:solidFill>
                <a:ea typeface="Calibri"/>
                <a:cs typeface="Times New Roman"/>
              </a:rPr>
              <a:t>ALOHA.</a:t>
            </a:r>
          </a:p>
          <a:p>
            <a:pPr algn="l"/>
            <a:r>
              <a:rPr lang="en-US" i="1" dirty="0" smtClean="0">
                <a:solidFill>
                  <a:schemeClr val="tx1"/>
                </a:solidFill>
                <a:cs typeface="Times New Roman"/>
              </a:rPr>
              <a:t>(</a:t>
            </a:r>
            <a:r>
              <a:rPr lang="en-IN" sz="2200" i="1" dirty="0">
                <a:solidFill>
                  <a:schemeClr val="tx1"/>
                </a:solidFill>
              </a:rPr>
              <a:t>ALOHA originally stood for </a:t>
            </a:r>
            <a:r>
              <a:rPr lang="en-IN" sz="2200" b="1" i="1" dirty="0">
                <a:solidFill>
                  <a:schemeClr val="tx1"/>
                </a:solidFill>
              </a:rPr>
              <a:t>Additive Links On-line Hawaii Area</a:t>
            </a:r>
            <a:r>
              <a:rPr lang="en-IN" sz="2200" i="1" dirty="0" smtClean="0">
                <a:solidFill>
                  <a:schemeClr val="tx1"/>
                </a:solidFill>
              </a:rPr>
              <a:t>. </a:t>
            </a:r>
            <a:r>
              <a:rPr lang="en-IN" sz="2200" dirty="0" smtClean="0">
                <a:solidFill>
                  <a:schemeClr val="tx1"/>
                </a:solidFill>
                <a:latin typeface="Times" pitchFamily="18" charset="0"/>
                <a:cs typeface="Times" pitchFamily="18" charset="0"/>
              </a:rPr>
              <a:t>Also </a:t>
            </a:r>
            <a:r>
              <a:rPr lang="en-IN" sz="2200" dirty="0">
                <a:solidFill>
                  <a:schemeClr val="tx1"/>
                </a:solidFill>
                <a:latin typeface="Times" pitchFamily="18" charset="0"/>
                <a:cs typeface="Times" pitchFamily="18" charset="0"/>
              </a:rPr>
              <a:t>ALOHA is an Hawaiian word, meaning “hello”</a:t>
            </a:r>
            <a:r>
              <a:rPr lang="en-US" i="1" dirty="0" smtClean="0">
                <a:solidFill>
                  <a:schemeClr val="tx1"/>
                </a:solidFill>
                <a:cs typeface="Times New Roman"/>
              </a:rPr>
              <a:t>)</a:t>
            </a:r>
            <a:endParaRPr lang="en-US" dirty="0">
              <a:solidFill>
                <a:schemeClr val="tx1"/>
              </a:solidFill>
            </a:endParaRPr>
          </a:p>
        </p:txBody>
      </p:sp>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endParaRPr lang="en-US" dirty="0"/>
          </a:p>
        </p:txBody>
      </p:sp>
      <p:pic>
        <p:nvPicPr>
          <p:cNvPr id="3" name="Picture 2" descr="Image result for aloha protocol"/>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543799" cy="4953000"/>
          </a:xfrm>
          <a:prstGeom prst="rect">
            <a:avLst/>
          </a:prstGeom>
          <a:noFill/>
          <a:ln>
            <a:noFill/>
          </a:ln>
        </p:spPr>
      </p:pic>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85000" lnSpcReduction="20000"/>
          </a:bodyPr>
          <a:lstStyle/>
          <a:p>
            <a:pPr marL="342900" marR="0" lvl="0" indent="-342900" algn="l">
              <a:spcBef>
                <a:spcPts val="0"/>
              </a:spcBef>
              <a:spcAft>
                <a:spcPts val="0"/>
              </a:spcAft>
              <a:buFont typeface="Calibri"/>
              <a:buChar char="-"/>
            </a:pPr>
            <a:r>
              <a:rPr lang="en-US" dirty="0">
                <a:solidFill>
                  <a:schemeClr val="tx1"/>
                </a:solidFill>
                <a:ea typeface="Calibri"/>
                <a:cs typeface="Times New Roman"/>
              </a:rPr>
              <a:t>When there is collision, the frames has to be </a:t>
            </a:r>
            <a:r>
              <a:rPr lang="en-US" dirty="0" smtClean="0">
                <a:solidFill>
                  <a:schemeClr val="tx1"/>
                </a:solidFill>
                <a:ea typeface="Calibri"/>
                <a:cs typeface="Times New Roman"/>
              </a:rPr>
              <a:t>resent.</a:t>
            </a:r>
            <a:endParaRPr lang="en-US" dirty="0">
              <a:solidFill>
                <a:schemeClr val="tx1"/>
              </a:solidFill>
              <a:ea typeface="Calibri"/>
              <a:cs typeface="Times New Roman"/>
            </a:endParaRPr>
          </a:p>
          <a:p>
            <a:pPr marL="342900" marR="0" lvl="0" indent="-342900" algn="l">
              <a:spcBef>
                <a:spcPts val="0"/>
              </a:spcBef>
              <a:spcAft>
                <a:spcPts val="0"/>
              </a:spcAft>
              <a:buFont typeface="Calibri"/>
              <a:buChar char="-"/>
            </a:pPr>
            <a:r>
              <a:rPr lang="en-US" dirty="0">
                <a:solidFill>
                  <a:schemeClr val="tx1"/>
                </a:solidFill>
                <a:ea typeface="Calibri"/>
                <a:cs typeface="Times New Roman"/>
              </a:rPr>
              <a:t>Pure ALOHA, relies on </a:t>
            </a:r>
            <a:r>
              <a:rPr lang="en-US" b="1" dirty="0" smtClean="0">
                <a:solidFill>
                  <a:schemeClr val="tx1"/>
                </a:solidFill>
                <a:ea typeface="Calibri"/>
                <a:cs typeface="Times New Roman"/>
              </a:rPr>
              <a:t>Acknowledgement </a:t>
            </a:r>
            <a:r>
              <a:rPr lang="en-US" dirty="0">
                <a:solidFill>
                  <a:schemeClr val="tx1"/>
                </a:solidFill>
                <a:ea typeface="Calibri"/>
                <a:cs typeface="Times New Roman"/>
              </a:rPr>
              <a:t>sent from the Receiver.  </a:t>
            </a:r>
          </a:p>
          <a:p>
            <a:pPr marL="342900" marR="0" lvl="0" indent="-342900" algn="l">
              <a:spcBef>
                <a:spcPts val="0"/>
              </a:spcBef>
              <a:spcAft>
                <a:spcPts val="0"/>
              </a:spcAft>
              <a:buFont typeface="Calibri"/>
              <a:buChar char="-"/>
            </a:pPr>
            <a:r>
              <a:rPr lang="en-US" dirty="0">
                <a:solidFill>
                  <a:schemeClr val="tx1"/>
                </a:solidFill>
                <a:ea typeface="Calibri"/>
                <a:cs typeface="Times New Roman"/>
              </a:rPr>
              <a:t>When a station sends a frame, it expects the receiver to send an acknowledgement.</a:t>
            </a:r>
          </a:p>
          <a:p>
            <a:pPr marL="342900" marR="0" lvl="0" indent="-342900" algn="l">
              <a:spcBef>
                <a:spcPts val="0"/>
              </a:spcBef>
              <a:spcAft>
                <a:spcPts val="0"/>
              </a:spcAft>
              <a:buFont typeface="Calibri"/>
              <a:buChar char="-"/>
            </a:pPr>
            <a:r>
              <a:rPr lang="en-US" dirty="0">
                <a:solidFill>
                  <a:schemeClr val="tx1"/>
                </a:solidFill>
                <a:ea typeface="Calibri"/>
                <a:cs typeface="Times New Roman"/>
              </a:rPr>
              <a:t>If acknowledgement does </a:t>
            </a:r>
            <a:r>
              <a:rPr lang="en-US" dirty="0" smtClean="0">
                <a:solidFill>
                  <a:schemeClr val="tx1"/>
                </a:solidFill>
                <a:ea typeface="Calibri"/>
                <a:cs typeface="Times New Roman"/>
              </a:rPr>
              <a:t>not </a:t>
            </a:r>
            <a:r>
              <a:rPr lang="en-US" dirty="0">
                <a:solidFill>
                  <a:schemeClr val="tx1"/>
                </a:solidFill>
                <a:ea typeface="Calibri"/>
                <a:cs typeface="Times New Roman"/>
              </a:rPr>
              <a:t>arrive within </a:t>
            </a:r>
            <a:r>
              <a:rPr lang="en-US" dirty="0" smtClean="0">
                <a:solidFill>
                  <a:schemeClr val="tx1"/>
                </a:solidFill>
                <a:ea typeface="Calibri"/>
                <a:cs typeface="Times New Roman"/>
              </a:rPr>
              <a:t>time-out </a:t>
            </a:r>
            <a:r>
              <a:rPr lang="en-US" dirty="0">
                <a:solidFill>
                  <a:schemeClr val="tx1"/>
                </a:solidFill>
                <a:ea typeface="Calibri"/>
                <a:cs typeface="Times New Roman"/>
              </a:rPr>
              <a:t>period, the station assumes that the frames has been destroyed; and so it resends the frame.  </a:t>
            </a:r>
          </a:p>
          <a:p>
            <a:pPr marL="342900" marR="0" lvl="0" indent="-342900" algn="l">
              <a:spcBef>
                <a:spcPts val="0"/>
              </a:spcBef>
              <a:spcAft>
                <a:spcPts val="0"/>
              </a:spcAft>
              <a:buFont typeface="Calibri"/>
              <a:buChar char="-"/>
            </a:pPr>
            <a:r>
              <a:rPr lang="en-US" dirty="0">
                <a:solidFill>
                  <a:schemeClr val="tx1"/>
                </a:solidFill>
                <a:ea typeface="Calibri"/>
                <a:cs typeface="Times New Roman"/>
              </a:rPr>
              <a:t>A collision </a:t>
            </a:r>
            <a:r>
              <a:rPr lang="en-US" dirty="0" smtClean="0">
                <a:solidFill>
                  <a:schemeClr val="tx1"/>
                </a:solidFill>
                <a:ea typeface="Calibri"/>
                <a:cs typeface="Times New Roman"/>
              </a:rPr>
              <a:t>occurs when  </a:t>
            </a:r>
            <a:r>
              <a:rPr lang="en-US" dirty="0">
                <a:solidFill>
                  <a:schemeClr val="tx1"/>
                </a:solidFill>
                <a:ea typeface="Calibri"/>
                <a:cs typeface="Times New Roman"/>
              </a:rPr>
              <a:t>two or more </a:t>
            </a:r>
            <a:r>
              <a:rPr lang="en-US" dirty="0" smtClean="0">
                <a:solidFill>
                  <a:schemeClr val="tx1"/>
                </a:solidFill>
                <a:ea typeface="Calibri"/>
                <a:cs typeface="Times New Roman"/>
              </a:rPr>
              <a:t>stations attempt to send simultaneously.  </a:t>
            </a:r>
            <a:endParaRPr lang="en-US" dirty="0">
              <a:solidFill>
                <a:schemeClr val="tx1"/>
              </a:solidFill>
              <a:ea typeface="Calibri"/>
              <a:cs typeface="Times New Roman"/>
            </a:endParaRPr>
          </a:p>
          <a:p>
            <a:pPr marL="342900" marR="0" lvl="0" indent="-342900" algn="l">
              <a:spcBef>
                <a:spcPts val="0"/>
              </a:spcBef>
              <a:spcAft>
                <a:spcPts val="0"/>
              </a:spcAft>
              <a:buFont typeface="Calibri"/>
              <a:buChar char="-"/>
            </a:pPr>
            <a:r>
              <a:rPr lang="en-US" dirty="0">
                <a:solidFill>
                  <a:schemeClr val="tx1"/>
                </a:solidFill>
                <a:ea typeface="Calibri"/>
                <a:cs typeface="Times New Roman"/>
              </a:rPr>
              <a:t>If all </a:t>
            </a:r>
            <a:r>
              <a:rPr lang="en-US" dirty="0" smtClean="0">
                <a:solidFill>
                  <a:schemeClr val="tx1"/>
                </a:solidFill>
                <a:ea typeface="Calibri"/>
                <a:cs typeface="Times New Roman"/>
              </a:rPr>
              <a:t>stations </a:t>
            </a:r>
            <a:r>
              <a:rPr lang="en-US" dirty="0">
                <a:solidFill>
                  <a:schemeClr val="tx1"/>
                </a:solidFill>
                <a:ea typeface="Calibri"/>
                <a:cs typeface="Times New Roman"/>
              </a:rPr>
              <a:t>try to resend their frames after the timeout, the frames will collide again.  </a:t>
            </a:r>
          </a:p>
          <a:p>
            <a:pPr algn="l">
              <a:spcBef>
                <a:spcPts val="0"/>
              </a:spcBef>
            </a:pPr>
            <a:r>
              <a:rPr lang="en-US" dirty="0" smtClean="0">
                <a:solidFill>
                  <a:schemeClr val="tx1"/>
                </a:solidFill>
                <a:ea typeface="Calibri"/>
                <a:cs typeface="Times New Roman"/>
              </a:rPr>
              <a:t>-Pure </a:t>
            </a:r>
            <a:r>
              <a:rPr lang="en-US" dirty="0">
                <a:solidFill>
                  <a:schemeClr val="tx1"/>
                </a:solidFill>
                <a:ea typeface="Calibri"/>
                <a:cs typeface="Times New Roman"/>
              </a:rPr>
              <a:t>ALOHA dictates that, when the time out period passes, each station </a:t>
            </a:r>
            <a:r>
              <a:rPr lang="en-US" b="1" dirty="0">
                <a:solidFill>
                  <a:schemeClr val="tx1"/>
                </a:solidFill>
                <a:ea typeface="Calibri"/>
                <a:cs typeface="Times New Roman"/>
              </a:rPr>
              <a:t>waits for a random amount of time</a:t>
            </a:r>
            <a:r>
              <a:rPr lang="en-US" dirty="0">
                <a:solidFill>
                  <a:schemeClr val="tx1"/>
                </a:solidFill>
                <a:ea typeface="Calibri"/>
                <a:cs typeface="Times New Roman"/>
              </a:rPr>
              <a:t>, before resending its frame.  This randomness will avoid more collisions.  This time is called “ </a:t>
            </a:r>
            <a:r>
              <a:rPr lang="en-US" b="1" i="1" dirty="0">
                <a:solidFill>
                  <a:schemeClr val="tx1"/>
                </a:solidFill>
                <a:ea typeface="Calibri"/>
                <a:cs typeface="Times New Roman"/>
              </a:rPr>
              <a:t>back-off time</a:t>
            </a:r>
            <a:r>
              <a:rPr lang="en-US" dirty="0">
                <a:solidFill>
                  <a:schemeClr val="tx1"/>
                </a:solidFill>
                <a:ea typeface="Calibri"/>
                <a:cs typeface="Times New Roman"/>
              </a:rPr>
              <a:t> ” ( </a:t>
            </a:r>
            <a:r>
              <a:rPr lang="en-US" b="1" i="1" dirty="0">
                <a:solidFill>
                  <a:schemeClr val="tx1"/>
                </a:solidFill>
                <a:ea typeface="Calibri"/>
                <a:cs typeface="Times New Roman"/>
              </a:rPr>
              <a:t>T</a:t>
            </a:r>
            <a:r>
              <a:rPr lang="en-US" b="1" i="1" baseline="-25000" dirty="0">
                <a:solidFill>
                  <a:schemeClr val="tx1"/>
                </a:solidFill>
                <a:ea typeface="Calibri"/>
                <a:cs typeface="Times New Roman"/>
              </a:rPr>
              <a:t>B</a:t>
            </a:r>
            <a:r>
              <a:rPr lang="en-US" dirty="0">
                <a:solidFill>
                  <a:schemeClr val="tx1"/>
                </a:solidFill>
                <a:ea typeface="Calibri"/>
                <a:cs typeface="Times New Roman"/>
              </a:rPr>
              <a:t> ).</a:t>
            </a:r>
          </a:p>
          <a:p>
            <a:pPr algn="l">
              <a:spcBef>
                <a:spcPts val="0"/>
              </a:spcBef>
            </a:pPr>
            <a:r>
              <a:rPr lang="en-US" dirty="0" smtClean="0">
                <a:solidFill>
                  <a:schemeClr val="tx1"/>
                </a:solidFill>
                <a:ea typeface="Calibri"/>
                <a:cs typeface="Times New Roman"/>
              </a:rPr>
              <a:t>After </a:t>
            </a:r>
            <a:r>
              <a:rPr lang="en-US" dirty="0">
                <a:solidFill>
                  <a:schemeClr val="tx1"/>
                </a:solidFill>
                <a:ea typeface="Calibri"/>
                <a:cs typeface="Times New Roman"/>
              </a:rPr>
              <a:t>a number of retransmission attempts </a:t>
            </a:r>
            <a:r>
              <a:rPr lang="en-US" b="1" dirty="0" err="1">
                <a:solidFill>
                  <a:schemeClr val="tx1"/>
                </a:solidFill>
                <a:ea typeface="Calibri"/>
                <a:cs typeface="Times New Roman"/>
              </a:rPr>
              <a:t>k</a:t>
            </a:r>
            <a:r>
              <a:rPr lang="en-US" b="1" baseline="-25000" dirty="0" err="1">
                <a:solidFill>
                  <a:schemeClr val="tx1"/>
                </a:solidFill>
                <a:ea typeface="Calibri"/>
                <a:cs typeface="Times New Roman"/>
              </a:rPr>
              <a:t>max</a:t>
            </a:r>
            <a:r>
              <a:rPr lang="en-US" dirty="0">
                <a:solidFill>
                  <a:schemeClr val="tx1"/>
                </a:solidFill>
                <a:ea typeface="Calibri"/>
                <a:cs typeface="Times New Roman"/>
              </a:rPr>
              <a:t>, a station must give up, and try later.  </a:t>
            </a:r>
          </a:p>
          <a:p>
            <a:pPr algn="l"/>
            <a:endParaRPr lang="en-US" dirty="0">
              <a:solidFill>
                <a:schemeClr val="tx1"/>
              </a:solidFill>
            </a:endParaRPr>
          </a:p>
        </p:txBody>
      </p:sp>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endParaRPr lang="en-US" dirty="0"/>
          </a:p>
        </p:txBody>
      </p:sp>
      <p:pic>
        <p:nvPicPr>
          <p:cNvPr id="3" name="Picture 2" descr="C:\Users\sanju\Pictures\New Picture.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7158" y="381000"/>
            <a:ext cx="8382000" cy="6324600"/>
          </a:xfrm>
          <a:prstGeom prst="rect">
            <a:avLst/>
          </a:prstGeom>
          <a:noFill/>
          <a:ln>
            <a:noFill/>
          </a:ln>
        </p:spPr>
      </p:pic>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lnSpcReduction="10000"/>
          </a:bodyPr>
          <a:lstStyle/>
          <a:p>
            <a:pPr algn="l">
              <a:spcBef>
                <a:spcPts val="0"/>
              </a:spcBef>
            </a:pPr>
            <a:r>
              <a:rPr lang="en-US" sz="3600" b="1" dirty="0">
                <a:solidFill>
                  <a:schemeClr val="tx1"/>
                </a:solidFill>
                <a:ea typeface="Calibri"/>
                <a:cs typeface="Times New Roman"/>
              </a:rPr>
              <a:t>SLOTTED ALOHA :--</a:t>
            </a:r>
            <a:endParaRPr lang="en-US" dirty="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To improve </a:t>
            </a:r>
            <a:r>
              <a:rPr lang="en-US" dirty="0">
                <a:solidFill>
                  <a:schemeClr val="tx1"/>
                </a:solidFill>
                <a:ea typeface="Calibri"/>
                <a:cs typeface="Times New Roman"/>
              </a:rPr>
              <a:t>the efficiency of PURE </a:t>
            </a:r>
            <a:r>
              <a:rPr lang="en-US" dirty="0" smtClean="0">
                <a:solidFill>
                  <a:schemeClr val="tx1"/>
                </a:solidFill>
                <a:ea typeface="Calibri"/>
                <a:cs typeface="Times New Roman"/>
              </a:rPr>
              <a:t>ALOHA, the </a:t>
            </a:r>
            <a:r>
              <a:rPr lang="en-US" dirty="0">
                <a:solidFill>
                  <a:schemeClr val="tx1"/>
                </a:solidFill>
                <a:ea typeface="Calibri"/>
                <a:cs typeface="Times New Roman"/>
              </a:rPr>
              <a:t>time is divided into slots of </a:t>
            </a:r>
            <a:r>
              <a:rPr lang="en-US" b="1" dirty="0" err="1">
                <a:solidFill>
                  <a:schemeClr val="tx1"/>
                </a:solidFill>
                <a:ea typeface="Calibri"/>
                <a:cs typeface="Times New Roman"/>
              </a:rPr>
              <a:t>T</a:t>
            </a:r>
            <a:r>
              <a:rPr lang="en-US" b="1" baseline="-25000" dirty="0" err="1">
                <a:solidFill>
                  <a:schemeClr val="tx1"/>
                </a:solidFill>
                <a:ea typeface="Calibri"/>
                <a:cs typeface="Times New Roman"/>
              </a:rPr>
              <a:t>f</a:t>
            </a:r>
            <a:r>
              <a:rPr lang="en-US" dirty="0">
                <a:solidFill>
                  <a:schemeClr val="tx1"/>
                </a:solidFill>
                <a:ea typeface="Calibri"/>
                <a:cs typeface="Times New Roman"/>
              </a:rPr>
              <a:t>, ( average transmission time for a slot </a:t>
            </a:r>
            <a:r>
              <a:rPr lang="en-US" dirty="0" smtClean="0">
                <a:solidFill>
                  <a:schemeClr val="tx1"/>
                </a:solidFill>
                <a:ea typeface="Calibri"/>
                <a:cs typeface="Times New Roman"/>
              </a:rPr>
              <a:t>).   </a:t>
            </a:r>
          </a:p>
          <a:p>
            <a:pPr marL="457200" indent="-457200" algn="l">
              <a:spcBef>
                <a:spcPts val="0"/>
              </a:spcBef>
              <a:buFont typeface="Arial" pitchFamily="34" charset="0"/>
              <a:buChar char="•"/>
            </a:pPr>
            <a:r>
              <a:rPr lang="en-US" dirty="0" smtClean="0">
                <a:solidFill>
                  <a:schemeClr val="tx1"/>
                </a:solidFill>
                <a:ea typeface="Calibri"/>
                <a:cs typeface="Times New Roman"/>
              </a:rPr>
              <a:t>A </a:t>
            </a:r>
            <a:r>
              <a:rPr lang="en-US" dirty="0">
                <a:solidFill>
                  <a:schemeClr val="tx1"/>
                </a:solidFill>
                <a:ea typeface="Calibri"/>
                <a:cs typeface="Times New Roman"/>
              </a:rPr>
              <a:t>station is allowed to send only at the beginning of the synchronized time slot.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If </a:t>
            </a:r>
            <a:r>
              <a:rPr lang="en-US" dirty="0">
                <a:solidFill>
                  <a:schemeClr val="tx1"/>
                </a:solidFill>
                <a:ea typeface="Calibri"/>
                <a:cs typeface="Times New Roman"/>
              </a:rPr>
              <a:t>a station </a:t>
            </a:r>
            <a:r>
              <a:rPr lang="en-US" dirty="0" smtClean="0">
                <a:solidFill>
                  <a:schemeClr val="tx1"/>
                </a:solidFill>
                <a:ea typeface="Calibri"/>
                <a:cs typeface="Times New Roman"/>
              </a:rPr>
              <a:t>miss </a:t>
            </a:r>
            <a:r>
              <a:rPr lang="en-US" dirty="0">
                <a:solidFill>
                  <a:schemeClr val="tx1"/>
                </a:solidFill>
                <a:ea typeface="Calibri"/>
                <a:cs typeface="Times New Roman"/>
              </a:rPr>
              <a:t>this moment, it must wait until the beginning of the next time slot.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The </a:t>
            </a:r>
            <a:r>
              <a:rPr lang="en-US" dirty="0">
                <a:solidFill>
                  <a:schemeClr val="tx1"/>
                </a:solidFill>
                <a:ea typeface="Calibri"/>
                <a:cs typeface="Times New Roman"/>
              </a:rPr>
              <a:t>station which has started at the beginning of the slot, has already finished sending its frame.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Of </a:t>
            </a:r>
            <a:r>
              <a:rPr lang="en-US" dirty="0">
                <a:solidFill>
                  <a:schemeClr val="tx1"/>
                </a:solidFill>
                <a:ea typeface="Calibri"/>
                <a:cs typeface="Times New Roman"/>
              </a:rPr>
              <a:t>course; there is still collision; if two stations try to send at the beginning of the same time slot. </a:t>
            </a:r>
          </a:p>
          <a:p>
            <a:pPr algn="l">
              <a:spcBef>
                <a:spcPts val="0"/>
              </a:spcBef>
            </a:pPr>
            <a:r>
              <a:rPr lang="en-US" i="1" dirty="0">
                <a:solidFill>
                  <a:srgbClr val="0070C0"/>
                </a:solidFill>
                <a:ea typeface="Calibri"/>
                <a:cs typeface="Times New Roman"/>
              </a:rPr>
              <a:t>( Shaded region shows </a:t>
            </a:r>
            <a:r>
              <a:rPr lang="en-US" i="1" dirty="0" err="1">
                <a:solidFill>
                  <a:srgbClr val="0070C0"/>
                </a:solidFill>
                <a:ea typeface="Calibri"/>
                <a:cs typeface="Times New Roman"/>
              </a:rPr>
              <a:t>collosion</a:t>
            </a:r>
            <a:r>
              <a:rPr lang="en-US" i="1" dirty="0">
                <a:solidFill>
                  <a:srgbClr val="0070C0"/>
                </a:solidFill>
                <a:ea typeface="Calibri"/>
                <a:cs typeface="Times New Roman"/>
              </a:rPr>
              <a:t> )</a:t>
            </a:r>
            <a:endParaRPr lang="en-US" dirty="0">
              <a:solidFill>
                <a:srgbClr val="0070C0"/>
              </a:solidFill>
              <a:ea typeface="Calibri"/>
              <a:cs typeface="Times New Roman"/>
            </a:endParaRPr>
          </a:p>
          <a:p>
            <a:pPr algn="l"/>
            <a:endParaRPr lang="en-US" dirty="0">
              <a:solidFill>
                <a:schemeClr val="tx1"/>
              </a:solidFill>
            </a:endParaRPr>
          </a:p>
        </p:txBody>
      </p:sp>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endParaRPr lang="en-US" dirty="0"/>
          </a:p>
        </p:txBody>
      </p:sp>
      <p:pic>
        <p:nvPicPr>
          <p:cNvPr id="3" name="Picture 2" descr="Image result for slotted aloha protocol"/>
          <p:cNvPicPr/>
          <p:nvPr/>
        </p:nvPicPr>
        <p:blipFill>
          <a:blip r:embed="rId2">
            <a:extLst>
              <a:ext uri="{28A0092B-C50C-407E-A947-70E740481C1C}">
                <a14:useLocalDpi xmlns:a14="http://schemas.microsoft.com/office/drawing/2010/main" val="0"/>
              </a:ext>
            </a:extLst>
          </a:blip>
          <a:srcRect/>
          <a:stretch>
            <a:fillRect/>
          </a:stretch>
        </p:blipFill>
        <p:spPr bwMode="auto">
          <a:xfrm>
            <a:off x="1219200" y="838200"/>
            <a:ext cx="7239000" cy="5486400"/>
          </a:xfrm>
          <a:prstGeom prst="rect">
            <a:avLst/>
          </a:prstGeom>
          <a:noFill/>
          <a:ln>
            <a:noFill/>
          </a:ln>
        </p:spPr>
      </p:pic>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solidFill>
                  <a:schemeClr val="tx1"/>
                </a:solidFill>
              </a:rPr>
              <a:t>Performance of ALOHA</a:t>
            </a:r>
            <a:br>
              <a:rPr lang="en-US" sz="3200" b="1" dirty="0" smtClean="0">
                <a:solidFill>
                  <a:schemeClr val="tx1"/>
                </a:solidFill>
              </a:rPr>
            </a:br>
            <a:r>
              <a:rPr lang="en-US" sz="3200" dirty="0" smtClean="0">
                <a:solidFill>
                  <a:schemeClr val="tx1"/>
                </a:solidFill>
              </a:rPr>
              <a:t>Vulnerable period</a:t>
            </a:r>
            <a:endParaRPr lang="en-US" sz="3200" dirty="0">
              <a:solidFill>
                <a:schemeClr val="tx1"/>
              </a:solidFill>
            </a:endParaRPr>
          </a:p>
        </p:txBody>
      </p:sp>
      <p:pic>
        <p:nvPicPr>
          <p:cNvPr id="6147" name="Picture 3" descr="F:\Amey\CCNsem 6\Images\ALOH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5090" y="1516649"/>
            <a:ext cx="6707310" cy="4809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120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dirty="0">
                <a:solidFill>
                  <a:srgbClr val="FF0000"/>
                </a:solidFill>
              </a:rPr>
              <a:t>ALOHA</a:t>
            </a:r>
          </a:p>
        </p:txBody>
      </p:sp>
      <p:pic>
        <p:nvPicPr>
          <p:cNvPr id="7171" name="Picture 3" descr="F:\Amey\CCNsem 6\Images\ALOHAr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720" y="685800"/>
            <a:ext cx="7614331" cy="364331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 y="4343400"/>
            <a:ext cx="7614331" cy="2213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07626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457200" y="274638"/>
            <a:ext cx="7620000" cy="4873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pPr eaLnBrk="1" hangingPunct="1"/>
            <a:r>
              <a:rPr lang="en-US" sz="3200" dirty="0" smtClean="0"/>
              <a:t>Maximum Propagation Delay</a:t>
            </a:r>
          </a:p>
        </p:txBody>
      </p:sp>
      <p:sp>
        <p:nvSpPr>
          <p:cNvPr id="9219" name="AutoShape 3"/>
          <p:cNvSpPr>
            <a:spLocks noGrp="1" noChangeAspect="1" noChangeArrowheads="1"/>
          </p:cNvSpPr>
          <p:nvPr>
            <p:ph idx="1"/>
          </p:nvPr>
        </p:nvSpPr>
        <p:spPr bwMode="auto">
          <a:xfrm>
            <a:off x="457199" y="838200"/>
            <a:ext cx="7828767" cy="5715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sz="2000" b="1" dirty="0" smtClean="0">
                <a:latin typeface="Times New Roman" pitchFamily="18" charset="0"/>
                <a:cs typeface="Times New Roman" pitchFamily="18" charset="0"/>
              </a:rPr>
              <a:t>Maximum propagation delay</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t</a:t>
            </a:r>
            <a:r>
              <a:rPr lang="en-US" sz="2000" baseline="-25000" dirty="0" err="1" smtClean="0">
                <a:latin typeface="Times New Roman" pitchFamily="18" charset="0"/>
                <a:cs typeface="Times New Roman" pitchFamily="18" charset="0"/>
              </a:rPr>
              <a:t>prop</a:t>
            </a:r>
            <a:r>
              <a:rPr lang="en-US" sz="2000" dirty="0" smtClean="0">
                <a:latin typeface="Times New Roman" pitchFamily="18" charset="0"/>
                <a:cs typeface="Times New Roman" pitchFamily="18" charset="0"/>
              </a:rPr>
              <a:t>): time it takes for a bit of  a frame to travel between the </a:t>
            </a:r>
            <a:r>
              <a:rPr lang="en-US" sz="2000" b="1" u="sng" dirty="0" smtClean="0">
                <a:latin typeface="Times New Roman" pitchFamily="18" charset="0"/>
                <a:cs typeface="Times New Roman" pitchFamily="18" charset="0"/>
              </a:rPr>
              <a:t>two most widely</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separated stations.</a:t>
            </a:r>
          </a:p>
          <a:p>
            <a:pPr eaLnBrk="1" hangingPunct="1"/>
            <a:endParaRPr lang="en-US" sz="2000" dirty="0">
              <a:latin typeface="Times New Roman" pitchFamily="18" charset="0"/>
              <a:cs typeface="Times New Roman" pitchFamily="18" charset="0"/>
            </a:endParaRPr>
          </a:p>
          <a:p>
            <a:pPr eaLnBrk="1" hangingPunct="1"/>
            <a:endParaRPr lang="en-US" sz="2000" dirty="0" smtClean="0">
              <a:latin typeface="Times New Roman" pitchFamily="18" charset="0"/>
              <a:cs typeface="Times New Roman" pitchFamily="18" charset="0"/>
            </a:endParaRPr>
          </a:p>
          <a:p>
            <a:pPr eaLnBrk="1" hangingPunct="1"/>
            <a:endParaRPr lang="en-US" sz="2000" dirty="0">
              <a:latin typeface="Times New Roman" pitchFamily="18" charset="0"/>
              <a:cs typeface="Times New Roman" pitchFamily="18" charset="0"/>
            </a:endParaRPr>
          </a:p>
          <a:p>
            <a:pPr eaLnBrk="1" hangingPunct="1"/>
            <a:endParaRPr lang="en-US" sz="2000" dirty="0" smtClean="0">
              <a:latin typeface="Times New Roman" pitchFamily="18" charset="0"/>
              <a:cs typeface="Times New Roman" pitchFamily="18" charset="0"/>
            </a:endParaRPr>
          </a:p>
          <a:p>
            <a:pPr eaLnBrk="1" hangingPunct="1"/>
            <a:endParaRPr lang="en-US" sz="2000" dirty="0">
              <a:latin typeface="Times New Roman" pitchFamily="18" charset="0"/>
              <a:cs typeface="Times New Roman" pitchFamily="18" charset="0"/>
            </a:endParaRPr>
          </a:p>
          <a:p>
            <a:pPr eaLnBrk="1" hangingPunct="1"/>
            <a:endParaRPr lang="en-US" sz="2000" dirty="0" smtClean="0">
              <a:latin typeface="Times New Roman" pitchFamily="18" charset="0"/>
              <a:cs typeface="Times New Roman" pitchFamily="18" charset="0"/>
            </a:endParaRPr>
          </a:p>
          <a:p>
            <a:pPr eaLnBrk="1" hangingPunct="1"/>
            <a:endParaRPr lang="en-US" sz="2000" dirty="0">
              <a:latin typeface="Times New Roman" pitchFamily="18" charset="0"/>
              <a:cs typeface="Times New Roman" pitchFamily="18" charset="0"/>
            </a:endParaRPr>
          </a:p>
          <a:p>
            <a:pPr eaLnBrk="1" hangingPunct="1"/>
            <a:endParaRPr lang="en-US" sz="2000" dirty="0" smtClean="0">
              <a:latin typeface="Times New Roman" pitchFamily="18" charset="0"/>
              <a:cs typeface="Times New Roman" pitchFamily="18" charset="0"/>
            </a:endParaRPr>
          </a:p>
          <a:p>
            <a:pPr marL="114300" indent="0" eaLnBrk="1" hangingPunct="1">
              <a:buNone/>
            </a:pPr>
            <a:r>
              <a:rPr lang="en-US" sz="2000" dirty="0" smtClean="0">
                <a:latin typeface="Times New Roman" pitchFamily="18" charset="0"/>
                <a:cs typeface="Times New Roman" pitchFamily="18" charset="0"/>
              </a:rPr>
              <a:t>If </a:t>
            </a:r>
            <a:r>
              <a:rPr lang="en-US" sz="2000" b="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is the Frame time (</a:t>
            </a:r>
            <a:r>
              <a:rPr lang="en-US" sz="2000" dirty="0" err="1" smtClean="0">
                <a:latin typeface="Times New Roman" pitchFamily="18" charset="0"/>
                <a:cs typeface="Times New Roman" pitchFamily="18" charset="0"/>
              </a:rPr>
              <a:t>i.e</a:t>
            </a:r>
            <a:r>
              <a:rPr lang="en-US" sz="2000" dirty="0" smtClean="0">
                <a:latin typeface="Times New Roman" pitchFamily="18" charset="0"/>
                <a:cs typeface="Times New Roman" pitchFamily="18" charset="0"/>
              </a:rPr>
              <a:t> sending station takes X Sec to transmit a frame)</a:t>
            </a:r>
          </a:p>
          <a:p>
            <a:pPr marL="114300" indent="0" eaLnBrk="1" hangingPunct="1">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‘L’</a:t>
            </a:r>
            <a:r>
              <a:rPr lang="en-US" sz="2000" dirty="0" smtClean="0">
                <a:latin typeface="Times New Roman" pitchFamily="18" charset="0"/>
                <a:cs typeface="Times New Roman" pitchFamily="18" charset="0"/>
              </a:rPr>
              <a:t> is the No. of bits in a frame </a:t>
            </a:r>
          </a:p>
          <a:p>
            <a:pPr marL="114300" indent="0" eaLnBrk="1" hangingPunct="1">
              <a:buNone/>
            </a:pPr>
            <a:r>
              <a:rPr lang="en-US" sz="2000" b="1" dirty="0" smtClean="0">
                <a:latin typeface="Times New Roman" pitchFamily="18" charset="0"/>
                <a:cs typeface="Times New Roman" pitchFamily="18" charset="0"/>
              </a:rPr>
              <a:t>‘R’</a:t>
            </a:r>
            <a:r>
              <a:rPr lang="en-US" sz="2000" dirty="0" smtClean="0">
                <a:latin typeface="Times New Roman" pitchFamily="18" charset="0"/>
                <a:cs typeface="Times New Roman" pitchFamily="18" charset="0"/>
              </a:rPr>
              <a:t> is the  Rae of transmission of sending station in bits/Sec</a:t>
            </a:r>
          </a:p>
          <a:p>
            <a:pPr marL="114300" indent="0" eaLnBrk="1" hangingPunct="1">
              <a:buNone/>
            </a:pPr>
            <a:r>
              <a:rPr lang="en-US" sz="2000" dirty="0" smtClean="0">
                <a:latin typeface="Times New Roman" pitchFamily="18" charset="0"/>
                <a:cs typeface="Times New Roman" pitchFamily="18" charset="0"/>
              </a:rPr>
              <a:t>Then , X = L/R    sec</a:t>
            </a:r>
          </a:p>
        </p:txBody>
      </p:sp>
      <p:sp>
        <p:nvSpPr>
          <p:cNvPr id="9220" name="Text Box 6"/>
          <p:cNvSpPr txBox="1">
            <a:spLocks noChangeArrowheads="1"/>
          </p:cNvSpPr>
          <p:nvPr/>
        </p:nvSpPr>
        <p:spPr bwMode="auto">
          <a:xfrm>
            <a:off x="2971800" y="3962400"/>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pPr>
              <a:spcBef>
                <a:spcPct val="50000"/>
              </a:spcBef>
            </a:pPr>
            <a:endParaRPr lang="en-US"/>
          </a:p>
        </p:txBody>
      </p:sp>
      <p:sp>
        <p:nvSpPr>
          <p:cNvPr id="9226" name="Rectangle 13"/>
          <p:cNvSpPr>
            <a:spLocks noChangeArrowheads="1"/>
          </p:cNvSpPr>
          <p:nvPr/>
        </p:nvSpPr>
        <p:spPr bwMode="auto">
          <a:xfrm>
            <a:off x="838200" y="2133600"/>
            <a:ext cx="609600"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14195"/>
            <a:ext cx="8072651" cy="2681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86027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Pure ALOHA</a:t>
            </a:r>
            <a:endParaRPr lang="en-IN" dirty="0"/>
          </a:p>
        </p:txBody>
      </p:sp>
      <p:sp>
        <p:nvSpPr>
          <p:cNvPr id="2" name="Content Placeholder 1"/>
          <p:cNvSpPr>
            <a:spLocks noGrp="1"/>
          </p:cNvSpPr>
          <p:nvPr>
            <p:ph idx="1"/>
          </p:nvPr>
        </p:nvSpPr>
        <p:spPr>
          <a:xfrm>
            <a:off x="457200" y="1219200"/>
            <a:ext cx="8229600" cy="4788091"/>
          </a:xfrm>
        </p:spPr>
        <p:txBody>
          <a:bodyPr>
            <a:normAutofit lnSpcReduction="10000"/>
          </a:bodyPr>
          <a:lstStyle/>
          <a:p>
            <a:r>
              <a:rPr lang="en-IN" dirty="0"/>
              <a:t> </a:t>
            </a:r>
            <a:r>
              <a:rPr lang="en-IN" dirty="0" smtClean="0"/>
              <a:t>The outcome of the transmission is obtained after the reaction time i.e. 2t</a:t>
            </a:r>
            <a:r>
              <a:rPr lang="en-IN" baseline="-25000" dirty="0" smtClean="0"/>
              <a:t>prop</a:t>
            </a:r>
          </a:p>
          <a:p>
            <a:r>
              <a:rPr lang="en-IN" dirty="0" smtClean="0"/>
              <a:t>The probability of successful transmission is when there is no transmission during the vulnerable time t</a:t>
            </a:r>
            <a:r>
              <a:rPr lang="en-IN" baseline="-25000" dirty="0" smtClean="0"/>
              <a:t>0</a:t>
            </a:r>
            <a:r>
              <a:rPr lang="en-IN" dirty="0" smtClean="0"/>
              <a:t>-X to t</a:t>
            </a:r>
            <a:r>
              <a:rPr lang="en-IN" baseline="-25000" dirty="0" smtClean="0"/>
              <a:t>0</a:t>
            </a:r>
            <a:r>
              <a:rPr lang="en-IN" dirty="0" smtClean="0"/>
              <a:t>+X</a:t>
            </a:r>
          </a:p>
          <a:p>
            <a:r>
              <a:rPr lang="en-IN" dirty="0" smtClean="0"/>
              <a:t>S= </a:t>
            </a:r>
            <a:r>
              <a:rPr lang="en-IN" dirty="0" smtClean="0">
                <a:solidFill>
                  <a:srgbClr val="FF0000"/>
                </a:solidFill>
              </a:rPr>
              <a:t>arrival rate </a:t>
            </a:r>
            <a:r>
              <a:rPr lang="en-IN" dirty="0" smtClean="0"/>
              <a:t>of new packets in the system in the unit of frames/X seconds, hence it represents throughput of the system</a:t>
            </a:r>
          </a:p>
          <a:p>
            <a:r>
              <a:rPr lang="en-IN" dirty="0" smtClean="0"/>
              <a:t>G= </a:t>
            </a:r>
            <a:r>
              <a:rPr lang="en-IN" dirty="0" smtClean="0">
                <a:solidFill>
                  <a:srgbClr val="FF0000"/>
                </a:solidFill>
              </a:rPr>
              <a:t>total arrival </a:t>
            </a:r>
            <a:r>
              <a:rPr lang="en-IN" dirty="0">
                <a:solidFill>
                  <a:srgbClr val="FF0000"/>
                </a:solidFill>
              </a:rPr>
              <a:t>rate</a:t>
            </a:r>
            <a:r>
              <a:rPr lang="en-IN" sz="2000" dirty="0" smtClean="0"/>
              <a:t>(new frames+retransmited frames) </a:t>
            </a:r>
            <a:r>
              <a:rPr lang="en-IN" dirty="0"/>
              <a:t>in unit of frames/ X seconds</a:t>
            </a:r>
          </a:p>
        </p:txBody>
      </p:sp>
    </p:spTree>
    <p:extLst>
      <p:ext uri="{BB962C8B-B14F-4D97-AF65-F5344CB8AC3E}">
        <p14:creationId xmlns:p14="http://schemas.microsoft.com/office/powerpoint/2010/main" val="6441341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373562"/>
          </a:xfrm>
        </p:spPr>
        <p:txBody>
          <a:bodyPr>
            <a:normAutofit/>
          </a:bodyPr>
          <a:lstStyle/>
          <a:p>
            <a:pPr algn="l"/>
            <a:endParaRPr lang="en-IN" sz="2800" dirty="0"/>
          </a:p>
        </p:txBody>
      </p:sp>
      <p:pic>
        <p:nvPicPr>
          <p:cNvPr id="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457200"/>
            <a:ext cx="6324600" cy="4178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228601" y="4870448"/>
            <a:ext cx="8686800" cy="646331"/>
          </a:xfrm>
          <a:prstGeom prst="rect">
            <a:avLst/>
          </a:prstGeom>
        </p:spPr>
        <p:txBody>
          <a:bodyPr wrap="square">
            <a:spAutoFit/>
          </a:bodyPr>
          <a:lstStyle/>
          <a:p>
            <a:r>
              <a:rPr lang="en-IN" dirty="0" smtClean="0"/>
              <a:t>Throughput:  Actual rate at which information is sent over the channel  .It is measured in bits/Sec  or Frames /sec </a:t>
            </a:r>
            <a:endParaRPr lang="en-IN" dirty="0"/>
          </a:p>
        </p:txBody>
      </p:sp>
    </p:spTree>
    <p:extLst>
      <p:ext uri="{BB962C8B-B14F-4D97-AF65-F5344CB8AC3E}">
        <p14:creationId xmlns:p14="http://schemas.microsoft.com/office/powerpoint/2010/main" val="32727766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60337"/>
            <a:ext cx="8229600" cy="601663"/>
          </a:xfrm>
        </p:spPr>
        <p:txBody>
          <a:bodyPr>
            <a:normAutofit fontScale="90000"/>
          </a:bodyPr>
          <a:lstStyle/>
          <a:p>
            <a:r>
              <a:rPr lang="en-US" dirty="0"/>
              <a:t>Pure ALOHA</a:t>
            </a:r>
            <a:endParaRPr lang="en-IN" dirty="0"/>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617538"/>
                <a:ext cx="8229600" cy="5508625"/>
              </a:xfrm>
            </p:spPr>
            <p:txBody>
              <a:bodyPr>
                <a:normAutofit/>
              </a:bodyPr>
              <a:lstStyle/>
              <a:p>
                <a:pPr algn="just"/>
                <a:r>
                  <a:rPr lang="en-IN" dirty="0" smtClean="0"/>
                  <a:t>Assuming that the aggregate arrival process that results from new packets and retransmitted packets has a </a:t>
                </a:r>
                <a:r>
                  <a:rPr lang="en-IN" dirty="0"/>
                  <a:t>P</a:t>
                </a:r>
                <a:r>
                  <a:rPr lang="en-IN" dirty="0" smtClean="0"/>
                  <a:t>oisson distribution with an average number of arrivals of 2G arrivals/2X seconds</a:t>
                </a:r>
              </a:p>
              <a:p>
                <a:pPr marL="109728" indent="0" algn="ctr">
                  <a:buNone/>
                </a:pPr>
                <a:r>
                  <a:rPr lang="en-IN" dirty="0" smtClean="0">
                    <a:latin typeface="Times New Roman" pitchFamily="18" charset="0"/>
                    <a:cs typeface="Times New Roman" pitchFamily="18" charset="0"/>
                  </a:rPr>
                  <a:t>              P( k events in interval) = </a:t>
                </a:r>
                <a14:m>
                  <m:oMath xmlns:m="http://schemas.openxmlformats.org/officeDocument/2006/math">
                    <m:f>
                      <m:fPr>
                        <m:ctrlPr>
                          <a:rPr lang="en-IN" i="1" smtClean="0">
                            <a:latin typeface="Cambria Math"/>
                          </a:rPr>
                        </m:ctrlPr>
                      </m:fPr>
                      <m:num>
                        <m:sSup>
                          <m:sSupPr>
                            <m:ctrlPr>
                              <a:rPr lang="en-IN" i="1" smtClean="0">
                                <a:latin typeface="Cambria Math"/>
                              </a:rPr>
                            </m:ctrlPr>
                          </m:sSupPr>
                          <m:e>
                            <m:r>
                              <m:rPr>
                                <m:sty m:val="p"/>
                              </m:rPr>
                              <a:rPr lang="el-GR" i="1" smtClean="0">
                                <a:latin typeface="Cambria Math"/>
                              </a:rPr>
                              <m:t>λ</m:t>
                            </m:r>
                          </m:e>
                          <m:sup>
                            <m:r>
                              <a:rPr lang="en-IN" b="0" i="1" smtClean="0">
                                <a:latin typeface="Cambria Math"/>
                              </a:rPr>
                              <m:t>𝑘</m:t>
                            </m:r>
                          </m:sup>
                        </m:sSup>
                        <m:sSup>
                          <m:sSupPr>
                            <m:ctrlPr>
                              <a:rPr lang="en-IN" i="1" smtClean="0">
                                <a:latin typeface="Cambria Math"/>
                              </a:rPr>
                            </m:ctrlPr>
                          </m:sSupPr>
                          <m:e>
                            <m:r>
                              <a:rPr lang="en-IN" b="0" i="1" smtClean="0">
                                <a:latin typeface="Cambria Math"/>
                              </a:rPr>
                              <m:t>𝑒</m:t>
                            </m:r>
                          </m:e>
                          <m:sup>
                            <m:r>
                              <a:rPr lang="en-IN" b="0" i="1" smtClean="0">
                                <a:latin typeface="Cambria Math"/>
                              </a:rPr>
                              <m:t>−</m:t>
                            </m:r>
                            <m:r>
                              <m:rPr>
                                <m:sty m:val="p"/>
                              </m:rPr>
                              <a:rPr lang="el-GR" b="0" i="1" smtClean="0">
                                <a:latin typeface="Cambria Math"/>
                              </a:rPr>
                              <m:t>λ</m:t>
                            </m:r>
                            <m:r>
                              <a:rPr lang="en-IN" b="0" i="1" smtClean="0">
                                <a:latin typeface="Cambria Math"/>
                              </a:rPr>
                              <m:t> </m:t>
                            </m:r>
                          </m:sup>
                        </m:sSup>
                      </m:num>
                      <m:den>
                        <m:r>
                          <a:rPr lang="en-IN" b="0" i="1" smtClean="0">
                            <a:latin typeface="Cambria Math"/>
                          </a:rPr>
                          <m:t>𝑘</m:t>
                        </m:r>
                        <m:r>
                          <a:rPr lang="en-IN" b="0" i="1" smtClean="0">
                            <a:latin typeface="Cambria Math"/>
                          </a:rPr>
                          <m:t>!</m:t>
                        </m:r>
                      </m:den>
                    </m:f>
                  </m:oMath>
                </a14:m>
                <a:r>
                  <a:rPr lang="en-IN" dirty="0" smtClean="0">
                    <a:latin typeface="Times New Roman" pitchFamily="18" charset="0"/>
                    <a:cs typeface="Times New Roman" pitchFamily="18" charset="0"/>
                  </a:rPr>
                  <a:t>       </a:t>
                </a:r>
                <a:r>
                  <a:rPr lang="en-IN" dirty="0">
                    <a:latin typeface="Times New Roman" pitchFamily="18" charset="0"/>
                    <a:cs typeface="Times New Roman" pitchFamily="18" charset="0"/>
                  </a:rPr>
                  <a:t>where </a:t>
                </a:r>
                <a:r>
                  <a:rPr lang="el-GR" dirty="0">
                    <a:latin typeface="Times New Roman" pitchFamily="18" charset="0"/>
                    <a:cs typeface="Times New Roman" pitchFamily="18" charset="0"/>
                  </a:rPr>
                  <a:t>λ</a:t>
                </a:r>
                <a:r>
                  <a:rPr lang="en-IN" dirty="0">
                    <a:latin typeface="Times New Roman" pitchFamily="18" charset="0"/>
                    <a:cs typeface="Times New Roman" pitchFamily="18" charset="0"/>
                  </a:rPr>
                  <a:t> is the average number of events per interval</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617538"/>
                <a:ext cx="8229600" cy="5508625"/>
              </a:xfrm>
              <a:blipFill rotWithShape="1">
                <a:blip r:embed="rId3"/>
                <a:stretch>
                  <a:fillRect l="-1630" t="-1438" r="-1852"/>
                </a:stretch>
              </a:blipFill>
            </p:spPr>
            <p:txBody>
              <a:bodyPr/>
              <a:lstStyle/>
              <a:p>
                <a:r>
                  <a:rPr lang="en-IN">
                    <a:noFill/>
                  </a:rPr>
                  <a:t> </a:t>
                </a:r>
              </a:p>
            </p:txBody>
          </p:sp>
        </mc:Fallback>
      </mc:AlternateContent>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5245707"/>
            <a:ext cx="7375691" cy="843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displaystyle P(k{\text{ events in interval}})={\frac {\lambda ^{k}e^{-\lambda }}{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descr="{\displaystyle P(k{\text{ events in interval}})={\frac {\lambda ^{k}e^{-\lambda }}{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descr="{\displaystyle P(k{\text{ events in interval}})={\frac {\lambda ^{k}e^{-\lambda }}{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10" descr="{\displaystyle P(k{\text{ events in interval}})={\frac {\lambda ^{k}e^{-\lambda }}{k!}}}"/>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445198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Pure ALOHA</a:t>
            </a:r>
            <a:endParaRPr lang="en-IN"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1759424"/>
            <a:ext cx="8229601" cy="2736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4756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914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98105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331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3316"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331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331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3319"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332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3321"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2" name="Line 10"/>
          <p:cNvSpPr>
            <a:spLocks noChangeShapeType="1"/>
          </p:cNvSpPr>
          <p:nvPr/>
        </p:nvSpPr>
        <p:spPr bwMode="auto">
          <a:xfrm>
            <a:off x="458788" y="4953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323" name="Rectangle 11"/>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3200" b="1">
                <a:latin typeface="Arial" pitchFamily="34" charset="0"/>
              </a:rPr>
              <a:t>The throughput ( S) for pure ALOHA is </a:t>
            </a:r>
            <a:br>
              <a:rPr lang="en-US" sz="3200" b="1">
                <a:latin typeface="Arial" pitchFamily="34" charset="0"/>
              </a:rPr>
            </a:br>
            <a:r>
              <a:rPr lang="en-US" sz="3200" b="1">
                <a:solidFill>
                  <a:schemeClr val="hlink"/>
                </a:solidFill>
                <a:latin typeface="Arial" pitchFamily="34" charset="0"/>
              </a:rPr>
              <a:t>S = G × e </a:t>
            </a:r>
            <a:r>
              <a:rPr lang="en-US" sz="3200" b="1" baseline="30000">
                <a:solidFill>
                  <a:schemeClr val="hlink"/>
                </a:solidFill>
                <a:latin typeface="Arial" pitchFamily="34" charset="0"/>
              </a:rPr>
              <a:t>−2G  </a:t>
            </a:r>
            <a:r>
              <a:rPr lang="en-US" sz="3200" b="1">
                <a:latin typeface="Arial" pitchFamily="34" charset="0"/>
              </a:rPr>
              <a:t>.</a:t>
            </a:r>
          </a:p>
          <a:p>
            <a:pPr algn="ctr"/>
            <a:r>
              <a:rPr lang="en-US" sz="3200" b="1">
                <a:latin typeface="Arial" pitchFamily="34" charset="0"/>
              </a:rPr>
              <a:t>The maximum throughput</a:t>
            </a:r>
          </a:p>
          <a:p>
            <a:pPr algn="ctr"/>
            <a:r>
              <a:rPr lang="en-US" sz="3200" b="1">
                <a:solidFill>
                  <a:schemeClr val="hlink"/>
                </a:solidFill>
                <a:latin typeface="Arial" pitchFamily="34" charset="0"/>
              </a:rPr>
              <a:t>S</a:t>
            </a:r>
            <a:r>
              <a:rPr lang="en-US" sz="3200" b="1" baseline="-18000">
                <a:solidFill>
                  <a:schemeClr val="hlink"/>
                </a:solidFill>
                <a:latin typeface="Arial" pitchFamily="34" charset="0"/>
              </a:rPr>
              <a:t>max</a:t>
            </a:r>
            <a:r>
              <a:rPr lang="en-US" sz="3200" b="1">
                <a:solidFill>
                  <a:schemeClr val="hlink"/>
                </a:solidFill>
                <a:latin typeface="Arial" pitchFamily="34" charset="0"/>
              </a:rPr>
              <a:t> = 0.184 </a:t>
            </a:r>
            <a:r>
              <a:rPr lang="en-US" sz="3200" b="1">
                <a:latin typeface="Arial" pitchFamily="34" charset="0"/>
              </a:rPr>
              <a:t>when G= (1/2).</a:t>
            </a:r>
          </a:p>
        </p:txBody>
      </p:sp>
      <p:grpSp>
        <p:nvGrpSpPr>
          <p:cNvPr id="13324" name="Group 12"/>
          <p:cNvGrpSpPr>
            <a:grpSpLocks/>
          </p:cNvGrpSpPr>
          <p:nvPr/>
        </p:nvGrpSpPr>
        <p:grpSpPr bwMode="auto">
          <a:xfrm>
            <a:off x="457200" y="1981200"/>
            <a:ext cx="1143000" cy="566738"/>
            <a:chOff x="1200" y="1248"/>
            <a:chExt cx="720" cy="357"/>
          </a:xfrm>
        </p:grpSpPr>
        <p:pic>
          <p:nvPicPr>
            <p:cNvPr id="13326"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r>
                <a:rPr lang="en-US" sz="2800" b="1" i="1">
                  <a:solidFill>
                    <a:schemeClr val="hlink"/>
                  </a:solidFill>
                  <a:latin typeface="Times New Roman" pitchFamily="18" charset="0"/>
                </a:rPr>
                <a:t>Note</a:t>
              </a:r>
            </a:p>
          </p:txBody>
        </p:sp>
      </p:grpSp>
      <p:sp>
        <p:nvSpPr>
          <p:cNvPr id="13325" name="Text Box 15"/>
          <p:cNvSpPr txBox="1">
            <a:spLocks noChangeArrowheads="1"/>
          </p:cNvSpPr>
          <p:nvPr/>
        </p:nvSpPr>
        <p:spPr bwMode="auto">
          <a:xfrm>
            <a:off x="685800" y="5105400"/>
            <a:ext cx="6096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pPr>
              <a:spcBef>
                <a:spcPct val="50000"/>
              </a:spcBef>
            </a:pPr>
            <a:r>
              <a:rPr lang="en-US" sz="1400" b="1">
                <a:latin typeface="Times New Roman" pitchFamily="18" charset="0"/>
              </a:rPr>
              <a:t>G = </a:t>
            </a:r>
            <a:r>
              <a:rPr lang="en-US" sz="1400" b="1" u="sng">
                <a:latin typeface="Times New Roman" pitchFamily="18" charset="0"/>
              </a:rPr>
              <a:t>Average number </a:t>
            </a:r>
            <a:r>
              <a:rPr lang="en-US" sz="1400" b="1">
                <a:latin typeface="Times New Roman" pitchFamily="18" charset="0"/>
              </a:rPr>
              <a:t>of frames generated by the system (all stations) during one </a:t>
            </a:r>
            <a:r>
              <a:rPr lang="en-US" sz="1400" b="1" u="sng">
                <a:latin typeface="Times New Roman" pitchFamily="18" charset="0"/>
              </a:rPr>
              <a:t>frame transmission time</a:t>
            </a:r>
          </a:p>
        </p:txBody>
      </p:sp>
    </p:spTree>
    <p:extLst>
      <p:ext uri="{BB962C8B-B14F-4D97-AF65-F5344CB8AC3E}">
        <p14:creationId xmlns:p14="http://schemas.microsoft.com/office/powerpoint/2010/main" val="4635578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Slotted ALOHA</a:t>
            </a:r>
            <a:endParaRPr lang="en-US" dirty="0">
              <a:solidFill>
                <a:srgbClr val="FF0000"/>
              </a:solidFill>
            </a:endParaRPr>
          </a:p>
        </p:txBody>
      </p:sp>
      <p:pic>
        <p:nvPicPr>
          <p:cNvPr id="1026" name="Picture 2" descr="D:\KJSCE\CCN\slotted aloha.jpg"/>
          <p:cNvPicPr>
            <a:picLocks noChangeAspect="1" noChangeArrowheads="1"/>
          </p:cNvPicPr>
          <p:nvPr/>
        </p:nvPicPr>
        <p:blipFill>
          <a:blip r:embed="rId2" cstate="print"/>
          <a:srcRect/>
          <a:stretch>
            <a:fillRect/>
          </a:stretch>
        </p:blipFill>
        <p:spPr bwMode="auto">
          <a:xfrm>
            <a:off x="1" y="2133600"/>
            <a:ext cx="9144000" cy="3643313"/>
          </a:xfrm>
          <a:prstGeom prst="rect">
            <a:avLst/>
          </a:prstGeom>
          <a:noFill/>
        </p:spPr>
      </p:pic>
      <p:sp>
        <p:nvSpPr>
          <p:cNvPr id="5" name="TextBox 4"/>
          <p:cNvSpPr txBox="1"/>
          <p:nvPr/>
        </p:nvSpPr>
        <p:spPr>
          <a:xfrm>
            <a:off x="1066800" y="1371600"/>
            <a:ext cx="7315200" cy="707886"/>
          </a:xfrm>
          <a:prstGeom prst="rect">
            <a:avLst/>
          </a:prstGeom>
          <a:noFill/>
        </p:spPr>
        <p:txBody>
          <a:bodyPr wrap="square" rtlCol="0">
            <a:spAutoFit/>
          </a:bodyPr>
          <a:lstStyle/>
          <a:p>
            <a:pPr>
              <a:buFont typeface="Arial" pitchFamily="34" charset="0"/>
              <a:buChar char="•"/>
            </a:pPr>
            <a:r>
              <a:rPr lang="en-US" sz="2000" dirty="0" smtClean="0">
                <a:latin typeface="Times New Roman" pitchFamily="18" charset="0"/>
                <a:cs typeface="Times New Roman" pitchFamily="18" charset="0"/>
              </a:rPr>
              <a:t>Transmits frame in fixed time slots</a:t>
            </a:r>
          </a:p>
          <a:p>
            <a:pPr>
              <a:buFont typeface="Arial" pitchFamily="34" charset="0"/>
              <a:buChar char="•"/>
            </a:pPr>
            <a:r>
              <a:rPr lang="en-US" sz="2000" dirty="0" smtClean="0">
                <a:latin typeface="Times New Roman" pitchFamily="18" charset="0"/>
                <a:cs typeface="Times New Roman" pitchFamily="18" charset="0"/>
              </a:rPr>
              <a:t>Vulnerable period reduces to </a:t>
            </a:r>
            <a:r>
              <a:rPr lang="en-US" sz="2000" dirty="0" err="1" smtClean="0">
                <a:latin typeface="Times New Roman" pitchFamily="18" charset="0"/>
                <a:cs typeface="Times New Roman" pitchFamily="18" charset="0"/>
              </a:rPr>
              <a:t>T</a:t>
            </a:r>
            <a:r>
              <a:rPr lang="en-US" sz="1600" dirty="0" err="1" smtClean="0">
                <a:latin typeface="Times New Roman" pitchFamily="18" charset="0"/>
                <a:cs typeface="Times New Roman" pitchFamily="18" charset="0"/>
              </a:rPr>
              <a:t>f</a:t>
            </a:r>
            <a:r>
              <a:rPr lang="en-US" sz="2000" dirty="0" smtClean="0">
                <a:latin typeface="Times New Roman" pitchFamily="18" charset="0"/>
                <a:cs typeface="Times New Roman" pitchFamily="18" charset="0"/>
              </a:rPr>
              <a:t> from 2T</a:t>
            </a:r>
            <a:r>
              <a:rPr lang="en-US" sz="1600" dirty="0" smtClean="0">
                <a:latin typeface="Times New Roman" pitchFamily="18" charset="0"/>
                <a:cs typeface="Times New Roman" pitchFamily="18" charset="0"/>
              </a:rPr>
              <a:t>f</a:t>
            </a:r>
            <a:r>
              <a:rPr lang="en-US" sz="2000" dirty="0" smtClean="0">
                <a:latin typeface="Times New Roman" pitchFamily="18" charset="0"/>
                <a:cs typeface="Times New Roman" pitchFamily="18" charset="0"/>
              </a:rPr>
              <a:t> of pure ALOHA</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4009089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Vulnerable period</a:t>
            </a:r>
          </a:p>
        </p:txBody>
      </p:sp>
      <p:pic>
        <p:nvPicPr>
          <p:cNvPr id="2050" name="Picture 2" descr="D:\KJSCE\CCN\vulnerable period.jpg"/>
          <p:cNvPicPr>
            <a:picLocks noChangeAspect="1" noChangeArrowheads="1"/>
          </p:cNvPicPr>
          <p:nvPr/>
        </p:nvPicPr>
        <p:blipFill>
          <a:blip r:embed="rId2" cstate="print"/>
          <a:srcRect/>
          <a:stretch>
            <a:fillRect/>
          </a:stretch>
        </p:blipFill>
        <p:spPr bwMode="auto">
          <a:xfrm>
            <a:off x="457200" y="2438400"/>
            <a:ext cx="8534400" cy="2966904"/>
          </a:xfrm>
          <a:prstGeom prst="rect">
            <a:avLst/>
          </a:prstGeom>
          <a:noFill/>
        </p:spPr>
      </p:pic>
    </p:spTree>
    <p:extLst>
      <p:ext uri="{BB962C8B-B14F-4D97-AF65-F5344CB8AC3E}">
        <p14:creationId xmlns:p14="http://schemas.microsoft.com/office/powerpoint/2010/main" val="230952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82" y="0"/>
            <a:ext cx="915768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2913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741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7412" name="Rectangle 4"/>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741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741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7415" name="Rectangle 7"/>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741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a:p>
        </p:txBody>
      </p:sp>
      <p:sp>
        <p:nvSpPr>
          <p:cNvPr id="17417" name="Line 9"/>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18" name="Line 10"/>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19" name="Rectangle 11"/>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3200" b="1">
                <a:latin typeface="Arial" pitchFamily="34" charset="0"/>
              </a:rPr>
              <a:t>The throughput for slotted ALOHA is </a:t>
            </a:r>
            <a:br>
              <a:rPr lang="en-US" sz="3200" b="1">
                <a:latin typeface="Arial" pitchFamily="34" charset="0"/>
              </a:rPr>
            </a:br>
            <a:r>
              <a:rPr lang="en-US" sz="3200" b="1">
                <a:solidFill>
                  <a:schemeClr val="hlink"/>
                </a:solidFill>
                <a:latin typeface="Arial" pitchFamily="34" charset="0"/>
              </a:rPr>
              <a:t>S = G × e</a:t>
            </a:r>
            <a:r>
              <a:rPr lang="en-US" sz="3200" b="1" baseline="30000">
                <a:solidFill>
                  <a:schemeClr val="hlink"/>
                </a:solidFill>
                <a:latin typeface="Arial" pitchFamily="34" charset="0"/>
              </a:rPr>
              <a:t>−G</a:t>
            </a:r>
            <a:r>
              <a:rPr lang="en-US" sz="3200" b="1">
                <a:latin typeface="Arial" pitchFamily="34" charset="0"/>
              </a:rPr>
              <a:t> .</a:t>
            </a:r>
          </a:p>
          <a:p>
            <a:pPr algn="ctr"/>
            <a:r>
              <a:rPr lang="en-US" sz="3200" b="1">
                <a:latin typeface="Arial" pitchFamily="34" charset="0"/>
              </a:rPr>
              <a:t>The maximum throughput </a:t>
            </a:r>
            <a:br>
              <a:rPr lang="en-US" sz="3200" b="1">
                <a:latin typeface="Arial" pitchFamily="34" charset="0"/>
              </a:rPr>
            </a:br>
            <a:r>
              <a:rPr lang="en-US" sz="3200" b="1">
                <a:solidFill>
                  <a:schemeClr val="hlink"/>
                </a:solidFill>
                <a:latin typeface="Arial" pitchFamily="34" charset="0"/>
              </a:rPr>
              <a:t>S</a:t>
            </a:r>
            <a:r>
              <a:rPr lang="en-US" sz="3200" b="1" baseline="-18000">
                <a:solidFill>
                  <a:schemeClr val="hlink"/>
                </a:solidFill>
                <a:latin typeface="Arial" pitchFamily="34" charset="0"/>
              </a:rPr>
              <a:t>max</a:t>
            </a:r>
            <a:r>
              <a:rPr lang="en-US" sz="3200" b="1">
                <a:solidFill>
                  <a:schemeClr val="hlink"/>
                </a:solidFill>
                <a:latin typeface="Arial" pitchFamily="34" charset="0"/>
              </a:rPr>
              <a:t> = 0.368</a:t>
            </a:r>
            <a:r>
              <a:rPr lang="en-US" sz="3200" b="1">
                <a:latin typeface="Arial" pitchFamily="34" charset="0"/>
              </a:rPr>
              <a:t> when G = 1.</a:t>
            </a:r>
          </a:p>
        </p:txBody>
      </p:sp>
      <p:grpSp>
        <p:nvGrpSpPr>
          <p:cNvPr id="17420" name="Group 12"/>
          <p:cNvGrpSpPr>
            <a:grpSpLocks/>
          </p:cNvGrpSpPr>
          <p:nvPr/>
        </p:nvGrpSpPr>
        <p:grpSpPr bwMode="auto">
          <a:xfrm>
            <a:off x="457200" y="1981200"/>
            <a:ext cx="1143000" cy="566738"/>
            <a:chOff x="1200" y="1248"/>
            <a:chExt cx="720" cy="357"/>
          </a:xfrm>
        </p:grpSpPr>
        <p:pic>
          <p:nvPicPr>
            <p:cNvPr id="17421"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2"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Tahoma" pitchFamily="34" charset="0"/>
                  <a:cs typeface="Times New Roman" pitchFamily="18" charset="0"/>
                </a:defRPr>
              </a:lvl1pPr>
              <a:lvl2pPr marL="742950" indent="-285750">
                <a:defRPr sz="2000">
                  <a:solidFill>
                    <a:schemeClr val="tx1"/>
                  </a:solidFill>
                  <a:latin typeface="Tahoma" pitchFamily="34" charset="0"/>
                  <a:cs typeface="Times New Roman" pitchFamily="18" charset="0"/>
                </a:defRPr>
              </a:lvl2pPr>
              <a:lvl3pPr marL="1143000" indent="-228600">
                <a:defRPr sz="2000">
                  <a:solidFill>
                    <a:schemeClr val="tx1"/>
                  </a:solidFill>
                  <a:latin typeface="Tahoma" pitchFamily="34" charset="0"/>
                  <a:cs typeface="Times New Roman" pitchFamily="18" charset="0"/>
                </a:defRPr>
              </a:lvl3pPr>
              <a:lvl4pPr marL="1600200" indent="-228600">
                <a:defRPr sz="2000">
                  <a:solidFill>
                    <a:schemeClr val="tx1"/>
                  </a:solidFill>
                  <a:latin typeface="Tahoma" pitchFamily="34" charset="0"/>
                  <a:cs typeface="Times New Roman" pitchFamily="18" charset="0"/>
                </a:defRPr>
              </a:lvl4pPr>
              <a:lvl5pPr marL="2057400" indent="-228600">
                <a:defRPr sz="2000">
                  <a:solidFill>
                    <a:schemeClr val="tx1"/>
                  </a:solidFill>
                  <a:latin typeface="Tahoma"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Tahoma"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Tahoma"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Tahoma"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Tahoma" pitchFamily="34" charset="0"/>
                  <a:cs typeface="Times New Roman" pitchFamily="18" charset="0"/>
                </a:defRPr>
              </a:lvl9pPr>
            </a:lstStyle>
            <a:p>
              <a:r>
                <a:rPr lang="en-US" sz="2800" b="1" i="1">
                  <a:solidFill>
                    <a:schemeClr val="hlink"/>
                  </a:solidFill>
                  <a:latin typeface="Times New Roman" pitchFamily="18" charset="0"/>
                </a:rPr>
                <a:t>Note</a:t>
              </a:r>
            </a:p>
          </p:txBody>
        </p:sp>
      </p:grpSp>
    </p:spTree>
    <p:extLst>
      <p:ext uri="{BB962C8B-B14F-4D97-AF65-F5344CB8AC3E}">
        <p14:creationId xmlns:p14="http://schemas.microsoft.com/office/powerpoint/2010/main" val="2892519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0000"/>
                </a:solidFill>
              </a:rPr>
              <a:t>Efficiency</a:t>
            </a:r>
          </a:p>
        </p:txBody>
      </p:sp>
      <p:sp>
        <p:nvSpPr>
          <p:cNvPr id="3" name="Content Placeholder 2"/>
          <p:cNvSpPr>
            <a:spLocks noGrp="1"/>
          </p:cNvSpPr>
          <p:nvPr>
            <p:ph idx="1"/>
          </p:nvPr>
        </p:nvSpPr>
        <p:spPr>
          <a:xfrm>
            <a:off x="457200" y="5715000"/>
            <a:ext cx="8229600" cy="411163"/>
          </a:xfrm>
        </p:spPr>
        <p:txBody>
          <a:bodyPr>
            <a:normAutofit fontScale="77500" lnSpcReduction="20000"/>
          </a:bodyPr>
          <a:lstStyle/>
          <a:p>
            <a:r>
              <a:rPr lang="en-US" altLang="en-US" dirty="0"/>
              <a:t>Throughput versus offered traffic for ALOHA systems.</a:t>
            </a:r>
          </a:p>
          <a:p>
            <a:endParaRPr lang="en-US" dirty="0"/>
          </a:p>
        </p:txBody>
      </p:sp>
      <p:pic>
        <p:nvPicPr>
          <p:cNvPr id="5" name="Picture 4" descr="4-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9925" y="1443038"/>
            <a:ext cx="7818438"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021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76200"/>
            <a:ext cx="7772400" cy="670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5794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75" y="580476"/>
            <a:ext cx="7814326" cy="4677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4168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76200"/>
            <a:ext cx="7467600" cy="313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200399"/>
            <a:ext cx="7620000" cy="3637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36044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228600" y="228600"/>
            <a:ext cx="8610600" cy="6477000"/>
          </a:xfrm>
        </p:spPr>
        <p:txBody>
          <a:bodyPr>
            <a:normAutofit lnSpcReduction="10000"/>
          </a:bodyPr>
          <a:lstStyle/>
          <a:p>
            <a:pPr algn="l">
              <a:spcBef>
                <a:spcPts val="0"/>
              </a:spcBef>
            </a:pPr>
            <a:r>
              <a:rPr lang="en-US" sz="3600" b="1" dirty="0">
                <a:solidFill>
                  <a:schemeClr val="tx1"/>
                </a:solidFill>
                <a:ea typeface="Calibri"/>
                <a:cs typeface="Times New Roman"/>
              </a:rPr>
              <a:t> CSMA :- [ CARRIER SENSE MULTIPLE ACCESS ] :-</a:t>
            </a:r>
            <a:endParaRPr lang="en-US" dirty="0">
              <a:solidFill>
                <a:schemeClr val="tx1"/>
              </a:solidFill>
              <a:ea typeface="Calibri"/>
              <a:cs typeface="Times New Roman"/>
            </a:endParaRPr>
          </a:p>
          <a:p>
            <a:pPr marL="457200" indent="-457200" algn="l">
              <a:spcBef>
                <a:spcPts val="0"/>
              </a:spcBef>
              <a:buFont typeface="Arial" pitchFamily="34" charset="0"/>
              <a:buChar char="•"/>
            </a:pPr>
            <a:r>
              <a:rPr lang="en-US" dirty="0">
                <a:solidFill>
                  <a:schemeClr val="tx1"/>
                </a:solidFill>
                <a:ea typeface="Calibri"/>
                <a:cs typeface="Times New Roman"/>
              </a:rPr>
              <a:t>To minimize collision and to increase the performance, the CSMA method was developed.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The </a:t>
            </a:r>
            <a:r>
              <a:rPr lang="en-US" dirty="0">
                <a:solidFill>
                  <a:schemeClr val="tx1"/>
                </a:solidFill>
                <a:ea typeface="Calibri"/>
                <a:cs typeface="Times New Roman"/>
              </a:rPr>
              <a:t>chance of collision can be reduced; if </a:t>
            </a:r>
            <a:r>
              <a:rPr lang="en-US" dirty="0" smtClean="0">
                <a:solidFill>
                  <a:schemeClr val="tx1"/>
                </a:solidFill>
                <a:ea typeface="Calibri"/>
                <a:cs typeface="Times New Roman"/>
              </a:rPr>
              <a:t>station </a:t>
            </a:r>
            <a:r>
              <a:rPr lang="en-US" dirty="0">
                <a:solidFill>
                  <a:schemeClr val="tx1"/>
                </a:solidFill>
                <a:ea typeface="Calibri"/>
                <a:cs typeface="Times New Roman"/>
              </a:rPr>
              <a:t>senses the medium, before trying to use it. </a:t>
            </a:r>
            <a:endParaRPr lang="en-US" dirty="0" smtClean="0">
              <a:solidFill>
                <a:schemeClr val="tx1"/>
              </a:solidFill>
              <a:ea typeface="Calibri"/>
              <a:cs typeface="Times New Roman"/>
            </a:endParaRPr>
          </a:p>
          <a:p>
            <a:pPr marL="457200" indent="-457200" algn="l">
              <a:spcBef>
                <a:spcPts val="0"/>
              </a:spcBef>
              <a:buFont typeface="Arial" pitchFamily="34" charset="0"/>
              <a:buChar char="•"/>
            </a:pPr>
            <a:r>
              <a:rPr lang="en-US" dirty="0" smtClean="0">
                <a:solidFill>
                  <a:schemeClr val="tx1"/>
                </a:solidFill>
                <a:ea typeface="Calibri"/>
                <a:cs typeface="Times New Roman"/>
              </a:rPr>
              <a:t>CSMA </a:t>
            </a:r>
            <a:r>
              <a:rPr lang="en-US" dirty="0">
                <a:solidFill>
                  <a:schemeClr val="tx1"/>
                </a:solidFill>
                <a:ea typeface="Calibri"/>
                <a:cs typeface="Times New Roman"/>
              </a:rPr>
              <a:t>requires; that each station first </a:t>
            </a:r>
            <a:r>
              <a:rPr lang="en-US" dirty="0" smtClean="0">
                <a:solidFill>
                  <a:schemeClr val="tx1"/>
                </a:solidFill>
                <a:ea typeface="Calibri"/>
                <a:cs typeface="Times New Roman"/>
              </a:rPr>
              <a:t>checks the </a:t>
            </a:r>
            <a:r>
              <a:rPr lang="en-US" dirty="0">
                <a:solidFill>
                  <a:schemeClr val="tx1"/>
                </a:solidFill>
                <a:ea typeface="Calibri"/>
                <a:cs typeface="Times New Roman"/>
              </a:rPr>
              <a:t>medium, </a:t>
            </a:r>
            <a:r>
              <a:rPr lang="en-US" dirty="0" smtClean="0">
                <a:solidFill>
                  <a:schemeClr val="tx1"/>
                </a:solidFill>
                <a:ea typeface="Calibri"/>
                <a:cs typeface="Times New Roman"/>
              </a:rPr>
              <a:t>before </a:t>
            </a:r>
            <a:r>
              <a:rPr lang="en-US" dirty="0">
                <a:solidFill>
                  <a:schemeClr val="tx1"/>
                </a:solidFill>
                <a:ea typeface="Calibri"/>
                <a:cs typeface="Times New Roman"/>
              </a:rPr>
              <a:t>sending.   </a:t>
            </a:r>
          </a:p>
          <a:p>
            <a:pPr marL="457200" indent="-457200" algn="l">
              <a:spcBef>
                <a:spcPts val="0"/>
              </a:spcBef>
              <a:buFont typeface="Arial" pitchFamily="34" charset="0"/>
              <a:buChar char="•"/>
            </a:pPr>
            <a:r>
              <a:rPr lang="en-US" dirty="0" smtClean="0">
                <a:solidFill>
                  <a:schemeClr val="tx1"/>
                </a:solidFill>
                <a:ea typeface="Calibri"/>
                <a:cs typeface="Times New Roman"/>
              </a:rPr>
              <a:t> CSMA </a:t>
            </a:r>
            <a:r>
              <a:rPr lang="en-US" dirty="0">
                <a:solidFill>
                  <a:schemeClr val="tx1"/>
                </a:solidFill>
                <a:ea typeface="Calibri"/>
                <a:cs typeface="Times New Roman"/>
              </a:rPr>
              <a:t>is based on the principle “ Sense before transmission “ or  “listen before talk “.</a:t>
            </a:r>
          </a:p>
          <a:p>
            <a:pPr marL="457200" indent="-457200" algn="l">
              <a:spcBef>
                <a:spcPts val="0"/>
              </a:spcBef>
              <a:buFont typeface="Arial" pitchFamily="34" charset="0"/>
              <a:buChar char="•"/>
            </a:pPr>
            <a:r>
              <a:rPr lang="en-US" dirty="0">
                <a:solidFill>
                  <a:schemeClr val="tx1"/>
                </a:solidFill>
                <a:ea typeface="Calibri"/>
                <a:cs typeface="Times New Roman"/>
              </a:rPr>
              <a:t>CSMA can reduce the possibility of collision; but it cannot eliminate.  </a:t>
            </a:r>
          </a:p>
          <a:p>
            <a:pPr algn="l"/>
            <a:endParaRPr lang="en-US" dirty="0">
              <a:solidFill>
                <a:schemeClr val="tx1"/>
              </a:solidFill>
            </a:endParaRPr>
          </a:p>
        </p:txBody>
      </p:sp>
    </p:spTree>
    <p:extLst>
      <p:ext uri="{BB962C8B-B14F-4D97-AF65-F5344CB8AC3E}">
        <p14:creationId xmlns:p14="http://schemas.microsoft.com/office/powerpoint/2010/main" val="210161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txBody>
          <a:bodyPr>
            <a:normAutofit fontScale="90000"/>
          </a:bodyPr>
          <a:lstStyle/>
          <a:p>
            <a:r>
              <a:rPr lang="en-IN" dirty="0" smtClean="0"/>
              <a:t>Collision in CSMA</a:t>
            </a:r>
            <a:endParaRPr lang="en-IN" dirty="0"/>
          </a:p>
        </p:txBody>
      </p:sp>
      <p:pic>
        <p:nvPicPr>
          <p:cNvPr id="4" name="Content Placeholder 3" descr="Image result for csma/cd"/>
          <p:cNvPicPr>
            <a:picLocks noGrp="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52400" y="2057400"/>
            <a:ext cx="3810000" cy="3124200"/>
          </a:xfrm>
          <a:prstGeom prst="rect">
            <a:avLst/>
          </a:prstGeom>
          <a:noFill/>
          <a:ln>
            <a:noFill/>
          </a:ln>
        </p:spPr>
      </p:pic>
      <p:sp>
        <p:nvSpPr>
          <p:cNvPr id="5" name="Content Placeholder 4"/>
          <p:cNvSpPr>
            <a:spLocks noGrp="1"/>
          </p:cNvSpPr>
          <p:nvPr>
            <p:ph sz="half" idx="2"/>
          </p:nvPr>
        </p:nvSpPr>
        <p:spPr>
          <a:xfrm>
            <a:off x="4038600" y="685800"/>
            <a:ext cx="4953000" cy="5791200"/>
          </a:xfrm>
        </p:spPr>
        <p:txBody>
          <a:bodyPr>
            <a:normAutofit fontScale="85000" lnSpcReduction="10000"/>
          </a:bodyPr>
          <a:lstStyle/>
          <a:p>
            <a:r>
              <a:rPr lang="en-US" dirty="0">
                <a:ea typeface="Calibri"/>
                <a:cs typeface="Times New Roman"/>
              </a:rPr>
              <a:t>At </a:t>
            </a:r>
            <a:r>
              <a:rPr lang="en-US" b="1" dirty="0">
                <a:ea typeface="Calibri"/>
                <a:cs typeface="Times New Roman"/>
              </a:rPr>
              <a:t>t</a:t>
            </a:r>
            <a:r>
              <a:rPr lang="en-US" b="1" baseline="-25000" dirty="0">
                <a:ea typeface="Calibri"/>
                <a:cs typeface="Times New Roman"/>
              </a:rPr>
              <a:t>1</a:t>
            </a:r>
            <a:r>
              <a:rPr lang="en-US" dirty="0">
                <a:ea typeface="Calibri"/>
                <a:cs typeface="Times New Roman"/>
              </a:rPr>
              <a:t>, </a:t>
            </a:r>
            <a:r>
              <a:rPr lang="en-US" dirty="0" smtClean="0">
                <a:ea typeface="Calibri"/>
                <a:cs typeface="Times New Roman"/>
              </a:rPr>
              <a:t> </a:t>
            </a:r>
            <a:r>
              <a:rPr lang="en-US" dirty="0">
                <a:ea typeface="Calibri"/>
                <a:cs typeface="Times New Roman"/>
              </a:rPr>
              <a:t>“ A “ senses, the medium to be idle.  So it sends frame.  </a:t>
            </a:r>
          </a:p>
          <a:p>
            <a:r>
              <a:rPr lang="en-US" dirty="0" smtClean="0">
                <a:ea typeface="Calibri"/>
                <a:cs typeface="Times New Roman"/>
              </a:rPr>
              <a:t>At t</a:t>
            </a:r>
            <a:r>
              <a:rPr lang="en-US" b="1" baseline="-25000" dirty="0" smtClean="0">
                <a:ea typeface="Calibri"/>
                <a:cs typeface="Times New Roman"/>
              </a:rPr>
              <a:t>2</a:t>
            </a:r>
            <a:r>
              <a:rPr lang="en-US" dirty="0" smtClean="0">
                <a:ea typeface="Calibri"/>
                <a:cs typeface="Times New Roman"/>
              </a:rPr>
              <a:t>, </a:t>
            </a:r>
            <a:r>
              <a:rPr lang="en-US" dirty="0">
                <a:ea typeface="Calibri"/>
                <a:cs typeface="Times New Roman"/>
              </a:rPr>
              <a:t>(</a:t>
            </a:r>
            <a:r>
              <a:rPr lang="en-US" dirty="0" smtClean="0">
                <a:ea typeface="Calibri"/>
                <a:cs typeface="Times New Roman"/>
              </a:rPr>
              <a:t>t2&gt;t1) “Z” </a:t>
            </a:r>
            <a:r>
              <a:rPr lang="en-US" dirty="0">
                <a:ea typeface="Calibri"/>
                <a:cs typeface="Times New Roman"/>
              </a:rPr>
              <a:t>senses the </a:t>
            </a:r>
            <a:r>
              <a:rPr lang="en-US" dirty="0" smtClean="0">
                <a:ea typeface="Calibri"/>
                <a:cs typeface="Times New Roman"/>
              </a:rPr>
              <a:t>medium </a:t>
            </a:r>
            <a:r>
              <a:rPr lang="en-US" dirty="0">
                <a:ea typeface="Calibri"/>
                <a:cs typeface="Times New Roman"/>
              </a:rPr>
              <a:t>to be </a:t>
            </a:r>
            <a:r>
              <a:rPr lang="en-US" dirty="0" smtClean="0">
                <a:ea typeface="Calibri"/>
                <a:cs typeface="Times New Roman"/>
              </a:rPr>
              <a:t>idle , as propagation from station A has not reached station Z </a:t>
            </a:r>
            <a:r>
              <a:rPr lang="en-US" dirty="0">
                <a:ea typeface="Calibri"/>
                <a:cs typeface="Times New Roman"/>
              </a:rPr>
              <a:t>and so it sends a frame.  </a:t>
            </a:r>
            <a:endParaRPr lang="en-US" dirty="0" smtClean="0">
              <a:ea typeface="Calibri"/>
              <a:cs typeface="Times New Roman"/>
            </a:endParaRPr>
          </a:p>
          <a:p>
            <a:r>
              <a:rPr lang="en-US" dirty="0" smtClean="0">
                <a:cs typeface="Times New Roman"/>
              </a:rPr>
              <a:t>The two signals collide at time t3(&gt;t2&gt;t1).</a:t>
            </a:r>
          </a:p>
          <a:p>
            <a:r>
              <a:rPr lang="en-US" dirty="0" smtClean="0">
                <a:cs typeface="Times New Roman"/>
              </a:rPr>
              <a:t>The garbled signal reaches at </a:t>
            </a:r>
            <a:r>
              <a:rPr lang="en-US" dirty="0" err="1" smtClean="0">
                <a:cs typeface="Times New Roman"/>
              </a:rPr>
              <a:t>stn</a:t>
            </a:r>
            <a:r>
              <a:rPr lang="en-US" dirty="0" smtClean="0">
                <a:cs typeface="Times New Roman"/>
              </a:rPr>
              <a:t> Z at time t4 and at </a:t>
            </a:r>
            <a:r>
              <a:rPr lang="en-US" dirty="0" err="1" smtClean="0">
                <a:cs typeface="Times New Roman"/>
              </a:rPr>
              <a:t>stn</a:t>
            </a:r>
            <a:r>
              <a:rPr lang="en-US" dirty="0" smtClean="0">
                <a:cs typeface="Times New Roman"/>
              </a:rPr>
              <a:t> A at time t5.</a:t>
            </a:r>
          </a:p>
          <a:p>
            <a:pPr marL="0" indent="0">
              <a:buNone/>
            </a:pPr>
            <a:endParaRPr lang="en-US" dirty="0" smtClean="0">
              <a:cs typeface="Times New Roman"/>
            </a:endParaRPr>
          </a:p>
          <a:p>
            <a:r>
              <a:rPr lang="en-US" dirty="0">
                <a:ea typeface="Calibri"/>
                <a:cs typeface="Times New Roman"/>
              </a:rPr>
              <a:t>Hence loss of frame.  “ </a:t>
            </a:r>
            <a:r>
              <a:rPr lang="en-US" b="1" i="1" dirty="0">
                <a:solidFill>
                  <a:srgbClr val="0070C0"/>
                </a:solidFill>
                <a:ea typeface="Calibri"/>
                <a:cs typeface="Times New Roman"/>
              </a:rPr>
              <a:t>Collision exists because of Propagation Delay</a:t>
            </a:r>
            <a:r>
              <a:rPr lang="en-US" dirty="0">
                <a:ea typeface="Calibri"/>
                <a:cs typeface="Times New Roman"/>
              </a:rPr>
              <a:t> “.  i.e.  it takes some time to reach from one station to another. </a:t>
            </a:r>
            <a:endParaRPr lang="en-US" dirty="0"/>
          </a:p>
          <a:p>
            <a:endParaRPr lang="en-IN" dirty="0"/>
          </a:p>
        </p:txBody>
      </p:sp>
    </p:spTree>
    <p:extLst>
      <p:ext uri="{BB962C8B-B14F-4D97-AF65-F5344CB8AC3E}">
        <p14:creationId xmlns:p14="http://schemas.microsoft.com/office/powerpoint/2010/main" val="348899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spcBef>
                <a:spcPts val="0"/>
              </a:spcBef>
            </a:pPr>
            <a:r>
              <a:rPr lang="en-US" sz="3600" b="1" dirty="0">
                <a:solidFill>
                  <a:schemeClr val="tx1"/>
                </a:solidFill>
                <a:ea typeface="Calibri"/>
                <a:cs typeface="Times New Roman"/>
              </a:rPr>
              <a:t>Persistence Method </a:t>
            </a:r>
            <a:r>
              <a:rPr lang="en-US" sz="3600" b="1" dirty="0" smtClean="0">
                <a:solidFill>
                  <a:schemeClr val="tx1"/>
                </a:solidFill>
                <a:ea typeface="Calibri"/>
                <a:cs typeface="Times New Roman"/>
              </a:rPr>
              <a:t>:-</a:t>
            </a:r>
          </a:p>
          <a:p>
            <a:pPr algn="l">
              <a:spcBef>
                <a:spcPts val="0"/>
              </a:spcBef>
            </a:pPr>
            <a:r>
              <a:rPr lang="en-US" dirty="0" smtClean="0">
                <a:solidFill>
                  <a:schemeClr val="tx1"/>
                </a:solidFill>
                <a:ea typeface="Calibri"/>
                <a:cs typeface="Times New Roman"/>
              </a:rPr>
              <a:t>Persistence strategy defines the procedures for a station that senses a busy medium .</a:t>
            </a:r>
            <a:endParaRPr lang="en-US" dirty="0">
              <a:solidFill>
                <a:schemeClr val="tx1"/>
              </a:solidFill>
              <a:ea typeface="Calibri"/>
              <a:cs typeface="Times New Roman"/>
            </a:endParaRPr>
          </a:p>
          <a:p>
            <a:pPr algn="l">
              <a:spcBef>
                <a:spcPts val="0"/>
              </a:spcBef>
            </a:pPr>
            <a:r>
              <a:rPr lang="en-US" sz="1600" dirty="0" smtClean="0">
                <a:solidFill>
                  <a:schemeClr val="tx1"/>
                </a:solidFill>
                <a:ea typeface="Calibri"/>
                <a:cs typeface="Times New Roman"/>
              </a:rPr>
              <a:t>(</a:t>
            </a:r>
            <a:r>
              <a:rPr lang="en-US" sz="1600" i="1" dirty="0" smtClean="0">
                <a:solidFill>
                  <a:schemeClr val="tx1"/>
                </a:solidFill>
                <a:ea typeface="Calibri"/>
                <a:cs typeface="Times New Roman"/>
              </a:rPr>
              <a:t>If </a:t>
            </a:r>
            <a:r>
              <a:rPr lang="en-US" sz="1600" i="1" dirty="0">
                <a:solidFill>
                  <a:schemeClr val="tx1"/>
                </a:solidFill>
                <a:ea typeface="Calibri"/>
                <a:cs typeface="Times New Roman"/>
              </a:rPr>
              <a:t>the channel is busy; what station should do ?</a:t>
            </a:r>
          </a:p>
          <a:p>
            <a:pPr algn="l">
              <a:spcBef>
                <a:spcPts val="0"/>
              </a:spcBef>
            </a:pPr>
            <a:r>
              <a:rPr lang="en-US" sz="1600" i="1" dirty="0">
                <a:solidFill>
                  <a:schemeClr val="tx1"/>
                </a:solidFill>
                <a:ea typeface="Calibri"/>
                <a:cs typeface="Times New Roman"/>
              </a:rPr>
              <a:t>If the channel is idle; what station should do </a:t>
            </a:r>
            <a:r>
              <a:rPr lang="en-US" sz="1600" i="1" dirty="0" smtClean="0">
                <a:solidFill>
                  <a:schemeClr val="tx1"/>
                </a:solidFill>
                <a:ea typeface="Calibri"/>
                <a:cs typeface="Times New Roman"/>
              </a:rPr>
              <a:t>?)</a:t>
            </a:r>
            <a:endParaRPr lang="en-US" dirty="0">
              <a:solidFill>
                <a:schemeClr val="tx1"/>
              </a:solidFill>
              <a:ea typeface="Calibri"/>
              <a:cs typeface="Times New Roman"/>
            </a:endParaRPr>
          </a:p>
          <a:p>
            <a:pPr algn="l">
              <a:spcBef>
                <a:spcPts val="0"/>
              </a:spcBef>
            </a:pPr>
            <a:r>
              <a:rPr lang="en-US" sz="2800" dirty="0">
                <a:solidFill>
                  <a:schemeClr val="tx1"/>
                </a:solidFill>
                <a:ea typeface="Calibri"/>
                <a:cs typeface="Times New Roman"/>
              </a:rPr>
              <a:t>Three methods are derived.   </a:t>
            </a:r>
          </a:p>
          <a:p>
            <a:pPr marL="514350" indent="-514350" algn="l">
              <a:spcBef>
                <a:spcPts val="0"/>
              </a:spcBef>
              <a:buAutoNum type="arabicPeriod"/>
            </a:pPr>
            <a:r>
              <a:rPr lang="en-US" sz="2800" dirty="0" smtClean="0">
                <a:solidFill>
                  <a:schemeClr val="tx1"/>
                </a:solidFill>
                <a:ea typeface="Calibri"/>
                <a:cs typeface="Times New Roman"/>
              </a:rPr>
              <a:t>1-Persistence </a:t>
            </a:r>
            <a:r>
              <a:rPr lang="en-US" sz="2800" dirty="0">
                <a:solidFill>
                  <a:schemeClr val="tx1"/>
                </a:solidFill>
                <a:ea typeface="Calibri"/>
                <a:cs typeface="Times New Roman"/>
              </a:rPr>
              <a:t>method.  </a:t>
            </a:r>
            <a:endParaRPr lang="en-US" sz="2800" dirty="0" smtClean="0">
              <a:solidFill>
                <a:schemeClr val="tx1"/>
              </a:solidFill>
              <a:ea typeface="Calibri"/>
              <a:cs typeface="Times New Roman"/>
            </a:endParaRPr>
          </a:p>
          <a:p>
            <a:pPr marL="514350" indent="-514350" algn="l">
              <a:spcBef>
                <a:spcPts val="0"/>
              </a:spcBef>
              <a:buAutoNum type="arabicPeriod"/>
            </a:pPr>
            <a:r>
              <a:rPr lang="en-US" sz="2800" dirty="0" smtClean="0">
                <a:solidFill>
                  <a:schemeClr val="tx1"/>
                </a:solidFill>
                <a:ea typeface="Calibri"/>
                <a:cs typeface="Times New Roman"/>
              </a:rPr>
              <a:t>Non </a:t>
            </a:r>
            <a:r>
              <a:rPr lang="en-US" sz="2800" dirty="0">
                <a:solidFill>
                  <a:schemeClr val="tx1"/>
                </a:solidFill>
                <a:ea typeface="Calibri"/>
                <a:cs typeface="Times New Roman"/>
              </a:rPr>
              <a:t>– Persistence method   	</a:t>
            </a:r>
            <a:endParaRPr lang="en-US" sz="2800" dirty="0" smtClean="0">
              <a:solidFill>
                <a:schemeClr val="tx1"/>
              </a:solidFill>
              <a:ea typeface="Calibri"/>
              <a:cs typeface="Times New Roman"/>
            </a:endParaRPr>
          </a:p>
          <a:p>
            <a:pPr marL="514350" indent="-514350" algn="l">
              <a:spcBef>
                <a:spcPts val="0"/>
              </a:spcBef>
              <a:buAutoNum type="arabicPeriod"/>
            </a:pPr>
            <a:r>
              <a:rPr lang="en-US" sz="2800" dirty="0" smtClean="0">
                <a:solidFill>
                  <a:schemeClr val="tx1"/>
                </a:solidFill>
                <a:ea typeface="Calibri"/>
                <a:cs typeface="Times New Roman"/>
              </a:rPr>
              <a:t>p </a:t>
            </a:r>
            <a:r>
              <a:rPr lang="en-US" sz="2800" dirty="0">
                <a:solidFill>
                  <a:schemeClr val="tx1"/>
                </a:solidFill>
                <a:ea typeface="Calibri"/>
                <a:cs typeface="Times New Roman"/>
              </a:rPr>
              <a:t>– Persistence method.  </a:t>
            </a:r>
          </a:p>
          <a:p>
            <a:pPr algn="l"/>
            <a:endParaRPr lang="en-US" dirty="0">
              <a:solidFill>
                <a:schemeClr val="tx1"/>
              </a:solidFill>
            </a:endParaRPr>
          </a:p>
        </p:txBody>
      </p:sp>
    </p:spTree>
    <p:extLst>
      <p:ext uri="{BB962C8B-B14F-4D97-AF65-F5344CB8AC3E}">
        <p14:creationId xmlns:p14="http://schemas.microsoft.com/office/powerpoint/2010/main" val="8940688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smtClean="0"/>
              <a:t>Persistent and Non-persistent CSMA</a:t>
            </a:r>
            <a:endParaRPr lang="en-IN" sz="3200" dirty="0"/>
          </a:p>
        </p:txBody>
      </p:sp>
      <p:sp>
        <p:nvSpPr>
          <p:cNvPr id="3" name="Content Placeholder 2"/>
          <p:cNvSpPr>
            <a:spLocks noGrp="1"/>
          </p:cNvSpPr>
          <p:nvPr>
            <p:ph idx="1"/>
          </p:nvPr>
        </p:nvSpPr>
        <p:spPr/>
        <p:txBody>
          <a:bodyPr/>
          <a:lstStyle/>
          <a:p>
            <a:endParaRPr lang="en-IN"/>
          </a:p>
        </p:txBody>
      </p:sp>
      <p:pic>
        <p:nvPicPr>
          <p:cNvPr id="4" name="Picture 3" descr="F:\Amey\CCNsem 6\Images\CSMA.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334621"/>
            <a:ext cx="6858000" cy="4941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7234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spcBef>
                <a:spcPts val="0"/>
              </a:spcBef>
            </a:pPr>
            <a:r>
              <a:rPr lang="en-US" dirty="0" err="1">
                <a:solidFill>
                  <a:schemeClr val="tx1"/>
                </a:solidFill>
                <a:ea typeface="Calibri"/>
                <a:cs typeface="Times New Roman"/>
              </a:rPr>
              <a:t>Behaviour</a:t>
            </a:r>
            <a:r>
              <a:rPr lang="en-US" dirty="0">
                <a:solidFill>
                  <a:schemeClr val="tx1"/>
                </a:solidFill>
                <a:ea typeface="Calibri"/>
                <a:cs typeface="Times New Roman"/>
              </a:rPr>
              <a:t> of Persistence methods; when channel is free</a:t>
            </a:r>
            <a:r>
              <a:rPr lang="en-US" dirty="0" smtClean="0">
                <a:solidFill>
                  <a:schemeClr val="tx1"/>
                </a:solidFill>
                <a:ea typeface="Calibri"/>
                <a:cs typeface="Times New Roman"/>
              </a:rPr>
              <a:t>.</a:t>
            </a:r>
          </a:p>
          <a:p>
            <a:pPr algn="l">
              <a:spcBef>
                <a:spcPts val="0"/>
              </a:spcBef>
            </a:pPr>
            <a:endParaRPr lang="en-US" dirty="0">
              <a:solidFill>
                <a:schemeClr val="tx1"/>
              </a:solidFill>
              <a:ea typeface="Calibri"/>
              <a:cs typeface="Times New Roman"/>
            </a:endParaRPr>
          </a:p>
          <a:p>
            <a:pPr algn="l">
              <a:spcBef>
                <a:spcPts val="0"/>
              </a:spcBef>
            </a:pPr>
            <a:r>
              <a:rPr lang="en-US" b="1" i="1" dirty="0" smtClean="0">
                <a:solidFill>
                  <a:schemeClr val="tx1"/>
                </a:solidFill>
                <a:ea typeface="Calibri"/>
                <a:cs typeface="Times New Roman"/>
              </a:rPr>
              <a:t>1-Persistent </a:t>
            </a:r>
            <a:r>
              <a:rPr lang="en-US" b="1" i="1" dirty="0">
                <a:solidFill>
                  <a:schemeClr val="tx1"/>
                </a:solidFill>
                <a:ea typeface="Calibri"/>
                <a:cs typeface="Times New Roman"/>
              </a:rPr>
              <a:t>Method</a:t>
            </a:r>
            <a:r>
              <a:rPr lang="en-US" b="1" dirty="0">
                <a:solidFill>
                  <a:schemeClr val="tx1"/>
                </a:solidFill>
                <a:ea typeface="Calibri"/>
                <a:cs typeface="Times New Roman"/>
              </a:rPr>
              <a:t> :</a:t>
            </a:r>
            <a:endParaRPr lang="en-US" dirty="0">
              <a:solidFill>
                <a:schemeClr val="tx1"/>
              </a:solidFill>
              <a:ea typeface="Calibri"/>
              <a:cs typeface="Times New Roman"/>
            </a:endParaRPr>
          </a:p>
          <a:p>
            <a:pPr algn="l">
              <a:spcBef>
                <a:spcPts val="0"/>
              </a:spcBef>
            </a:pPr>
            <a:r>
              <a:rPr lang="en-US" dirty="0">
                <a:solidFill>
                  <a:schemeClr val="tx1"/>
                </a:solidFill>
                <a:ea typeface="Calibri"/>
                <a:cs typeface="Times New Roman"/>
              </a:rPr>
              <a:t>It is simple and straight forward.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In </a:t>
            </a:r>
            <a:r>
              <a:rPr lang="en-US" dirty="0">
                <a:solidFill>
                  <a:schemeClr val="tx1"/>
                </a:solidFill>
                <a:ea typeface="Calibri"/>
                <a:cs typeface="Times New Roman"/>
              </a:rPr>
              <a:t>this method; after the station finds the line idle, it sends frame immediately ( with probability </a:t>
            </a:r>
            <a:r>
              <a:rPr lang="en-US" dirty="0" smtClean="0">
                <a:solidFill>
                  <a:schemeClr val="tx1"/>
                </a:solidFill>
                <a:ea typeface="Calibri"/>
                <a:cs typeface="Times New Roman"/>
              </a:rPr>
              <a:t>one).  </a:t>
            </a:r>
          </a:p>
          <a:p>
            <a:pPr algn="l">
              <a:spcBef>
                <a:spcPts val="0"/>
              </a:spcBef>
            </a:pPr>
            <a:r>
              <a:rPr lang="en-US" dirty="0" smtClean="0">
                <a:solidFill>
                  <a:schemeClr val="tx1"/>
                </a:solidFill>
                <a:ea typeface="Calibri"/>
                <a:cs typeface="Times New Roman"/>
              </a:rPr>
              <a:t>It </a:t>
            </a:r>
            <a:r>
              <a:rPr lang="en-US" dirty="0">
                <a:solidFill>
                  <a:schemeClr val="tx1"/>
                </a:solidFill>
                <a:ea typeface="Calibri"/>
                <a:cs typeface="Times New Roman"/>
              </a:rPr>
              <a:t>has the highest chance of collision – as two or more stations may find the line idle and will send their frames immediately.  </a:t>
            </a:r>
          </a:p>
          <a:p>
            <a:pPr algn="l"/>
            <a:endParaRPr lang="en-US" dirty="0">
              <a:solidFill>
                <a:schemeClr val="tx1"/>
              </a:solidFill>
            </a:endParaRPr>
          </a:p>
        </p:txBody>
      </p:sp>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spcBef>
                <a:spcPts val="0"/>
              </a:spcBef>
            </a:pPr>
            <a:r>
              <a:rPr lang="en-US" b="1" i="1" dirty="0" smtClean="0">
                <a:solidFill>
                  <a:schemeClr val="tx1"/>
                </a:solidFill>
                <a:ea typeface="Calibri"/>
                <a:cs typeface="Times New Roman"/>
              </a:rPr>
              <a:t>Non-Persistent </a:t>
            </a:r>
            <a:r>
              <a:rPr lang="en-US" b="1" i="1" dirty="0">
                <a:solidFill>
                  <a:schemeClr val="tx1"/>
                </a:solidFill>
                <a:ea typeface="Calibri"/>
                <a:cs typeface="Times New Roman"/>
              </a:rPr>
              <a:t>Method</a:t>
            </a:r>
            <a:r>
              <a:rPr lang="en-US" b="1" dirty="0">
                <a:solidFill>
                  <a:schemeClr val="tx1"/>
                </a:solidFill>
                <a:ea typeface="Calibri"/>
                <a:cs typeface="Times New Roman"/>
              </a:rPr>
              <a:t> :-</a:t>
            </a:r>
            <a:endParaRPr lang="en-US" dirty="0">
              <a:solidFill>
                <a:schemeClr val="tx1"/>
              </a:solidFill>
              <a:ea typeface="Calibri"/>
              <a:cs typeface="Times New Roman"/>
            </a:endParaRPr>
          </a:p>
          <a:p>
            <a:pPr algn="l">
              <a:spcBef>
                <a:spcPts val="0"/>
              </a:spcBef>
            </a:pPr>
            <a:r>
              <a:rPr lang="en-US" dirty="0">
                <a:solidFill>
                  <a:schemeClr val="tx1"/>
                </a:solidFill>
                <a:ea typeface="Calibri"/>
                <a:cs typeface="Times New Roman"/>
              </a:rPr>
              <a:t>A station that has a frame to send, senses the line</a:t>
            </a:r>
            <a:r>
              <a:rPr lang="en-US" dirty="0" smtClean="0">
                <a:solidFill>
                  <a:schemeClr val="tx1"/>
                </a:solidFill>
                <a:ea typeface="Calibri"/>
                <a:cs typeface="Times New Roman"/>
              </a:rPr>
              <a:t>.</a:t>
            </a:r>
          </a:p>
          <a:p>
            <a:pPr algn="l">
              <a:spcBef>
                <a:spcPts val="0"/>
              </a:spcBef>
            </a:pPr>
            <a:r>
              <a:rPr lang="en-US" dirty="0" smtClean="0">
                <a:solidFill>
                  <a:schemeClr val="tx1"/>
                </a:solidFill>
                <a:ea typeface="Calibri"/>
                <a:cs typeface="Times New Roman"/>
              </a:rPr>
              <a:t>If </a:t>
            </a:r>
            <a:r>
              <a:rPr lang="en-US" dirty="0">
                <a:solidFill>
                  <a:schemeClr val="tx1"/>
                </a:solidFill>
                <a:ea typeface="Calibri"/>
                <a:cs typeface="Times New Roman"/>
              </a:rPr>
              <a:t>the line is idle; it sends immediately.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If </a:t>
            </a:r>
            <a:r>
              <a:rPr lang="en-US" dirty="0">
                <a:solidFill>
                  <a:schemeClr val="tx1"/>
                </a:solidFill>
                <a:ea typeface="Calibri"/>
                <a:cs typeface="Times New Roman"/>
              </a:rPr>
              <a:t>line is not idle, it waits for random amount of time and then senses the line again.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This </a:t>
            </a:r>
            <a:r>
              <a:rPr lang="en-US" dirty="0">
                <a:solidFill>
                  <a:schemeClr val="tx1"/>
                </a:solidFill>
                <a:ea typeface="Calibri"/>
                <a:cs typeface="Times New Roman"/>
              </a:rPr>
              <a:t>approach reduces the chance of collision; as two or more stations will not wait for same amount of time and retry to send immediately.  </a:t>
            </a:r>
          </a:p>
          <a:p>
            <a:pPr algn="l">
              <a:spcBef>
                <a:spcPts val="0"/>
              </a:spcBef>
            </a:pPr>
            <a:r>
              <a:rPr lang="en-US" b="1" i="1" dirty="0">
                <a:solidFill>
                  <a:schemeClr val="tx1"/>
                </a:solidFill>
                <a:ea typeface="Calibri"/>
                <a:cs typeface="Times New Roman"/>
              </a:rPr>
              <a:t>Drawback</a:t>
            </a:r>
            <a:r>
              <a:rPr lang="en-US" dirty="0">
                <a:solidFill>
                  <a:schemeClr val="tx1"/>
                </a:solidFill>
                <a:ea typeface="Calibri"/>
                <a:cs typeface="Times New Roman"/>
              </a:rPr>
              <a:t> :-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it </a:t>
            </a:r>
            <a:r>
              <a:rPr lang="en-US" dirty="0">
                <a:solidFill>
                  <a:schemeClr val="tx1"/>
                </a:solidFill>
                <a:ea typeface="Calibri"/>
                <a:cs typeface="Times New Roman"/>
              </a:rPr>
              <a:t>reduces the efficiency; as the medium remains idle; when there may be many stations with frames to send.  </a:t>
            </a:r>
          </a:p>
          <a:p>
            <a:pPr algn="l"/>
            <a:endParaRPr lang="en-US" dirty="0">
              <a:solidFill>
                <a:schemeClr val="tx1"/>
              </a:solidFill>
            </a:endParaRPr>
          </a:p>
        </p:txBody>
      </p:sp>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normAutofit fontScale="92500" lnSpcReduction="20000"/>
          </a:bodyPr>
          <a:lstStyle/>
          <a:p>
            <a:pPr algn="l">
              <a:spcBef>
                <a:spcPts val="0"/>
              </a:spcBef>
            </a:pPr>
            <a:r>
              <a:rPr lang="en-US" b="1" dirty="0">
                <a:solidFill>
                  <a:schemeClr val="tx1"/>
                </a:solidFill>
                <a:ea typeface="Calibri"/>
                <a:cs typeface="Times New Roman"/>
              </a:rPr>
              <a:t>P</a:t>
            </a:r>
            <a:r>
              <a:rPr lang="en-US" b="1" dirty="0" smtClean="0">
                <a:solidFill>
                  <a:schemeClr val="tx1"/>
                </a:solidFill>
                <a:ea typeface="Calibri"/>
                <a:cs typeface="Times New Roman"/>
              </a:rPr>
              <a:t>-Persistent</a:t>
            </a:r>
            <a:r>
              <a:rPr lang="en-US" b="1" i="1" dirty="0" smtClean="0">
                <a:solidFill>
                  <a:schemeClr val="tx1"/>
                </a:solidFill>
                <a:ea typeface="Calibri"/>
                <a:cs typeface="Times New Roman"/>
              </a:rPr>
              <a:t> </a:t>
            </a:r>
            <a:r>
              <a:rPr lang="en-US" b="1" i="1" dirty="0">
                <a:solidFill>
                  <a:schemeClr val="tx1"/>
                </a:solidFill>
                <a:ea typeface="Calibri"/>
                <a:cs typeface="Times New Roman"/>
              </a:rPr>
              <a:t>Method </a:t>
            </a:r>
            <a:r>
              <a:rPr lang="en-US" b="1" i="1" dirty="0" smtClean="0">
                <a:solidFill>
                  <a:schemeClr val="tx1"/>
                </a:solidFill>
                <a:ea typeface="Calibri"/>
                <a:cs typeface="Times New Roman"/>
              </a:rPr>
              <a:t>:-</a:t>
            </a:r>
          </a:p>
          <a:p>
            <a:pPr marL="457200" indent="-457200" algn="l">
              <a:spcBef>
                <a:spcPts val="0"/>
              </a:spcBef>
              <a:buFont typeface="Arial" pitchFamily="34" charset="0"/>
              <a:buChar char="•"/>
            </a:pPr>
            <a:r>
              <a:rPr lang="en-US" dirty="0" smtClean="0">
                <a:solidFill>
                  <a:schemeClr val="tx1"/>
                </a:solidFill>
                <a:ea typeface="Calibri"/>
                <a:cs typeface="Times New Roman"/>
              </a:rPr>
              <a:t>If the station finds the line idle , the station may or may not send.</a:t>
            </a:r>
          </a:p>
          <a:p>
            <a:pPr marL="457200" indent="-457200" algn="l">
              <a:spcBef>
                <a:spcPts val="0"/>
              </a:spcBef>
              <a:buFont typeface="Arial" pitchFamily="34" charset="0"/>
              <a:buChar char="•"/>
            </a:pPr>
            <a:r>
              <a:rPr lang="en-US" dirty="0" smtClean="0">
                <a:solidFill>
                  <a:schemeClr val="tx1"/>
                </a:solidFill>
                <a:ea typeface="Calibri"/>
                <a:cs typeface="Times New Roman"/>
              </a:rPr>
              <a:t>It sends with probability P and refrains from sending with probability 1-P.</a:t>
            </a:r>
          </a:p>
          <a:p>
            <a:pPr marL="457200" indent="-457200" algn="l">
              <a:spcBef>
                <a:spcPts val="0"/>
              </a:spcBef>
              <a:buFont typeface="Arial" pitchFamily="34" charset="0"/>
              <a:buChar char="•"/>
            </a:pPr>
            <a:r>
              <a:rPr lang="en-US" dirty="0" smtClean="0">
                <a:solidFill>
                  <a:schemeClr val="tx1"/>
                </a:solidFill>
                <a:ea typeface="Calibri"/>
                <a:cs typeface="Times New Roman"/>
              </a:rPr>
              <a:t>For ex. If P=0.2 </a:t>
            </a:r>
          </a:p>
          <a:p>
            <a:pPr algn="l">
              <a:spcBef>
                <a:spcPts val="0"/>
              </a:spcBef>
            </a:pPr>
            <a:r>
              <a:rPr lang="en-US" dirty="0" smtClean="0">
                <a:solidFill>
                  <a:schemeClr val="tx1"/>
                </a:solidFill>
                <a:ea typeface="Calibri"/>
                <a:cs typeface="Times New Roman"/>
              </a:rPr>
              <a:t>The station generates a random number between 1 -100.If random number is between 1-20 ,the station will transmit else will refrain from sending. </a:t>
            </a:r>
            <a:endParaRPr lang="en-US" dirty="0">
              <a:solidFill>
                <a:schemeClr val="tx1"/>
              </a:solidFill>
              <a:ea typeface="Calibri"/>
              <a:cs typeface="Times New Roman"/>
            </a:endParaRPr>
          </a:p>
          <a:p>
            <a:pPr marL="457200" indent="-457200" algn="l">
              <a:spcBef>
                <a:spcPts val="0"/>
              </a:spcBef>
              <a:buFont typeface="Wingdings" pitchFamily="2" charset="2"/>
              <a:buChar char="Ø"/>
            </a:pPr>
            <a:r>
              <a:rPr lang="en-US" dirty="0">
                <a:solidFill>
                  <a:schemeClr val="tx1"/>
                </a:solidFill>
                <a:ea typeface="Calibri"/>
                <a:cs typeface="Times New Roman"/>
              </a:rPr>
              <a:t>I</a:t>
            </a:r>
            <a:r>
              <a:rPr lang="en-US" dirty="0" smtClean="0">
                <a:solidFill>
                  <a:schemeClr val="tx1"/>
                </a:solidFill>
                <a:ea typeface="Calibri"/>
                <a:cs typeface="Times New Roman"/>
              </a:rPr>
              <a:t>t </a:t>
            </a:r>
            <a:r>
              <a:rPr lang="en-US" dirty="0">
                <a:solidFill>
                  <a:schemeClr val="tx1"/>
                </a:solidFill>
                <a:ea typeface="Calibri"/>
                <a:cs typeface="Times New Roman"/>
              </a:rPr>
              <a:t>is </a:t>
            </a:r>
            <a:r>
              <a:rPr lang="en-US" dirty="0" smtClean="0">
                <a:solidFill>
                  <a:schemeClr val="tx1"/>
                </a:solidFill>
                <a:ea typeface="Calibri"/>
                <a:cs typeface="Times New Roman"/>
              </a:rPr>
              <a:t>used </a:t>
            </a:r>
            <a:r>
              <a:rPr lang="en-US" dirty="0">
                <a:solidFill>
                  <a:schemeClr val="tx1"/>
                </a:solidFill>
                <a:ea typeface="Calibri"/>
                <a:cs typeface="Times New Roman"/>
              </a:rPr>
              <a:t>if the channel has time slots; with the slot duration equal to or greater than the maximum propagation time.  </a:t>
            </a:r>
            <a:endParaRPr lang="en-US" dirty="0" smtClean="0">
              <a:solidFill>
                <a:schemeClr val="tx1"/>
              </a:solidFill>
              <a:ea typeface="Calibri"/>
              <a:cs typeface="Times New Roman"/>
            </a:endParaRPr>
          </a:p>
          <a:p>
            <a:pPr marL="457200" indent="-457200" algn="l">
              <a:spcBef>
                <a:spcPts val="0"/>
              </a:spcBef>
              <a:buFont typeface="Wingdings" pitchFamily="2" charset="2"/>
              <a:buChar char="Ø"/>
            </a:pPr>
            <a:r>
              <a:rPr lang="en-US" dirty="0" smtClean="0">
                <a:solidFill>
                  <a:schemeClr val="tx1"/>
                </a:solidFill>
                <a:ea typeface="Calibri"/>
                <a:cs typeface="Times New Roman"/>
              </a:rPr>
              <a:t>This </a:t>
            </a:r>
            <a:r>
              <a:rPr lang="en-US" dirty="0">
                <a:solidFill>
                  <a:schemeClr val="tx1"/>
                </a:solidFill>
                <a:ea typeface="Calibri"/>
                <a:cs typeface="Times New Roman"/>
              </a:rPr>
              <a:t>approach combines the advantage of both.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It </a:t>
            </a:r>
            <a:r>
              <a:rPr lang="en-US" dirty="0">
                <a:solidFill>
                  <a:schemeClr val="tx1"/>
                </a:solidFill>
                <a:ea typeface="Calibri"/>
                <a:cs typeface="Times New Roman"/>
              </a:rPr>
              <a:t>reduces the chance of collision and increases efficiency.</a:t>
            </a:r>
          </a:p>
          <a:p>
            <a:pPr algn="l">
              <a:spcBef>
                <a:spcPts val="0"/>
              </a:spcBef>
            </a:pPr>
            <a:r>
              <a:rPr lang="en-US" dirty="0">
                <a:solidFill>
                  <a:schemeClr val="tx1"/>
                </a:solidFill>
                <a:ea typeface="Calibri"/>
                <a:cs typeface="Times New Roman"/>
              </a:rPr>
              <a:t> </a:t>
            </a:r>
          </a:p>
          <a:p>
            <a:pPr algn="l"/>
            <a:endParaRPr lang="en-US" dirty="0">
              <a:solidFill>
                <a:schemeClr val="tx1"/>
              </a:solidFill>
            </a:endParaRPr>
          </a:p>
        </p:txBody>
      </p:sp>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
                                            <p:txEl>
                                              <p:pRg st="8" end="8"/>
                                            </p:txEl>
                                          </p:spTgt>
                                        </p:tgtEl>
                                        <p:attrNameLst>
                                          <p:attrName>style.visibility</p:attrName>
                                        </p:attrNameLst>
                                      </p:cBhvr>
                                      <p:to>
                                        <p:strVal val="visible"/>
                                      </p:to>
                                    </p:set>
                                    <p:anim calcmode="lin" valueType="num">
                                      <p:cBhvr additive="base">
                                        <p:cTn id="5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endParaRPr lang="en-US" dirty="0"/>
          </a:p>
        </p:txBody>
      </p:sp>
      <p:pic>
        <p:nvPicPr>
          <p:cNvPr id="3" name="Picture 2" descr="C:\Users\sanju\Pictures\slide_19.jp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9904" y="152400"/>
            <a:ext cx="8000999" cy="6248400"/>
          </a:xfrm>
          <a:prstGeom prst="rect">
            <a:avLst/>
          </a:prstGeom>
          <a:noFill/>
          <a:ln>
            <a:noFill/>
          </a:ln>
        </p:spPr>
      </p:pic>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endParaRPr lang="en-IN" dirty="0"/>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1533715"/>
            <a:ext cx="5791200" cy="5128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419100"/>
            <a:ext cx="756678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9166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IN" dirty="0" smtClean="0"/>
              <a:t>CSMA/CD</a:t>
            </a:r>
            <a:endParaRPr lang="en-IN" dirty="0"/>
          </a:p>
        </p:txBody>
      </p:sp>
      <p:sp>
        <p:nvSpPr>
          <p:cNvPr id="3" name="Content Placeholder 2"/>
          <p:cNvSpPr>
            <a:spLocks noGrp="1"/>
          </p:cNvSpPr>
          <p:nvPr>
            <p:ph idx="1"/>
          </p:nvPr>
        </p:nvSpPr>
        <p:spPr>
          <a:xfrm>
            <a:off x="152400" y="838200"/>
            <a:ext cx="8534400" cy="5287963"/>
          </a:xfrm>
        </p:spPr>
        <p:txBody>
          <a:bodyPr>
            <a:normAutofit lnSpcReduction="10000"/>
          </a:bodyPr>
          <a:lstStyle/>
          <a:p>
            <a:r>
              <a:rPr lang="en-US" sz="2400" dirty="0" smtClean="0"/>
              <a:t>The CSMA method does not specify the procedure following a collision.</a:t>
            </a:r>
          </a:p>
          <a:p>
            <a:r>
              <a:rPr lang="en-US" sz="2400" dirty="0"/>
              <a:t>CSMA/CD (Carrier Sense Multiple Access/ Collision Detection</a:t>
            </a:r>
            <a:r>
              <a:rPr lang="en-US" sz="2400" dirty="0" smtClean="0"/>
              <a:t>) defines the algorithm to handle the collision.</a:t>
            </a:r>
            <a:endParaRPr lang="en-US" sz="2400" dirty="0"/>
          </a:p>
          <a:p>
            <a:r>
              <a:rPr lang="en-US" sz="2400" dirty="0" smtClean="0"/>
              <a:t>CSMA/CD </a:t>
            </a:r>
            <a:r>
              <a:rPr lang="en-US" sz="2400" dirty="0"/>
              <a:t>(Carrier Sense Multiple Access/ Collision Detection) is a media access control method that was widely used in Early Ethernet technology/LANs when there used to be shared Bus Topology and each node ( Computers) were connected By Coaxial Cables. Now a Days Ethernet is Full Duplex and Topology is either Star (connected via Switch or Router) or Point to Point ( Direct Connection). Hence CSMA/CD is not used but they are still supported though. </a:t>
            </a:r>
            <a:endParaRPr lang="en-US" sz="2400" dirty="0" smtClean="0"/>
          </a:p>
          <a:p>
            <a:r>
              <a:rPr lang="en-US" sz="2400" dirty="0">
                <a:ea typeface="Calibri"/>
                <a:cs typeface="Times New Roman"/>
              </a:rPr>
              <a:t>A station monitors the medium, after it sends a frame, to see if the transmission was </a:t>
            </a:r>
            <a:r>
              <a:rPr lang="en-US" sz="2400" dirty="0" err="1">
                <a:ea typeface="Calibri"/>
                <a:cs typeface="Times New Roman"/>
              </a:rPr>
              <a:t>successful.If</a:t>
            </a:r>
            <a:r>
              <a:rPr lang="en-US" sz="2400" dirty="0">
                <a:ea typeface="Calibri"/>
                <a:cs typeface="Times New Roman"/>
              </a:rPr>
              <a:t> so, the station is finished transmitting. If however, there is a collision, the frame is resent.  </a:t>
            </a:r>
          </a:p>
          <a:p>
            <a:endParaRPr lang="en-IN" sz="2400" dirty="0"/>
          </a:p>
        </p:txBody>
      </p:sp>
    </p:spTree>
    <p:extLst>
      <p:ext uri="{BB962C8B-B14F-4D97-AF65-F5344CB8AC3E}">
        <p14:creationId xmlns:p14="http://schemas.microsoft.com/office/powerpoint/2010/main" val="517248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6200"/>
            <a:ext cx="8229600" cy="685800"/>
          </a:xfrm>
        </p:spPr>
        <p:txBody>
          <a:bodyPr>
            <a:normAutofit fontScale="90000"/>
          </a:bodyPr>
          <a:lstStyle/>
          <a:p>
            <a:r>
              <a:rPr lang="en-US" sz="2400" b="1" dirty="0">
                <a:ea typeface="Calibri"/>
                <a:cs typeface="Times New Roman"/>
              </a:rPr>
              <a:t>Collision of first bit in CSMA/CD</a:t>
            </a:r>
            <a:r>
              <a:rPr lang="en-US" sz="2400" dirty="0">
                <a:ea typeface="Calibri"/>
                <a:cs typeface="Times New Roman"/>
              </a:rPr>
              <a:t/>
            </a:r>
            <a:br>
              <a:rPr lang="en-US" sz="2400" dirty="0">
                <a:ea typeface="Calibri"/>
                <a:cs typeface="Times New Roman"/>
              </a:rPr>
            </a:br>
            <a:endParaRPr lang="en-IN" sz="2400" dirty="0"/>
          </a:p>
        </p:txBody>
      </p:sp>
      <p:sp>
        <p:nvSpPr>
          <p:cNvPr id="2" name="Subtitle 1"/>
          <p:cNvSpPr>
            <a:spLocks noGrp="1"/>
          </p:cNvSpPr>
          <p:nvPr>
            <p:ph idx="1"/>
          </p:nvPr>
        </p:nvSpPr>
        <p:spPr>
          <a:xfrm>
            <a:off x="457200" y="609600"/>
            <a:ext cx="8229600" cy="5516563"/>
          </a:xfrm>
        </p:spPr>
        <p:txBody>
          <a:bodyPr>
            <a:normAutofit/>
          </a:bodyPr>
          <a:lstStyle/>
          <a:p>
            <a:pPr>
              <a:spcBef>
                <a:spcPts val="0"/>
              </a:spcBef>
            </a:pPr>
            <a:r>
              <a:rPr lang="en-US" sz="2400" dirty="0"/>
              <a:t>To better understand CSMA/CD, let us look at the first bits transmitted by the two stations involved in the collision. Although each station continues to send bits in the frame until it detects the collision, we show what happens as the first bits collide. In below Figure, stations A and C are involved in the </a:t>
            </a:r>
            <a:r>
              <a:rPr lang="en-US" sz="2400" dirty="0" smtClean="0"/>
              <a:t>collision.</a:t>
            </a:r>
          </a:p>
          <a:p>
            <a:pPr>
              <a:spcBef>
                <a:spcPts val="0"/>
              </a:spcBef>
            </a:pPr>
            <a:endParaRPr lang="en-US" sz="2400" dirty="0" smtClean="0"/>
          </a:p>
          <a:p>
            <a:pPr>
              <a:spcBef>
                <a:spcPts val="0"/>
              </a:spcBef>
            </a:pPr>
            <a:endParaRPr lang="en-IN" sz="2400" dirty="0"/>
          </a:p>
          <a:p>
            <a:pPr algn="l">
              <a:spcBef>
                <a:spcPts val="0"/>
              </a:spcBef>
            </a:pPr>
            <a:endParaRPr lang="en-US" sz="2400" dirty="0">
              <a:solidFill>
                <a:schemeClr val="tx1"/>
              </a:solidFill>
              <a:ea typeface="Calibri"/>
              <a:cs typeface="Times New Roman"/>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599" y="3200400"/>
            <a:ext cx="6021161"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152400" y="2590800"/>
            <a:ext cx="8534400" cy="3535363"/>
          </a:xfrm>
        </p:spPr>
        <p:txBody>
          <a:bodyPr/>
          <a:lstStyle/>
          <a:p>
            <a:r>
              <a:rPr lang="en-US" sz="2000" dirty="0"/>
              <a:t>At time t 1, station A has executed its persistence procedure and starts sending the bits of its frame. At time t2, station C has not yet sensed the first bit sent by A. Station C executes its persistence procedure and starts sending the bits in its frame, which propagate both to the left and to the right. The collision occurs sometime after time t2.Station C detects a collision at time t3 when it receives the first bit of A's frame. Station C immediately (or after a short time, but we assume immediately) aborts transmission. Station A detects collision at time t4 when it receives the first bit of C's frame; it also immediately aborts transmission. Looking at the figure, we see that A transmits for the duration t4 - </a:t>
            </a:r>
            <a:r>
              <a:rPr lang="en-US" sz="2000" dirty="0" err="1"/>
              <a:t>tl</a:t>
            </a:r>
            <a:r>
              <a:rPr lang="en-US" sz="2000" dirty="0"/>
              <a:t>; C transmits for the duration t3 - t2.</a:t>
            </a:r>
            <a:endParaRPr lang="en-IN" sz="20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28600"/>
            <a:ext cx="6984546"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4110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smtClean="0"/>
              <a:t>Minimum Frame size</a:t>
            </a:r>
            <a:endParaRPr lang="en-IN" sz="3600" b="1"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676400"/>
            <a:ext cx="8910676" cy="319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7049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IN" sz="2800" b="1" dirty="0"/>
              <a:t>How CSMA/CD works? </a:t>
            </a:r>
            <a:r>
              <a:rPr lang="en-IN" sz="2800" b="1" dirty="0" smtClean="0"/>
              <a:t/>
            </a:r>
            <a:br>
              <a:rPr lang="en-IN" sz="2800" b="1" dirty="0" smtClean="0"/>
            </a:br>
            <a:endParaRPr lang="en-IN" sz="2800" dirty="0"/>
          </a:p>
        </p:txBody>
      </p:sp>
      <p:sp>
        <p:nvSpPr>
          <p:cNvPr id="3" name="Content Placeholder 2"/>
          <p:cNvSpPr>
            <a:spLocks noGrp="1"/>
          </p:cNvSpPr>
          <p:nvPr>
            <p:ph idx="1"/>
          </p:nvPr>
        </p:nvSpPr>
        <p:spPr>
          <a:xfrm>
            <a:off x="152400" y="609600"/>
            <a:ext cx="8915400" cy="6096000"/>
          </a:xfrm>
        </p:spPr>
        <p:txBody>
          <a:bodyPr>
            <a:normAutofit fontScale="62500" lnSpcReduction="20000"/>
          </a:bodyPr>
          <a:lstStyle/>
          <a:p>
            <a:pPr fontAlgn="base"/>
            <a:r>
              <a:rPr lang="en-US" sz="3800" b="1" dirty="0"/>
              <a:t>Step 1:</a:t>
            </a:r>
            <a:r>
              <a:rPr lang="en-US" sz="3800" dirty="0"/>
              <a:t> Check if the sender is ready for transmitting data packets.</a:t>
            </a:r>
          </a:p>
          <a:p>
            <a:pPr fontAlgn="base"/>
            <a:r>
              <a:rPr lang="en-US" sz="3800" b="1" dirty="0"/>
              <a:t>Step 2:</a:t>
            </a:r>
            <a:r>
              <a:rPr lang="en-US" sz="3800" dirty="0"/>
              <a:t> Check if the transmission link is idle? </a:t>
            </a:r>
            <a:br>
              <a:rPr lang="en-US" sz="3800" dirty="0"/>
            </a:br>
            <a:r>
              <a:rPr lang="en-US" sz="3800" dirty="0"/>
              <a:t>Sender has to keep on checking if the transmission link/medium is idle. For this, it continuously senses transmissions from other nodes. Sender sends dummy data on the link. If it does not receive any collision signal, this means the link is idle at the moment. If it senses that the carrier is free and there are no collisions, it sends the data. Otherwise, it refrains from sending data.</a:t>
            </a:r>
          </a:p>
          <a:p>
            <a:pPr fontAlgn="base"/>
            <a:r>
              <a:rPr lang="en-US" sz="3800" b="1" dirty="0"/>
              <a:t>Step 3:</a:t>
            </a:r>
            <a:r>
              <a:rPr lang="en-US" sz="3800" dirty="0"/>
              <a:t> Transmit the data &amp; check for collisions. </a:t>
            </a:r>
            <a:br>
              <a:rPr lang="en-US" sz="3800" dirty="0"/>
            </a:br>
            <a:r>
              <a:rPr lang="en-US" sz="3800" dirty="0"/>
              <a:t>Sender transmits its data on the link. CSMA/CD does not use an ‘acknowledgment’ system. It checks for successful and unsuccessful transmissions through collision signals. During transmission, if a collision signal is received by the node, transmission is stopped. The station then transmits a jam signal onto the link and waits for random time intervals before it resends the frame. After some random time, it again attempts to transfer the data and repeats the above process.</a:t>
            </a:r>
          </a:p>
          <a:p>
            <a:pPr fontAlgn="base"/>
            <a:r>
              <a:rPr lang="en-US" sz="3800" b="1" dirty="0"/>
              <a:t>Step 4:</a:t>
            </a:r>
            <a:r>
              <a:rPr lang="en-US" sz="3800" dirty="0"/>
              <a:t> If no collision was detected in propagation, the sender completes its frame transmission and resets the counters.</a:t>
            </a:r>
          </a:p>
          <a:p>
            <a:endParaRPr lang="en-IN" dirty="0"/>
          </a:p>
        </p:txBody>
      </p:sp>
    </p:spTree>
    <p:extLst>
      <p:ext uri="{BB962C8B-B14F-4D97-AF65-F5344CB8AC3E}">
        <p14:creationId xmlns:p14="http://schemas.microsoft.com/office/powerpoint/2010/main" val="685501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spcBef>
                <a:spcPts val="0"/>
              </a:spcBef>
            </a:pPr>
            <a:r>
              <a:rPr lang="en-US" sz="3600" b="1" dirty="0">
                <a:solidFill>
                  <a:schemeClr val="tx1"/>
                </a:solidFill>
                <a:ea typeface="Calibri"/>
                <a:cs typeface="Times New Roman"/>
              </a:rPr>
              <a:t>FLOW DIAGRAM FOR CSMA/CD :-</a:t>
            </a:r>
            <a:endParaRPr lang="en-US" dirty="0">
              <a:solidFill>
                <a:schemeClr val="tx1"/>
              </a:solidFill>
              <a:ea typeface="Calibri"/>
              <a:cs typeface="Times New Roman"/>
            </a:endParaRPr>
          </a:p>
          <a:p>
            <a:pPr algn="l">
              <a:spcBef>
                <a:spcPts val="0"/>
              </a:spcBef>
            </a:pPr>
            <a:r>
              <a:rPr lang="en-US" sz="2400" dirty="0">
                <a:solidFill>
                  <a:schemeClr val="tx1"/>
                </a:solidFill>
                <a:ea typeface="Calibri"/>
                <a:cs typeface="Times New Roman"/>
              </a:rPr>
              <a:t>(jamming signal </a:t>
            </a:r>
            <a:r>
              <a:rPr lang="en-US" sz="2400" dirty="0">
                <a:solidFill>
                  <a:schemeClr val="tx1"/>
                </a:solidFill>
                <a:ea typeface="Calibri"/>
                <a:cs typeface="Times New Roman"/>
                <a:sym typeface="Wingdings"/>
              </a:rPr>
              <a:t></a:t>
            </a:r>
            <a:r>
              <a:rPr lang="en-US" sz="2400" dirty="0">
                <a:solidFill>
                  <a:schemeClr val="tx1"/>
                </a:solidFill>
                <a:ea typeface="Calibri"/>
                <a:cs typeface="Times New Roman"/>
              </a:rPr>
              <a:t> to inform the station of collision.)</a:t>
            </a:r>
          </a:p>
          <a:p>
            <a:pPr algn="l">
              <a:spcBef>
                <a:spcPts val="0"/>
              </a:spcBef>
            </a:pPr>
            <a:r>
              <a:rPr lang="en-US" dirty="0">
                <a:solidFill>
                  <a:schemeClr val="tx1"/>
                </a:solidFill>
                <a:ea typeface="Calibri"/>
                <a:cs typeface="Times New Roman"/>
              </a:rPr>
              <a:t> </a:t>
            </a:r>
          </a:p>
          <a:p>
            <a:pPr algn="l">
              <a:spcBef>
                <a:spcPts val="0"/>
              </a:spcBef>
            </a:pPr>
            <a:r>
              <a:rPr lang="en-US" dirty="0">
                <a:solidFill>
                  <a:schemeClr val="tx1"/>
                </a:solidFill>
                <a:ea typeface="Calibri"/>
                <a:cs typeface="Times New Roman"/>
              </a:rPr>
              <a:t> </a:t>
            </a:r>
          </a:p>
          <a:p>
            <a:pPr algn="l"/>
            <a:endParaRPr lang="en-US" dirty="0">
              <a:solidFill>
                <a:schemeClr val="tx1"/>
              </a:solidFill>
            </a:endParaRPr>
          </a:p>
        </p:txBody>
      </p:sp>
      <p:pic>
        <p:nvPicPr>
          <p:cNvPr id="3" name="Picture 2" descr="C:\Users\sanju\Pictures\New Picture.png"/>
          <p:cNvPicPr/>
          <p:nvPr/>
        </p:nvPicPr>
        <p:blipFill>
          <a:blip r:embed="rId2">
            <a:extLst>
              <a:ext uri="{28A0092B-C50C-407E-A947-70E740481C1C}">
                <a14:useLocalDpi xmlns:a14="http://schemas.microsoft.com/office/drawing/2010/main" val="0"/>
              </a:ext>
            </a:extLst>
          </a:blip>
          <a:srcRect/>
          <a:stretch>
            <a:fillRect/>
          </a:stretch>
        </p:blipFill>
        <p:spPr bwMode="auto">
          <a:xfrm>
            <a:off x="914400" y="1752600"/>
            <a:ext cx="6781800" cy="5029200"/>
          </a:xfrm>
          <a:prstGeom prst="rect">
            <a:avLst/>
          </a:prstGeom>
          <a:noFill/>
          <a:ln>
            <a:noFill/>
          </a:ln>
        </p:spPr>
      </p:pic>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000" dirty="0" smtClean="0"/>
              <a:t>Example- CSMA/CD</a:t>
            </a:r>
            <a:endParaRPr lang="en-IN" sz="2000"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609557"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0490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IN" sz="3000" b="1" dirty="0"/>
              <a:t>DIFFERENCES BETWEEN ALOHA &amp; CSMA/CD</a:t>
            </a:r>
          </a:p>
        </p:txBody>
      </p:sp>
      <p:sp>
        <p:nvSpPr>
          <p:cNvPr id="3" name="Content Placeholder 2"/>
          <p:cNvSpPr>
            <a:spLocks noGrp="1"/>
          </p:cNvSpPr>
          <p:nvPr>
            <p:ph idx="1"/>
          </p:nvPr>
        </p:nvSpPr>
        <p:spPr>
          <a:xfrm>
            <a:off x="152400" y="914400"/>
            <a:ext cx="8534400" cy="5791200"/>
          </a:xfrm>
        </p:spPr>
        <p:txBody>
          <a:bodyPr>
            <a:normAutofit fontScale="92500" lnSpcReduction="20000"/>
          </a:bodyPr>
          <a:lstStyle/>
          <a:p>
            <a:r>
              <a:rPr lang="en-US" dirty="0"/>
              <a:t>The first difference is the addition of the persistence process. We need to sense the channel before we start sending the frame by using one of the persistence processes </a:t>
            </a:r>
            <a:r>
              <a:rPr lang="en-US" dirty="0" smtClean="0"/>
              <a:t>.</a:t>
            </a:r>
          </a:p>
          <a:p>
            <a:r>
              <a:rPr lang="en-US" dirty="0" smtClean="0"/>
              <a:t>The </a:t>
            </a:r>
            <a:r>
              <a:rPr lang="en-US" dirty="0"/>
              <a:t>second difference is the frame transmission. In ALOHA, we first transmit the entire frame and then wait for an acknowledgment. In CSMA/CD, transmission and collision detection is a continuous process. We do not send the entire frame and then look for a collision. The station transmits and receives continuously and simultaneously </a:t>
            </a:r>
            <a:endParaRPr lang="en-US" dirty="0" smtClean="0"/>
          </a:p>
          <a:p>
            <a:r>
              <a:rPr lang="en-US" dirty="0" smtClean="0"/>
              <a:t>The </a:t>
            </a:r>
            <a:r>
              <a:rPr lang="en-US" dirty="0"/>
              <a:t>third difference is the sending of a short jamming signal that enforces the collision in case other stations have not yet sensed the collision.</a:t>
            </a:r>
            <a:endParaRPr lang="en-IN" dirty="0"/>
          </a:p>
        </p:txBody>
      </p:sp>
    </p:spTree>
    <p:extLst>
      <p:ext uri="{BB962C8B-B14F-4D97-AF65-F5344CB8AC3E}">
        <p14:creationId xmlns:p14="http://schemas.microsoft.com/office/powerpoint/2010/main" val="21365212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dirty="0" smtClean="0">
                <a:solidFill>
                  <a:srgbClr val="FF0000"/>
                </a:solidFill>
              </a:rPr>
              <a:t>CSMA/CA</a:t>
            </a:r>
            <a:endParaRPr lang="en-US" dirty="0">
              <a:solidFill>
                <a:srgbClr val="FF0000"/>
              </a:solidFill>
            </a:endParaRPr>
          </a:p>
        </p:txBody>
      </p:sp>
      <p:sp>
        <p:nvSpPr>
          <p:cNvPr id="3" name="Content Placeholder 2"/>
          <p:cNvSpPr>
            <a:spLocks noGrp="1"/>
          </p:cNvSpPr>
          <p:nvPr>
            <p:ph idx="1"/>
          </p:nvPr>
        </p:nvSpPr>
        <p:spPr>
          <a:xfrm>
            <a:off x="457200" y="762000"/>
            <a:ext cx="8229600" cy="6096000"/>
          </a:xfrm>
        </p:spPr>
        <p:txBody>
          <a:bodyPr>
            <a:normAutofit/>
          </a:bodyPr>
          <a:lstStyle/>
          <a:p>
            <a:r>
              <a:rPr lang="en-IN" sz="2800" dirty="0">
                <a:latin typeface="Calibri" pitchFamily="34" charset="0"/>
              </a:rPr>
              <a:t>The basic idea behind </a:t>
            </a:r>
            <a:r>
              <a:rPr lang="en-IN" sz="2800" dirty="0" smtClean="0">
                <a:latin typeface="Calibri" pitchFamily="34" charset="0"/>
              </a:rPr>
              <a:t>CSMA/CD </a:t>
            </a:r>
            <a:r>
              <a:rPr lang="en-IN" sz="2800" dirty="0">
                <a:latin typeface="Calibri" pitchFamily="34" charset="0"/>
              </a:rPr>
              <a:t>is that the station should be able to receive while transmitting to detect a collision from different stations. </a:t>
            </a:r>
            <a:endParaRPr lang="en-IN" sz="2800" dirty="0" smtClean="0">
              <a:latin typeface="Calibri" pitchFamily="34" charset="0"/>
            </a:endParaRPr>
          </a:p>
          <a:p>
            <a:r>
              <a:rPr lang="en-IN" sz="2800" dirty="0" smtClean="0">
                <a:latin typeface="Calibri" pitchFamily="34" charset="0"/>
              </a:rPr>
              <a:t>In </a:t>
            </a:r>
            <a:r>
              <a:rPr lang="en-IN" sz="2800" dirty="0">
                <a:latin typeface="Calibri" pitchFamily="34" charset="0"/>
              </a:rPr>
              <a:t>wired networks, if a collision has occurred then the energy of received signal almost doubles and the station can sense the possibility of collision. </a:t>
            </a:r>
            <a:endParaRPr lang="en-IN" sz="2800" dirty="0" smtClean="0">
              <a:latin typeface="Calibri" pitchFamily="34" charset="0"/>
            </a:endParaRPr>
          </a:p>
          <a:p>
            <a:r>
              <a:rPr lang="en-IN" sz="2800" dirty="0" smtClean="0">
                <a:latin typeface="Calibri" pitchFamily="34" charset="0"/>
              </a:rPr>
              <a:t>In </a:t>
            </a:r>
            <a:r>
              <a:rPr lang="en-IN" sz="2800" dirty="0">
                <a:latin typeface="Calibri" pitchFamily="34" charset="0"/>
              </a:rPr>
              <a:t>case of wireless networks, most of the energy is used for transmission and the energy of received signal increases by only 5-10% if a collision occurs. It can’t be used by the station to sense collision. Therefore </a:t>
            </a:r>
            <a:r>
              <a:rPr lang="en-IN" sz="2800" b="1" dirty="0">
                <a:latin typeface="Calibri" pitchFamily="34" charset="0"/>
              </a:rPr>
              <a:t>CSMA/CA has been specially designed for wireless networks</a:t>
            </a:r>
            <a:r>
              <a:rPr lang="en-IN" sz="2800" dirty="0"/>
              <a: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8591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dirty="0" smtClean="0">
                <a:solidFill>
                  <a:srgbClr val="FF0000"/>
                </a:solidFill>
              </a:rPr>
              <a:t>CSMA/CA</a:t>
            </a:r>
            <a:endParaRPr lang="en-US" dirty="0">
              <a:solidFill>
                <a:srgbClr val="FF0000"/>
              </a:solidFill>
            </a:endParaRPr>
          </a:p>
        </p:txBody>
      </p:sp>
      <p:sp>
        <p:nvSpPr>
          <p:cNvPr id="3" name="Content Placeholder 2"/>
          <p:cNvSpPr>
            <a:spLocks noGrp="1"/>
          </p:cNvSpPr>
          <p:nvPr>
            <p:ph idx="1"/>
          </p:nvPr>
        </p:nvSpPr>
        <p:spPr>
          <a:xfrm>
            <a:off x="457200" y="838200"/>
            <a:ext cx="8229600" cy="5287963"/>
          </a:xfrm>
        </p:spPr>
        <p:txBody>
          <a:bodyPr>
            <a:normAutofit lnSpcReduction="10000"/>
          </a:bodyPr>
          <a:lstStyle/>
          <a:p>
            <a:pPr marL="109728" indent="0">
              <a:buNone/>
            </a:pPr>
            <a:endParaRPr lang="en-US" dirty="0" smtClean="0">
              <a:solidFill>
                <a:srgbClr val="FF0000"/>
              </a:solidFill>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Sender sends a short frame called Request to send </a:t>
            </a:r>
            <a:r>
              <a:rPr lang="en-US" dirty="0" smtClean="0">
                <a:solidFill>
                  <a:srgbClr val="FF0000"/>
                </a:solidFill>
                <a:latin typeface="Times New Roman" panose="02020603050405020304" pitchFamily="18" charset="0"/>
                <a:cs typeface="Times New Roman" panose="02020603050405020304" pitchFamily="18" charset="0"/>
              </a:rPr>
              <a:t>RTS (20 bytes) </a:t>
            </a:r>
            <a:r>
              <a:rPr lang="en-US" dirty="0" smtClean="0">
                <a:latin typeface="Times New Roman" panose="02020603050405020304" pitchFamily="18" charset="0"/>
                <a:cs typeface="Times New Roman" panose="02020603050405020304" pitchFamily="18" charset="0"/>
              </a:rPr>
              <a:t>to the destination. RTS also contains the length of the data frame</a:t>
            </a:r>
          </a:p>
          <a:p>
            <a:r>
              <a:rPr lang="en-US" dirty="0" smtClean="0">
                <a:latin typeface="Times New Roman" panose="02020603050405020304" pitchFamily="18" charset="0"/>
                <a:cs typeface="Times New Roman" panose="02020603050405020304" pitchFamily="18" charset="0"/>
              </a:rPr>
              <a:t>Destination station responds with a short </a:t>
            </a:r>
            <a:r>
              <a:rPr lang="en-US" dirty="0" smtClean="0">
                <a:solidFill>
                  <a:srgbClr val="FF0000"/>
                </a:solidFill>
                <a:latin typeface="Times New Roman" panose="02020603050405020304" pitchFamily="18" charset="0"/>
                <a:cs typeface="Times New Roman" panose="02020603050405020304" pitchFamily="18" charset="0"/>
              </a:rPr>
              <a:t>(14 bytes) clear to send (CTS) </a:t>
            </a:r>
            <a:r>
              <a:rPr lang="en-US" dirty="0" smtClean="0">
                <a:latin typeface="Times New Roman" panose="02020603050405020304" pitchFamily="18" charset="0"/>
                <a:cs typeface="Times New Roman" panose="02020603050405020304" pitchFamily="18" charset="0"/>
              </a:rPr>
              <a:t>frame</a:t>
            </a:r>
          </a:p>
          <a:p>
            <a:r>
              <a:rPr lang="en-US" dirty="0" smtClean="0">
                <a:latin typeface="Times New Roman" panose="02020603050405020304" pitchFamily="18" charset="0"/>
                <a:cs typeface="Times New Roman" panose="02020603050405020304" pitchFamily="18" charset="0"/>
              </a:rPr>
              <a:t>After receiving the CTS, the sender starts sending the data frame</a:t>
            </a:r>
          </a:p>
          <a:p>
            <a:r>
              <a:rPr lang="en-US" dirty="0" smtClean="0">
                <a:latin typeface="Times New Roman" panose="02020603050405020304" pitchFamily="18" charset="0"/>
                <a:cs typeface="Times New Roman" panose="02020603050405020304" pitchFamily="18" charset="0"/>
              </a:rPr>
              <a:t>If collision occurs, CTS frame is not received within a certain period of time</a:t>
            </a:r>
          </a:p>
        </p:txBody>
      </p:sp>
    </p:spTree>
    <p:extLst>
      <p:ext uri="{BB962C8B-B14F-4D97-AF65-F5344CB8AC3E}">
        <p14:creationId xmlns:p14="http://schemas.microsoft.com/office/powerpoint/2010/main" val="1718221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pPr algn="l">
              <a:spcBef>
                <a:spcPts val="0"/>
              </a:spcBef>
            </a:pPr>
            <a:r>
              <a:rPr lang="en-US" sz="3600" b="1" dirty="0">
                <a:solidFill>
                  <a:schemeClr val="tx1"/>
                </a:solidFill>
                <a:ea typeface="Calibri"/>
                <a:cs typeface="Times New Roman"/>
              </a:rPr>
              <a:t>CARRIER SENSE MULTIPLE ACCESS / COLLISION AVOIDANCE :</a:t>
            </a:r>
            <a:endParaRPr lang="en-US" dirty="0">
              <a:solidFill>
                <a:schemeClr val="tx1"/>
              </a:solidFill>
              <a:ea typeface="Calibri"/>
              <a:cs typeface="Times New Roman"/>
            </a:endParaRPr>
          </a:p>
          <a:p>
            <a:pPr algn="l">
              <a:spcBef>
                <a:spcPts val="0"/>
              </a:spcBef>
            </a:pPr>
            <a:r>
              <a:rPr lang="en-US" dirty="0">
                <a:solidFill>
                  <a:schemeClr val="tx1"/>
                </a:solidFill>
                <a:ea typeface="Calibri"/>
                <a:cs typeface="Times New Roman"/>
              </a:rPr>
              <a:t>We need to avoid collision on wireless N/w's, because they cannot be detected.  </a:t>
            </a:r>
            <a:endParaRPr lang="en-US" dirty="0" smtClean="0">
              <a:solidFill>
                <a:schemeClr val="tx1"/>
              </a:solidFill>
              <a:ea typeface="Calibri"/>
              <a:cs typeface="Times New Roman"/>
            </a:endParaRPr>
          </a:p>
          <a:p>
            <a:pPr algn="l">
              <a:spcBef>
                <a:spcPts val="0"/>
              </a:spcBef>
            </a:pPr>
            <a:r>
              <a:rPr lang="en-US" dirty="0" smtClean="0">
                <a:solidFill>
                  <a:schemeClr val="tx1"/>
                </a:solidFill>
                <a:ea typeface="Calibri"/>
                <a:cs typeface="Times New Roman"/>
              </a:rPr>
              <a:t>Collision </a:t>
            </a:r>
            <a:r>
              <a:rPr lang="en-US" dirty="0">
                <a:solidFill>
                  <a:schemeClr val="tx1"/>
                </a:solidFill>
                <a:ea typeface="Calibri"/>
                <a:cs typeface="Times New Roman"/>
              </a:rPr>
              <a:t>is avoided by the use of three strategies.  – the </a:t>
            </a:r>
            <a:r>
              <a:rPr lang="en-US" dirty="0" err="1">
                <a:solidFill>
                  <a:schemeClr val="tx1"/>
                </a:solidFill>
                <a:ea typeface="Calibri"/>
                <a:cs typeface="Times New Roman"/>
              </a:rPr>
              <a:t>interframe</a:t>
            </a:r>
            <a:r>
              <a:rPr lang="en-US" dirty="0">
                <a:solidFill>
                  <a:schemeClr val="tx1"/>
                </a:solidFill>
                <a:ea typeface="Calibri"/>
                <a:cs typeface="Times New Roman"/>
              </a:rPr>
              <a:t> space,  -The contention window &amp; - the acknowledgement.</a:t>
            </a:r>
          </a:p>
          <a:p>
            <a:pPr algn="l"/>
            <a:endParaRPr lang="en-US" dirty="0">
              <a:solidFill>
                <a:schemeClr val="tx1"/>
              </a:solidFill>
            </a:endParaRPr>
          </a:p>
        </p:txBody>
      </p:sp>
      <p:pic>
        <p:nvPicPr>
          <p:cNvPr id="3" name="Picture 2" descr="C:\Users\sanju\AppData\Local\Microsoft\Windows\Temporary Internet Files\Content.Word\12-multiple-access-23-638.jpg"/>
          <p:cNvPicPr/>
          <p:nvPr/>
        </p:nvPicPr>
        <p:blipFill>
          <a:blip r:embed="rId2">
            <a:extLst>
              <a:ext uri="{28A0092B-C50C-407E-A947-70E740481C1C}">
                <a14:useLocalDpi xmlns:a14="http://schemas.microsoft.com/office/drawing/2010/main" val="0"/>
              </a:ext>
            </a:extLst>
          </a:blip>
          <a:srcRect/>
          <a:stretch>
            <a:fillRect/>
          </a:stretch>
        </p:blipFill>
        <p:spPr bwMode="auto">
          <a:xfrm>
            <a:off x="304800" y="4419600"/>
            <a:ext cx="8534400" cy="2286000"/>
          </a:xfrm>
          <a:prstGeom prst="rect">
            <a:avLst/>
          </a:prstGeom>
          <a:noFill/>
          <a:ln>
            <a:noFill/>
          </a:ln>
        </p:spPr>
      </p:pic>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2800" dirty="0"/>
              <a:t>CSMA\CA </a:t>
            </a:r>
            <a:r>
              <a:rPr lang="en-IN" sz="2800" dirty="0" smtClean="0"/>
              <a:t>process:</a:t>
            </a:r>
            <a:endParaRPr lang="en-IN" sz="2800" dirty="0"/>
          </a:p>
        </p:txBody>
      </p:sp>
      <p:sp>
        <p:nvSpPr>
          <p:cNvPr id="2" name="Content Placeholder 1"/>
          <p:cNvSpPr>
            <a:spLocks noGrp="1"/>
          </p:cNvSpPr>
          <p:nvPr>
            <p:ph idx="1"/>
          </p:nvPr>
        </p:nvSpPr>
        <p:spPr/>
        <p:txBody>
          <a:bodyPr>
            <a:normAutofit fontScale="85000" lnSpcReduction="10000"/>
          </a:bodyPr>
          <a:lstStyle/>
          <a:p>
            <a:r>
              <a:rPr lang="en-IN" dirty="0" err="1"/>
              <a:t>InterFrame</a:t>
            </a:r>
            <a:r>
              <a:rPr lang="en-IN" dirty="0"/>
              <a:t> Space (IFS) – When a station finds the channel busy, it waits for a period of time called IFS time. IFS can also be used to define the priority of a station or a frame. Higher the IFS lower is the priority.</a:t>
            </a:r>
          </a:p>
          <a:p>
            <a:r>
              <a:rPr lang="en-IN" dirty="0"/>
              <a:t>Contention Window – It is the amount of time divided into </a:t>
            </a:r>
            <a:r>
              <a:rPr lang="en-IN" dirty="0" smtClean="0"/>
              <a:t>slots . A </a:t>
            </a:r>
            <a:r>
              <a:rPr lang="en-IN" dirty="0"/>
              <a:t>station which is ready to send frames chooses random number of slots as wait time.</a:t>
            </a:r>
          </a:p>
          <a:p>
            <a:r>
              <a:rPr lang="en-IN" dirty="0"/>
              <a:t>Acknowledgements – The positive acknowledgements and time-out timer can help guarantee a successful transmission of the frame.</a:t>
            </a:r>
          </a:p>
        </p:txBody>
      </p:sp>
    </p:spTree>
    <p:extLst>
      <p:ext uri="{BB962C8B-B14F-4D97-AF65-F5344CB8AC3E}">
        <p14:creationId xmlns:p14="http://schemas.microsoft.com/office/powerpoint/2010/main" val="1252307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04800" y="228600"/>
            <a:ext cx="8534400" cy="6477000"/>
          </a:xfrm>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5257"/>
            <a:ext cx="8479038" cy="6365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0079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016691"/>
          </a:xfrm>
        </p:spPr>
        <p:txBody>
          <a:bodyPr>
            <a:normAutofit fontScale="85000" lnSpcReduction="20000"/>
          </a:bodyPr>
          <a:lstStyle/>
          <a:p>
            <a:endParaRPr lang="en-IN" b="1" dirty="0" smtClean="0"/>
          </a:p>
          <a:p>
            <a:r>
              <a:rPr lang="en-IN" b="1" dirty="0" smtClean="0">
                <a:latin typeface="Calibri" pitchFamily="34" charset="0"/>
              </a:rPr>
              <a:t>Address </a:t>
            </a:r>
            <a:r>
              <a:rPr lang="en-IN" b="1" dirty="0">
                <a:latin typeface="Calibri" pitchFamily="34" charset="0"/>
              </a:rPr>
              <a:t>Resolution Protocol</a:t>
            </a:r>
            <a:r>
              <a:rPr lang="en-IN" dirty="0">
                <a:latin typeface="Calibri" pitchFamily="34" charset="0"/>
              </a:rPr>
              <a:t> is one of the most important protocols of the network layer in the OSI model which helps in finding the MAC(Media Access Control) address given the IP address of the system i.e. the main duty of the ARP is to convert the 32-bit IP address(for IPv4) to 48-bit address i.e. the MAC address</a:t>
            </a:r>
            <a:r>
              <a:rPr lang="en-IN" dirty="0" smtClean="0">
                <a:latin typeface="Calibri" pitchFamily="34" charset="0"/>
              </a:rPr>
              <a:t>.</a:t>
            </a:r>
          </a:p>
          <a:p>
            <a:r>
              <a:rPr lang="en-US" dirty="0"/>
              <a:t>A MAC address consists of six sets of two </a:t>
            </a:r>
            <a:r>
              <a:rPr lang="en-US" dirty="0" smtClean="0"/>
              <a:t>Hexadecimal characters , </a:t>
            </a:r>
            <a:r>
              <a:rPr lang="en-US" dirty="0"/>
              <a:t>each separated by a </a:t>
            </a:r>
            <a:r>
              <a:rPr lang="en-US" dirty="0" smtClean="0"/>
              <a:t>colon</a:t>
            </a:r>
            <a:r>
              <a:rPr lang="en-US" dirty="0"/>
              <a:t>:</a:t>
            </a:r>
            <a:endParaRPr lang="en-US" dirty="0" smtClean="0"/>
          </a:p>
          <a:p>
            <a:pPr marL="0" indent="0">
              <a:buNone/>
            </a:pPr>
            <a:r>
              <a:rPr lang="en-US" b="1" dirty="0"/>
              <a:t> </a:t>
            </a:r>
            <a:r>
              <a:rPr lang="en-US" b="1" dirty="0" smtClean="0"/>
              <a:t>      00:1B:44:11:3A:B7</a:t>
            </a:r>
            <a:r>
              <a:rPr lang="en-US" dirty="0"/>
              <a:t> is an example of a MAC address.</a:t>
            </a:r>
            <a:endParaRPr lang="en-IN" dirty="0" smtClean="0">
              <a:latin typeface="Calibri" pitchFamily="34" charset="0"/>
            </a:endParaRPr>
          </a:p>
          <a:p>
            <a:pPr marL="109728" indent="0">
              <a:buNone/>
            </a:pPr>
            <a:endParaRPr lang="en-IN" dirty="0"/>
          </a:p>
          <a:p>
            <a:pPr marL="109728" indent="0">
              <a:buNone/>
            </a:pPr>
            <a:r>
              <a:rPr lang="en-IN" sz="2000" dirty="0" smtClean="0">
                <a:latin typeface="Calibri" pitchFamily="34" charset="0"/>
              </a:rPr>
              <a:t>(Note: Though  ARP is a Network Layer protocol , it is discussed in DLL  because of its functionality (finding MAC Addresses from IP) )</a:t>
            </a:r>
            <a:endParaRPr lang="en-IN" sz="2000" dirty="0">
              <a:latin typeface="Calibri" pitchFamily="34" charset="0"/>
            </a:endParaRPr>
          </a:p>
        </p:txBody>
      </p:sp>
      <p:sp>
        <p:nvSpPr>
          <p:cNvPr id="3" name="Title 2"/>
          <p:cNvSpPr>
            <a:spLocks noGrp="1"/>
          </p:cNvSpPr>
          <p:nvPr>
            <p:ph type="title"/>
          </p:nvPr>
        </p:nvSpPr>
        <p:spPr>
          <a:xfrm>
            <a:off x="457200" y="152400"/>
            <a:ext cx="8229600" cy="685800"/>
          </a:xfrm>
        </p:spPr>
        <p:txBody>
          <a:bodyPr>
            <a:noAutofit/>
          </a:bodyPr>
          <a:lstStyle/>
          <a:p>
            <a:r>
              <a:rPr lang="en-IN" sz="2000" u="sng" dirty="0" smtClean="0"/>
              <a:t>Module 3</a:t>
            </a:r>
            <a:r>
              <a:rPr lang="en-IN" sz="4000" b="1" u="sng" dirty="0" smtClean="0"/>
              <a:t>ARP</a:t>
            </a:r>
            <a:r>
              <a:rPr lang="en-IN" sz="4000" b="1" u="sng" dirty="0"/>
              <a:t>: Address Resolution Protocol</a:t>
            </a:r>
          </a:p>
        </p:txBody>
      </p:sp>
    </p:spTree>
    <p:extLst>
      <p:ext uri="{BB962C8B-B14F-4D97-AF65-F5344CB8AC3E}">
        <p14:creationId xmlns:p14="http://schemas.microsoft.com/office/powerpoint/2010/main" val="2958854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334000"/>
          </a:xfrm>
        </p:spPr>
        <p:txBody>
          <a:bodyPr/>
          <a:lstStyle/>
          <a:p>
            <a:pPr marL="109728" indent="0">
              <a:buNone/>
            </a:pPr>
            <a:r>
              <a:rPr lang="en-IN" dirty="0" smtClean="0"/>
              <a:t>ARP Header Format:</a:t>
            </a:r>
          </a:p>
          <a:p>
            <a:pPr marL="109728" indent="0">
              <a:buNone/>
            </a:pPr>
            <a:endParaRPr lang="en-IN" dirty="0"/>
          </a:p>
        </p:txBody>
      </p:sp>
      <p:sp>
        <p:nvSpPr>
          <p:cNvPr id="3" name="Title 2"/>
          <p:cNvSpPr>
            <a:spLocks noGrp="1"/>
          </p:cNvSpPr>
          <p:nvPr>
            <p:ph type="title"/>
          </p:nvPr>
        </p:nvSpPr>
        <p:spPr>
          <a:xfrm>
            <a:off x="457200" y="274638"/>
            <a:ext cx="8229600" cy="715962"/>
          </a:xfrm>
        </p:spPr>
        <p:txBody>
          <a:bodyPr>
            <a:normAutofit/>
          </a:bodyPr>
          <a:lstStyle/>
          <a:p>
            <a:endParaRPr lang="en-IN"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732844"/>
            <a:ext cx="4953000" cy="4439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1556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638800"/>
          </a:xfrm>
        </p:spPr>
        <p:txBody>
          <a:bodyPr>
            <a:normAutofit fontScale="92500" lnSpcReduction="20000"/>
          </a:bodyPr>
          <a:lstStyle/>
          <a:p>
            <a:r>
              <a:rPr lang="en-IN" sz="2000" b="1" dirty="0">
                <a:latin typeface="Calibri" pitchFamily="34" charset="0"/>
              </a:rPr>
              <a:t>Hardware Type : </a:t>
            </a:r>
            <a:r>
              <a:rPr lang="en-IN" sz="2000" dirty="0">
                <a:latin typeface="Calibri" pitchFamily="34" charset="0"/>
              </a:rPr>
              <a:t>Hardware Type field in the Address Resolution Protocol (ARP) Message specifies the type of hardware used for the local network transmitting the Address Resolution Protocol (ARP) message. Ethernet is the common Hardware Type and he value for Ethernet is 1. The size of this field is 2 bytes.</a:t>
            </a:r>
          </a:p>
          <a:p>
            <a:endParaRPr lang="en-IN" sz="2000" dirty="0">
              <a:latin typeface="Calibri" pitchFamily="34" charset="0"/>
            </a:endParaRPr>
          </a:p>
          <a:p>
            <a:r>
              <a:rPr lang="en-IN" sz="2000" b="1" dirty="0">
                <a:latin typeface="Calibri" pitchFamily="34" charset="0"/>
              </a:rPr>
              <a:t>Protocol Type : </a:t>
            </a:r>
            <a:r>
              <a:rPr lang="en-IN" sz="2000" dirty="0">
                <a:latin typeface="Calibri" pitchFamily="34" charset="0"/>
              </a:rPr>
              <a:t>Each protocol is assigned a number used in this field. IPv4 </a:t>
            </a:r>
            <a:r>
              <a:rPr lang="en-IN" sz="2000" dirty="0" smtClean="0">
                <a:latin typeface="Calibri" pitchFamily="34" charset="0"/>
              </a:rPr>
              <a:t>0800 </a:t>
            </a:r>
            <a:r>
              <a:rPr lang="en-IN" sz="2000" dirty="0">
                <a:latin typeface="Calibri" pitchFamily="34" charset="0"/>
              </a:rPr>
              <a:t>in </a:t>
            </a:r>
            <a:r>
              <a:rPr lang="en-IN" sz="2000" dirty="0" smtClean="0">
                <a:latin typeface="Calibri" pitchFamily="34" charset="0"/>
              </a:rPr>
              <a:t>Hexadecimals.</a:t>
            </a:r>
          </a:p>
          <a:p>
            <a:r>
              <a:rPr lang="en-IN" sz="2000" b="1" dirty="0">
                <a:latin typeface="Calibri" pitchFamily="34" charset="0"/>
              </a:rPr>
              <a:t>Hardware Address Length : </a:t>
            </a:r>
            <a:r>
              <a:rPr lang="en-IN" sz="2000" dirty="0">
                <a:latin typeface="Calibri" pitchFamily="34" charset="0"/>
              </a:rPr>
              <a:t>Hardware Address Length in the Address Resolution Protocol (ARP) Message is length in bytes of a hardware (MAC) address. Ethernet MAC addresses are 6 bytes long.</a:t>
            </a:r>
          </a:p>
          <a:p>
            <a:endParaRPr lang="en-IN" sz="2000" dirty="0">
              <a:latin typeface="Calibri" pitchFamily="34" charset="0"/>
            </a:endParaRPr>
          </a:p>
          <a:p>
            <a:r>
              <a:rPr lang="en-IN" sz="2000" b="1" dirty="0">
                <a:latin typeface="Calibri" pitchFamily="34" charset="0"/>
              </a:rPr>
              <a:t>Protocol Address Length : </a:t>
            </a:r>
            <a:r>
              <a:rPr lang="en-IN" sz="2000" dirty="0">
                <a:latin typeface="Calibri" pitchFamily="34" charset="0"/>
              </a:rPr>
              <a:t>Length in bytes of a logical address (IPv4 Address). IPv4 addresses are 4 bytes long</a:t>
            </a:r>
            <a:r>
              <a:rPr lang="en-IN" sz="2000" dirty="0" smtClean="0">
                <a:latin typeface="Calibri" pitchFamily="34" charset="0"/>
              </a:rPr>
              <a:t>.</a:t>
            </a:r>
          </a:p>
          <a:p>
            <a:r>
              <a:rPr lang="en-IN" sz="2000" b="1" dirty="0" err="1">
                <a:latin typeface="Calibri" pitchFamily="34" charset="0"/>
              </a:rPr>
              <a:t>Opcode</a:t>
            </a:r>
            <a:r>
              <a:rPr lang="en-IN" sz="2000" b="1" dirty="0">
                <a:latin typeface="Calibri" pitchFamily="34" charset="0"/>
              </a:rPr>
              <a:t> :</a:t>
            </a:r>
            <a:r>
              <a:rPr lang="en-IN" sz="2000" dirty="0">
                <a:latin typeface="Calibri" pitchFamily="34" charset="0"/>
              </a:rPr>
              <a:t> </a:t>
            </a:r>
            <a:r>
              <a:rPr lang="en-IN" sz="2000" dirty="0" err="1">
                <a:latin typeface="Calibri" pitchFamily="34" charset="0"/>
              </a:rPr>
              <a:t>Opcode</a:t>
            </a:r>
            <a:r>
              <a:rPr lang="en-IN" sz="2000" dirty="0">
                <a:latin typeface="Calibri" pitchFamily="34" charset="0"/>
              </a:rPr>
              <a:t> </a:t>
            </a:r>
            <a:r>
              <a:rPr lang="en-IN" sz="2000" dirty="0" smtClean="0">
                <a:latin typeface="Calibri" pitchFamily="34" charset="0"/>
              </a:rPr>
              <a:t>field/operational code </a:t>
            </a:r>
            <a:r>
              <a:rPr lang="en-IN" sz="2000" dirty="0">
                <a:latin typeface="Calibri" pitchFamily="34" charset="0"/>
              </a:rPr>
              <a:t>in the Address Resolution Protocol (ARP) Message specifies the nature of the ARP message. </a:t>
            </a:r>
            <a:r>
              <a:rPr lang="en-IN" sz="2000" b="1" dirty="0">
                <a:latin typeface="Calibri" pitchFamily="34" charset="0"/>
              </a:rPr>
              <a:t>1 for ARP request </a:t>
            </a:r>
            <a:r>
              <a:rPr lang="en-IN" sz="2000" dirty="0">
                <a:latin typeface="Calibri" pitchFamily="34" charset="0"/>
              </a:rPr>
              <a:t>and </a:t>
            </a:r>
            <a:r>
              <a:rPr lang="en-IN" sz="2000" b="1" dirty="0">
                <a:latin typeface="Calibri" pitchFamily="34" charset="0"/>
              </a:rPr>
              <a:t>2 for ARP reply</a:t>
            </a:r>
            <a:r>
              <a:rPr lang="en-IN" sz="2000" dirty="0">
                <a:latin typeface="Calibri" pitchFamily="34" charset="0"/>
              </a:rPr>
              <a:t>.</a:t>
            </a:r>
          </a:p>
          <a:p>
            <a:endParaRPr lang="en-IN" sz="2000" dirty="0">
              <a:latin typeface="Calibri" pitchFamily="34" charset="0"/>
            </a:endParaRPr>
          </a:p>
          <a:p>
            <a:r>
              <a:rPr lang="en-IN" sz="2000" b="1" dirty="0">
                <a:latin typeface="Calibri" pitchFamily="34" charset="0"/>
              </a:rPr>
              <a:t>Sender Hardware Address : </a:t>
            </a:r>
            <a:r>
              <a:rPr lang="en-IN" sz="2000" dirty="0">
                <a:latin typeface="Calibri" pitchFamily="34" charset="0"/>
              </a:rPr>
              <a:t>Layer 2 address (MAC Address) of the device sending the message.</a:t>
            </a:r>
          </a:p>
        </p:txBody>
      </p:sp>
      <p:sp>
        <p:nvSpPr>
          <p:cNvPr id="3" name="Title 2"/>
          <p:cNvSpPr>
            <a:spLocks noGrp="1"/>
          </p:cNvSpPr>
          <p:nvPr>
            <p:ph type="title"/>
          </p:nvPr>
        </p:nvSpPr>
        <p:spPr>
          <a:xfrm>
            <a:off x="457200" y="152400"/>
            <a:ext cx="8229600" cy="533400"/>
          </a:xfrm>
        </p:spPr>
        <p:txBody>
          <a:bodyPr>
            <a:normAutofit fontScale="90000"/>
          </a:bodyPr>
          <a:lstStyle/>
          <a:p>
            <a:r>
              <a:rPr lang="en-IN" dirty="0" smtClean="0"/>
              <a:t>ARP Header:</a:t>
            </a:r>
            <a:endParaRPr lang="en-IN" dirty="0"/>
          </a:p>
        </p:txBody>
      </p:sp>
    </p:spTree>
    <p:extLst>
      <p:ext uri="{BB962C8B-B14F-4D97-AF65-F5344CB8AC3E}">
        <p14:creationId xmlns:p14="http://schemas.microsoft.com/office/powerpoint/2010/main" val="3166503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85800"/>
            <a:ext cx="8305800" cy="5715000"/>
          </a:xfrm>
        </p:spPr>
        <p:txBody>
          <a:bodyPr/>
          <a:lstStyle/>
          <a:p>
            <a:r>
              <a:rPr lang="en-IN" b="1" dirty="0">
                <a:latin typeface="Calibri" pitchFamily="34" charset="0"/>
              </a:rPr>
              <a:t>Sender Protocol Address : </a:t>
            </a:r>
            <a:r>
              <a:rPr lang="en-IN" dirty="0" smtClean="0">
                <a:latin typeface="Calibri" pitchFamily="34" charset="0"/>
              </a:rPr>
              <a:t>The </a:t>
            </a:r>
            <a:r>
              <a:rPr lang="en-IN" dirty="0">
                <a:latin typeface="Calibri" pitchFamily="34" charset="0"/>
              </a:rPr>
              <a:t>protocol address (</a:t>
            </a:r>
            <a:r>
              <a:rPr lang="en-IN" dirty="0" smtClean="0">
                <a:latin typeface="Calibri" pitchFamily="34" charset="0"/>
              </a:rPr>
              <a:t>IP address</a:t>
            </a:r>
            <a:r>
              <a:rPr lang="en-IN" dirty="0">
                <a:latin typeface="Calibri" pitchFamily="34" charset="0"/>
              </a:rPr>
              <a:t>) of the device sending the message</a:t>
            </a:r>
          </a:p>
          <a:p>
            <a:endParaRPr lang="en-IN" dirty="0">
              <a:latin typeface="Calibri" pitchFamily="34" charset="0"/>
            </a:endParaRPr>
          </a:p>
          <a:p>
            <a:r>
              <a:rPr lang="en-IN" b="1" dirty="0">
                <a:latin typeface="Calibri" pitchFamily="34" charset="0"/>
              </a:rPr>
              <a:t>Target Hardware Address : </a:t>
            </a:r>
            <a:r>
              <a:rPr lang="en-IN" dirty="0">
                <a:latin typeface="Calibri" pitchFamily="34" charset="0"/>
              </a:rPr>
              <a:t>Layer 2 (MAC Address) of the intended receiver. This field is ignored in requests.</a:t>
            </a:r>
          </a:p>
          <a:p>
            <a:endParaRPr lang="en-IN" dirty="0">
              <a:latin typeface="Calibri" pitchFamily="34" charset="0"/>
            </a:endParaRPr>
          </a:p>
          <a:p>
            <a:r>
              <a:rPr lang="en-IN" b="1" dirty="0">
                <a:latin typeface="Calibri" pitchFamily="34" charset="0"/>
              </a:rPr>
              <a:t>Target Protocol Address : </a:t>
            </a:r>
            <a:r>
              <a:rPr lang="en-IN" dirty="0">
                <a:latin typeface="Calibri" pitchFamily="34" charset="0"/>
              </a:rPr>
              <a:t>The protocol address </a:t>
            </a:r>
            <a:r>
              <a:rPr lang="en-IN" dirty="0" smtClean="0">
                <a:latin typeface="Calibri" pitchFamily="34" charset="0"/>
              </a:rPr>
              <a:t>/IP Address </a:t>
            </a:r>
            <a:r>
              <a:rPr lang="en-IN" dirty="0">
                <a:latin typeface="Calibri" pitchFamily="34" charset="0"/>
              </a:rPr>
              <a:t>of the intended receiver.</a:t>
            </a:r>
          </a:p>
        </p:txBody>
      </p:sp>
      <p:sp>
        <p:nvSpPr>
          <p:cNvPr id="3" name="Title 2"/>
          <p:cNvSpPr>
            <a:spLocks noGrp="1"/>
          </p:cNvSpPr>
          <p:nvPr>
            <p:ph type="title"/>
          </p:nvPr>
        </p:nvSpPr>
        <p:spPr>
          <a:xfrm>
            <a:off x="457200" y="152400"/>
            <a:ext cx="8229600" cy="685800"/>
          </a:xfrm>
        </p:spPr>
        <p:txBody>
          <a:bodyPr>
            <a:normAutofit/>
          </a:bodyPr>
          <a:lstStyle/>
          <a:p>
            <a:r>
              <a:rPr lang="en-IN" sz="2800" dirty="0"/>
              <a:t>ARP Header:</a:t>
            </a:r>
          </a:p>
        </p:txBody>
      </p:sp>
    </p:spTree>
    <p:extLst>
      <p:ext uri="{BB962C8B-B14F-4D97-AF65-F5344CB8AC3E}">
        <p14:creationId xmlns:p14="http://schemas.microsoft.com/office/powerpoint/2010/main" val="31766010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638800"/>
          </a:xfrm>
        </p:spPr>
        <p:txBody>
          <a:bodyPr>
            <a:normAutofit/>
          </a:bodyPr>
          <a:lstStyle/>
          <a:p>
            <a:r>
              <a:rPr lang="en-IN" sz="2800" dirty="0">
                <a:latin typeface="Calibri" pitchFamily="34" charset="0"/>
              </a:rPr>
              <a:t>At the network layer when the source wants to find out the MAC address of the destination device it first looks for the MAC address(Physical Address) in the ARP cache or ARP table. If present there then it will use the MAC address from there for communication</a:t>
            </a:r>
            <a:r>
              <a:rPr lang="en-IN" sz="2800" dirty="0" smtClean="0">
                <a:latin typeface="Calibri" pitchFamily="34" charset="0"/>
              </a:rPr>
              <a:t>.</a:t>
            </a:r>
          </a:p>
          <a:p>
            <a:pPr marL="109728" indent="0">
              <a:buNone/>
            </a:pPr>
            <a:endParaRPr lang="en-IN" sz="2800" dirty="0" smtClean="0">
              <a:latin typeface="Calibri" pitchFamily="34" charset="0"/>
            </a:endParaRPr>
          </a:p>
          <a:p>
            <a:r>
              <a:rPr lang="en-IN" sz="2800" dirty="0">
                <a:latin typeface="Calibri" pitchFamily="34" charset="0"/>
              </a:rPr>
              <a:t>If the MAC address is not present in the ARP table then the source device will generate an ARP Request message. In the request message the source puts its own MAC address, its IP address, destination IP address and the destination MAC address is left blank since the source is trying to find this.</a:t>
            </a:r>
          </a:p>
          <a:p>
            <a:endParaRPr lang="en-IN" sz="2800" dirty="0">
              <a:latin typeface="Calibri" pitchFamily="34" charset="0"/>
            </a:endParaRPr>
          </a:p>
        </p:txBody>
      </p:sp>
      <p:sp>
        <p:nvSpPr>
          <p:cNvPr id="3" name="Title 2"/>
          <p:cNvSpPr>
            <a:spLocks noGrp="1"/>
          </p:cNvSpPr>
          <p:nvPr>
            <p:ph type="title"/>
          </p:nvPr>
        </p:nvSpPr>
        <p:spPr>
          <a:xfrm>
            <a:off x="228600" y="0"/>
            <a:ext cx="8458200" cy="762000"/>
          </a:xfrm>
        </p:spPr>
        <p:txBody>
          <a:bodyPr>
            <a:normAutofit/>
          </a:bodyPr>
          <a:lstStyle/>
          <a:p>
            <a:r>
              <a:rPr lang="en-IN" sz="3200" dirty="0" smtClean="0">
                <a:effectLst/>
                <a:latin typeface="Calibri" pitchFamily="34" charset="0"/>
              </a:rPr>
              <a:t>How ARP Works ?</a:t>
            </a:r>
            <a:endParaRPr lang="en-IN" sz="3200" dirty="0">
              <a:effectLst/>
              <a:latin typeface="Calibri" pitchFamily="34" charset="0"/>
            </a:endParaRPr>
          </a:p>
        </p:txBody>
      </p:sp>
    </p:spTree>
    <p:extLst>
      <p:ext uri="{BB962C8B-B14F-4D97-AF65-F5344CB8AC3E}">
        <p14:creationId xmlns:p14="http://schemas.microsoft.com/office/powerpoint/2010/main" val="4192646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838200"/>
            <a:ext cx="8458200" cy="5791200"/>
          </a:xfrm>
        </p:spPr>
        <p:txBody>
          <a:bodyPr>
            <a:normAutofit/>
          </a:bodyPr>
          <a:lstStyle/>
          <a:p>
            <a:r>
              <a:rPr lang="en-IN" sz="2400" dirty="0">
                <a:latin typeface="Calibri" pitchFamily="34" charset="0"/>
              </a:rPr>
              <a:t>The source device will broadcast the ARP request message to the local network.</a:t>
            </a:r>
          </a:p>
          <a:p>
            <a:r>
              <a:rPr lang="en-IN" sz="2400" dirty="0">
                <a:latin typeface="Calibri" pitchFamily="34" charset="0"/>
              </a:rPr>
              <a:t>The broadcast message is received by all the other devices in the LAN network. Now each device will compare the IP address of the destination with its own IP address. If the IP address of destination matches with the device's IP address then the device will send an ARP Reply message. If the IP addresses do not match then the device will simply drop the packet</a:t>
            </a:r>
            <a:r>
              <a:rPr lang="en-IN" sz="2400" dirty="0" smtClean="0">
                <a:latin typeface="Calibri" pitchFamily="34" charset="0"/>
              </a:rPr>
              <a:t>.</a:t>
            </a:r>
          </a:p>
          <a:p>
            <a:r>
              <a:rPr lang="en-IN" sz="2400" dirty="0">
                <a:latin typeface="Calibri" pitchFamily="34" charset="0"/>
              </a:rPr>
              <a:t>The device whose IP address has matched with the destination IP address in the packet will reply and send the ARP Reply message. This ARP Reply message contains the MAC address of this device. The destination device updates its ARP table and stores the MAC address of the source as it will need to contact the source soon. Now, the source becomes destination(target) for this device and the ARP Reply message is sent.</a:t>
            </a:r>
          </a:p>
        </p:txBody>
      </p:sp>
      <p:sp>
        <p:nvSpPr>
          <p:cNvPr id="3" name="Title 2"/>
          <p:cNvSpPr>
            <a:spLocks noGrp="1"/>
          </p:cNvSpPr>
          <p:nvPr>
            <p:ph type="title"/>
          </p:nvPr>
        </p:nvSpPr>
        <p:spPr>
          <a:xfrm>
            <a:off x="457200" y="152400"/>
            <a:ext cx="8229600" cy="762000"/>
          </a:xfrm>
        </p:spPr>
        <p:txBody>
          <a:bodyPr>
            <a:normAutofit/>
          </a:bodyPr>
          <a:lstStyle/>
          <a:p>
            <a:r>
              <a:rPr lang="en-IN" sz="3200" dirty="0" smtClean="0">
                <a:effectLst/>
                <a:latin typeface="Calibri" pitchFamily="34" charset="0"/>
              </a:rPr>
              <a:t>….How </a:t>
            </a:r>
            <a:r>
              <a:rPr lang="en-IN" sz="3200" dirty="0">
                <a:effectLst/>
                <a:latin typeface="Calibri" pitchFamily="34" charset="0"/>
              </a:rPr>
              <a:t>ARP Works ?</a:t>
            </a:r>
            <a:endParaRPr lang="en-IN" sz="3200" dirty="0">
              <a:latin typeface="Calibri" pitchFamily="34" charset="0"/>
            </a:endParaRPr>
          </a:p>
        </p:txBody>
      </p:sp>
    </p:spTree>
    <p:extLst>
      <p:ext uri="{BB962C8B-B14F-4D97-AF65-F5344CB8AC3E}">
        <p14:creationId xmlns:p14="http://schemas.microsoft.com/office/powerpoint/2010/main" val="32408817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838200"/>
            <a:ext cx="8458200" cy="5791200"/>
          </a:xfrm>
        </p:spPr>
        <p:txBody>
          <a:bodyPr>
            <a:normAutofit/>
          </a:bodyPr>
          <a:lstStyle/>
          <a:p>
            <a:r>
              <a:rPr lang="en-IN" sz="2400" dirty="0">
                <a:latin typeface="Calibri" pitchFamily="34" charset="0"/>
              </a:rPr>
              <a:t>The </a:t>
            </a:r>
            <a:r>
              <a:rPr lang="en-IN" sz="2400" b="1" dirty="0">
                <a:latin typeface="Calibri" pitchFamily="34" charset="0"/>
              </a:rPr>
              <a:t>ARP reply </a:t>
            </a:r>
            <a:r>
              <a:rPr lang="en-IN" sz="2400" dirty="0">
                <a:latin typeface="Calibri" pitchFamily="34" charset="0"/>
              </a:rPr>
              <a:t>message is unicast and it is not broadcasted because the source which is sending the ARP reply to the destination knows the MAC address of the source device</a:t>
            </a:r>
            <a:r>
              <a:rPr lang="en-IN" sz="2400" dirty="0" smtClean="0">
                <a:latin typeface="Calibri" pitchFamily="34" charset="0"/>
              </a:rPr>
              <a:t>.</a:t>
            </a:r>
          </a:p>
          <a:p>
            <a:pPr marL="109728" indent="0">
              <a:buNone/>
            </a:pPr>
            <a:endParaRPr lang="en-IN" sz="2400" dirty="0">
              <a:latin typeface="Calibri" pitchFamily="34" charset="0"/>
            </a:endParaRPr>
          </a:p>
          <a:p>
            <a:r>
              <a:rPr lang="en-IN" sz="2400" dirty="0">
                <a:latin typeface="Calibri" pitchFamily="34" charset="0"/>
              </a:rPr>
              <a:t>When the source receives the </a:t>
            </a:r>
            <a:r>
              <a:rPr lang="en-IN" sz="2400" b="1" dirty="0">
                <a:latin typeface="Calibri" pitchFamily="34" charset="0"/>
              </a:rPr>
              <a:t>ARP reply </a:t>
            </a:r>
            <a:r>
              <a:rPr lang="en-IN" sz="2400" dirty="0">
                <a:latin typeface="Calibri" pitchFamily="34" charset="0"/>
              </a:rPr>
              <a:t>it comes to know about the destination MAC address and it also updates its ARP cache. Now the packets can be sent as the source </a:t>
            </a:r>
            <a:r>
              <a:rPr lang="en-IN" sz="2400" dirty="0" smtClean="0">
                <a:latin typeface="Calibri" pitchFamily="34" charset="0"/>
              </a:rPr>
              <a:t>knows </a:t>
            </a:r>
            <a:r>
              <a:rPr lang="en-IN" sz="2400" dirty="0">
                <a:latin typeface="Calibri" pitchFamily="34" charset="0"/>
              </a:rPr>
              <a:t>destination MAC address.</a:t>
            </a:r>
          </a:p>
        </p:txBody>
      </p:sp>
      <p:sp>
        <p:nvSpPr>
          <p:cNvPr id="3" name="Title 2"/>
          <p:cNvSpPr>
            <a:spLocks noGrp="1"/>
          </p:cNvSpPr>
          <p:nvPr>
            <p:ph type="title"/>
          </p:nvPr>
        </p:nvSpPr>
        <p:spPr>
          <a:xfrm>
            <a:off x="457200" y="152400"/>
            <a:ext cx="8229600" cy="762000"/>
          </a:xfrm>
        </p:spPr>
        <p:txBody>
          <a:bodyPr>
            <a:normAutofit/>
          </a:bodyPr>
          <a:lstStyle/>
          <a:p>
            <a:r>
              <a:rPr lang="en-IN" sz="3200" dirty="0" smtClean="0">
                <a:effectLst/>
                <a:latin typeface="Calibri" pitchFamily="34" charset="0"/>
              </a:rPr>
              <a:t>….How </a:t>
            </a:r>
            <a:r>
              <a:rPr lang="en-IN" sz="3200" dirty="0">
                <a:effectLst/>
                <a:latin typeface="Calibri" pitchFamily="34" charset="0"/>
              </a:rPr>
              <a:t>ARP Works ?</a:t>
            </a:r>
            <a:endParaRPr lang="en-IN" sz="3200" dirty="0">
              <a:latin typeface="Calibri" pitchFamily="34" charset="0"/>
            </a:endParaRPr>
          </a:p>
        </p:txBody>
      </p:sp>
    </p:spTree>
    <p:extLst>
      <p:ext uri="{BB962C8B-B14F-4D97-AF65-F5344CB8AC3E}">
        <p14:creationId xmlns:p14="http://schemas.microsoft.com/office/powerpoint/2010/main" val="3358931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21975</TotalTime>
  <Words>8481</Words>
  <Application>Microsoft Office PowerPoint</Application>
  <PresentationFormat>On-screen Show (4:3)</PresentationFormat>
  <Paragraphs>916</Paragraphs>
  <Slides>194</Slides>
  <Notes>32</Notes>
  <HiddenSlides>0</HiddenSlides>
  <MMClips>0</MMClips>
  <ScaleCrop>false</ScaleCrop>
  <HeadingPairs>
    <vt:vector size="4" baseType="variant">
      <vt:variant>
        <vt:lpstr>Theme</vt:lpstr>
      </vt:variant>
      <vt:variant>
        <vt:i4>1</vt:i4>
      </vt:variant>
      <vt:variant>
        <vt:lpstr>Slide Titles</vt:lpstr>
      </vt:variant>
      <vt:variant>
        <vt:i4>194</vt:i4>
      </vt:variant>
    </vt:vector>
  </HeadingPairs>
  <TitlesOfParts>
    <vt:vector size="195" baseType="lpstr">
      <vt:lpstr>Office Theme</vt:lpstr>
      <vt:lpstr>DATA LINK LAYER</vt:lpstr>
      <vt:lpstr>PowerPoint Presentation</vt:lpstr>
      <vt:lpstr>Where is the link layer implemented</vt:lpstr>
      <vt:lpstr>The DLL is divided into two sublayers: </vt:lpstr>
      <vt:lpstr>DATA LINK LAYER :Functions </vt:lpstr>
      <vt:lpstr>DATA LINK LAYER :Functions …cntd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Cyclic Redundancy Checksum </vt:lpstr>
      <vt:lpstr>PowerPoint Presentation</vt:lpstr>
      <vt:lpstr>PowerPoint Presentation</vt:lpstr>
      <vt:lpstr>CRC Encoder and Decoder</vt:lpstr>
      <vt:lpstr>CRC Encoder and Decoder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Hamming Code</vt:lpstr>
      <vt:lpstr>Relationship between m and r </vt:lpstr>
      <vt:lpstr>Hamming Code..cntd</vt:lpstr>
      <vt:lpstr>Algorithm of Hamming Code </vt:lpstr>
      <vt:lpstr>Cntd..Algorithm of Hamming Code </vt:lpstr>
      <vt:lpstr>Hamming code…Determining The Position of Redundant Bits </vt:lpstr>
      <vt:lpstr>Determining The Parity Bits According to Even Parity </vt:lpstr>
      <vt:lpstr>Hamming code: Error Detection and Correction </vt:lpstr>
      <vt:lpstr>Hamming code: Error Detection and Correction </vt:lpstr>
      <vt:lpstr>PowerPoint Presentation</vt:lpstr>
      <vt:lpstr>Flow Control and Error Control</vt:lpstr>
      <vt:lpstr>Flow Control and Error Control</vt:lpstr>
      <vt:lpstr>Protocols</vt:lpstr>
      <vt:lpstr>Noiseless Channel</vt:lpstr>
      <vt:lpstr>Simplest Protocol</vt:lpstr>
      <vt:lpstr>Simplest Protocol</vt:lpstr>
      <vt:lpstr>Simplest Protocol (Example)</vt:lpstr>
      <vt:lpstr>PowerPoint Presentation</vt:lpstr>
      <vt:lpstr>Stop and Wait Protocol</vt:lpstr>
      <vt:lpstr>Stop and Wait Protocol</vt:lpstr>
      <vt:lpstr>PowerPoint Presentation</vt:lpstr>
      <vt:lpstr>PowerPoint Presentation</vt:lpstr>
      <vt:lpstr>Noisy Channel</vt:lpstr>
      <vt:lpstr>Stop And Wait ARQ</vt:lpstr>
      <vt:lpstr>Stop And Wait ARQ</vt:lpstr>
      <vt:lpstr>Stop And Wait ARQ (Example)</vt:lpstr>
      <vt:lpstr>Stop And Wait ARQ (Example)</vt:lpstr>
      <vt:lpstr>Stop And Wait ARQ</vt:lpstr>
      <vt:lpstr>Stop And Wait ARQ</vt:lpstr>
      <vt:lpstr>Stop And Wait ARQ</vt:lpstr>
      <vt:lpstr>Stop And Wait ARQ</vt:lpstr>
      <vt:lpstr>Go-Back-N ARQ</vt:lpstr>
      <vt:lpstr>Go-Back-N ARQ</vt:lpstr>
      <vt:lpstr>Send Window for Go-Back-N ARQ:</vt:lpstr>
      <vt:lpstr>Go-Back-N ARQ</vt:lpstr>
      <vt:lpstr>Receive Window for Go-Back-N ARQ:</vt:lpstr>
      <vt:lpstr>Go-Back-N ARQ</vt:lpstr>
      <vt:lpstr>Go-Back-N ARQ</vt:lpstr>
      <vt:lpstr>Go-Back-N ARQ</vt:lpstr>
      <vt:lpstr>Go-Back-N ARQ</vt:lpstr>
      <vt:lpstr>Selective Repeat ARQ</vt:lpstr>
      <vt:lpstr>Selective Repeat ARQ</vt:lpstr>
      <vt:lpstr>PowerPoint Presentation</vt:lpstr>
      <vt:lpstr>PowerPoint Presentation</vt:lpstr>
      <vt:lpstr>Selective Repeat ARQ</vt:lpstr>
      <vt:lpstr>PowerPoint Presentation</vt:lpstr>
      <vt:lpstr>Selective Repeat ARQ</vt:lpstr>
      <vt:lpstr>Selective Repeat ARQ</vt:lpstr>
      <vt:lpstr>Piggybacking in Go Back N ARQ</vt:lpstr>
      <vt:lpstr>PowerPoint Presentation</vt:lpstr>
      <vt:lpstr>PowerPoint Presentation</vt:lpstr>
      <vt:lpstr>PowerPoint Presentation</vt:lpstr>
      <vt:lpstr>PowerPoint Presentation</vt:lpstr>
      <vt:lpstr>Channel partitioning MAC protocols: TDMA</vt:lpstr>
      <vt:lpstr>Time Division Multiple Access (TDMA) </vt:lpstr>
      <vt:lpstr>PowerPoint Presentation</vt:lpstr>
      <vt:lpstr>Frequency Division Multiple Access (FDMA) </vt:lpstr>
      <vt:lpstr>PowerPoint Presentation</vt:lpstr>
      <vt:lpstr>Code Division Multiple Access(CDMA)</vt:lpstr>
      <vt:lpstr>PowerPoint Presentation</vt:lpstr>
      <vt:lpstr> Controlled Access Protocols: </vt:lpstr>
      <vt:lpstr> Controlled Access Protocols ..cntd.. </vt:lpstr>
      <vt:lpstr>Polling</vt:lpstr>
      <vt:lpstr>Token Passing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Performance of ALOHA Vulnerable period</vt:lpstr>
      <vt:lpstr>ALOHA</vt:lpstr>
      <vt:lpstr>Maximum Propagation Delay</vt:lpstr>
      <vt:lpstr>Pure ALOHA</vt:lpstr>
      <vt:lpstr>PowerPoint Presentation</vt:lpstr>
      <vt:lpstr>Pure ALOHA</vt:lpstr>
      <vt:lpstr>Pure ALOHA</vt:lpstr>
      <vt:lpstr>PowerPoint Presentation</vt:lpstr>
      <vt:lpstr>PowerPoint Presentation</vt:lpstr>
      <vt:lpstr>Slotted ALOHA</vt:lpstr>
      <vt:lpstr>Vulnerable period</vt:lpstr>
      <vt:lpstr>PowerPoint Presentation</vt:lpstr>
      <vt:lpstr>PowerPoint Presentation</vt:lpstr>
      <vt:lpstr>Efficiency</vt:lpstr>
      <vt:lpstr>PowerPoint Presentation</vt:lpstr>
      <vt:lpstr>PowerPoint Presentation</vt:lpstr>
      <vt:lpstr>PowerPoint Presentation</vt:lpstr>
      <vt:lpstr>PowerPoint Presentation</vt:lpstr>
      <vt:lpstr>Collision in CSMA</vt:lpstr>
      <vt:lpstr>PowerPoint Presentation</vt:lpstr>
      <vt:lpstr>Persistent and Non-persistent CSMA</vt:lpstr>
      <vt:lpstr>PowerPoint Presentation</vt:lpstr>
      <vt:lpstr>PowerPoint Presentation</vt:lpstr>
      <vt:lpstr>PowerPoint Presentation</vt:lpstr>
      <vt:lpstr>PowerPoint Presentation</vt:lpstr>
      <vt:lpstr>PowerPoint Presentation</vt:lpstr>
      <vt:lpstr>CSMA/CD</vt:lpstr>
      <vt:lpstr>Collision of first bit in CSMA/CD </vt:lpstr>
      <vt:lpstr>PowerPoint Presentation</vt:lpstr>
      <vt:lpstr>Minimum Frame size</vt:lpstr>
      <vt:lpstr>How CSMA/CD works?  </vt:lpstr>
      <vt:lpstr>PowerPoint Presentation</vt:lpstr>
      <vt:lpstr>Example- CSMA/CD</vt:lpstr>
      <vt:lpstr>DIFFERENCES BETWEEN ALOHA &amp; CSMA/CD</vt:lpstr>
      <vt:lpstr>CSMA/CA</vt:lpstr>
      <vt:lpstr>CSMA/CA</vt:lpstr>
      <vt:lpstr>PowerPoint Presentation</vt:lpstr>
      <vt:lpstr>CSMA\CA process:</vt:lpstr>
      <vt:lpstr>PowerPoint Presentation</vt:lpstr>
      <vt:lpstr>Module 3ARP: Address Resolution Protocol</vt:lpstr>
      <vt:lpstr>PowerPoint Presentation</vt:lpstr>
      <vt:lpstr>ARP Header:</vt:lpstr>
      <vt:lpstr>ARP Header:</vt:lpstr>
      <vt:lpstr>How ARP Works ?</vt:lpstr>
      <vt:lpstr>….How ARP Works ?</vt:lpstr>
      <vt:lpstr>….How ARP Works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312</cp:revision>
  <dcterms:created xsi:type="dcterms:W3CDTF">2018-07-03T05:52:06Z</dcterms:created>
  <dcterms:modified xsi:type="dcterms:W3CDTF">2025-09-03T21:56:41Z</dcterms:modified>
</cp:coreProperties>
</file>