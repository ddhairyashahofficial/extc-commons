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71" r:id="rId3"/>
    <p:sldId id="257" r:id="rId4"/>
    <p:sldId id="258" r:id="rId5"/>
    <p:sldId id="272" r:id="rId6"/>
    <p:sldId id="293" r:id="rId7"/>
    <p:sldId id="260" r:id="rId8"/>
    <p:sldId id="261" r:id="rId9"/>
    <p:sldId id="273" r:id="rId10"/>
    <p:sldId id="26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94" r:id="rId19"/>
    <p:sldId id="264" r:id="rId20"/>
    <p:sldId id="282" r:id="rId21"/>
    <p:sldId id="281" r:id="rId22"/>
    <p:sldId id="283" r:id="rId23"/>
    <p:sldId id="284" r:id="rId24"/>
    <p:sldId id="285" r:id="rId25"/>
    <p:sldId id="268" r:id="rId26"/>
    <p:sldId id="288" r:id="rId27"/>
    <p:sldId id="295" r:id="rId28"/>
    <p:sldId id="286" r:id="rId29"/>
    <p:sldId id="289" r:id="rId30"/>
    <p:sldId id="287" r:id="rId31"/>
    <p:sldId id="291" r:id="rId32"/>
    <p:sldId id="292" r:id="rId33"/>
  </p:sldIdLst>
  <p:sldSz cx="14630400" cy="8229600"/>
  <p:notesSz cx="8229600" cy="14630400"/>
  <p:embeddedFontLst>
    <p:embeddedFont>
      <p:font typeface="Marcellus" charset="0"/>
      <p:regular r:id="rId35"/>
    </p:embeddedFont>
    <p:embeddedFont>
      <p:font typeface="Fira Sans" charset="0"/>
      <p:regular r:id="rId36"/>
      <p:bold r:id="rId37"/>
      <p:italic r:id="rId38"/>
      <p:boldItalic r:id="rId39"/>
    </p:embeddedFont>
    <p:embeddedFont>
      <p:font typeface="Calibri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592">
          <p15:clr>
            <a:srgbClr val="000000"/>
          </p15:clr>
        </p15:guide>
        <p15:guide id="2" pos="4608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gOlAuBZk3NNJfoCWffkC75E158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ACC2D46-0EAF-4A5A-82B8-2BA14381F86C}">
  <a:tblStyle styleId="{5ACC2D46-0EAF-4A5A-82B8-2BA14381F8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092" y="-27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1625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9312f8fd6_0_4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177" name="Google Shape;177;ge9312f8fd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aa6c8e9cc_0_1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187" name="Google Shape;187;geaa6c8e9c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aa6c8e9cc_0_46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197" name="Google Shape;197;geaa6c8e9c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1097280"/>
            <a:ext cx="73152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aa6c8e9cc_0_55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208" name="Google Shape;208;geaa6c8e9c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aa6c8e9cc_0_94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219" name="Google Shape;219;geaa6c8e9c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1097280"/>
            <a:ext cx="73152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aa6c8e9cc_0_64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229" name="Google Shape;229;geaa6c8e9c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aa6c8e9cc_0_64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229" name="Google Shape;229;geaa6c8e9c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aa6c8e9cc_0_64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680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601" tIns="130601" rIns="130601" bIns="130601" anchor="t" anchorCtr="0">
            <a:noAutofit/>
          </a:bodyPr>
          <a:lstStyle/>
          <a:p>
            <a:pPr marL="0" indent="0">
              <a:buSzPts val="1100"/>
            </a:pPr>
            <a:endParaRPr/>
          </a:p>
        </p:txBody>
      </p:sp>
      <p:sp>
        <p:nvSpPr>
          <p:cNvPr id="229" name="Google Shape;229;geaa6c8e9c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00"/>
              <a:buFont typeface="Marcellus"/>
              <a:buNone/>
            </a:pPr>
            <a:r>
              <a:rPr lang="en-US" sz="46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Digital Logic Design</a:t>
            </a:r>
            <a:endParaRPr sz="46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2150274" y="2394700"/>
            <a:ext cx="10965900" cy="48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</a:t>
            </a: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FY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Course Code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600" b="1" dirty="0" smtClean="0"/>
              <a:t>316U06C203</a:t>
            </a: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 – May 2026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" y="2663"/>
            <a:ext cx="680350" cy="822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76" y="0"/>
            <a:ext cx="251613" cy="6528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2287" y="6996985"/>
            <a:ext cx="1042419" cy="77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9" y="6996985"/>
            <a:ext cx="2161240" cy="776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Course Outcomes</a:t>
            </a:r>
            <a:endParaRPr sz="4300" dirty="0"/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1068950" y="977925"/>
            <a:ext cx="47955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964505" y="1096325"/>
            <a:ext cx="12679646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At the end of the successful completion of the course, the student will be able to</a:t>
            </a:r>
          </a:p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CO1: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Understand the fundamentals of number systems, codes, and arithmetic operations.</a:t>
            </a:r>
          </a:p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CO2: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Represent, implement, and minimize logic functions using different techniques.</a:t>
            </a:r>
          </a:p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CO3: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Implement combinational logic circuits and their applications using basic gates and MSI devices.</a:t>
            </a:r>
          </a:p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CO4: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Implement sequential logic circuits and applications using MSI devices. </a:t>
            </a:r>
          </a:p>
          <a:p>
            <a:pPr marL="457200" lvl="0" algn="just">
              <a:buSzPts val="2900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CO5: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Understand basic principles required for advanced Digital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Design</a:t>
            </a: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2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>
            <a:spLocks noGrp="1"/>
          </p:cNvSpPr>
          <p:nvPr>
            <p:ph type="title"/>
          </p:nvPr>
        </p:nvSpPr>
        <p:spPr>
          <a:xfrm>
            <a:off x="450949" y="3106688"/>
            <a:ext cx="13674900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lvl="0" algn="ctr"/>
            <a:r>
              <a:rPr lang="en-US" sz="43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Number Representation and Codes</a:t>
            </a:r>
            <a:endParaRPr sz="43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07" y="6679294"/>
            <a:ext cx="2161240" cy="776985"/>
          </a:xfrm>
          <a:prstGeom prst="rect">
            <a:avLst/>
          </a:prstGeom>
        </p:spPr>
      </p:pic>
      <p:pic>
        <p:nvPicPr>
          <p:cNvPr id="8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2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;p2" descr="A close up of a sign&#10;&#10;Description automatically generated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94104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06" y="6679294"/>
            <a:ext cx="2161240" cy="776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Number Representation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and Codes</a:t>
            </a:r>
            <a:endParaRPr sz="4300" dirty="0"/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1068950" y="977925"/>
            <a:ext cx="47955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528175" y="1096325"/>
            <a:ext cx="12115975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Number System for Digital Systems / Computers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Review of Positional Number System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Binary, Octal, Decimal, Hexadecimal Numbers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Conversion of Numbers : Decimal to others , others to decimal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Representation of Numbers </a:t>
            </a:r>
          </a:p>
          <a:p>
            <a:pPr marL="1785938" marR="0" lvl="0" indent="-34607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Unsigned </a:t>
            </a:r>
          </a:p>
          <a:p>
            <a:pPr marL="1785938" lvl="2" indent="-346075" algn="just"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Signed</a:t>
            </a: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r>
              <a:rPr lang="en-US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2’s complement </a:t>
            </a: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, sign magnitude</a:t>
            </a: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Binary Addition </a:t>
            </a: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Binary Subtraction: 1’s complement, 2’s complement</a:t>
            </a: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r>
              <a:rPr lang="fr-FR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Gray Code, BCD </a:t>
            </a:r>
            <a:r>
              <a:rPr lang="fr-FR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Code</a:t>
            </a:r>
            <a:endParaRPr lang="fr-FR" sz="2900" b="1" dirty="0">
              <a:solidFill>
                <a:schemeClr val="dk1"/>
              </a:solidFill>
              <a:latin typeface="Fira Sans"/>
              <a:ea typeface="Fira Sans"/>
              <a:cs typeface="Fira Sans"/>
            </a:endParaRP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r>
              <a:rPr lang="fr-FR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Parity for error détection</a:t>
            </a:r>
          </a:p>
          <a:p>
            <a:pPr marL="901700" lvl="2" indent="-363538" algn="just">
              <a:buSzPts val="2900"/>
              <a:buFont typeface="Arial" pitchFamily="34" charset="0"/>
              <a:buChar char="•"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</a:endParaRPr>
          </a:p>
          <a:p>
            <a:pPr marL="1785938" lvl="2" indent="-346075" algn="just">
              <a:buSzPts val="2900"/>
              <a:buFont typeface="Arial" pitchFamily="34" charset="0"/>
              <a:buChar char="•"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380537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Positional Number System: Concept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866039" y="1246637"/>
            <a:ext cx="11211134" cy="74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 = base of the number system </a:t>
            </a: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76400"/>
              </p:ext>
            </p:extLst>
          </p:nvPr>
        </p:nvGraphicFramePr>
        <p:xfrm>
          <a:off x="1004509" y="2196404"/>
          <a:ext cx="12567780" cy="3797753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2775206"/>
                <a:gridCol w="1489673"/>
                <a:gridCol w="1660580"/>
                <a:gridCol w="1281181"/>
                <a:gridCol w="1177447"/>
                <a:gridCol w="418369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POSITIONAL VALUE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3</a:t>
                      </a:r>
                      <a:endParaRPr lang="en-IN" sz="2400" baseline="30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Actual value in decimal</a:t>
                      </a:r>
                      <a:endParaRPr lang="en-IN" sz="2400" b="0" i="0" u="none" strike="noStrike" cap="none" baseline="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6583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Digit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d3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d2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d1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d0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Fira Sans" charset="0"/>
                        </a:rPr>
                        <a:t>d0xb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0 </a:t>
                      </a:r>
                      <a:r>
                        <a:rPr lang="en-US" sz="2400" dirty="0" smtClean="0">
                          <a:latin typeface="Fira Sans" charset="0"/>
                        </a:rPr>
                        <a:t>+d1xb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1 </a:t>
                      </a:r>
                      <a:r>
                        <a:rPr lang="en-US" sz="2400" dirty="0" smtClean="0">
                          <a:latin typeface="Fira Sans" charset="0"/>
                        </a:rPr>
                        <a:t>+d2xb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2 </a:t>
                      </a:r>
                      <a:r>
                        <a:rPr lang="en-US" sz="2400" dirty="0" smtClean="0">
                          <a:latin typeface="Fira Sans" charset="0"/>
                        </a:rPr>
                        <a:t>+d3xb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3</a:t>
                      </a:r>
                      <a:endParaRPr lang="en-IN" sz="2400" baseline="30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Value Decimal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( Binary)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8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( Octal)</a:t>
                      </a:r>
                      <a:endParaRPr lang="en-IN" sz="2000" dirty="0" smtClean="0">
                        <a:latin typeface="Fira Sans" charset="0"/>
                      </a:endParaRPr>
                    </a:p>
                    <a:p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512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64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8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( Hexadecimal)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4096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256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53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380537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Positional Number System : Decimal Numbers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274668"/>
              </p:ext>
            </p:extLst>
          </p:nvPr>
        </p:nvGraphicFramePr>
        <p:xfrm>
          <a:off x="939454" y="1439797"/>
          <a:ext cx="12137719" cy="3678303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2981194"/>
                <a:gridCol w="1137743"/>
                <a:gridCol w="1603756"/>
                <a:gridCol w="1564320"/>
                <a:gridCol w="1393428"/>
                <a:gridCol w="345727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POSITIONAL VALUE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3</a:t>
                      </a:r>
                      <a:endParaRPr lang="en-IN" sz="2400" baseline="30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Actual value in decimal</a:t>
                      </a:r>
                      <a:endParaRPr lang="en-IN" sz="2400" b="0" i="0" u="none" strike="noStrike" cap="none" baseline="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779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Representation Decimal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7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Positional Value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70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4271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Representation Decimal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5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Positional Value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6000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500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6542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66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380537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0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Positional Number System : Binary, Octal, Hexadecimal</a:t>
            </a:r>
            <a:endParaRPr lang="en-US" sz="40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885808"/>
              </p:ext>
            </p:extLst>
          </p:nvPr>
        </p:nvGraphicFramePr>
        <p:xfrm>
          <a:off x="939454" y="1439797"/>
          <a:ext cx="12137719" cy="43586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2981194"/>
                <a:gridCol w="1137743"/>
                <a:gridCol w="1603756"/>
                <a:gridCol w="1564320"/>
                <a:gridCol w="1393428"/>
                <a:gridCol w="345727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POSITIONAL VALUE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aseline="30000" dirty="0" smtClean="0">
                          <a:latin typeface="Fira Sans" charset="0"/>
                        </a:rPr>
                        <a:t>3</a:t>
                      </a:r>
                      <a:endParaRPr lang="en-IN" sz="2400" baseline="30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r>
                        <a:rPr lang="en-US" sz="2400" b="0" i="0" u="none" strike="noStrike" cap="none" baseline="3000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2400" b="0" i="0" u="none" strike="noStrike" cap="none" baseline="3000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0" i="0" u="none" strike="noStrike" cap="none" baseline="0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Actual value in decimal</a:t>
                      </a:r>
                      <a:endParaRPr lang="en-IN" sz="2400" b="0" i="0" u="none" strike="noStrike" cap="none" baseline="0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428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Representation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( Binary)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8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Representation Octal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3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4516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( Octal)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512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64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8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2248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Representation decimal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Value Decimal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1021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Representation hex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A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5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B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Value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Fira Sans" charset="0"/>
                        </a:rPr>
                        <a:t>( Hexadecimal)</a:t>
                      </a:r>
                      <a:endParaRPr lang="en-IN" sz="2000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4096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256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16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10843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49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Conversion from Decimal to Any number system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22645"/>
              </p:ext>
            </p:extLst>
          </p:nvPr>
        </p:nvGraphicFramePr>
        <p:xfrm>
          <a:off x="1022959" y="1364641"/>
          <a:ext cx="3736931" cy="307848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4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H="1" flipV="1">
            <a:off x="5110619" y="2467627"/>
            <a:ext cx="37578" cy="185385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27967" y="4922729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19= (10011)</a:t>
            </a:r>
            <a:r>
              <a:rPr lang="en-US" sz="2400" baseline="-25000" dirty="0" smtClean="0">
                <a:latin typeface="Fira Sans" charset="0"/>
              </a:rPr>
              <a:t>2</a:t>
            </a:r>
            <a:endParaRPr lang="en-IN" sz="2400" baseline="-25000" dirty="0">
              <a:latin typeface="Fira Sans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732143"/>
              </p:ext>
            </p:extLst>
          </p:nvPr>
        </p:nvGraphicFramePr>
        <p:xfrm>
          <a:off x="5822515" y="1504793"/>
          <a:ext cx="3736931" cy="18897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3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89320" y="3634636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19= (23)</a:t>
            </a:r>
            <a:r>
              <a:rPr lang="en-US" sz="2400" baseline="-25000" dirty="0" smtClean="0">
                <a:latin typeface="Fira Sans" charset="0"/>
              </a:rPr>
              <a:t>8</a:t>
            </a:r>
            <a:endParaRPr lang="en-IN" sz="2400" baseline="-25000" dirty="0">
              <a:latin typeface="Fira Sans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16008"/>
              </p:ext>
            </p:extLst>
          </p:nvPr>
        </p:nvGraphicFramePr>
        <p:xfrm>
          <a:off x="5665939" y="4439514"/>
          <a:ext cx="3736931" cy="18897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16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16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3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32744" y="6569357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19= (13)</a:t>
            </a:r>
            <a:r>
              <a:rPr lang="en-US" sz="2400" baseline="-25000" dirty="0" smtClean="0">
                <a:latin typeface="Fira Sans" charset="0"/>
              </a:rPr>
              <a:t>16</a:t>
            </a:r>
            <a:endParaRPr lang="en-IN" sz="2400" baseline="-25000" dirty="0">
              <a:latin typeface="Fir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Conversion from Decimal to Any number system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865766"/>
              </p:ext>
            </p:extLst>
          </p:nvPr>
        </p:nvGraphicFramePr>
        <p:xfrm>
          <a:off x="1022959" y="1364641"/>
          <a:ext cx="3736931" cy="3870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75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37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4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2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H="1" flipV="1">
            <a:off x="5110619" y="2467628"/>
            <a:ext cx="37578" cy="268593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5649" y="5649238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75= (1001011)</a:t>
            </a:r>
            <a:r>
              <a:rPr lang="en-US" sz="2400" baseline="-25000" dirty="0" smtClean="0">
                <a:latin typeface="Fira Sans" charset="0"/>
              </a:rPr>
              <a:t>2</a:t>
            </a:r>
            <a:endParaRPr lang="en-IN" sz="2400" baseline="-25000" dirty="0">
              <a:latin typeface="Fira Sans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543232"/>
              </p:ext>
            </p:extLst>
          </p:nvPr>
        </p:nvGraphicFramePr>
        <p:xfrm>
          <a:off x="5822515" y="1504793"/>
          <a:ext cx="3736931" cy="2347378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76241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75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9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3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8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18714" y="2369507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75= (113)</a:t>
            </a:r>
            <a:r>
              <a:rPr lang="en-US" sz="2400" baseline="-25000" dirty="0" smtClean="0">
                <a:latin typeface="Fira Sans" charset="0"/>
              </a:rPr>
              <a:t>8</a:t>
            </a:r>
            <a:endParaRPr lang="en-IN" sz="2400" baseline="-25000" dirty="0">
              <a:latin typeface="Fira Sans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73923"/>
              </p:ext>
            </p:extLst>
          </p:nvPr>
        </p:nvGraphicFramePr>
        <p:xfrm>
          <a:off x="5665939" y="4439514"/>
          <a:ext cx="3736931" cy="18897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031309"/>
                <a:gridCol w="1240077"/>
                <a:gridCol w="146554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Base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Given number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Fira Sans" charset="0"/>
                        </a:rPr>
                        <a:t>Remainder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16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75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16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4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11 = B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4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18713" y="4922728"/>
            <a:ext cx="225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ira Sans" charset="0"/>
              </a:rPr>
              <a:t>75= (4B)</a:t>
            </a:r>
            <a:r>
              <a:rPr lang="en-US" sz="2400" baseline="-25000" dirty="0" smtClean="0">
                <a:latin typeface="Fira Sans" charset="0"/>
              </a:rPr>
              <a:t>16</a:t>
            </a:r>
            <a:endParaRPr lang="en-IN" sz="2400" baseline="-25000" dirty="0">
              <a:latin typeface="Fir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6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Sample questions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926926" y="1246637"/>
            <a:ext cx="12826652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Fira Sans" charset="0"/>
              </a:rPr>
              <a:t>Convert </a:t>
            </a:r>
            <a:r>
              <a:rPr lang="en-IN" sz="2800" b="1" dirty="0">
                <a:latin typeface="Fira Sans" charset="0"/>
              </a:rPr>
              <a:t>the octal number 157 to its binary equivalent.</a:t>
            </a:r>
            <a:endParaRPr lang="en-IN" sz="2800" dirty="0">
              <a:latin typeface="Fira Sans" charset="0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Fira Sans" charset="0"/>
              </a:rPr>
              <a:t>Express </a:t>
            </a:r>
            <a:r>
              <a:rPr lang="en-IN" sz="2800" b="1" dirty="0">
                <a:latin typeface="Fira Sans" charset="0"/>
              </a:rPr>
              <a:t>the hexadecimal number </a:t>
            </a:r>
            <a:r>
              <a:rPr lang="en-IN" sz="2800" b="1" dirty="0" smtClean="0">
                <a:latin typeface="Fira Sans" charset="0"/>
              </a:rPr>
              <a:t>2C </a:t>
            </a:r>
            <a:r>
              <a:rPr lang="en-IN" sz="2800" b="1" dirty="0">
                <a:latin typeface="Fira Sans" charset="0"/>
              </a:rPr>
              <a:t>in decimal form.</a:t>
            </a:r>
            <a:endParaRPr lang="en-IN" sz="2800" dirty="0">
              <a:latin typeface="Fira Sans" charset="0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Fira Sans" charset="0"/>
              </a:rPr>
              <a:t>Convert </a:t>
            </a:r>
            <a:r>
              <a:rPr lang="en-IN" sz="2800" b="1" dirty="0">
                <a:latin typeface="Fira Sans" charset="0"/>
              </a:rPr>
              <a:t>the decimal number 245 to its octal and hexadecimal equivalents.</a:t>
            </a:r>
            <a:endParaRPr lang="en-IN" sz="2800" dirty="0">
              <a:latin typeface="Fira Sans" charset="0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Fira Sans" charset="0"/>
              </a:rPr>
              <a:t>Explain </a:t>
            </a:r>
            <a:r>
              <a:rPr lang="en-IN" sz="2800" b="1" dirty="0">
                <a:latin typeface="Fira Sans" charset="0"/>
              </a:rPr>
              <a:t>the process of converting a binary number 101101 to hexadecimal.</a:t>
            </a:r>
            <a:endParaRPr lang="en-IN" sz="2800" dirty="0">
              <a:latin typeface="Fira Sans" charset="0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Fira Sans" charset="0"/>
              </a:rPr>
              <a:t>If </a:t>
            </a:r>
            <a:r>
              <a:rPr lang="en-IN" sz="2800" b="1" dirty="0">
                <a:latin typeface="Fira Sans" charset="0"/>
              </a:rPr>
              <a:t>a number in binary is 111010, what is its value in BCD (Binary-Coded Decimal) code?</a:t>
            </a:r>
            <a:endParaRPr lang="en-IN" sz="2800" dirty="0">
              <a:latin typeface="Fira Sans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450800" y="4"/>
            <a:ext cx="13675200" cy="97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Computer Arithmetic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1080820" y="975780"/>
            <a:ext cx="13229280" cy="548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109717" rIns="109717" bIns="109717" anchor="t" anchorCtr="0">
            <a:spAutoFit/>
          </a:bodyPr>
          <a:lstStyle/>
          <a:p>
            <a:pPr marL="548627" indent="-467348">
              <a:buSzPts val="2000"/>
              <a:buFont typeface="Fira Sans"/>
              <a:buChar char="●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Number System : Binary Numbers 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097252" lvl="1" indent="-467348">
              <a:buSzPts val="2000"/>
              <a:buFont typeface="Fira Sans"/>
              <a:buChar char="○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Fixed Numbers (</a:t>
            </a:r>
            <a:r>
              <a:rPr lang="en-GB" sz="31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Unsigned numbers  )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n bit Binary :  0 to 2</a:t>
            </a:r>
            <a:r>
              <a:rPr lang="en-GB" sz="3100" baseline="30000" dirty="0">
                <a:latin typeface="Fira Sans"/>
                <a:ea typeface="Fira Sans"/>
                <a:cs typeface="Fira Sans"/>
                <a:sym typeface="Fira Sans"/>
              </a:rPr>
              <a:t>n</a:t>
            </a: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 -1...total 2</a:t>
            </a:r>
            <a:r>
              <a:rPr lang="en-GB" sz="3100" baseline="30000" dirty="0">
                <a:latin typeface="Fira Sans"/>
                <a:ea typeface="Fira Sans"/>
                <a:cs typeface="Fira Sans"/>
                <a:sym typeface="Fira Sans"/>
              </a:rPr>
              <a:t>n </a:t>
            </a: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 values 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4 bit binary : 0 to 15 ( 2</a:t>
            </a:r>
            <a:r>
              <a:rPr lang="en-GB" sz="3100" baseline="30000" dirty="0">
                <a:latin typeface="Fira Sans"/>
                <a:ea typeface="Fira Sans"/>
                <a:cs typeface="Fira Sans"/>
                <a:sym typeface="Fira Sans"/>
              </a:rPr>
              <a:t>4</a:t>
            </a: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 -1)...total 16 values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097252" lvl="1" indent="-467348">
              <a:buSzPts val="2000"/>
              <a:buFont typeface="Fira Sans"/>
              <a:buChar char="○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Signed Numbers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n bit Binary : 2</a:t>
            </a:r>
            <a:r>
              <a:rPr lang="en-GB" sz="3100" baseline="30000" dirty="0">
                <a:latin typeface="Fira Sans"/>
                <a:ea typeface="Fira Sans"/>
                <a:cs typeface="Fira Sans"/>
                <a:sym typeface="Fira Sans"/>
              </a:rPr>
              <a:t>n</a:t>
            </a: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  values, half values negative,  half positive </a:t>
            </a:r>
            <a:r>
              <a:rPr lang="en-GB" sz="3100" dirty="0" smtClean="0">
                <a:latin typeface="Fira Sans"/>
                <a:ea typeface="Fira Sans"/>
                <a:cs typeface="Fira Sans"/>
                <a:sym typeface="Fira Sans"/>
              </a:rPr>
              <a:t>, MSB </a:t>
            </a: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reserved for indication of Sign 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0 - positive , 1 - negative  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1’s Complement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 lvl="2" indent="-467348">
              <a:buSzPts val="2000"/>
              <a:buFont typeface="Fira Sans"/>
              <a:buChar char="■"/>
            </a:pPr>
            <a:r>
              <a:rPr lang="en-GB" sz="3100" dirty="0">
                <a:latin typeface="Fira Sans"/>
                <a:ea typeface="Fira Sans"/>
                <a:cs typeface="Fira Sans"/>
                <a:sym typeface="Fira Sans"/>
              </a:rPr>
              <a:t>2’s Complement  </a:t>
            </a:r>
            <a:endParaRPr sz="3100" dirty="0">
              <a:latin typeface="Fira Sans"/>
              <a:ea typeface="Fira Sans"/>
              <a:cs typeface="Fira Sans"/>
              <a:sym typeface="Fira Sans"/>
            </a:endParaRPr>
          </a:p>
          <a:p>
            <a:pPr marL="1645879"/>
            <a:endParaRPr sz="3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Picture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6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2680570" y="1000000"/>
            <a:ext cx="11794790" cy="502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109717" rIns="109717" bIns="109717" anchor="t" anchorCtr="0">
            <a:spAutoFit/>
          </a:bodyPr>
          <a:lstStyle/>
          <a:p>
            <a:pPr marL="111757">
              <a:buSzPts val="1700"/>
            </a:pPr>
            <a:r>
              <a:rPr lang="en-GB" sz="3200" b="1" dirty="0">
                <a:latin typeface="Fira Sans"/>
                <a:ea typeface="Fira Sans"/>
                <a:cs typeface="Fira Sans"/>
                <a:sym typeface="Fira Sans"/>
              </a:rPr>
              <a:t>1’s complement</a:t>
            </a:r>
            <a:r>
              <a:rPr lang="en-GB" sz="3200" dirty="0">
                <a:latin typeface="Fira Sans"/>
                <a:ea typeface="Fira Sans"/>
                <a:cs typeface="Fira Sans"/>
                <a:sym typeface="Fira Sans"/>
              </a:rPr>
              <a:t> Representation</a:t>
            </a:r>
            <a:endParaRPr sz="3200" dirty="0">
              <a:latin typeface="Fira Sans"/>
              <a:ea typeface="Fira Sans"/>
              <a:cs typeface="Fira Sans"/>
              <a:sym typeface="Fira Sans"/>
            </a:endParaRPr>
          </a:p>
          <a:p>
            <a:pPr marL="548627" indent="-436870">
              <a:buSzPts val="1700"/>
              <a:buFont typeface="Fira Sans"/>
              <a:buChar char="●"/>
            </a:pP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Complement of binary number </a:t>
            </a:r>
            <a:r>
              <a:rPr lang="en-US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: replace 1 by 0 , and 0 by 1</a:t>
            </a:r>
            <a:endParaRPr sz="32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11757">
              <a:buSzPts val="1700"/>
            </a:pP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0100 </a:t>
            </a:r>
            <a:r>
              <a:rPr lang="en-GB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   ----    </a:t>
            </a: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1011 </a:t>
            </a:r>
            <a:r>
              <a:rPr lang="en-GB" sz="44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  <a:endParaRPr sz="44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548627" indent="-436870">
              <a:buClr>
                <a:schemeClr val="dk1"/>
              </a:buClr>
              <a:buSzPts val="1700"/>
              <a:buFont typeface="Fira Sans"/>
              <a:buChar char="●"/>
            </a:pP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sign bit </a:t>
            </a:r>
            <a:r>
              <a:rPr lang="en-GB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is a most significant bit </a:t>
            </a:r>
          </a:p>
          <a:p>
            <a:pPr marL="111757">
              <a:buClr>
                <a:schemeClr val="dk1"/>
              </a:buClr>
              <a:buSzPts val="1700"/>
            </a:pPr>
            <a:r>
              <a:rPr lang="en-GB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0 = positive number</a:t>
            </a:r>
          </a:p>
          <a:p>
            <a:pPr marL="111757">
              <a:buClr>
                <a:schemeClr val="dk1"/>
              </a:buClr>
              <a:buSzPts val="1700"/>
            </a:pPr>
            <a:r>
              <a:rPr lang="en-GB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1 = negative number</a:t>
            </a:r>
            <a:endParaRPr sz="32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indent="-457200">
              <a:buFont typeface="Arial" pitchFamily="34" charset="0"/>
              <a:buChar char="•"/>
            </a:pPr>
            <a:endParaRPr sz="32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548627"/>
            <a:endParaRPr sz="44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548627"/>
            <a:endParaRPr sz="3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Picture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144000" y="1000000"/>
            <a:ext cx="14331360" cy="121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109717" rIns="109717" bIns="109717" anchor="t" anchorCtr="0">
            <a:spAutoFit/>
          </a:bodyPr>
          <a:lstStyle/>
          <a:p>
            <a:pPr marL="548627" indent="-467348">
              <a:buSzPts val="2000"/>
              <a:buFont typeface="Fira Sans"/>
              <a:buChar char="●"/>
            </a:pPr>
            <a:r>
              <a:rPr lang="en-GB" sz="3200">
                <a:latin typeface="Fira Sans"/>
                <a:ea typeface="Fira Sans"/>
                <a:cs typeface="Fira Sans"/>
                <a:sym typeface="Fira Sans"/>
              </a:rPr>
              <a:t>1’s complement Representation</a:t>
            </a:r>
            <a:endParaRPr sz="3200">
              <a:latin typeface="Fira Sans"/>
              <a:ea typeface="Fira Sans"/>
              <a:cs typeface="Fira Sans"/>
              <a:sym typeface="Fira Sans"/>
            </a:endParaRPr>
          </a:p>
          <a:p>
            <a:pPr marL="548627"/>
            <a:endParaRPr sz="3200"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205" name="Google Shape;205;p32"/>
          <p:cNvGraphicFramePr/>
          <p:nvPr>
            <p:extLst>
              <p:ext uri="{D42A27DB-BD31-4B8C-83A1-F6EECF244321}">
                <p14:modId xmlns:p14="http://schemas.microsoft.com/office/powerpoint/2010/main" val="3183743054"/>
              </p:ext>
            </p:extLst>
          </p:nvPr>
        </p:nvGraphicFramePr>
        <p:xfrm>
          <a:off x="3135680" y="1862515"/>
          <a:ext cx="8286480" cy="55073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2160"/>
                <a:gridCol w="2169200"/>
                <a:gridCol w="4035120"/>
              </a:tblGrid>
              <a:tr h="640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Binary Value</a:t>
                      </a:r>
                      <a:endParaRPr sz="2300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Unsigned</a:t>
                      </a:r>
                      <a:endParaRPr sz="23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Signed 1’s complement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100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110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7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52" y="6713317"/>
            <a:ext cx="2717125" cy="77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6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3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1565752" y="1000000"/>
            <a:ext cx="12258253" cy="214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109717" rIns="109717" bIns="109717" anchor="t" anchorCtr="0">
            <a:spAutoFit/>
          </a:bodyPr>
          <a:lstStyle/>
          <a:p>
            <a:pPr marL="81279">
              <a:buSzPts val="2000"/>
            </a:pPr>
            <a:r>
              <a:rPr lang="en-GB" sz="3200" b="1" dirty="0">
                <a:latin typeface="Fira Sans"/>
                <a:ea typeface="Fira Sans"/>
                <a:cs typeface="Fira Sans"/>
                <a:sym typeface="Fira Sans"/>
              </a:rPr>
              <a:t>2’s complement Representation</a:t>
            </a:r>
            <a:endParaRPr sz="3200" b="1" dirty="0">
              <a:latin typeface="Fira Sans"/>
              <a:ea typeface="Fira Sans"/>
              <a:cs typeface="Fira Sans"/>
              <a:sym typeface="Fira Sans"/>
            </a:endParaRPr>
          </a:p>
          <a:p>
            <a:pPr marL="548627" indent="-467348">
              <a:buSzPts val="2000"/>
              <a:buFont typeface="Fira Sans"/>
              <a:buChar char="●"/>
            </a:pPr>
            <a:r>
              <a:rPr lang="en-GB" sz="3200" dirty="0">
                <a:latin typeface="Fira Sans"/>
                <a:ea typeface="Fira Sans"/>
                <a:cs typeface="Fira Sans"/>
                <a:sym typeface="Fira Sans"/>
              </a:rPr>
              <a:t>2’s complement = complement of a number + 1</a:t>
            </a:r>
            <a:endParaRPr sz="3200" dirty="0">
              <a:latin typeface="Fira Sans"/>
              <a:ea typeface="Fira Sans"/>
              <a:cs typeface="Fira Sans"/>
              <a:sym typeface="Fira Sans"/>
            </a:endParaRPr>
          </a:p>
          <a:p>
            <a:pPr marL="548627" indent="-467348">
              <a:buSzPts val="2000"/>
              <a:buFont typeface="Fira Sans"/>
              <a:buChar char="●"/>
            </a:pP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Add 1 to 1’s complement</a:t>
            </a:r>
            <a:endParaRPr sz="32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548627" indent="-467348">
              <a:lnSpc>
                <a:spcPct val="90000"/>
              </a:lnSpc>
              <a:buSzPts val="2000"/>
              <a:buFont typeface="Fira Sans"/>
              <a:buChar char="●"/>
            </a:pPr>
            <a:r>
              <a:rPr lang="en-GB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1011 +1 = </a:t>
            </a:r>
            <a:r>
              <a:rPr lang="en-GB" sz="32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1100</a:t>
            </a:r>
            <a:endParaRPr sz="3200" baseline="300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16" name="Google Shape;216;p33"/>
          <p:cNvPicPr preferRelativeResize="0"/>
          <p:nvPr/>
        </p:nvPicPr>
        <p:blipFill rotWithShape="1">
          <a:blip r:embed="rId6">
            <a:alphaModFix/>
          </a:blip>
          <a:srcRect l="18771" t="15738" r="19420" b="17908"/>
          <a:stretch/>
        </p:blipFill>
        <p:spPr>
          <a:xfrm>
            <a:off x="4597081" y="2971289"/>
            <a:ext cx="7839445" cy="473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52" y="6713317"/>
            <a:ext cx="2717125" cy="77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2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22" name="Google Shape;22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/>
        </p:nvSpPr>
        <p:spPr>
          <a:xfrm>
            <a:off x="1000000" y="1000000"/>
            <a:ext cx="12705120" cy="435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109717" rIns="109717" bIns="109717" anchor="t" anchorCtr="0">
            <a:spAutoFit/>
          </a:bodyPr>
          <a:lstStyle/>
          <a:p>
            <a:pPr marL="548627" indent="-467348">
              <a:buSzPts val="2000"/>
              <a:buFont typeface="Fira Sans"/>
              <a:buChar char="●"/>
            </a:pPr>
            <a:r>
              <a:rPr lang="en-GB" sz="3200" b="1">
                <a:latin typeface="Fira Sans"/>
                <a:ea typeface="Fira Sans"/>
                <a:cs typeface="Fira Sans"/>
                <a:sym typeface="Fira Sans"/>
              </a:rPr>
              <a:t>Find 2’s complement Representation and its value</a:t>
            </a:r>
            <a:endParaRPr sz="3200" b="1">
              <a:latin typeface="Fira Sans"/>
              <a:ea typeface="Fira Sans"/>
              <a:cs typeface="Fira Sans"/>
              <a:sym typeface="Fira Sans"/>
            </a:endParaRPr>
          </a:p>
          <a:p>
            <a:pPr marL="1097252" lvl="1" indent="-467348">
              <a:lnSpc>
                <a:spcPct val="90000"/>
              </a:lnSpc>
              <a:spcBef>
                <a:spcPts val="1280"/>
              </a:spcBef>
              <a:buSzPts val="2000"/>
              <a:buFont typeface="Fira Sans"/>
              <a:buChar char="○"/>
            </a:pPr>
            <a:r>
              <a:rPr lang="en-GB" sz="3400">
                <a:solidFill>
                  <a:schemeClr val="dk1"/>
                </a:solidFill>
              </a:rPr>
              <a:t>1000 </a:t>
            </a:r>
            <a:endParaRPr sz="3400">
              <a:solidFill>
                <a:schemeClr val="dk1"/>
              </a:solidFill>
            </a:endParaRPr>
          </a:p>
          <a:p>
            <a:pPr marL="1097252" lvl="1" indent="-467348">
              <a:lnSpc>
                <a:spcPct val="90000"/>
              </a:lnSpc>
              <a:spcBef>
                <a:spcPts val="1280"/>
              </a:spcBef>
              <a:buSzPts val="2000"/>
              <a:buFont typeface="Fira Sans"/>
              <a:buChar char="○"/>
            </a:pPr>
            <a:r>
              <a:rPr lang="en-GB" sz="3400">
                <a:solidFill>
                  <a:schemeClr val="dk1"/>
                </a:solidFill>
              </a:rPr>
              <a:t>0100 </a:t>
            </a:r>
            <a:endParaRPr sz="3400">
              <a:solidFill>
                <a:schemeClr val="dk1"/>
              </a:solidFill>
            </a:endParaRPr>
          </a:p>
          <a:p>
            <a:pPr marL="1097252" lvl="1" indent="-467348">
              <a:lnSpc>
                <a:spcPct val="90000"/>
              </a:lnSpc>
              <a:spcBef>
                <a:spcPts val="1280"/>
              </a:spcBef>
              <a:buSzPts val="2000"/>
              <a:buFont typeface="Fira Sans"/>
              <a:buChar char="○"/>
            </a:pPr>
            <a:r>
              <a:rPr lang="en-GB" sz="3400">
                <a:solidFill>
                  <a:schemeClr val="dk1"/>
                </a:solidFill>
              </a:rPr>
              <a:t>111001 </a:t>
            </a:r>
            <a:endParaRPr sz="3400">
              <a:solidFill>
                <a:schemeClr val="dk1"/>
              </a:solidFill>
            </a:endParaRPr>
          </a:p>
          <a:p>
            <a:pPr marL="1097252" lvl="1" indent="-467348">
              <a:lnSpc>
                <a:spcPct val="90000"/>
              </a:lnSpc>
              <a:spcBef>
                <a:spcPts val="1280"/>
              </a:spcBef>
              <a:buSzPts val="2000"/>
              <a:buFont typeface="Fira Sans"/>
              <a:buChar char="○"/>
            </a:pPr>
            <a:r>
              <a:rPr lang="en-GB" sz="3400">
                <a:solidFill>
                  <a:schemeClr val="dk1"/>
                </a:solidFill>
              </a:rPr>
              <a:t>101010 </a:t>
            </a:r>
            <a:endParaRPr sz="3400">
              <a:solidFill>
                <a:schemeClr val="dk1"/>
              </a:solidFill>
            </a:endParaRPr>
          </a:p>
          <a:p>
            <a:pPr marL="1097252" lvl="1" indent="-467348">
              <a:lnSpc>
                <a:spcPct val="90000"/>
              </a:lnSpc>
              <a:spcBef>
                <a:spcPts val="1280"/>
              </a:spcBef>
              <a:buSzPts val="2000"/>
              <a:buFont typeface="Fira Sans"/>
              <a:buChar char="○"/>
            </a:pPr>
            <a:r>
              <a:rPr lang="en-GB" sz="3400">
                <a:solidFill>
                  <a:schemeClr val="dk1"/>
                </a:solidFill>
              </a:rPr>
              <a:t>100000 </a:t>
            </a:r>
            <a:endParaRPr sz="3400">
              <a:solidFill>
                <a:schemeClr val="dk1"/>
              </a:solidFill>
            </a:endParaRPr>
          </a:p>
          <a:p>
            <a:pPr marL="548627"/>
            <a:endParaRPr sz="320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Picture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6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35"/>
          <p:cNvGraphicFramePr/>
          <p:nvPr>
            <p:extLst>
              <p:ext uri="{D42A27DB-BD31-4B8C-83A1-F6EECF244321}">
                <p14:modId xmlns:p14="http://schemas.microsoft.com/office/powerpoint/2010/main" val="403905666"/>
              </p:ext>
            </p:extLst>
          </p:nvPr>
        </p:nvGraphicFramePr>
        <p:xfrm>
          <a:off x="2497363" y="1194171"/>
          <a:ext cx="10362960" cy="578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8240"/>
                <a:gridCol w="2247880"/>
                <a:gridCol w="3346720"/>
                <a:gridCol w="3490120"/>
              </a:tblGrid>
              <a:tr h="9180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Binary </a:t>
                      </a:r>
                      <a:endParaRPr sz="2300" b="1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Unsigned</a:t>
                      </a:r>
                      <a:endParaRPr sz="2300" b="1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Signed 1’s complement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Signed 2’s complement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100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-4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-3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110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-1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-2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6052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7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-0</a:t>
                      </a:r>
                      <a:endParaRPr sz="2300" b="1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 b="1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-1</a:t>
                      </a:r>
                      <a:endParaRPr sz="2300" b="1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</a:tbl>
          </a:graphicData>
        </a:graphic>
      </p:graphicFrame>
      <p:pic>
        <p:nvPicPr>
          <p:cNvPr id="10" name="Picture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6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450781" y="14"/>
            <a:ext cx="13675200" cy="12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7" tIns="54839" rIns="109717" bIns="54839" anchor="ctr" anchorCtr="0">
            <a:noAutofit/>
          </a:bodyPr>
          <a:lstStyle/>
          <a:p>
            <a:pPr algn="ctr">
              <a:buClr>
                <a:srgbClr val="C00000"/>
              </a:buClr>
              <a:buSzPts val="2700"/>
            </a:pPr>
            <a:r>
              <a:rPr lang="en-GB" sz="43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Signed Number Representation</a:t>
            </a:r>
            <a:endParaRPr sz="43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35"/>
          <p:cNvGraphicFramePr/>
          <p:nvPr>
            <p:extLst>
              <p:ext uri="{D42A27DB-BD31-4B8C-83A1-F6EECF244321}">
                <p14:modId xmlns:p14="http://schemas.microsoft.com/office/powerpoint/2010/main" val="1545273526"/>
              </p:ext>
            </p:extLst>
          </p:nvPr>
        </p:nvGraphicFramePr>
        <p:xfrm>
          <a:off x="752784" y="1075020"/>
          <a:ext cx="6449682" cy="53812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8240"/>
                <a:gridCol w="1426160"/>
                <a:gridCol w="1853852"/>
                <a:gridCol w="1891430"/>
              </a:tblGrid>
              <a:tr h="6003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Binary </a:t>
                      </a:r>
                      <a:endParaRPr sz="2000" b="0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Unsigned</a:t>
                      </a:r>
                      <a:endParaRPr sz="2000" b="0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1’s complement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2’s complement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0000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0001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0010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0011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0100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0101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0110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0111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7</a:t>
                      </a:r>
                      <a:endParaRPr sz="2000" b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7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7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</a:tbl>
          </a:graphicData>
        </a:graphic>
      </p:graphicFrame>
      <p:pic>
        <p:nvPicPr>
          <p:cNvPr id="10" name="Picture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  <p:graphicFrame>
        <p:nvGraphicFramePr>
          <p:cNvPr id="8" name="Google Shape;237;p35"/>
          <p:cNvGraphicFramePr/>
          <p:nvPr>
            <p:extLst>
              <p:ext uri="{D42A27DB-BD31-4B8C-83A1-F6EECF244321}">
                <p14:modId xmlns:p14="http://schemas.microsoft.com/office/powerpoint/2010/main" val="3643878803"/>
              </p:ext>
            </p:extLst>
          </p:nvPr>
        </p:nvGraphicFramePr>
        <p:xfrm>
          <a:off x="7288400" y="1102159"/>
          <a:ext cx="6449682" cy="53812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8240"/>
                <a:gridCol w="1426160"/>
                <a:gridCol w="1853852"/>
                <a:gridCol w="1891430"/>
              </a:tblGrid>
              <a:tr h="6003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Binary </a:t>
                      </a:r>
                      <a:endParaRPr sz="2000" b="0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Unsigned</a:t>
                      </a:r>
                      <a:endParaRPr sz="2000" b="0" dirty="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1’s complement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2’s complement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1000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-7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-8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1001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9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-6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-7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1010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-5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-6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1011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-4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-5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1100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12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-3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-4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1101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13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-2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-3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567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1110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14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</a:t>
                      </a: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1111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 smtClean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15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-0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dirty="0">
                          <a:solidFill>
                            <a:srgbClr val="262626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-1</a:t>
                      </a:r>
                      <a:endParaRPr sz="2000" b="0" dirty="0">
                        <a:solidFill>
                          <a:srgbClr val="262626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146280" marR="146280" marT="146280" marB="14628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0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10" y="681042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5" y="2104963"/>
            <a:ext cx="211691" cy="11199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080" cy="8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4" y="6821961"/>
            <a:ext cx="2257027" cy="7769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2784" y="1422053"/>
            <a:ext cx="133442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The 1's complement of a binary number is obtained by flipping all its bits. 0 becomes 1, and 1 becomes 0. Positive numbers remain unchanged whereas negative numbers are represented by taking the 1's complement of their positive counterparts.</a:t>
            </a:r>
          </a:p>
          <a:p>
            <a:pPr marL="342900" indent="-342900" algn="just" fontAlgn="base">
              <a:buFont typeface="Arial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For example, in 8-bit notation:</a:t>
            </a:r>
          </a:p>
          <a:p>
            <a:pPr algn="just" fontAlgn="base"/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+9 is represented as 00001001.</a:t>
            </a:r>
          </a:p>
          <a:p>
            <a:pPr algn="just" fontAlgn="base"/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-9 is represented as 11110110, which is the 1's complement of 00001001.</a:t>
            </a:r>
          </a:p>
          <a:p>
            <a:pPr algn="just" fontAlgn="base"/>
            <a:endParaRPr lang="en-US" sz="2400" dirty="0">
              <a:solidFill>
                <a:schemeClr val="dk1"/>
              </a:solidFill>
              <a:latin typeface="Fira Sans"/>
              <a:ea typeface="Fira Sans"/>
              <a:cs typeface="Fira Sans"/>
            </a:endParaRPr>
          </a:p>
          <a:p>
            <a:pPr algn="just" fontAlgn="base"/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The 2's complement of a binary number is obtained by finding the 1's complement (flipping all bits) and then adding 1 to the result. In 2's complement representation, the Most Significant Bit (MSB) represents the sign. A 0 indicates a positive number, while a 1 indicates a negative number. The remaining bits represent the magnitude.</a:t>
            </a:r>
          </a:p>
          <a:p>
            <a:pPr marL="342900" indent="-342900" algn="just" fontAlgn="base">
              <a:buFont typeface="Arial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Positive numbers are represented the same way as in 1's complement and sign-bit representation. Negative numbers are obtained by taking the 2's complement of their positive counterparts</a:t>
            </a:r>
            <a:r>
              <a:rPr lang="en-US" sz="24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.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692344" y="474762"/>
            <a:ext cx="10844635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3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1's and 2's complement of a Binary Number</a:t>
            </a:r>
          </a:p>
        </p:txBody>
      </p:sp>
    </p:spTree>
    <p:extLst>
      <p:ext uri="{BB962C8B-B14F-4D97-AF65-F5344CB8AC3E}">
        <p14:creationId xmlns:p14="http://schemas.microsoft.com/office/powerpoint/2010/main" val="223185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Sample examples 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088353" y="1096325"/>
            <a:ext cx="1203751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Convert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17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to binary 1’s complement and 2’s complement representation</a:t>
            </a:r>
          </a:p>
          <a:p>
            <a:pPr marL="971550" lvl="0" indent="-514350" algn="just">
              <a:buSzPts val="2900"/>
              <a:buFont typeface="Arial"/>
              <a:buAutoNum type="arabicPlain" startAt="17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010001</a:t>
            </a:r>
          </a:p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1’s complement form  ---- 101110 </a:t>
            </a:r>
          </a:p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2’s complement form  ----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101111</a:t>
            </a:r>
          </a:p>
          <a:p>
            <a:pPr marL="457200" lvl="0" algn="just">
              <a:buSzPts val="2900"/>
            </a:pP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6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Convert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47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to binary 1’s complement and 2’s complement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representation</a:t>
            </a:r>
          </a:p>
          <a:p>
            <a:pPr marL="457200" lvl="0" algn="just">
              <a:buSzPts val="2900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47 = 0101111</a:t>
            </a: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1’s complement form  ----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1010000 </a:t>
            </a: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2’s complement form  ----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1010001</a:t>
            </a: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addition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885329" y="1246637"/>
            <a:ext cx="5693272" cy="42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Add 12+ 7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12 = 01100  , 7 = 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10011 = 19</a:t>
            </a: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912813"/>
              </p:ext>
            </p:extLst>
          </p:nvPr>
        </p:nvGraphicFramePr>
        <p:xfrm>
          <a:off x="1130300" y="2959100"/>
          <a:ext cx="4546602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57767"/>
                <a:gridCol w="757767"/>
                <a:gridCol w="757767"/>
                <a:gridCol w="757767"/>
                <a:gridCol w="757767"/>
                <a:gridCol w="75776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Google Shape;61;g2b06e3c580a_0_0"/>
          <p:cNvSpPr txBox="1"/>
          <p:nvPr/>
        </p:nvSpPr>
        <p:spPr>
          <a:xfrm>
            <a:off x="7463929" y="1399036"/>
            <a:ext cx="5693272" cy="427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Add 17+ 13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17 = 10001  , 13 = 1101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11110 = 30</a:t>
            </a: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75689"/>
              </p:ext>
            </p:extLst>
          </p:nvPr>
        </p:nvGraphicFramePr>
        <p:xfrm>
          <a:off x="8037264" y="2959100"/>
          <a:ext cx="4546602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57767"/>
                <a:gridCol w="757767"/>
                <a:gridCol w="757767"/>
                <a:gridCol w="757767"/>
                <a:gridCol w="757767"/>
                <a:gridCol w="75776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12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Subtraction – 1’s complement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sp>
        <p:nvSpPr>
          <p:cNvPr id="8" name="Google Shape;61;g2b06e3c580a_0_0"/>
          <p:cNvSpPr txBox="1"/>
          <p:nvPr/>
        </p:nvSpPr>
        <p:spPr>
          <a:xfrm>
            <a:off x="885329" y="12466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12- 7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12 = 01100  , 7 = 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1’s complement of 7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11000 and add to 12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carry add to result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00101 = 5 result </a:t>
            </a: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955083"/>
              </p:ext>
            </p:extLst>
          </p:nvPr>
        </p:nvGraphicFramePr>
        <p:xfrm>
          <a:off x="1496742" y="3385568"/>
          <a:ext cx="4049486" cy="23774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Google Shape;61;g2b06e3c580a_0_0"/>
          <p:cNvSpPr txBox="1"/>
          <p:nvPr/>
        </p:nvSpPr>
        <p:spPr>
          <a:xfrm>
            <a:off x="7781429" y="13990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7-12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12 = 01100  , 7 = 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1’s complement of 12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10011 and add to 7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 NO carry result is negative , take 1’s complement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4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1’s complement of 11010  = 00101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hence -5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71657"/>
              </p:ext>
            </p:extLst>
          </p:nvPr>
        </p:nvGraphicFramePr>
        <p:xfrm>
          <a:off x="8265842" y="3906268"/>
          <a:ext cx="4049486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1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Subtraction – 1’s complement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sp>
        <p:nvSpPr>
          <p:cNvPr id="8" name="Google Shape;61;g2b06e3c580a_0_0"/>
          <p:cNvSpPr txBox="1"/>
          <p:nvPr/>
        </p:nvSpPr>
        <p:spPr>
          <a:xfrm>
            <a:off x="885329" y="12466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15- 11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15 = 01111  , 11= 01011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1’s complement of 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10100 and add to 12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carry add to result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4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00100 = 4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81261"/>
              </p:ext>
            </p:extLst>
          </p:nvPr>
        </p:nvGraphicFramePr>
        <p:xfrm>
          <a:off x="1496742" y="3385568"/>
          <a:ext cx="4049486" cy="23774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Google Shape;61;g2b06e3c580a_0_0"/>
          <p:cNvSpPr txBox="1"/>
          <p:nvPr/>
        </p:nvSpPr>
        <p:spPr>
          <a:xfrm>
            <a:off x="7781429" y="13990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11-15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15 = 01111  , 11 = 01011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1’s complement of 15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10000 and add to 11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 NO carry result is negative , take 1’s complement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4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1’s complement of 11011  = 00100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hence -4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974170"/>
              </p:ext>
            </p:extLst>
          </p:nvPr>
        </p:nvGraphicFramePr>
        <p:xfrm>
          <a:off x="8265842" y="3906268"/>
          <a:ext cx="4049486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81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Subtraction – 2’s complement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sp>
        <p:nvSpPr>
          <p:cNvPr id="8" name="Google Shape;61;g2b06e3c580a_0_0"/>
          <p:cNvSpPr txBox="1"/>
          <p:nvPr/>
        </p:nvSpPr>
        <p:spPr>
          <a:xfrm>
            <a:off x="885329" y="12466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12- 7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12 = 01100  , 7 = 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2’s complement of 7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11000 +1 = 11001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and add to 12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carry neglect, the result is positive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00101 = 5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99129"/>
              </p:ext>
            </p:extLst>
          </p:nvPr>
        </p:nvGraphicFramePr>
        <p:xfrm>
          <a:off x="1496742" y="4090418"/>
          <a:ext cx="4049486" cy="19812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Google Shape;61;g2b06e3c580a_0_0"/>
          <p:cNvSpPr txBox="1"/>
          <p:nvPr/>
        </p:nvSpPr>
        <p:spPr>
          <a:xfrm>
            <a:off x="7781429" y="12466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7-12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12 = 01100  , 7 = 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2’s complement of 12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10011 +1 = 10100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and add to 7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NO carry result is negative , take 2’s complement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4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2’s complement of 11011  = 00101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hence -5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19389"/>
              </p:ext>
            </p:extLst>
          </p:nvPr>
        </p:nvGraphicFramePr>
        <p:xfrm>
          <a:off x="8265842" y="4090418"/>
          <a:ext cx="4049486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341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Subtraction – 2’s complement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sp>
        <p:nvSpPr>
          <p:cNvPr id="8" name="Google Shape;61;g2b06e3c580a_0_0"/>
          <p:cNvSpPr txBox="1"/>
          <p:nvPr/>
        </p:nvSpPr>
        <p:spPr>
          <a:xfrm>
            <a:off x="885329" y="12466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14- 6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14 = 01110  , 6= 00110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2’s complement of 6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11001 +1 = 11010 and add to 14</a:t>
            </a:r>
          </a:p>
          <a:p>
            <a:pPr marL="457200" lvl="0" algn="just">
              <a:buSzPts val="2900"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carry , neglect</a:t>
            </a:r>
            <a:r>
              <a:rPr lang="en-US" sz="24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the result is positive 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01000 = 8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58858"/>
              </p:ext>
            </p:extLst>
          </p:nvPr>
        </p:nvGraphicFramePr>
        <p:xfrm>
          <a:off x="1496742" y="4000500"/>
          <a:ext cx="4049486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469166"/>
                <a:gridCol w="687830"/>
                <a:gridCol w="578498"/>
              </a:tblGrid>
              <a:tr h="263908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Google Shape;61;g2b06e3c580a_0_0"/>
          <p:cNvSpPr txBox="1"/>
          <p:nvPr/>
        </p:nvSpPr>
        <p:spPr>
          <a:xfrm>
            <a:off x="7781429" y="1399037"/>
            <a:ext cx="5693272" cy="568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Subtract 7-14 in binary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14 = 01110  , 7 = 00111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Take 2’s complement of 14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10001+1 = 10010 and add to 7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If there is  NO carry result is negative , take 1’s complement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lang="en-US" sz="24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2’s complement of 011001  = 00111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hence -7 result </a:t>
            </a:r>
            <a:endParaRPr sz="24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962934"/>
              </p:ext>
            </p:extLst>
          </p:nvPr>
        </p:nvGraphicFramePr>
        <p:xfrm>
          <a:off x="8265842" y="3906268"/>
          <a:ext cx="4049486" cy="15849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23897"/>
                <a:gridCol w="433099"/>
                <a:gridCol w="578498"/>
                <a:gridCol w="578498"/>
                <a:gridCol w="578498"/>
                <a:gridCol w="578498"/>
                <a:gridCol w="57849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+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Cy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sum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0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Fira Sans" charset="0"/>
                        </a:rPr>
                        <a:t>1</a:t>
                      </a:r>
                      <a:endParaRPr lang="en-IN" sz="20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554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Gray Code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965200" y="1096325"/>
            <a:ext cx="6070600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3200" b="1" dirty="0">
                <a:latin typeface="Fira Sans" charset="0"/>
              </a:rPr>
              <a:t>Gray code </a:t>
            </a:r>
            <a:r>
              <a:rPr lang="en-US" sz="2600" b="1" dirty="0">
                <a:latin typeface="Fira Sans" charset="0"/>
              </a:rPr>
              <a:t>is a binary numeral system where each successive value differs by only one bit, which minimizes errors during transitions in digital </a:t>
            </a:r>
            <a:r>
              <a:rPr lang="en-US" sz="2600" b="1" dirty="0" smtClean="0">
                <a:latin typeface="Fira Sans" charset="0"/>
              </a:rPr>
              <a:t>systems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330052"/>
              </p:ext>
            </p:extLst>
          </p:nvPr>
        </p:nvGraphicFramePr>
        <p:xfrm>
          <a:off x="7580499" y="1244688"/>
          <a:ext cx="6033901" cy="4623304"/>
        </p:xfrm>
        <a:graphic>
          <a:graphicData uri="http://schemas.openxmlformats.org/drawingml/2006/table">
            <a:tbl>
              <a:tblPr/>
              <a:tblGrid>
                <a:gridCol w="1881001"/>
                <a:gridCol w="2095500"/>
                <a:gridCol w="2057400"/>
              </a:tblGrid>
              <a:tr h="46168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1" dirty="0" smtClean="0">
                          <a:effectLst/>
                          <a:latin typeface="Fira Sans" charset="0"/>
                        </a:rPr>
                        <a:t>Decimal</a:t>
                      </a:r>
                      <a:endParaRPr lang="en-IN" sz="2200" b="1" dirty="0">
                        <a:effectLst/>
                        <a:latin typeface="Fira Sans" charset="0"/>
                      </a:endParaRP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1">
                          <a:effectLst/>
                          <a:latin typeface="Fira Sans" charset="0"/>
                        </a:rPr>
                        <a:t>Binary Code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1">
                          <a:effectLst/>
                          <a:latin typeface="Fira Sans" charset="0"/>
                        </a:rPr>
                        <a:t>Gray Code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0000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0000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0001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0001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2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0010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0011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3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0011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0010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4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0100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0110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5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0101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0111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6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0110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0101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12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7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>
                          <a:effectLst/>
                          <a:latin typeface="Fira Sans" charset="0"/>
                        </a:rPr>
                        <a:t>0111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200" b="0" dirty="0">
                          <a:effectLst/>
                          <a:latin typeface="Fira Sans" charset="0"/>
                        </a:rPr>
                        <a:t>0100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Generation of Gray Code from Binary 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342900" y="1096325"/>
            <a:ext cx="7683500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600" b="1" dirty="0" smtClean="0">
                <a:latin typeface="Fira Sans" charset="0"/>
              </a:rPr>
              <a:t>Let b3b2b1b0 is a 4 bit binary number</a:t>
            </a:r>
          </a:p>
          <a:p>
            <a:pPr marL="457200" lvl="0" algn="just">
              <a:buSzPts val="2900"/>
            </a:pPr>
            <a:r>
              <a:rPr lang="en-US" sz="2600" b="1" dirty="0" smtClean="0">
                <a:latin typeface="Fira Sans" charset="0"/>
              </a:rPr>
              <a:t>To generate equivalent Gray code </a:t>
            </a:r>
          </a:p>
          <a:p>
            <a:pPr marL="971550" lvl="0" indent="-514350" algn="just">
              <a:buSzPts val="2900"/>
              <a:buAutoNum type="arabicPeriod"/>
            </a:pPr>
            <a:r>
              <a:rPr lang="en-US" sz="2600" b="1" dirty="0" smtClean="0">
                <a:latin typeface="Fira Sans" charset="0"/>
              </a:rPr>
              <a:t>g3 = b3 …retain Most significant bit ( MSB)</a:t>
            </a:r>
          </a:p>
          <a:p>
            <a:pPr marL="971550" lvl="0" indent="-514350" algn="just">
              <a:buSzPts val="2900"/>
              <a:buAutoNum type="arabicPeriod"/>
            </a:pPr>
            <a:r>
              <a:rPr lang="en-US" sz="2600" b="1" dirty="0" smtClean="0">
                <a:latin typeface="Fira Sans" charset="0"/>
              </a:rPr>
              <a:t>g2= b3 </a:t>
            </a:r>
            <a:r>
              <a:rPr lang="en-US" sz="2600" b="1" dirty="0" err="1" smtClean="0">
                <a:latin typeface="Fira Sans" charset="0"/>
              </a:rPr>
              <a:t>xor</a:t>
            </a:r>
            <a:r>
              <a:rPr lang="en-US" sz="2600" b="1" dirty="0" smtClean="0">
                <a:latin typeface="Fira Sans" charset="0"/>
              </a:rPr>
              <a:t> b2</a:t>
            </a:r>
          </a:p>
          <a:p>
            <a:pPr marL="971550" lvl="0" indent="-514350" algn="just">
              <a:buSzPts val="2900"/>
              <a:buAutoNum type="arabicPeriod"/>
            </a:pPr>
            <a:r>
              <a:rPr lang="en-US" sz="2600" b="1" dirty="0" smtClean="0">
                <a:latin typeface="Fira Sans" charset="0"/>
              </a:rPr>
              <a:t>g1= b2 </a:t>
            </a:r>
            <a:r>
              <a:rPr lang="en-US" sz="2600" b="1" dirty="0" err="1" smtClean="0">
                <a:latin typeface="Fira Sans" charset="0"/>
              </a:rPr>
              <a:t>xor</a:t>
            </a:r>
            <a:r>
              <a:rPr lang="en-US" sz="2600" b="1" dirty="0" smtClean="0">
                <a:latin typeface="Fira Sans" charset="0"/>
              </a:rPr>
              <a:t> b1</a:t>
            </a:r>
          </a:p>
          <a:p>
            <a:pPr marL="971550" lvl="0" indent="-514350" algn="just">
              <a:buSzPts val="2900"/>
              <a:buAutoNum type="arabicPeriod"/>
            </a:pPr>
            <a:r>
              <a:rPr lang="en-US" sz="2600" b="1" dirty="0" smtClean="0">
                <a:latin typeface="Fira Sans" charset="0"/>
              </a:rPr>
              <a:t>g0 = b1 </a:t>
            </a:r>
            <a:r>
              <a:rPr lang="en-US" sz="2600" b="1" dirty="0" err="1" smtClean="0">
                <a:latin typeface="Fira Sans" charset="0"/>
              </a:rPr>
              <a:t>xor</a:t>
            </a:r>
            <a:r>
              <a:rPr lang="en-US" sz="2600" b="1" dirty="0" smtClean="0">
                <a:latin typeface="Fira Sans" charset="0"/>
              </a:rPr>
              <a:t> b0</a:t>
            </a:r>
          </a:p>
          <a:p>
            <a:pPr marL="457200" lvl="0" algn="just">
              <a:buSzPts val="2900"/>
            </a:pPr>
            <a:r>
              <a:rPr lang="en-US" sz="2600" b="1" dirty="0" smtClean="0">
                <a:latin typeface="Fira Sans" charset="0"/>
              </a:rPr>
              <a:t>Example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312599"/>
              </p:ext>
            </p:extLst>
          </p:nvPr>
        </p:nvGraphicFramePr>
        <p:xfrm>
          <a:off x="723900" y="4059005"/>
          <a:ext cx="4822328" cy="256032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73201"/>
                <a:gridCol w="664243"/>
                <a:gridCol w="876884"/>
                <a:gridCol w="833040"/>
                <a:gridCol w="9749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Binary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220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g3g2g1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g3g2g1g0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25210"/>
              </p:ext>
            </p:extLst>
          </p:nvPr>
        </p:nvGraphicFramePr>
        <p:xfrm>
          <a:off x="6591300" y="4059005"/>
          <a:ext cx="4822328" cy="256032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73201"/>
                <a:gridCol w="664243"/>
                <a:gridCol w="876884"/>
                <a:gridCol w="833040"/>
                <a:gridCol w="9749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Binary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220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96155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g3g2g1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g3g2g1g0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10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0600" y="1136287"/>
            <a:ext cx="11982450" cy="50426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28547" rIns="0" bIns="1713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Example: Convert Gray Code 1101 to Binary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Gray Code: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G3 G2 G1 G0 = 1 1 0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Binary (B3 B2 B1 B0):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B3: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Same as G3: 1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B2: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B3 XOR G2 (1 XOR 1) = 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B1: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B2 XOR G1 (0 XOR 0) = 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B0: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B1 XOR G0 (0 XOR 1) = 1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Result: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The binary equivalent of Gray code 1101 is 1001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774062"/>
              </p:ext>
            </p:extLst>
          </p:nvPr>
        </p:nvGraphicFramePr>
        <p:xfrm>
          <a:off x="8667750" y="1715855"/>
          <a:ext cx="5412878" cy="333239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653612"/>
                <a:gridCol w="745587"/>
                <a:gridCol w="984269"/>
                <a:gridCol w="935055"/>
                <a:gridCol w="1094355"/>
              </a:tblGrid>
              <a:tr h="55539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Binary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g3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g2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g1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g0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555399">
                <a:tc>
                  <a:txBody>
                    <a:bodyPr/>
                    <a:lstStyle/>
                    <a:p>
                      <a:endParaRPr lang="en-IN" sz="220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555399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b3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555399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b3b2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555399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b3b2b1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  <a:tr h="555399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Fira Sans" charset="0"/>
                        </a:rPr>
                        <a:t>b3b2b1b0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0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Fira Sans" charset="0"/>
                        </a:rPr>
                        <a:t>1</a:t>
                      </a:r>
                      <a:endParaRPr lang="en-IN" sz="22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Generation of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Code from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Gray 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7" name="Google Shape;56;g2b06e3c580a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7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9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BCD Code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838199" y="929137"/>
            <a:ext cx="1223897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r>
              <a:rPr lang="en-US" sz="2600" dirty="0">
                <a:latin typeface="Fira Sans" charset="0"/>
              </a:rPr>
              <a:t>Binary-Coded Decimal (BCD) is a numbering system where each decimal digit (0</a:t>
            </a:r>
            <a:r>
              <a:rPr lang="en-US" sz="2600" dirty="0" smtClean="0">
                <a:latin typeface="Fira Sans" charset="0"/>
              </a:rPr>
              <a:t>−9) </a:t>
            </a:r>
            <a:r>
              <a:rPr lang="en-US" sz="2600" dirty="0">
                <a:latin typeface="Fira Sans" charset="0"/>
              </a:rPr>
              <a:t>is represented by its own four-bit binary </a:t>
            </a:r>
            <a:r>
              <a:rPr lang="en-US" sz="2600" dirty="0" smtClean="0">
                <a:latin typeface="Fira Sans" charset="0"/>
              </a:rPr>
              <a:t>equivalent. ( even if number can be represented in lesser digits it is represented in 4 bit)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 = 0000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 = 0001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 = 0010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3 = 0011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 = 0100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5 = 0101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6 = 0110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7 = 0111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8 = 1000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9 = 1001</a:t>
            </a:r>
            <a:endParaRPr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4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BCD Code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838199" y="929137"/>
            <a:ext cx="1223897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r>
              <a:rPr lang="en-US" sz="2600" dirty="0" smtClean="0">
                <a:latin typeface="Fira Sans" charset="0"/>
              </a:rPr>
              <a:t>Multidigit numbers are represented by combinations of 4 bit representations of each digit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17 = 0001 0111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259 = 0010 0101 1001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64 = 0110 0100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Representing numbers in binary form is easy as conversion is not required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The value is for each group of 4 bits  and this is not positional number system</a:t>
            </a:r>
          </a:p>
          <a:p>
            <a:endParaRPr lang="en-US" sz="26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Write following numbers in BCD form 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34 	= 0011 0100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182	= 0001 1000 0010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401	= 0100 0000 0001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628	= 0110 0010 1000</a:t>
            </a:r>
            <a:endParaRPr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Parity for Error Detection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355692" y="1246637"/>
            <a:ext cx="1217547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latin typeface="Fira Sans" charset="0"/>
              </a:rPr>
              <a:t>In digital electronics, parity is an error-checking technique that uses an extra binary digit, called a parity bit, to ensure data integrity</a:t>
            </a:r>
            <a:r>
              <a:rPr lang="en-US" sz="2600" dirty="0" smtClean="0">
                <a:latin typeface="Fira Sans" charset="0"/>
              </a:rPr>
              <a:t>.</a:t>
            </a:r>
          </a:p>
          <a:p>
            <a:pPr marL="457200" lvl="0" algn="just">
              <a:buSzPts val="2900"/>
            </a:pPr>
            <a:endParaRPr lang="en-US" sz="2600" dirty="0" smtClean="0">
              <a:latin typeface="Fira Sans" charset="0"/>
            </a:endParaRP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 smtClean="0">
                <a:latin typeface="Fira Sans" charset="0"/>
              </a:rPr>
              <a:t>It </a:t>
            </a:r>
            <a:r>
              <a:rPr lang="en-US" sz="2600" dirty="0">
                <a:latin typeface="Fira Sans" charset="0"/>
              </a:rPr>
              <a:t>is added to a binary code so that the total number of '1's in the data is either always even (even parity) or always odd (odd parity). </a:t>
            </a:r>
            <a:endParaRPr lang="en-US" sz="2600" dirty="0" smtClean="0">
              <a:latin typeface="Fira Sans" charset="0"/>
            </a:endParaRPr>
          </a:p>
          <a:p>
            <a:pPr marL="457200" lvl="0" algn="just">
              <a:buSzPts val="2900"/>
            </a:pPr>
            <a:endParaRPr lang="en-US" sz="2600" dirty="0" smtClean="0">
              <a:latin typeface="Fira Sans" charset="0"/>
            </a:endParaRP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 smtClean="0">
                <a:latin typeface="Fira Sans" charset="0"/>
              </a:rPr>
              <a:t>At </a:t>
            </a:r>
            <a:r>
              <a:rPr lang="en-US" sz="2600" dirty="0">
                <a:latin typeface="Fira Sans" charset="0"/>
              </a:rPr>
              <a:t>the receiving end, the parity bit is checked to detect if any single-bit errors have occurred during transmission.</a:t>
            </a:r>
            <a:endParaRPr sz="2600" dirty="0">
              <a:latin typeface="Fira Sans" charset="0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6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12450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Parity for Error Detection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56074" y="840288"/>
            <a:ext cx="14207626" cy="577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400" u="sng" dirty="0">
                <a:latin typeface="Fira Sans" charset="0"/>
                <a:sym typeface="Fira Sans"/>
              </a:rPr>
              <a:t>Parity generator: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latin typeface="Fira Sans" charset="0"/>
                <a:sym typeface="Fira Sans"/>
              </a:rPr>
              <a:t>A parity generator adds a parity bit to a block of data.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Even parity: </a:t>
            </a:r>
            <a:r>
              <a:rPr lang="en-US" sz="2400" dirty="0">
                <a:latin typeface="Fira Sans" charset="0"/>
                <a:sym typeface="Fira Sans"/>
              </a:rPr>
              <a:t>A '0' is added if there is an even number of '1's, and a '1' is added if there is an odd number of '1's, to make the total count </a:t>
            </a: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even.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Odd parity: </a:t>
            </a:r>
            <a:r>
              <a:rPr lang="en-US" sz="2400" dirty="0">
                <a:latin typeface="Fira Sans" charset="0"/>
                <a:sym typeface="Fira Sans"/>
              </a:rPr>
              <a:t>A '1' is added if there is an even number of '1's, and a '0' is added if there is an odd number of '1's, to make the total count </a:t>
            </a: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odd. </a:t>
            </a:r>
          </a:p>
          <a:p>
            <a:pPr marL="457200" lvl="0" algn="just">
              <a:buSzPts val="2900"/>
            </a:pPr>
            <a:r>
              <a:rPr lang="en-US" sz="2400" u="sng" dirty="0">
                <a:latin typeface="Fira Sans" charset="0"/>
                <a:sym typeface="Fira Sans"/>
              </a:rPr>
              <a:t>Transmission: </a:t>
            </a:r>
            <a:r>
              <a:rPr lang="en-US" sz="2400" u="sng" dirty="0" smtClean="0">
                <a:latin typeface="Fira Sans" charset="0"/>
                <a:sym typeface="Fira Sans"/>
              </a:rPr>
              <a:t> </a:t>
            </a:r>
            <a:r>
              <a:rPr lang="en-US" sz="2400" dirty="0" smtClean="0">
                <a:latin typeface="Fira Sans" charset="0"/>
                <a:sym typeface="Fira Sans"/>
              </a:rPr>
              <a:t>The </a:t>
            </a:r>
            <a:r>
              <a:rPr lang="en-US" sz="2400" dirty="0">
                <a:latin typeface="Fira Sans" charset="0"/>
                <a:sym typeface="Fira Sans"/>
              </a:rPr>
              <a:t>data along with the parity bit is transmitted. </a:t>
            </a:r>
          </a:p>
          <a:p>
            <a:pPr marL="457200" lvl="0" algn="just">
              <a:buSzPts val="2900"/>
            </a:pPr>
            <a:r>
              <a:rPr lang="en-US" sz="2400" u="sng" dirty="0">
                <a:latin typeface="Fira Sans" charset="0"/>
                <a:sym typeface="Fira Sans"/>
              </a:rPr>
              <a:t>Parity checker: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latin typeface="Fira Sans" charset="0"/>
                <a:sym typeface="Fira Sans"/>
              </a:rPr>
              <a:t>The receiver counts the number of '1's in the received data, including the parity bit.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Even parity:</a:t>
            </a:r>
            <a:r>
              <a:rPr lang="en-US" sz="2400" dirty="0">
                <a:latin typeface="Fira Sans" charset="0"/>
                <a:sym typeface="Fira Sans"/>
              </a:rPr>
              <a:t> If the count is even, the data is accepted as correct. If the count is odd, a parity error is detected.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Fira Sans" charset="0"/>
                <a:sym typeface="Fira Sans"/>
              </a:rPr>
              <a:t>Odd parity:</a:t>
            </a:r>
            <a:r>
              <a:rPr lang="en-US" sz="2400" dirty="0">
                <a:latin typeface="Fira Sans" charset="0"/>
                <a:sym typeface="Fira Sans"/>
              </a:rPr>
              <a:t> If the count is odd, the data is accepted. If the count is even, an error is detected. </a:t>
            </a:r>
          </a:p>
          <a:p>
            <a:pPr marL="457200" lvl="0" algn="just">
              <a:buSzPts val="2900"/>
            </a:pPr>
            <a:r>
              <a:rPr lang="en-US" sz="2400" u="sng" dirty="0">
                <a:latin typeface="Fira Sans" charset="0"/>
                <a:sym typeface="Fira Sans"/>
              </a:rPr>
              <a:t>Error detection: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400" dirty="0">
                <a:latin typeface="Fira Sans" charset="0"/>
                <a:sym typeface="Fira Sans"/>
              </a:rPr>
              <a:t>If the parity check fails, the data is flagged as corrupted. This method can only detect single-bit errors; if two bits flip, the parity will still appear correct.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8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12450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Parity for Error Detection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56074" y="840288"/>
            <a:ext cx="14207626" cy="577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600" u="sng" dirty="0">
                <a:latin typeface="Fira Sans" charset="0"/>
                <a:sym typeface="Fira Sans"/>
              </a:rPr>
              <a:t>Parity generator: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 smtClean="0">
                <a:latin typeface="Fira Sans" charset="0"/>
                <a:sym typeface="Fira Sans"/>
              </a:rPr>
              <a:t>Given data : 1101</a:t>
            </a:r>
            <a:endParaRPr lang="en-US" sz="2600" dirty="0">
              <a:latin typeface="Fira Sans" charset="0"/>
              <a:sym typeface="Fira Sans"/>
            </a:endParaRP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Even parity: </a:t>
            </a:r>
            <a:r>
              <a:rPr lang="en-US" sz="2600" dirty="0" smtClean="0">
                <a:latin typeface="Fira Sans" charset="0"/>
                <a:sym typeface="Fira Sans"/>
              </a:rPr>
              <a:t>Parity Bit = 1 so that total no of ‘1’s </a:t>
            </a:r>
            <a:r>
              <a:rPr lang="en-US" sz="2600" dirty="0" smtClean="0">
                <a:solidFill>
                  <a:srgbClr val="C00000"/>
                </a:solidFill>
                <a:latin typeface="Fira Sans" charset="0"/>
                <a:sym typeface="Fira Sans"/>
              </a:rPr>
              <a:t>even</a:t>
            </a:r>
            <a:r>
              <a:rPr lang="en-US" sz="2600" dirty="0" smtClean="0">
                <a:latin typeface="Fira Sans" charset="0"/>
                <a:sym typeface="Fira Sans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 </a:t>
            </a:r>
          </a:p>
          <a:p>
            <a:pPr marL="91440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Odd parity: </a:t>
            </a:r>
            <a:r>
              <a:rPr lang="en-US" sz="2600" dirty="0">
                <a:latin typeface="Fira Sans" charset="0"/>
                <a:sym typeface="Fira Sans"/>
              </a:rPr>
              <a:t>Parity Bit = </a:t>
            </a:r>
            <a:r>
              <a:rPr lang="en-US" sz="2600" dirty="0" smtClean="0">
                <a:latin typeface="Fira Sans" charset="0"/>
                <a:sym typeface="Fira Sans"/>
              </a:rPr>
              <a:t>0 </a:t>
            </a:r>
            <a:r>
              <a:rPr lang="en-US" sz="2600" dirty="0">
                <a:latin typeface="Fira Sans" charset="0"/>
                <a:sym typeface="Fira Sans"/>
              </a:rPr>
              <a:t>so that total no of ‘1’s </a:t>
            </a:r>
            <a:r>
              <a:rPr lang="en-US" sz="2600" dirty="0" smtClean="0">
                <a:latin typeface="Fira Sans" charset="0"/>
                <a:sym typeface="Fira Sans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odd. </a:t>
            </a:r>
          </a:p>
          <a:p>
            <a:pPr marL="457200" lvl="0" algn="just">
              <a:buSzPts val="2900"/>
            </a:pPr>
            <a:r>
              <a:rPr lang="en-US" sz="2600" u="sng" dirty="0">
                <a:latin typeface="Fira Sans" charset="0"/>
                <a:sym typeface="Fira Sans"/>
              </a:rPr>
              <a:t>Transmission: </a:t>
            </a:r>
            <a:r>
              <a:rPr lang="en-US" sz="2600" u="sng" dirty="0" smtClean="0">
                <a:latin typeface="Fira Sans" charset="0"/>
                <a:sym typeface="Fira Sans"/>
              </a:rPr>
              <a:t> </a:t>
            </a:r>
            <a:r>
              <a:rPr lang="en-US" sz="2600" dirty="0" smtClean="0">
                <a:latin typeface="Fira Sans" charset="0"/>
                <a:sym typeface="Fira Sans"/>
              </a:rPr>
              <a:t>The </a:t>
            </a:r>
            <a:r>
              <a:rPr lang="en-US" sz="2600" dirty="0">
                <a:latin typeface="Fira Sans" charset="0"/>
                <a:sym typeface="Fira Sans"/>
              </a:rPr>
              <a:t>data along with the parity bit is transmitted. </a:t>
            </a:r>
            <a:endParaRPr lang="en-US" sz="2600" dirty="0" smtClean="0">
              <a:latin typeface="Fira Sans" charset="0"/>
              <a:sym typeface="Fira Sans"/>
            </a:endParaRPr>
          </a:p>
          <a:p>
            <a:pPr marL="457200" lvl="0" algn="just">
              <a:buSzPts val="2900"/>
            </a:pPr>
            <a:r>
              <a:rPr lang="en-US" sz="2600" u="sng" dirty="0" smtClean="0">
                <a:latin typeface="Fira Sans" charset="0"/>
                <a:sym typeface="Fira Sans"/>
              </a:rPr>
              <a:t>Parity </a:t>
            </a:r>
            <a:r>
              <a:rPr lang="en-US" sz="2600" u="sng" dirty="0">
                <a:latin typeface="Fira Sans" charset="0"/>
                <a:sym typeface="Fira Sans"/>
              </a:rPr>
              <a:t>checker: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latin typeface="Fira Sans" charset="0"/>
                <a:sym typeface="Fira Sans"/>
              </a:rPr>
              <a:t>The receiver counts the number of '1's in the received data, including the parity bit. 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Even parity:</a:t>
            </a:r>
            <a:r>
              <a:rPr lang="en-US" sz="2600" dirty="0">
                <a:latin typeface="Fira Sans" charset="0"/>
                <a:sym typeface="Fira Sans"/>
              </a:rPr>
              <a:t> </a:t>
            </a:r>
            <a:r>
              <a:rPr lang="en-US" sz="2600" dirty="0" smtClean="0">
                <a:latin typeface="Fira Sans" charset="0"/>
                <a:sym typeface="Fira Sans"/>
              </a:rPr>
              <a:t>Received Data : 11010 …. Count is odd there is error</a:t>
            </a:r>
            <a:endParaRPr lang="en-US" sz="2600" dirty="0">
              <a:latin typeface="Fira Sans" charset="0"/>
              <a:sym typeface="Fira Sans"/>
            </a:endParaRP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  <a:latin typeface="Fira Sans" charset="0"/>
                <a:sym typeface="Fira Sans"/>
              </a:rPr>
              <a:t>Odd parity:</a:t>
            </a:r>
            <a:r>
              <a:rPr lang="en-US" sz="2600" dirty="0">
                <a:latin typeface="Fira Sans" charset="0"/>
                <a:sym typeface="Fira Sans"/>
              </a:rPr>
              <a:t> </a:t>
            </a:r>
            <a:r>
              <a:rPr lang="en-US" sz="2600" dirty="0" smtClean="0">
                <a:latin typeface="Fira Sans" charset="0"/>
                <a:sym typeface="Fira Sans"/>
              </a:rPr>
              <a:t>Received Data : 11010 ….Count is odd so data is correct </a:t>
            </a:r>
            <a:endParaRPr lang="en-US" sz="2600" dirty="0">
              <a:latin typeface="Fira Sans" charset="0"/>
              <a:sym typeface="Fira Sans"/>
            </a:endParaRPr>
          </a:p>
          <a:p>
            <a:pPr marL="457200" lvl="0" algn="just">
              <a:buSzPts val="2900"/>
            </a:pPr>
            <a:r>
              <a:rPr lang="en-US" sz="2600" dirty="0">
                <a:latin typeface="Fira Sans" charset="0"/>
                <a:sym typeface="Fira Sans"/>
              </a:rPr>
              <a:t> </a:t>
            </a:r>
            <a:endParaRPr lang="en-US" sz="2600" dirty="0" smtClean="0">
              <a:latin typeface="Fira Sans" charset="0"/>
              <a:sym typeface="Fira Sans"/>
            </a:endParaRPr>
          </a:p>
          <a:p>
            <a:pPr marL="457200" lvl="0" algn="just">
              <a:buSzPts val="2900"/>
            </a:pPr>
            <a:endParaRPr lang="en-US" sz="2600" dirty="0">
              <a:latin typeface="Fira Sans" charset="0"/>
              <a:sym typeface="Fir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4" y="6619325"/>
            <a:ext cx="2399236" cy="8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1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3519</TotalTime>
  <Words>1900</Words>
  <Application>Microsoft Office PowerPoint</Application>
  <PresentationFormat>Custom</PresentationFormat>
  <Paragraphs>963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Marcellus</vt:lpstr>
      <vt:lpstr>Fira Sans</vt:lpstr>
      <vt:lpstr>Times New Roman</vt:lpstr>
      <vt:lpstr>Calibri</vt:lpstr>
      <vt:lpstr>Office Theme</vt:lpstr>
      <vt:lpstr>Digital Logic Design</vt:lpstr>
      <vt:lpstr>Course Outcomes</vt:lpstr>
      <vt:lpstr>Number Representation and Codes</vt:lpstr>
      <vt:lpstr>Number Representation and Codes</vt:lpstr>
      <vt:lpstr>Positional Number System: Concept</vt:lpstr>
      <vt:lpstr>Positional Number System : Decimal Numbers</vt:lpstr>
      <vt:lpstr>Positional Number System : Binary, Octal, Hexadecimal</vt:lpstr>
      <vt:lpstr>Conversion from Decimal to Any number system</vt:lpstr>
      <vt:lpstr>Conversion from Decimal to Any number system</vt:lpstr>
      <vt:lpstr>Sample questions</vt:lpstr>
      <vt:lpstr>Computer Arithmetic</vt:lpstr>
      <vt:lpstr>Signed Number Representation</vt:lpstr>
      <vt:lpstr>Signed Number Representation</vt:lpstr>
      <vt:lpstr>Signed Number Representation</vt:lpstr>
      <vt:lpstr>Signed Number Representation</vt:lpstr>
      <vt:lpstr>Signed Number Representation</vt:lpstr>
      <vt:lpstr>Signed Number Representation</vt:lpstr>
      <vt:lpstr>PowerPoint Presentation</vt:lpstr>
      <vt:lpstr>Sample examples </vt:lpstr>
      <vt:lpstr>Binary addition</vt:lpstr>
      <vt:lpstr>Binary Subtraction – 1’s complement method</vt:lpstr>
      <vt:lpstr>Binary Subtraction – 1’s complement method</vt:lpstr>
      <vt:lpstr>Binary Subtraction – 2’s complement method</vt:lpstr>
      <vt:lpstr>Binary Subtraction – 2’s complement method</vt:lpstr>
      <vt:lpstr>Gray Code</vt:lpstr>
      <vt:lpstr>Generation of Gray Code from Binary </vt:lpstr>
      <vt:lpstr>Generation of Binary Code from Gray </vt:lpstr>
      <vt:lpstr>BCD Code</vt:lpstr>
      <vt:lpstr>BCD Code</vt:lpstr>
      <vt:lpstr>Parity for Error Detection</vt:lpstr>
      <vt:lpstr>Parity for Error Detection</vt:lpstr>
      <vt:lpstr>Parity for Error Detection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Arati Phadke</dc:creator>
  <cp:lastModifiedBy>SNS</cp:lastModifiedBy>
  <cp:revision>50</cp:revision>
  <dcterms:modified xsi:type="dcterms:W3CDTF">2026-01-19T07:12:29Z</dcterms:modified>
</cp:coreProperties>
</file>