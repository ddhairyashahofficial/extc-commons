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329" r:id="rId7"/>
    <p:sldId id="325" r:id="rId8"/>
    <p:sldId id="324" r:id="rId9"/>
    <p:sldId id="327" r:id="rId10"/>
    <p:sldId id="268" r:id="rId11"/>
    <p:sldId id="332" r:id="rId12"/>
    <p:sldId id="322" r:id="rId13"/>
    <p:sldId id="321" r:id="rId14"/>
    <p:sldId id="266" r:id="rId15"/>
    <p:sldId id="269" r:id="rId16"/>
    <p:sldId id="317" r:id="rId17"/>
    <p:sldId id="320" r:id="rId18"/>
    <p:sldId id="293" r:id="rId19"/>
    <p:sldId id="294" r:id="rId20"/>
    <p:sldId id="307" r:id="rId21"/>
    <p:sldId id="309" r:id="rId22"/>
    <p:sldId id="310" r:id="rId23"/>
    <p:sldId id="273" r:id="rId24"/>
    <p:sldId id="312" r:id="rId25"/>
    <p:sldId id="311" r:id="rId26"/>
    <p:sldId id="314" r:id="rId27"/>
    <p:sldId id="313" r:id="rId28"/>
    <p:sldId id="290" r:id="rId29"/>
    <p:sldId id="291" r:id="rId30"/>
    <p:sldId id="303" r:id="rId31"/>
    <p:sldId id="282" r:id="rId32"/>
    <p:sldId id="286" r:id="rId33"/>
    <p:sldId id="289" r:id="rId34"/>
    <p:sldId id="287" r:id="rId35"/>
    <p:sldId id="288" r:id="rId36"/>
    <p:sldId id="283" r:id="rId37"/>
    <p:sldId id="284" r:id="rId38"/>
    <p:sldId id="304" r:id="rId39"/>
    <p:sldId id="315" r:id="rId40"/>
    <p:sldId id="316" r:id="rId41"/>
    <p:sldId id="318" r:id="rId42"/>
    <p:sldId id="319" r:id="rId43"/>
    <p:sldId id="323" r:id="rId44"/>
    <p:sldId id="326" r:id="rId45"/>
    <p:sldId id="333" r:id="rId46"/>
    <p:sldId id="334" r:id="rId47"/>
    <p:sldId id="335" r:id="rId48"/>
    <p:sldId id="337" r:id="rId49"/>
    <p:sldId id="338" r:id="rId50"/>
    <p:sldId id="339" r:id="rId5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0" autoAdjust="0"/>
    <p:restoredTop sz="93432" autoAdjust="0"/>
  </p:normalViewPr>
  <p:slideViewPr>
    <p:cSldViewPr>
      <p:cViewPr>
        <p:scale>
          <a:sx n="70" d="100"/>
          <a:sy n="70" d="100"/>
        </p:scale>
        <p:origin x="-1140" y="-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54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3" Type="http://schemas.openxmlformats.org/officeDocument/2006/relationships/slide" Target="slides/slide2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C3B789-BC43-4382-81E9-DDC6752543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A6E1E8-4CF9-4678-BE2C-2CDCF062EE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14705A5-DA2A-48B2-B89B-6823E89848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E7018F-F339-4167-8780-1DCD245D4E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393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21CEE8E-085A-439D-A699-B5CFDB3477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50F522-6738-46D4-B487-B7DCE6C3E3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0FDF90-2124-43DC-A5E1-4E07A8DFDC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01A075-0181-4890-9622-7CACC7548C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6238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84D72C-6E5C-4683-825A-A0AEB98423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F4B636-E2F8-4EB6-97FB-03E7F5EE2C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891E64-8785-4E45-9250-E0F441A3E2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B8A161-8712-4E12-8D39-8E67427A0D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114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B0CC3B-B970-472B-8D8B-69CD49730C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B5B1C6-13FA-4970-B5E2-B23D19DFF0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5BD218-BF80-4D49-8475-81F648E44A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371E0C-0655-49ED-89BD-6D06FEF45B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0460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F6B3718-20D5-4EE8-A544-FC894DD1D6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0F75E19-83AC-4DB3-9C7B-DC0DEFB4B4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148539C-FAF9-4562-B01E-855284C786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6E2C28-B42F-4032-8B6B-856FFC274B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9448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99C2352-8254-46A0-AD7B-7E69E7A2F9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60F4D9-0D3C-4AE2-A9CE-A0CC4EF443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6C5928-F711-4E99-85A2-C227995984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4C35EC-173B-4C21-B08B-DA81E14D4F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1723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F34FEEB-67E7-49DC-A66F-141F1B9CBE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A80DFAA-A9EF-41A9-8C47-5820023AD2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D6C9C0E-B376-4FE4-8EEA-8FC50472F9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DC67D8-FF9D-4AFB-9182-1630EA38CF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6739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EA6B8F-CD99-4F10-B4EF-D07A1EA285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BAF2E9-4BEC-44CC-894C-64B6A95BDA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642646-4EA9-4749-B3CD-BAACCA5AFF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953353-D608-45B2-882C-06CB15DE39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7907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8F1A62-3169-40E8-A0F5-B764726D88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25009-1FED-4EF5-83D7-DEB08EB97C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967184-A516-4C34-A5F0-1BE9184B85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BA2624-F5BD-4584-BEB9-658F9FA22C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71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B1C20A-60F8-437E-9930-E570B6878D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BC2778C-3581-4BE4-AA3E-26992A88E7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56B59AB-12A0-4854-836E-BFA434562C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46828A-AE27-4568-8205-E9869A42F1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5131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F808A78-B932-42E5-BEDB-2F199DEE34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55D89E-707C-4130-8EB6-1510E5D219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A2F89D-4C02-421E-A34A-8C39A26E24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30C96D-680F-4142-92C4-11AE71B15A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216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F77D5BF-EE48-4052-9495-A104FC5E03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2E100A3-41EE-471D-AEF8-82CC1CAA40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D96A00C-E004-4232-AADB-CB62DC4923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613097-229A-40FB-B171-625B5A4051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239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450C6FE-8576-4A99-83EA-76E78D6F34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CD769D2-0DA2-4FB0-8609-7054EB7DA4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4D9EF69-9F3B-45BC-AC80-A623339C39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7FD61A3-E8A3-4D4A-83DB-CD3CBD4B382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D7F6860-1EDC-4974-AB8D-1BAFE371722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B358D4D-B170-4B9A-8C9F-5B63D697EE1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pastorrobert-nikos.blogspot.com/2010/06/christians-facial-expressions.html" TargetMode="Externa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hyperlink" Target="http://www.buzzle.com/articles/facial-expressions-list-of-facial-expressions.html" TargetMode="External" /><Relationship Id="rId1" Type="http://schemas.openxmlformats.org/officeDocument/2006/relationships/slideLayout" Target="../slideLayouts/slideLayout1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ate.com/articles/health_and_science/science/2012/07/olympic_smiles_how_to_identify_athletes_nationalities_based_on_their_facial_expressions_.html" TargetMode="External" /><Relationship Id="rId2" Type="http://schemas.openxmlformats.org/officeDocument/2006/relationships/hyperlink" Target="http://pastorrobert-nikos.blogspot.com/2010/06/christians-facial-expressions.html" TargetMode="Externa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4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hyperlink" Target="http://www.redbubble.com/explore/disgusted+face" TargetMode="External" /><Relationship Id="rId1" Type="http://schemas.openxmlformats.org/officeDocument/2006/relationships/slideLayout" Target="../slideLayouts/slideLayout1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hyperlink" Target="http://www.nfstc.org/pdi/Subject08/pdi_s08_m01_02.htm" TargetMode="External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hyperlink" Target="http://www.groupon.my/deals/klang/Professional-Global-Logistics-Training-Development/716879596" TargetMode="External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hyperlink" Target="http://christianameng220.wikispaces.com/Verbal+and+Nonverbal+Communication" TargetMode="External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hyperlink" Target="http://www.unexplained-mysteries.com/forum/index.php?showtopic=254699&amp;st=15" TargetMode="Externa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hyperlink" Target="http://www.sptny.com/blog/?p=965" TargetMode="External" /><Relationship Id="rId1" Type="http://schemas.openxmlformats.org/officeDocument/2006/relationships/slideLayout" Target="../slideLayouts/slideLayout7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 /><Relationship Id="rId2" Type="http://schemas.openxmlformats.org/officeDocument/2006/relationships/hyperlink" Target="http://www.longevityforyou.com/good-posture.html" TargetMode="External" /><Relationship Id="rId1" Type="http://schemas.openxmlformats.org/officeDocument/2006/relationships/slideLayout" Target="../slideLayouts/slideLayout7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 /><Relationship Id="rId2" Type="http://schemas.openxmlformats.org/officeDocument/2006/relationships/hyperlink" Target="http://toolboxes.flexiblelearning.net.au/demosites/series9/903/content/resources/03_effective_communication/04_nonverbal_comm/page_005.htm" TargetMode="External" /><Relationship Id="rId1" Type="http://schemas.openxmlformats.org/officeDocument/2006/relationships/slideLayout" Target="../slideLayouts/slideLayout7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 /><Relationship Id="rId2" Type="http://schemas.openxmlformats.org/officeDocument/2006/relationships/hyperlink" Target="http://toolboxes.flexiblelearning.net.au/demosites/series9/903/content/resources/03_effective_communication/04_nonverbal_comm/page_005.htm" TargetMode="External" /><Relationship Id="rId1" Type="http://schemas.openxmlformats.org/officeDocument/2006/relationships/slideLayout" Target="../slideLayouts/slideLayout7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 /><Relationship Id="rId1" Type="http://schemas.openxmlformats.org/officeDocument/2006/relationships/slideLayout" Target="../slideLayouts/slideLayout7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 /><Relationship Id="rId2" Type="http://schemas.openxmlformats.org/officeDocument/2006/relationships/hyperlink" Target="http://yogahome.net/yoga-9-5-proper-seated-posture/" TargetMode="External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 /><Relationship Id="rId2" Type="http://schemas.openxmlformats.org/officeDocument/2006/relationships/hyperlink" Target="http://www.drhealth.md/life-style-diseases/orthopaedic-disorders/importance-of-posture/" TargetMode="External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 /><Relationship Id="rId2" Type="http://schemas.openxmlformats.org/officeDocument/2006/relationships/hyperlink" Target="http://miami.mbs.ac.uk/Blog.aspx" TargetMode="External" /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 /><Relationship Id="rId2" Type="http://schemas.openxmlformats.org/officeDocument/2006/relationships/hyperlink" Target="http://christianameng220.wikispaces.com/Verbal+and+Nonverbal+Communication" TargetMode="External" /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 /><Relationship Id="rId2" Type="http://schemas.openxmlformats.org/officeDocument/2006/relationships/hyperlink" Target="http://letopusa.wordpress.com/2012/01/05/the-power-of-eye-contact-toddlers-important-non-verbal-communication/" TargetMode="External" /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 /><Relationship Id="rId2" Type="http://schemas.openxmlformats.org/officeDocument/2006/relationships/hyperlink" Target="http://selim-atakan.blogspot.com/2012/04/afife-tiyatro-odulleri-ne-kadar-da.html" TargetMode="External" /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 /><Relationship Id="rId2" Type="http://schemas.openxmlformats.org/officeDocument/2006/relationships/hyperlink" Target="http://gnightgirl.blogspot.com/2008_12_01_archive.html" TargetMode="External" /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 /><Relationship Id="rId2" Type="http://schemas.openxmlformats.org/officeDocument/2006/relationships/hyperlink" Target="http://listcrux.com/top-10-signs-of-a-happy-person/" TargetMode="External" /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 /><Relationship Id="rId2" Type="http://schemas.openxmlformats.org/officeDocument/2006/relationships/hyperlink" Target="http://facialexpressionsproject.wordpress.com/anger/" TargetMode="External" /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 /><Relationship Id="rId2" Type="http://schemas.openxmlformats.org/officeDocument/2006/relationships/hyperlink" Target="http://www.buzzle.com/articles/facial-expressions-list-of-facial-expressions.html" TargetMode="External" /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 /><Relationship Id="rId2" Type="http://schemas.openxmlformats.org/officeDocument/2006/relationships/hyperlink" Target="http://www.gazettenet.com/home/8637826-95/henrik-stenson-wins-tour-championship-10m-fedex-cup" TargetMode="External" /><Relationship Id="rId1" Type="http://schemas.openxmlformats.org/officeDocument/2006/relationships/slideLayout" Target="../slideLayouts/slideLayout2.xml" 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4">
            <a:extLst>
              <a:ext uri="{FF2B5EF4-FFF2-40B4-BE49-F238E27FC236}">
                <a16:creationId xmlns:a16="http://schemas.microsoft.com/office/drawing/2014/main" id="{D53A559A-A187-4753-B941-8F2553A4E6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Non -Verbal Communication</a:t>
            </a:r>
            <a:br>
              <a:rPr lang="en-US" altLang="en-US" sz="4000"/>
            </a:br>
            <a:br>
              <a:rPr lang="en-US" altLang="en-US" sz="4000"/>
            </a:br>
            <a:r>
              <a:rPr lang="en-US" altLang="en-US" sz="4000" b="1" i="1" u="sng"/>
              <a:t>(Body Language</a:t>
            </a:r>
            <a:r>
              <a:rPr lang="en-US" altLang="en-US" sz="4000" i="1"/>
              <a:t>)</a:t>
            </a:r>
          </a:p>
        </p:txBody>
      </p:sp>
      <p:sp>
        <p:nvSpPr>
          <p:cNvPr id="2052" name="AutoShape 5">
            <a:hlinkClick r:id="rId2"/>
            <a:extLst>
              <a:ext uri="{FF2B5EF4-FFF2-40B4-BE49-F238E27FC236}">
                <a16:creationId xmlns:a16="http://schemas.microsoft.com/office/drawing/2014/main" id="{B66BAB96-F141-4F78-8E98-5529D10C36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575" y="-1943100"/>
            <a:ext cx="4048125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88BD0CE-670A-4B3C-A3E0-42A71AC59F2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What is non-verbal communication?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8434D0E-C21A-4202-8CBA-3E6A810AF3C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/>
              <a:t>There are two methods of communication –</a:t>
            </a:r>
            <a:r>
              <a:rPr lang="en-US" altLang="en-US" sz="2800">
                <a:solidFill>
                  <a:srgbClr val="C00000"/>
                </a:solidFill>
              </a:rPr>
              <a:t>Verbal and Non-Verbal.</a:t>
            </a:r>
          </a:p>
          <a:p>
            <a:pPr eaLnBrk="1" hangingPunct="1"/>
            <a:r>
              <a:rPr lang="en-US" altLang="en-US" sz="2800"/>
              <a:t>Verbal Communication uses formal language.</a:t>
            </a:r>
          </a:p>
          <a:p>
            <a:pPr eaLnBrk="1" hangingPunct="1"/>
            <a:r>
              <a:rPr lang="en-US" altLang="en-US" sz="2800"/>
              <a:t>Non-verbal communication is the process of sending or receiving wordless messages.</a:t>
            </a:r>
          </a:p>
          <a:p>
            <a:pPr eaLnBrk="1" hangingPunct="1">
              <a:buFontTx/>
              <a:buNone/>
            </a:pPr>
            <a:r>
              <a:rPr lang="en-US" altLang="en-US" sz="2800" i="1">
                <a:solidFill>
                  <a:schemeClr val="hlink"/>
                </a:solidFill>
              </a:rPr>
              <a:t>       </a:t>
            </a:r>
            <a:endParaRPr lang="en-US" altLang="en-US" sz="2800" b="1" i="1" u="sng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1C7E2D2-8708-4F4F-821D-DADDC6A7E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Body Language?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2E1B52E-D08A-47D5-85EC-0CFFD004B7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Using different parts of the body to convey messages is called Body Language. e.g. Use of:</a:t>
            </a:r>
          </a:p>
          <a:p>
            <a:pPr lvl="1" eaLnBrk="1" hangingPunct="1"/>
            <a:r>
              <a:rPr lang="en-US" altLang="en-US" sz="2400" b="1" i="1">
                <a:solidFill>
                  <a:srgbClr val="C00000"/>
                </a:solidFill>
              </a:rPr>
              <a:t>Facial Expressions</a:t>
            </a:r>
          </a:p>
          <a:p>
            <a:pPr lvl="1" eaLnBrk="1" hangingPunct="1"/>
            <a:r>
              <a:rPr lang="en-US" altLang="en-US" sz="2400" b="1" i="1">
                <a:solidFill>
                  <a:srgbClr val="C00000"/>
                </a:solidFill>
              </a:rPr>
              <a:t>Eye contact</a:t>
            </a:r>
          </a:p>
          <a:p>
            <a:pPr lvl="1" eaLnBrk="1" hangingPunct="1"/>
            <a:r>
              <a:rPr lang="en-US" altLang="en-US" sz="2400" b="1" i="1">
                <a:solidFill>
                  <a:srgbClr val="C00000"/>
                </a:solidFill>
              </a:rPr>
              <a:t>Gestures</a:t>
            </a:r>
          </a:p>
          <a:p>
            <a:pPr lvl="1" eaLnBrk="1" hangingPunct="1"/>
            <a:r>
              <a:rPr lang="en-US" altLang="en-US" sz="2400" b="1" i="1">
                <a:solidFill>
                  <a:srgbClr val="C00000"/>
                </a:solidFill>
              </a:rPr>
              <a:t>Postures</a:t>
            </a:r>
          </a:p>
          <a:p>
            <a:pPr lvl="1" eaLnBrk="1" hangingPunct="1"/>
            <a:r>
              <a:rPr lang="en-US" altLang="en-US" sz="2400" b="1" i="1">
                <a:solidFill>
                  <a:srgbClr val="C00000"/>
                </a:solidFill>
              </a:rPr>
              <a:t>Appearance</a:t>
            </a:r>
          </a:p>
          <a:p>
            <a:pPr lvl="1" eaLnBrk="1" hangingPunct="1"/>
            <a:r>
              <a:rPr lang="en-US" altLang="en-US" sz="2400" b="1" i="1">
                <a:solidFill>
                  <a:srgbClr val="C00000"/>
                </a:solidFill>
              </a:rPr>
              <a:t>Use of Space</a:t>
            </a:r>
          </a:p>
          <a:p>
            <a:pPr lvl="1" eaLnBrk="1" hangingPunct="1"/>
            <a:r>
              <a:rPr lang="en-US" altLang="en-US" sz="2400" b="1" i="1">
                <a:solidFill>
                  <a:srgbClr val="C00000"/>
                </a:solidFill>
              </a:rPr>
              <a:t>Voice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9E2E812-1740-4B9A-88EE-8C78ABB52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Facial Expressions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FED53CB-78B2-490D-88C7-2B7061700C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Facial Expressions can indicate emotions like:</a:t>
            </a:r>
          </a:p>
          <a:p>
            <a:pPr eaLnBrk="1" hangingPunct="1"/>
            <a:r>
              <a:rPr lang="en-US" altLang="en-US" sz="2800" b="1" i="1">
                <a:solidFill>
                  <a:srgbClr val="C00000"/>
                </a:solidFill>
              </a:rPr>
              <a:t>Anger</a:t>
            </a:r>
          </a:p>
          <a:p>
            <a:pPr eaLnBrk="1" hangingPunct="1"/>
            <a:r>
              <a:rPr lang="en-US" altLang="en-US" sz="2800" b="1" i="1">
                <a:solidFill>
                  <a:srgbClr val="C00000"/>
                </a:solidFill>
              </a:rPr>
              <a:t>Excitement</a:t>
            </a:r>
          </a:p>
          <a:p>
            <a:pPr eaLnBrk="1" hangingPunct="1"/>
            <a:r>
              <a:rPr lang="en-US" altLang="en-US" sz="2800" b="1" i="1">
                <a:solidFill>
                  <a:srgbClr val="C00000"/>
                </a:solidFill>
              </a:rPr>
              <a:t>Shyness</a:t>
            </a:r>
          </a:p>
          <a:p>
            <a:pPr eaLnBrk="1" hangingPunct="1"/>
            <a:r>
              <a:rPr lang="en-US" altLang="en-US" sz="2800" b="1" i="1">
                <a:solidFill>
                  <a:srgbClr val="C00000"/>
                </a:solidFill>
              </a:rPr>
              <a:t>Depression</a:t>
            </a:r>
          </a:p>
          <a:p>
            <a:pPr eaLnBrk="1" hangingPunct="1"/>
            <a:r>
              <a:rPr lang="en-US" altLang="en-US" sz="2800" b="1" i="1">
                <a:solidFill>
                  <a:srgbClr val="C00000"/>
                </a:solidFill>
              </a:rPr>
              <a:t>Boredom</a:t>
            </a:r>
          </a:p>
          <a:p>
            <a:pPr eaLnBrk="1" hangingPunct="1"/>
            <a:r>
              <a:rPr lang="en-US" altLang="en-US" sz="2800" b="1" i="1">
                <a:solidFill>
                  <a:srgbClr val="C00000"/>
                </a:solidFill>
              </a:rPr>
              <a:t>Hatred</a:t>
            </a:r>
          </a:p>
          <a:p>
            <a:pPr eaLnBrk="1" hangingPunct="1"/>
            <a:r>
              <a:rPr lang="en-US" altLang="en-US" sz="2800" b="1" i="1">
                <a:solidFill>
                  <a:srgbClr val="C00000"/>
                </a:solidFill>
              </a:rPr>
              <a:t>Happiness, etc.</a:t>
            </a:r>
          </a:p>
          <a:p>
            <a:pPr eaLnBrk="1" hangingPunct="1"/>
            <a:endParaRPr lang="en-US" altLang="en-US" sz="2800" b="1" i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http://www.tpub.com/content/draftsman/14263/img/14263_203_1.jpg">
            <a:extLst>
              <a:ext uri="{FF2B5EF4-FFF2-40B4-BE49-F238E27FC236}">
                <a16:creationId xmlns:a16="http://schemas.microsoft.com/office/drawing/2014/main" id="{D96ADB3D-6695-4603-9E8F-368D4FD40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0"/>
            <a:ext cx="8077200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7ABE4B8-3C97-47E9-9E0C-EE54EA7B27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Facial Expressions</a:t>
            </a:r>
          </a:p>
        </p:txBody>
      </p:sp>
      <p:pic>
        <p:nvPicPr>
          <p:cNvPr id="7171" name="Picture 5" descr="http://www.radford.edu/~jaspelme/121/6%20facial%20expressions%20(2).JPG">
            <a:extLst>
              <a:ext uri="{FF2B5EF4-FFF2-40B4-BE49-F238E27FC236}">
                <a16:creationId xmlns:a16="http://schemas.microsoft.com/office/drawing/2014/main" id="{CB07D77D-4248-402B-BFF6-F61E9761C3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143000"/>
            <a:ext cx="8077200" cy="5705475"/>
          </a:xfr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1">
            <a:extLst>
              <a:ext uri="{FF2B5EF4-FFF2-40B4-BE49-F238E27FC236}">
                <a16:creationId xmlns:a16="http://schemas.microsoft.com/office/drawing/2014/main" id="{94D252DD-5F8F-4477-826D-C6A508D634A2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8195" name="Picture 2" descr="http://t1.gstatic.com/images?q=tbn:ANd9GcQXGYcArJ5-_tsPLMv5lVM8zMTZxcaRePLmMd5KVw3_RXMemFHh">
            <a:hlinkClick r:id="rId2"/>
            <a:extLst>
              <a:ext uri="{FF2B5EF4-FFF2-40B4-BE49-F238E27FC236}">
                <a16:creationId xmlns:a16="http://schemas.microsoft.com/office/drawing/2014/main" id="{BFA92161-6B29-4204-A87A-3C673335A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457200"/>
            <a:ext cx="836612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1">
            <a:extLst>
              <a:ext uri="{FF2B5EF4-FFF2-40B4-BE49-F238E27FC236}">
                <a16:creationId xmlns:a16="http://schemas.microsoft.com/office/drawing/2014/main" id="{3FDBCBCD-EB84-48C2-AF0F-200D562E447D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9219" name="AutoShape 2">
            <a:hlinkClick r:id="rId2"/>
            <a:extLst>
              <a:ext uri="{FF2B5EF4-FFF2-40B4-BE49-F238E27FC236}">
                <a16:creationId xmlns:a16="http://schemas.microsoft.com/office/drawing/2014/main" id="{903CA4BA-EDEF-480B-91E6-246F498B71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575" y="-1943100"/>
            <a:ext cx="4048125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9220" name="AutoShape 4">
            <a:hlinkClick r:id="rId2"/>
            <a:extLst>
              <a:ext uri="{FF2B5EF4-FFF2-40B4-BE49-F238E27FC236}">
                <a16:creationId xmlns:a16="http://schemas.microsoft.com/office/drawing/2014/main" id="{4D821047-9282-4E10-AD75-EDCFE08A73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575" y="-1943100"/>
            <a:ext cx="4048125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9221" name="AutoShape 6">
            <a:hlinkClick r:id="rId2"/>
            <a:extLst>
              <a:ext uri="{FF2B5EF4-FFF2-40B4-BE49-F238E27FC236}">
                <a16:creationId xmlns:a16="http://schemas.microsoft.com/office/drawing/2014/main" id="{94C74B6E-4643-488A-9645-CBF9D3826F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575" y="-1943100"/>
            <a:ext cx="4048125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9222" name="AutoShape 8">
            <a:hlinkClick r:id="rId2"/>
            <a:extLst>
              <a:ext uri="{FF2B5EF4-FFF2-40B4-BE49-F238E27FC236}">
                <a16:creationId xmlns:a16="http://schemas.microsoft.com/office/drawing/2014/main" id="{E9D5A398-1EF1-433A-93B5-17871DEBA9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575" y="-1943100"/>
            <a:ext cx="4048125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9223" name="AutoShape 10">
            <a:hlinkClick r:id="rId2"/>
            <a:extLst>
              <a:ext uri="{FF2B5EF4-FFF2-40B4-BE49-F238E27FC236}">
                <a16:creationId xmlns:a16="http://schemas.microsoft.com/office/drawing/2014/main" id="{9B122CE5-203D-46AD-AE5D-3A73DDD3A6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575" y="-1943100"/>
            <a:ext cx="4048125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pic>
        <p:nvPicPr>
          <p:cNvPr id="9224" name="Picture 12" descr="https://encrypted-tbn0.gstatic.com/images?q=tbn:ANd9GcQFLB9WGYjqUOilpYzZG5kX3DWac5MLP9OHdX5Vhs6vBHQ9G3QYEw">
            <a:hlinkClick r:id="rId3"/>
            <a:extLst>
              <a:ext uri="{FF2B5EF4-FFF2-40B4-BE49-F238E27FC236}">
                <a16:creationId xmlns:a16="http://schemas.microsoft.com/office/drawing/2014/main" id="{2808F836-79DB-457A-BFD1-686EEA4F8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633413"/>
            <a:ext cx="8969375" cy="546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1">
            <a:extLst>
              <a:ext uri="{FF2B5EF4-FFF2-40B4-BE49-F238E27FC236}">
                <a16:creationId xmlns:a16="http://schemas.microsoft.com/office/drawing/2014/main" id="{369B41DD-EEB0-4263-9D9C-0DA8DFF0D51D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10243" name="Picture 2" descr="http://ih1.redbubble.net/image.7705219.9956/flat,220x200,075,t.jpg">
            <a:hlinkClick r:id="rId2"/>
            <a:extLst>
              <a:ext uri="{FF2B5EF4-FFF2-40B4-BE49-F238E27FC236}">
                <a16:creationId xmlns:a16="http://schemas.microsoft.com/office/drawing/2014/main" id="{E387B4FD-5089-4A93-979D-7D8648CCD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8600"/>
            <a:ext cx="6675438" cy="606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C5C98DD-7423-47E3-A235-2468CA499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EYE CONTACT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5E509E1-2174-42A6-ACCE-B00412308E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eyes are called ‘the windows of the soul’</a:t>
            </a:r>
          </a:p>
          <a:p>
            <a:pPr eaLnBrk="1" hangingPunct="1"/>
            <a:r>
              <a:rPr lang="en-US" altLang="en-US"/>
              <a:t>Having direct eye contact shows honesty and confidence</a:t>
            </a:r>
          </a:p>
          <a:p>
            <a:pPr eaLnBrk="1" hangingPunct="1"/>
            <a:r>
              <a:rPr lang="en-US" altLang="en-US"/>
              <a:t>Avoiding eye contact shows dishonesty</a:t>
            </a:r>
          </a:p>
          <a:p>
            <a:pPr eaLnBrk="1" hangingPunct="1"/>
            <a:r>
              <a:rPr lang="en-US" altLang="en-US"/>
              <a:t>Look directly at the audience while giving presentations.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048064E-C9E4-4296-A33E-CE53DB6848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8915A11-2DC2-44A1-B013-1F324C2A51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12292" name="Picture 5" descr="http://www.nationalphotoawards.com/i/Copyright__Seeing_EYE_2_EYE_Mesha_Bevilacqua_1.jpg">
            <a:extLst>
              <a:ext uri="{FF2B5EF4-FFF2-40B4-BE49-F238E27FC236}">
                <a16:creationId xmlns:a16="http://schemas.microsoft.com/office/drawing/2014/main" id="{90F4665D-9570-4C38-8890-879C7A78A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46038"/>
            <a:ext cx="8607425" cy="597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s://encrypted-tbn3.gstatic.com/images?q=tbn:ANd9GcRPHJEBs36Go1xlc1owRz84gQiWrGKx_eC2wWz7KLDJVNkGYtcB">
            <a:hlinkClick r:id="rId2"/>
            <a:extLst>
              <a:ext uri="{FF2B5EF4-FFF2-40B4-BE49-F238E27FC236}">
                <a16:creationId xmlns:a16="http://schemas.microsoft.com/office/drawing/2014/main" id="{F295709E-C8E2-4354-A3EF-5E6D0F0D1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57150"/>
            <a:ext cx="8767762" cy="771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s://encrypted-tbn0.gstatic.com/images?q=tbn:ANd9GcRQ_K7jEWBXAusk8dKXhBePQOk1NcGDNb11dklsTpPoLx4vr3vqLA">
            <a:hlinkClick r:id="rId2"/>
            <a:extLst>
              <a:ext uri="{FF2B5EF4-FFF2-40B4-BE49-F238E27FC236}">
                <a16:creationId xmlns:a16="http://schemas.microsoft.com/office/drawing/2014/main" id="{986FF0AD-B520-4CAE-8B97-2F1DC8D31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65138"/>
            <a:ext cx="8153400" cy="540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CBBE857-EED7-45A8-943F-B586EB9BEC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GESTURES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E8726D7-33A3-4D18-85B3-E89C4B37B1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Gestures are movements of arms, hands and head.</a:t>
            </a:r>
          </a:p>
          <a:p>
            <a:pPr eaLnBrk="1" hangingPunct="1"/>
            <a:r>
              <a:rPr lang="en-US" altLang="en-US" sz="2800"/>
              <a:t>The movement of the hands is most important</a:t>
            </a:r>
          </a:p>
          <a:p>
            <a:pPr eaLnBrk="1" hangingPunct="1"/>
            <a:r>
              <a:rPr lang="en-US" altLang="en-US" sz="2800"/>
              <a:t>Many of these movements change their meaning in different cultures.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 descr="http://www.sing.co.jp/manabi/eigo/photos/gestures.gif">
            <a:extLst>
              <a:ext uri="{FF2B5EF4-FFF2-40B4-BE49-F238E27FC236}">
                <a16:creationId xmlns:a16="http://schemas.microsoft.com/office/drawing/2014/main" id="{3A50F9F9-2AFF-481B-8605-C1A9D6485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8686800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ttp://christianameng220.wikispaces.com/file/view/silent.gif/263612136/383x253/silent.gif">
            <a:hlinkClick r:id="rId2"/>
            <a:extLst>
              <a:ext uri="{FF2B5EF4-FFF2-40B4-BE49-F238E27FC236}">
                <a16:creationId xmlns:a16="http://schemas.microsoft.com/office/drawing/2014/main" id="{0DD27FE9-659D-4E9A-8D36-D64FC9ED3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457200"/>
            <a:ext cx="83058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2B839C89-A5D1-40EC-96F2-80951326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D943CD37-DD1A-42F8-BDFC-3FDD65185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18436" name="Picture 2" descr="http://blog.deiricmccann.com/wp-content/uploads/2011/07/iStock_000003523709XSmall-Negative-Gestures.jpg">
            <a:hlinkClick r:id="rId2"/>
            <a:extLst>
              <a:ext uri="{FF2B5EF4-FFF2-40B4-BE49-F238E27FC236}">
                <a16:creationId xmlns:a16="http://schemas.microsoft.com/office/drawing/2014/main" id="{16248019-D683-4F5D-8A24-87A8640FE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" y="381000"/>
            <a:ext cx="8604250" cy="574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E4FB372B-ED2D-4A83-AF0B-A809DC7FF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19459" name="Picture 5" descr="http://www.jsmcelvery.com/photos/2002/road/somerville/som02vangilder2.jpg">
            <a:extLst>
              <a:ext uri="{FF2B5EF4-FFF2-40B4-BE49-F238E27FC236}">
                <a16:creationId xmlns:a16="http://schemas.microsoft.com/office/drawing/2014/main" id="{2978223A-C005-4669-BCDE-C6E320C838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6400" y="0"/>
            <a:ext cx="5486400" cy="6858000"/>
          </a:xfr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8">
            <a:extLst>
              <a:ext uri="{FF2B5EF4-FFF2-40B4-BE49-F238E27FC236}">
                <a16:creationId xmlns:a16="http://schemas.microsoft.com/office/drawing/2014/main" id="{11B5FB14-C403-49D8-9002-0A6A2DF8EC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20483" name="Picture 7" descr="The image “http://newsimg.bbc.co.uk/media/images/41353000/jpg/_41353114_sthalekar203.jpg” cannot be displayed, because it contains errors.">
            <a:extLst>
              <a:ext uri="{FF2B5EF4-FFF2-40B4-BE49-F238E27FC236}">
                <a16:creationId xmlns:a16="http://schemas.microsoft.com/office/drawing/2014/main" id="{1B616912-7A69-4101-B0F3-194AE9ECE8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533400"/>
            <a:ext cx="6629400" cy="5943600"/>
          </a:xfr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6197A830-CDD3-4701-B5B8-873130072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21507" name="Picture 2" descr="C:\Users\Dell\Desktop\slide-25-728.jpg">
            <a:extLst>
              <a:ext uri="{FF2B5EF4-FFF2-40B4-BE49-F238E27FC236}">
                <a16:creationId xmlns:a16="http://schemas.microsoft.com/office/drawing/2014/main" id="{744D93CC-F89D-48E4-88F5-69146F00C7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52400"/>
            <a:ext cx="8605838" cy="6453188"/>
          </a:xfr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396DAE87-B658-404D-9E8D-1495DD16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22531" name="Picture 2" descr="C:\Users\Dell\Desktop\slide-27-728.jpg">
            <a:extLst>
              <a:ext uri="{FF2B5EF4-FFF2-40B4-BE49-F238E27FC236}">
                <a16:creationId xmlns:a16="http://schemas.microsoft.com/office/drawing/2014/main" id="{0D06BC16-8319-4392-A578-FB31F05B49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8950" y="228600"/>
            <a:ext cx="8640763" cy="6480175"/>
          </a:xfr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273189D0-81FC-4AD6-A269-ABA1E511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23555" name="Picture 2" descr="C:\Users\Dell\Desktop\slide-28-728.jpg">
            <a:extLst>
              <a:ext uri="{FF2B5EF4-FFF2-40B4-BE49-F238E27FC236}">
                <a16:creationId xmlns:a16="http://schemas.microsoft.com/office/drawing/2014/main" id="{92E1CE71-5937-42FA-8A47-60CE32599E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8288" y="0"/>
            <a:ext cx="8875712" cy="6656388"/>
          </a:xfr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379B2E3-24B1-455E-BBDA-7913A30AD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POSTURE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658444E-1B3F-41AA-9C9D-2F6249AFC5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Posture is an important part of the general impression we make on others.</a:t>
            </a:r>
          </a:p>
          <a:p>
            <a:pPr eaLnBrk="1" hangingPunct="1"/>
            <a:r>
              <a:rPr lang="en-US" altLang="en-US"/>
              <a:t>Our posture shows our attitudes and emotions.</a:t>
            </a:r>
          </a:p>
          <a:p>
            <a:pPr eaLnBrk="1" hangingPunct="1"/>
            <a:r>
              <a:rPr lang="en-US" altLang="en-US"/>
              <a:t>Our posture should be natural.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http://www.sptny.com/blog/wp-content/uploads/2013/09/Standing-postures.jpeg">
            <a:hlinkClick r:id="rId2"/>
            <a:extLst>
              <a:ext uri="{FF2B5EF4-FFF2-40B4-BE49-F238E27FC236}">
                <a16:creationId xmlns:a16="http://schemas.microsoft.com/office/drawing/2014/main" id="{A29F31A3-27F1-49F6-80D8-0B04ACB5F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381000"/>
            <a:ext cx="8956675" cy="632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https://encrypted-tbn2.gstatic.com/images?q=tbn:ANd9GcRgyJnxDc0SHKxCWVIPnTj-dqafMpvjLHeDjkcebbZOOtOgRjWvTg">
            <a:hlinkClick r:id="rId2"/>
            <a:extLst>
              <a:ext uri="{FF2B5EF4-FFF2-40B4-BE49-F238E27FC236}">
                <a16:creationId xmlns:a16="http://schemas.microsoft.com/office/drawing/2014/main" id="{8CA65D62-CDAE-49A0-B9D1-3EE38951A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304800"/>
            <a:ext cx="855345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http://t3.gstatic.com/images?q=tbn:ANd9GcSM5jXzobYJnz6lyBB0Ko5p_YLN4RH2WWTZIyDvB8xS_faXx7-X4A">
            <a:hlinkClick r:id="rId2"/>
            <a:extLst>
              <a:ext uri="{FF2B5EF4-FFF2-40B4-BE49-F238E27FC236}">
                <a16:creationId xmlns:a16="http://schemas.microsoft.com/office/drawing/2014/main" id="{D6816BB0-3636-41FE-BB6A-7EF669EBF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98425"/>
            <a:ext cx="8867775" cy="592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4" descr="http://t3.gstatic.com/images?q=tbn:ANd9GcQT_b95rqWoatvvfBv2z1xgvE9X13SCqTHwlBz4P-QkRtUKZGCX">
            <a:hlinkClick r:id="rId2"/>
            <a:extLst>
              <a:ext uri="{FF2B5EF4-FFF2-40B4-BE49-F238E27FC236}">
                <a16:creationId xmlns:a16="http://schemas.microsoft.com/office/drawing/2014/main" id="{A733FD3A-0EAE-48E5-8A70-D2FC82DFE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228600"/>
            <a:ext cx="8785225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F87D452-26BA-405C-9853-397EB043AD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Appearance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EFA54FE-2AD2-4743-8B3C-1E3CEDFA58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By appearance we mean choice of clothes, cosmetics etc.</a:t>
            </a:r>
          </a:p>
          <a:p>
            <a:pPr eaLnBrk="1" hangingPunct="1"/>
            <a:r>
              <a:rPr lang="en-US" altLang="en-US"/>
              <a:t>A well dressed person always gets better treatment than a badly dressed one.</a:t>
            </a:r>
          </a:p>
          <a:p>
            <a:pPr eaLnBrk="1" hangingPunct="1"/>
            <a:r>
              <a:rPr lang="en-US" altLang="en-US"/>
              <a:t>The way we dress and look tells a lot about our mental make-up, attitude and emotional status.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8395B604-02F5-4C92-B6EC-FC145E6211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30723" name="Picture 5" descr="http://www.esikaworld.com/images/pg37.jpg">
            <a:extLst>
              <a:ext uri="{FF2B5EF4-FFF2-40B4-BE49-F238E27FC236}">
                <a16:creationId xmlns:a16="http://schemas.microsoft.com/office/drawing/2014/main" id="{F88AFD10-FC56-41B5-B25A-F00D10B999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304800"/>
            <a:ext cx="4191000" cy="6553200"/>
          </a:xfr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>
            <a:extLst>
              <a:ext uri="{FF2B5EF4-FFF2-40B4-BE49-F238E27FC236}">
                <a16:creationId xmlns:a16="http://schemas.microsoft.com/office/drawing/2014/main" id="{569F99D7-2900-4D72-8F56-85A592CA49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31747" name="Picture 5" descr="http://www.waweddings.com.au/directory/brittons/images/c3.jpg">
            <a:extLst>
              <a:ext uri="{FF2B5EF4-FFF2-40B4-BE49-F238E27FC236}">
                <a16:creationId xmlns:a16="http://schemas.microsoft.com/office/drawing/2014/main" id="{3CCF4A4A-7004-4517-8A8B-71A6916AD58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228600"/>
            <a:ext cx="4876800" cy="6629400"/>
          </a:xfr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895D296-D2A3-44A8-B6FE-B2A9D1465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OF SPACE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CB734E1-089F-4966-A476-49331A00F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229600" cy="4525963"/>
          </a:xfrm>
        </p:spPr>
        <p:txBody>
          <a:bodyPr/>
          <a:lstStyle/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Intimate zone—6’’—18”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Personal zone—18”--48”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Social zone—4ft—12ft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Public zone—beyond 12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2">
            <a:extLst>
              <a:ext uri="{FF2B5EF4-FFF2-40B4-BE49-F238E27FC236}">
                <a16:creationId xmlns:a16="http://schemas.microsoft.com/office/drawing/2014/main" id="{84DB7FC3-EBD1-464F-AE84-4A9D399921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Intimate Zone 6”—18”</a:t>
            </a:r>
          </a:p>
        </p:txBody>
      </p:sp>
      <p:pic>
        <p:nvPicPr>
          <p:cNvPr id="33795" name="Picture 10" descr="http://www.dlps.co.uk/images/directlife/Mother%20and%20child.gif">
            <a:extLst>
              <a:ext uri="{FF2B5EF4-FFF2-40B4-BE49-F238E27FC236}">
                <a16:creationId xmlns:a16="http://schemas.microsoft.com/office/drawing/2014/main" id="{B1FB7C80-A1DB-4C9D-B727-C0D1A6617B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1219200"/>
            <a:ext cx="6096000" cy="5410200"/>
          </a:xfr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" descr="The image “http://files.ruraledu.org/images/prfhblkd.jpg” cannot be displayed, because it contains errors.">
            <a:extLst>
              <a:ext uri="{FF2B5EF4-FFF2-40B4-BE49-F238E27FC236}">
                <a16:creationId xmlns:a16="http://schemas.microsoft.com/office/drawing/2014/main" id="{AC5CE2D5-A5A4-4608-9A0A-31376463A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95400"/>
            <a:ext cx="65532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Rectangle 4">
            <a:extLst>
              <a:ext uri="{FF2B5EF4-FFF2-40B4-BE49-F238E27FC236}">
                <a16:creationId xmlns:a16="http://schemas.microsoft.com/office/drawing/2014/main" id="{5BAD4DE1-38FF-451D-B024-9108D86E1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Personal Zone—18”—48”</a:t>
            </a:r>
          </a:p>
        </p:txBody>
      </p:sp>
      <p:sp>
        <p:nvSpPr>
          <p:cNvPr id="34820" name="Rectangle 5">
            <a:extLst>
              <a:ext uri="{FF2B5EF4-FFF2-40B4-BE49-F238E27FC236}">
                <a16:creationId xmlns:a16="http://schemas.microsoft.com/office/drawing/2014/main" id="{25C8B22F-DD71-4D58-921B-FAA40D19B0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5" descr="http://www.phdsymposium2004.upc.es/archivos/Speeches%203.jpg">
            <a:extLst>
              <a:ext uri="{FF2B5EF4-FFF2-40B4-BE49-F238E27FC236}">
                <a16:creationId xmlns:a16="http://schemas.microsoft.com/office/drawing/2014/main" id="{DB92A9DD-DC2F-4AA9-B107-B8526FAC1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990600"/>
            <a:ext cx="6943725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Rectangle 6">
            <a:extLst>
              <a:ext uri="{FF2B5EF4-FFF2-40B4-BE49-F238E27FC236}">
                <a16:creationId xmlns:a16="http://schemas.microsoft.com/office/drawing/2014/main" id="{52BE805E-4C03-4D3E-A8A0-614537E2E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Social Zone-4ft.—12ft.</a:t>
            </a:r>
          </a:p>
        </p:txBody>
      </p:sp>
      <p:sp>
        <p:nvSpPr>
          <p:cNvPr id="35844" name="Rectangle 7">
            <a:extLst>
              <a:ext uri="{FF2B5EF4-FFF2-40B4-BE49-F238E27FC236}">
                <a16:creationId xmlns:a16="http://schemas.microsoft.com/office/drawing/2014/main" id="{DF29BB3A-46A0-4CE7-A830-8BABC5DFD4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3" descr="http://www.nasa.gov/centers/kennedy/images/content/68057main_speakers-bureau-1.jpg">
            <a:extLst>
              <a:ext uri="{FF2B5EF4-FFF2-40B4-BE49-F238E27FC236}">
                <a16:creationId xmlns:a16="http://schemas.microsoft.com/office/drawing/2014/main" id="{B9402B13-7260-4240-B12F-E71F8446D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143000"/>
            <a:ext cx="73914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Rectangle 4">
            <a:extLst>
              <a:ext uri="{FF2B5EF4-FFF2-40B4-BE49-F238E27FC236}">
                <a16:creationId xmlns:a16="http://schemas.microsoft.com/office/drawing/2014/main" id="{9AACB0AA-8220-4394-8189-79B6C471D89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Public Zone—beyond 12 ft.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64107F9-643D-4592-BCB0-6EFB67CA78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IMPORTANCE OF BODY LANGUAGE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E161D7EF-5090-4BC0-9FB5-FD80F168BD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Practically all the judgments we make are generally based on non-verbal comm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We look at people’s faces first, and then listen to their voices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Body language provides 55% of the force of any response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93DCE18B-719F-41C5-B13B-CFA6B46DA4D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“The most important thing in communication is hearing what isn’t said”.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B109DC14-8744-46DF-87F3-50E9EB5F769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12E43690-9707-4676-915A-075DADCFE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2B7444E-2FDF-4226-A36B-B2EA6148E2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                 </a:t>
            </a:r>
          </a:p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                      </a:t>
            </a:r>
            <a:r>
              <a:rPr lang="en-US" altLang="en-US" b="1"/>
              <a:t>THANK YOU</a:t>
            </a:r>
          </a:p>
          <a:p>
            <a:pPr eaLnBrk="1" hangingPunct="1">
              <a:buFontTx/>
              <a:buNone/>
            </a:pPr>
            <a:endParaRPr lang="en-US" altLang="en-US" b="1"/>
          </a:p>
          <a:p>
            <a:pPr eaLnBrk="1" hangingPunct="1">
              <a:buFontTx/>
              <a:buNone/>
            </a:pPr>
            <a:endParaRPr lang="en-US" altLang="en-US" b="1"/>
          </a:p>
          <a:p>
            <a:pPr eaLnBrk="1" hangingPunct="1">
              <a:buFontTx/>
              <a:buNone/>
            </a:pPr>
            <a:endParaRPr lang="en-US" altLang="en-US" b="1"/>
          </a:p>
          <a:p>
            <a:pPr eaLnBrk="1" hangingPunct="1">
              <a:buFontTx/>
              <a:buNone/>
            </a:pPr>
            <a:r>
              <a:rPr lang="en-US" altLang="en-US" b="1"/>
              <a:t>                                          </a:t>
            </a:r>
            <a:endParaRPr lang="en-US" altLang="en-US" i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CEB9A5D3-98B8-4FE2-8289-E91D8F5D7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37E1CD93-0A21-4A1D-96E2-4FCF69164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</p:txBody>
      </p:sp>
      <p:pic>
        <p:nvPicPr>
          <p:cNvPr id="40964" name="Picture 2" descr="http://yogahome.net/wp-content/uploads/2011/09/proper-sitting-posturejpg-af2cd4eb657babed.jpg">
            <a:hlinkClick r:id="rId2"/>
            <a:extLst>
              <a:ext uri="{FF2B5EF4-FFF2-40B4-BE49-F238E27FC236}">
                <a16:creationId xmlns:a16="http://schemas.microsoft.com/office/drawing/2014/main" id="{9EE1740A-4319-47C5-84CD-E16E4B3C8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1872074A-D00E-420B-9137-01E1BF3D2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F367C558-B22C-4C34-98A6-A25D13EF4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41988" name="Picture 2" descr="http://admin.drhealth.md/wp-content/uploads/Importance-Of-Posture.jpg">
            <a:hlinkClick r:id="rId2"/>
            <a:extLst>
              <a:ext uri="{FF2B5EF4-FFF2-40B4-BE49-F238E27FC236}">
                <a16:creationId xmlns:a16="http://schemas.microsoft.com/office/drawing/2014/main" id="{8745F35E-F8E5-4241-B573-58A720C99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7200"/>
            <a:ext cx="7831138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48A16FF9-CA5B-4392-A6EC-0C4679F8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82581E80-D888-448F-A04F-490FF59C5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43012" name="Picture 2" descr="http://miami.mbs.ac.uk/Portals/0/Images/global.gestures.jpg">
            <a:hlinkClick r:id="rId2"/>
            <a:extLst>
              <a:ext uri="{FF2B5EF4-FFF2-40B4-BE49-F238E27FC236}">
                <a16:creationId xmlns:a16="http://schemas.microsoft.com/office/drawing/2014/main" id="{D651B2CB-4315-4DA0-BBDB-2E4B89DC9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31788"/>
            <a:ext cx="6248400" cy="652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62498D31-72FA-4FD4-8B12-E6122C031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D6135786-3BE4-4EE8-963F-BE3903D74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44036" name="Picture 2" descr="http://christianameng220.wikispaces.com/file/view/brain-hand-gestures.jpg/264093693/215x164/brain-hand-gestures.jpg">
            <a:hlinkClick r:id="rId2"/>
            <a:extLst>
              <a:ext uri="{FF2B5EF4-FFF2-40B4-BE49-F238E27FC236}">
                <a16:creationId xmlns:a16="http://schemas.microsoft.com/office/drawing/2014/main" id="{48C0453C-FEFB-490E-9FE6-1742AED3C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" y="457200"/>
            <a:ext cx="7491413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DBDDCD00-3AB2-439D-8275-146BF7114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CEF9DC9D-3A03-40FD-A1F4-05667F303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45060" name="Picture 2" descr="http://letopusa.files.wordpress.com/2012/01/eye-contact.jpg">
            <a:hlinkClick r:id="rId2"/>
            <a:extLst>
              <a:ext uri="{FF2B5EF4-FFF2-40B4-BE49-F238E27FC236}">
                <a16:creationId xmlns:a16="http://schemas.microsoft.com/office/drawing/2014/main" id="{8E79FB1A-EC53-41E8-9BD3-4248DFFF2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81000"/>
            <a:ext cx="59436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4E470983-F59A-45E9-8791-DE3EE2064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0C200CE3-604B-464D-8644-1A99C73B0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46084" name="Picture 2" descr="http://4.bp.blogspot.com/-4VIUFQzr6eE/T5pd2khzv4I/AAAAAAAAAJU/NluvcpsnpPM/s1600/56601-konkona-sen-sharma-looking-surprised.jpg">
            <a:hlinkClick r:id="rId2"/>
            <a:extLst>
              <a:ext uri="{FF2B5EF4-FFF2-40B4-BE49-F238E27FC236}">
                <a16:creationId xmlns:a16="http://schemas.microsoft.com/office/drawing/2014/main" id="{957380C2-60FE-4F6C-B52B-B056E938B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4300"/>
            <a:ext cx="7772400" cy="621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E83AE439-22A5-4CDB-83B5-20992229F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59DB9477-8C93-4D6C-80A5-0EDBFC788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47108" name="Picture 2" descr="https://encrypted-tbn0.gstatic.com/images?q=tbn:ANd9GcR9Un209WHi8mFSf0PvrOCOtFml5n5FdMyXP8zPxQtyzTPiAccc">
            <a:hlinkClick r:id="rId2"/>
            <a:extLst>
              <a:ext uri="{FF2B5EF4-FFF2-40B4-BE49-F238E27FC236}">
                <a16:creationId xmlns:a16="http://schemas.microsoft.com/office/drawing/2014/main" id="{C242076F-5FC6-44DC-A1D7-781B3F314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-58738"/>
            <a:ext cx="7970838" cy="673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9B9E61D3-C939-4768-A28F-9BF85684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947FD607-2446-4AB2-924A-7DC880B95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48132" name="Picture 2" descr="https://encrypted-tbn1.gstatic.com/images?q=tbn:ANd9GcQMXZoHvWth2wFTwJY4iKGL7wRIrN_IBFZ6LOkHOO61tM1PwRqH">
            <a:hlinkClick r:id="rId2"/>
            <a:extLst>
              <a:ext uri="{FF2B5EF4-FFF2-40B4-BE49-F238E27FC236}">
                <a16:creationId xmlns:a16="http://schemas.microsoft.com/office/drawing/2014/main" id="{6F60E426-3D5C-4F4C-AF01-83BEE94B9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57200"/>
            <a:ext cx="7032625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BF2BA7D5-9EFB-40A2-A324-D403FA54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A2A6F5F2-7DC1-46B0-B873-1F2623D64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49156" name="Picture 2" descr="https://encrypted-tbn2.gstatic.com/images?q=tbn:ANd9GcRnvuiF4Cu4PvV15tqX8FfY6D3pMGs96sDPkSkIBII4KhY6POqcxg">
            <a:hlinkClick r:id="rId2"/>
            <a:extLst>
              <a:ext uri="{FF2B5EF4-FFF2-40B4-BE49-F238E27FC236}">
                <a16:creationId xmlns:a16="http://schemas.microsoft.com/office/drawing/2014/main" id="{444AAC58-0823-4425-AFAF-BA3E4552B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04800"/>
            <a:ext cx="6715125" cy="633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054BC538-9F19-41D9-AE1B-7B11718F5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23BAA974-B4AB-49A6-9D73-516C2CFFF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50180" name="Picture 2" descr="http://www.buzzle.com/images/human-expressions/facial-expressions/fear-facial-expression.jpg">
            <a:hlinkClick r:id="rId2"/>
            <a:extLst>
              <a:ext uri="{FF2B5EF4-FFF2-40B4-BE49-F238E27FC236}">
                <a16:creationId xmlns:a16="http://schemas.microsoft.com/office/drawing/2014/main" id="{0B4D1105-552D-4E7E-AA0C-53D8C6EB8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152400"/>
            <a:ext cx="8894762" cy="591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4025C86C-23A2-4C6B-A99B-381F1F8FB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B2AE60E2-B053-4283-8A2C-888AC9E50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51204" name="Picture 2" descr="http://www.gazettenet.com/csp/mediapool/sites/dt.common.streams.StreamServer.cls%3FSTREAMOID%3D2Z0f2WT5pBd1lQHLEBr68c%24daE2N3K4ZzOUsqbU5sYviGl1M7yZySv88i5SW8%24h_WCsjLu883Ygn4B49Lvm9bPe2QeMKQdVeZmXF%249l%244uCZ8QDXhaHEp3rvzXRJFdy0KqPHLoMevcTLo3h8xh70Y6N_U_CryOsw6FTOdKL_jpQ-%26CONTENTTYPE%3Dimage/jpeg">
            <a:hlinkClick r:id="rId2"/>
            <a:extLst>
              <a:ext uri="{FF2B5EF4-FFF2-40B4-BE49-F238E27FC236}">
                <a16:creationId xmlns:a16="http://schemas.microsoft.com/office/drawing/2014/main" id="{DA929EBE-1536-4FCC-AAF9-C43342A01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457200"/>
            <a:ext cx="85852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A0FBA99A-F392-4186-8B35-D44C8AFD4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9122C39F-4414-46C6-ADAC-482AC124A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IN" altLang="en-US"/>
          </a:p>
          <a:p>
            <a:pPr algn="ctr"/>
            <a:endParaRPr lang="en-IN" altLang="en-US"/>
          </a:p>
          <a:p>
            <a:pPr algn="ctr">
              <a:buFontTx/>
              <a:buNone/>
            </a:pPr>
            <a:r>
              <a:rPr lang="en-IN" altLang="en-US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4">
      <a:dk1>
        <a:srgbClr val="000000"/>
      </a:dk1>
      <a:lt1>
        <a:srgbClr val="DEF6F1"/>
      </a:lt1>
      <a:dk2>
        <a:srgbClr val="000000"/>
      </a:dk2>
      <a:lt2>
        <a:srgbClr val="969696"/>
      </a:lt2>
      <a:accent1>
        <a:srgbClr val="FFFFFF"/>
      </a:accent1>
      <a:accent2>
        <a:srgbClr val="8DC6FF"/>
      </a:accent2>
      <a:accent3>
        <a:srgbClr val="ECFAF7"/>
      </a:accent3>
      <a:accent4>
        <a:srgbClr val="000000"/>
      </a:accent4>
      <a:accent5>
        <a:srgbClr val="FFFFFF"/>
      </a:accent5>
      <a:accent6>
        <a:srgbClr val="7FB3E7"/>
      </a:accent6>
      <a:hlink>
        <a:srgbClr val="0066CC"/>
      </a:hlink>
      <a:folHlink>
        <a:srgbClr val="00A8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333</Words>
  <Application>Microsoft Office PowerPoint</Application>
  <PresentationFormat>On-screen Show (4:3)</PresentationFormat>
  <Paragraphs>69</Paragraphs>
  <Slides>50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Default Design</vt:lpstr>
      <vt:lpstr>Non -Verbal Communication  (Body Language)</vt:lpstr>
      <vt:lpstr>What is non-verbal communication?</vt:lpstr>
      <vt:lpstr>What is Body Language?</vt:lpstr>
      <vt:lpstr>Facial Expressions</vt:lpstr>
      <vt:lpstr>PowerPoint Presentation</vt:lpstr>
      <vt:lpstr>Facial Expressions</vt:lpstr>
      <vt:lpstr>PowerPoint Presentation</vt:lpstr>
      <vt:lpstr>PowerPoint Presentation</vt:lpstr>
      <vt:lpstr>PowerPoint Presentation</vt:lpstr>
      <vt:lpstr>EYE CONTACT</vt:lpstr>
      <vt:lpstr>PowerPoint Presentation</vt:lpstr>
      <vt:lpstr>PowerPoint Presentation</vt:lpstr>
      <vt:lpstr>PowerPoint Presentation</vt:lpstr>
      <vt:lpstr>GESTURES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POSTURE</vt:lpstr>
      <vt:lpstr>PowerPoint Presentation</vt:lpstr>
      <vt:lpstr>PowerPoint Presentation</vt:lpstr>
      <vt:lpstr>PowerPoint Presentation</vt:lpstr>
      <vt:lpstr>PowerPoint Presentation</vt:lpstr>
      <vt:lpstr>Appearance</vt:lpstr>
      <vt:lpstr>PowerPoint Presentation</vt:lpstr>
      <vt:lpstr>PowerPoint Presentation</vt:lpstr>
      <vt:lpstr>USE OF SPACE</vt:lpstr>
      <vt:lpstr>Intimate Zone 6”—18”</vt:lpstr>
      <vt:lpstr>Personal Zone—18”—48”</vt:lpstr>
      <vt:lpstr>Social Zone-4ft.—12ft.</vt:lpstr>
      <vt:lpstr>Public Zone—beyond 12 ft.</vt:lpstr>
      <vt:lpstr>IMPORTANCE OF BODY LANGUAGE</vt:lpstr>
      <vt:lpstr>“The most important thing in communication is hearing what isn’t said”.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-Verbal Communication (Body Language)</dc:title>
  <dc:creator>Ashwin</dc:creator>
  <cp:lastModifiedBy>Anand Bodhale</cp:lastModifiedBy>
  <cp:revision>128</cp:revision>
  <dcterms:created xsi:type="dcterms:W3CDTF">2006-12-09T17:17:56Z</dcterms:created>
  <dcterms:modified xsi:type="dcterms:W3CDTF">2024-08-12T05:53:13Z</dcterms:modified>
</cp:coreProperties>
</file>