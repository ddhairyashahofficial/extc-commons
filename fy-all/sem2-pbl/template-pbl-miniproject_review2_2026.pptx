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Fira Sans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iwpM233IRgCF+vutqnnKRuFL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E4DD06BE-E33E-44DE-BB38-01E6AB116E1E}">
  <a:tblStyle styleId="{E4DD06BE-E33E-44DE-BB38-01E6AB116E1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8D4982F-BB56-4BF9-BC91-46109F0DE6C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49949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0395f8316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20395f8316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0395f831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0395f831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ec32c6c4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eec32c6c4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ec32c6c4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eec32c6c4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eec32c6c4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eec32c6c4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6" descr="A picture containing drawing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80328" y="93609"/>
            <a:ext cx="3783105" cy="86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6" descr="A close up of a sig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57469" y="93609"/>
            <a:ext cx="1313507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 rot="5400000">
            <a:off x="5722459" y="409320"/>
            <a:ext cx="702416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 rot="5400000">
            <a:off x="7421731" y="1406173"/>
            <a:ext cx="207493" cy="933304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945783" y="908720"/>
            <a:ext cx="7772400" cy="108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PBL – Project </a:t>
            </a:r>
            <a:endParaRPr sz="44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112108" y="2409832"/>
            <a:ext cx="10552670" cy="179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2800" b="1" dirty="0">
                <a:latin typeface="Fira Sans"/>
                <a:ea typeface="Fira Sans"/>
                <a:cs typeface="Fira Sans"/>
                <a:sym typeface="Fira Sans"/>
              </a:rPr>
              <a:t>FY  </a:t>
            </a:r>
            <a:r>
              <a:rPr lang="en-US" sz="2800" b="1" dirty="0" err="1" smtClean="0">
                <a:latin typeface="Fira Sans"/>
                <a:ea typeface="Fira Sans"/>
                <a:cs typeface="Fira Sans"/>
                <a:sym typeface="Fira Sans"/>
              </a:rPr>
              <a:t>B.Tech</a:t>
            </a:r>
            <a:r>
              <a:rPr lang="en-US" sz="2800" b="1" dirty="0" smtClean="0">
                <a:latin typeface="Fira Sans"/>
                <a:ea typeface="Fira Sans"/>
                <a:cs typeface="Fira Sans"/>
                <a:sym typeface="Fira Sans"/>
              </a:rPr>
              <a:t> ( </a:t>
            </a:r>
            <a:r>
              <a:rPr lang="en-US" sz="2800" b="1" dirty="0">
                <a:latin typeface="Fira Sans"/>
                <a:ea typeface="Fira Sans"/>
                <a:cs typeface="Fira Sans"/>
                <a:sym typeface="Fira Sans"/>
              </a:rPr>
              <a:t>COMP/ MECH/ EXTC/IT/EXCP/CCE/AIDS/RAI </a:t>
            </a:r>
            <a:r>
              <a:rPr lang="en-US" sz="2800" b="1" dirty="0" smtClean="0">
                <a:latin typeface="Fira Sans"/>
                <a:ea typeface="Fira Sans"/>
                <a:cs typeface="Fira Sans"/>
                <a:sym typeface="Fira Sans"/>
              </a:rPr>
              <a:t>/CSBS)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lang="en-US" sz="2800" b="1" dirty="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2800" b="1" dirty="0" smtClean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b="1" dirty="0">
                <a:latin typeface="Fira Sans"/>
                <a:ea typeface="Fira Sans"/>
                <a:cs typeface="Fira Sans"/>
                <a:sym typeface="Fira Sans"/>
              </a:rPr>
              <a:t>Semester  II ( </a:t>
            </a:r>
            <a:r>
              <a:rPr lang="en-US" sz="2800" b="1" dirty="0" smtClean="0">
                <a:latin typeface="Fira Sans"/>
                <a:ea typeface="Fira Sans"/>
                <a:cs typeface="Fira Sans"/>
                <a:sym typeface="Fira Sans"/>
              </a:rPr>
              <a:t>2025-26</a:t>
            </a:r>
            <a:r>
              <a:rPr lang="en-US" sz="3200" dirty="0" smtClean="0">
                <a:latin typeface="Fira Sans"/>
                <a:ea typeface="Fira Sans"/>
                <a:cs typeface="Fira Sans"/>
                <a:sym typeface="Fira Sans"/>
              </a:rPr>
              <a:t>)</a:t>
            </a:r>
            <a:endParaRPr sz="3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38300" y="4104861"/>
            <a:ext cx="9056204" cy="162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Names and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Roll Number of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members</a:t>
            </a:r>
            <a:endParaRPr sz="28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1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0395f8316a_0_6"/>
          <p:cNvSpPr txBox="1">
            <a:spLocks noGrp="1"/>
          </p:cNvSpPr>
          <p:nvPr>
            <p:ph type="ctrTitle"/>
          </p:nvPr>
        </p:nvSpPr>
        <p:spPr>
          <a:xfrm>
            <a:off x="1704475" y="1325388"/>
            <a:ext cx="9144000" cy="8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Theme chosen for Project 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20395f8316a_0_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99" name="Google Shape;99;g20395f8316a_0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0" name="Google Shape;100;g20395f8316a_0_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0395f8316a_0_0"/>
          <p:cNvSpPr txBox="1">
            <a:spLocks noGrp="1"/>
          </p:cNvSpPr>
          <p:nvPr>
            <p:ph type="ctrTitle"/>
          </p:nvPr>
        </p:nvSpPr>
        <p:spPr>
          <a:xfrm>
            <a:off x="1487488" y="76470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Need Statement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0395f8316a_0_0"/>
          <p:cNvSpPr txBox="1">
            <a:spLocks noGrp="1"/>
          </p:cNvSpPr>
          <p:nvPr>
            <p:ph type="subTitle" idx="1"/>
          </p:nvPr>
        </p:nvSpPr>
        <p:spPr>
          <a:xfrm>
            <a:off x="263352" y="1556792"/>
            <a:ext cx="11737304" cy="370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8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g20395f8316a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8" name="Google Shape;108;g20395f8316a_0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135560" y="476672"/>
            <a:ext cx="7680300" cy="93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423494" y="2372520"/>
            <a:ext cx="11084765" cy="3432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763"/>
              <a:buFont typeface="Noto Sans Symbols"/>
              <a:buChar char="⮚"/>
            </a:pPr>
            <a:r>
              <a:rPr lang="en-US" sz="5000">
                <a:latin typeface="Fira Sans"/>
                <a:ea typeface="Fira Sans"/>
                <a:cs typeface="Fira Sans"/>
                <a:sym typeface="Fira Sans"/>
              </a:rPr>
              <a:t> List  of objectives </a:t>
            </a:r>
            <a:endParaRPr/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763"/>
              <a:buFont typeface="Noto Sans Symbols"/>
              <a:buChar char="⮚"/>
            </a:pPr>
            <a:r>
              <a:rPr lang="en-US" sz="5000">
                <a:latin typeface="Fira Sans"/>
                <a:ea typeface="Fira Sans"/>
                <a:cs typeface="Fira Sans"/>
                <a:sym typeface="Fira Sans"/>
              </a:rPr>
              <a:t>Constraints</a:t>
            </a:r>
            <a:endParaRPr/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763"/>
              <a:buFont typeface="Noto Sans Symbols"/>
              <a:buChar char="⮚"/>
            </a:pPr>
            <a:r>
              <a:rPr lang="en-US" sz="5000">
                <a:latin typeface="Fira Sans"/>
                <a:ea typeface="Fira Sans"/>
                <a:cs typeface="Fira Sans"/>
                <a:sym typeface="Fira Sans"/>
              </a:rPr>
              <a:t>Functions</a:t>
            </a:r>
            <a:endParaRPr/>
          </a:p>
          <a:p>
            <a:pPr marL="457200" lvl="0" indent="-333629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763"/>
              <a:buFont typeface="Noto Sans Symbols"/>
              <a:buNone/>
            </a:pPr>
            <a:endParaRPr sz="50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3629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763"/>
              <a:buFont typeface="Noto Sans Symbols"/>
              <a:buNone/>
            </a:pPr>
            <a:endParaRPr sz="50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763"/>
              <a:buFont typeface="Noto Sans Symbols"/>
              <a:buChar char="⮚"/>
            </a:pPr>
            <a:r>
              <a:rPr lang="en-US" sz="5000">
                <a:latin typeface="Fira Sans"/>
                <a:ea typeface="Fira Sans"/>
                <a:cs typeface="Fira Sans"/>
                <a:sym typeface="Fira Sans"/>
              </a:rPr>
              <a:t>Final Problem Statement  </a:t>
            </a:r>
            <a:endParaRPr/>
          </a:p>
          <a:p>
            <a:pPr marL="457200" lvl="0" indent="-333629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7424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eec32c6c4d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Timeline </a:t>
            </a:r>
            <a:r>
              <a:rPr lang="en-US" sz="36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Chart </a:t>
            </a:r>
            <a:endParaRPr sz="36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eec32c6c4d_0_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" name="Google Shape;123;g1eec32c6c4d_0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4" name="Google Shape;124;g1eec32c6c4d_0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2095500" y="870775"/>
            <a:ext cx="7680300" cy="75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Conceptual Designs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423494" y="1772816"/>
            <a:ext cx="11084765" cy="403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US" sz="24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Rough Sketches / Model of possible solutions – 1 or 2 atleast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1559496" y="764704"/>
            <a:ext cx="10515600" cy="75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Literature Survey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839416" y="1700808"/>
            <a:ext cx="10515600" cy="505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Table of papers / Articles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40" name="Google Shape;140;p5"/>
          <p:cNvGraphicFramePr/>
          <p:nvPr>
            <p:extLst>
              <p:ext uri="{D42A27DB-BD31-4B8C-83A1-F6EECF244321}">
                <p14:modId xmlns:p14="http://schemas.microsoft.com/office/powerpoint/2010/main" val="322858926"/>
              </p:ext>
            </p:extLst>
          </p:nvPr>
        </p:nvGraphicFramePr>
        <p:xfrm>
          <a:off x="1271464" y="2564904"/>
          <a:ext cx="9850422" cy="731530"/>
        </p:xfrm>
        <a:graphic>
          <a:graphicData uri="http://schemas.openxmlformats.org/drawingml/2006/table">
            <a:tbl>
              <a:tblPr firstRow="1" bandRow="1">
                <a:noFill/>
                <a:tableStyleId>{E4DD06BE-E33E-44DE-BB38-01E6AB116E1E}</a:tableStyleId>
              </a:tblPr>
              <a:tblGrid>
                <a:gridCol w="1641737"/>
                <a:gridCol w="1641737"/>
                <a:gridCol w="1641737"/>
                <a:gridCol w="1641737"/>
                <a:gridCol w="1641737"/>
                <a:gridCol w="1641737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Title with year of Publication 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Authors 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Methodology/ </a:t>
                      </a:r>
                      <a:r>
                        <a:rPr lang="en-US" sz="1400" u="none" strike="noStrike" cap="none" dirty="0" err="1"/>
                        <a:t>Algoritham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Key Results / Findings  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Remarks ( Based on your understating)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Link for article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2095500" y="870775"/>
            <a:ext cx="7680300" cy="75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Block Diagram of Project 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423494" y="1772816"/>
            <a:ext cx="11084765" cy="403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/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Add Function / Need of each block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ec32c6c4d_0_12"/>
          <p:cNvSpPr txBox="1">
            <a:spLocks noGrp="1"/>
          </p:cNvSpPr>
          <p:nvPr>
            <p:ph type="title"/>
          </p:nvPr>
        </p:nvSpPr>
        <p:spPr>
          <a:xfrm>
            <a:off x="838200" y="914399"/>
            <a:ext cx="10515600" cy="77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Hardware </a:t>
            </a:r>
            <a:r>
              <a:rPr lang="en-US" sz="36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/ Software Requirements</a:t>
            </a:r>
            <a:endParaRPr sz="36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1eec32c6c4d_0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55" name="Google Shape;155;g1eec32c6c4d_0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6" name="Google Shape;156;g1eec32c6c4d_0_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Project Cost  Sheet 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body" idx="1"/>
          </p:nvPr>
        </p:nvSpPr>
        <p:spPr>
          <a:xfrm>
            <a:off x="838200" y="1412776"/>
            <a:ext cx="10515600" cy="476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63" name="Google Shape;16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graphicFrame>
        <p:nvGraphicFramePr>
          <p:cNvPr id="165" name="Google Shape;165;p19"/>
          <p:cNvGraphicFramePr/>
          <p:nvPr>
            <p:extLst>
              <p:ext uri="{D42A27DB-BD31-4B8C-83A1-F6EECF244321}">
                <p14:modId xmlns:p14="http://schemas.microsoft.com/office/powerpoint/2010/main" val="165408181"/>
              </p:ext>
            </p:extLst>
          </p:nvPr>
        </p:nvGraphicFramePr>
        <p:xfrm>
          <a:off x="1343472" y="2348880"/>
          <a:ext cx="9539877" cy="1483400"/>
        </p:xfrm>
        <a:graphic>
          <a:graphicData uri="http://schemas.openxmlformats.org/drawingml/2006/table">
            <a:tbl>
              <a:tblPr firstRow="1" bandRow="1">
                <a:noFill/>
                <a:tableStyleId>{18D4982F-BB56-4BF9-BC91-46109F0DE6CF}</a:tableStyleId>
              </a:tblPr>
              <a:tblGrid>
                <a:gridCol w="3179959"/>
                <a:gridCol w="3179959"/>
                <a:gridCol w="3179959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</a:rPr>
                        <a:t>Name of  Component 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</a:rPr>
                        <a:t>Specifications 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</a:rPr>
                        <a:t>Approximate cost 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Proposed </a:t>
            </a:r>
            <a:r>
              <a:rPr lang="en-US" sz="36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Circuit / Connection Diagram </a:t>
            </a:r>
            <a:endParaRPr sz="36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Work Completed till Date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Work To be completed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>
            <a:spLocks noGrp="1"/>
          </p:cNvSpPr>
          <p:nvPr>
            <p:ph type="body" idx="1"/>
          </p:nvPr>
        </p:nvSpPr>
        <p:spPr>
          <a:xfrm>
            <a:off x="838200" y="1340768"/>
            <a:ext cx="10515600" cy="483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Add photographs / Video link of your model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 sz="3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838200" y="1340768"/>
            <a:ext cx="10515600" cy="483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Additional results / Observations/ Limitations  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6" name="Google Shape;19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31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Results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838200" y="1340768"/>
            <a:ext cx="10515600" cy="483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aphicFrame>
        <p:nvGraphicFramePr>
          <p:cNvPr id="205" name="Google Shape;205;p24"/>
          <p:cNvGraphicFramePr/>
          <p:nvPr>
            <p:extLst>
              <p:ext uri="{D42A27DB-BD31-4B8C-83A1-F6EECF244321}">
                <p14:modId xmlns:p14="http://schemas.microsoft.com/office/powerpoint/2010/main" val="1250693512"/>
              </p:ext>
            </p:extLst>
          </p:nvPr>
        </p:nvGraphicFramePr>
        <p:xfrm>
          <a:off x="1127448" y="2060848"/>
          <a:ext cx="9433050" cy="1686590"/>
        </p:xfrm>
        <a:graphic>
          <a:graphicData uri="http://schemas.openxmlformats.org/drawingml/2006/table">
            <a:tbl>
              <a:tblPr firstRow="1" bandRow="1">
                <a:noFill/>
                <a:tableStyleId>{E4DD06BE-E33E-44DE-BB38-01E6AB116E1E}</a:tableStyleId>
              </a:tblPr>
              <a:tblGrid>
                <a:gridCol w="3144350"/>
                <a:gridCol w="3144350"/>
                <a:gridCol w="31443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</a:rPr>
                        <a:t>Objective  / Function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</a:rPr>
                        <a:t>Achieved  / Not </a:t>
                      </a:r>
                      <a:r>
                        <a:rPr lang="en-US" sz="1400" u="none" strike="noStrike" cap="none" dirty="0" smtClean="0">
                          <a:solidFill>
                            <a:schemeClr val="tx1"/>
                          </a:solidFill>
                        </a:rPr>
                        <a:t>Achieved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</a:rPr>
                        <a:t>Remarks ( If </a:t>
                      </a:r>
                      <a:r>
                        <a:rPr lang="en-US" sz="1400" u="none" strike="noStrike" cap="none" dirty="0" smtClean="0">
                          <a:solidFill>
                            <a:schemeClr val="tx1"/>
                          </a:solidFill>
                        </a:rPr>
                        <a:t>Achieved  </a:t>
                      </a: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</a:rPr>
                        <a:t>range or accuracy . 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</a:rPr>
                        <a:t>If not </a:t>
                      </a:r>
                      <a:r>
                        <a:rPr lang="en-US" sz="1400" u="none" strike="noStrike" cap="none" dirty="0" smtClean="0">
                          <a:solidFill>
                            <a:schemeClr val="tx1"/>
                          </a:solidFill>
                        </a:rPr>
                        <a:t>achieved  </a:t>
                      </a: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</a:rPr>
                        <a:t>, justify probable reason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ec32c6c4d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r>
              <a:rPr lang="en-US" sz="6000" b="1"/>
              <a:t> </a:t>
            </a:r>
            <a:endParaRPr sz="6000" b="1"/>
          </a:p>
        </p:txBody>
      </p:sp>
      <p:sp>
        <p:nvSpPr>
          <p:cNvPr id="211" name="Google Shape;211;g1eec32c6c4d_0_6"/>
          <p:cNvSpPr txBox="1">
            <a:spLocks noGrp="1"/>
          </p:cNvSpPr>
          <p:nvPr>
            <p:ph type="body" idx="1"/>
          </p:nvPr>
        </p:nvSpPr>
        <p:spPr>
          <a:xfrm>
            <a:off x="838200" y="1196752"/>
            <a:ext cx="10515600" cy="498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" name="Google Shape;212;g1eec32c6c4d_0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3" name="Google Shape;213;g1eec32c6c4d_0_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Custom</PresentationFormat>
  <Paragraphs>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Fira Sans</vt:lpstr>
      <vt:lpstr>Noto Sans Symbols</vt:lpstr>
      <vt:lpstr>Times New Roman</vt:lpstr>
      <vt:lpstr>Office Theme</vt:lpstr>
      <vt:lpstr>PBL – Project </vt:lpstr>
      <vt:lpstr>Theme chosen for Project </vt:lpstr>
      <vt:lpstr>Need Statement</vt:lpstr>
      <vt:lpstr>Problem Statement</vt:lpstr>
      <vt:lpstr>Timeline Chart </vt:lpstr>
      <vt:lpstr>Conceptual Designs</vt:lpstr>
      <vt:lpstr>Literature Survey</vt:lpstr>
      <vt:lpstr>Block Diagram of Project </vt:lpstr>
      <vt:lpstr>Hardware / Software Requirements</vt:lpstr>
      <vt:lpstr>Project Cost  Sheet </vt:lpstr>
      <vt:lpstr> Proposed Circuit / Connection Diagram </vt:lpstr>
      <vt:lpstr>Project Status </vt:lpstr>
      <vt:lpstr>Results </vt:lpstr>
      <vt:lpstr>Results </vt:lpstr>
      <vt:lpstr>Results</vt:lpstr>
      <vt:lpstr>References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– Project</dc:title>
  <dc:creator>Windows User</dc:creator>
  <cp:lastModifiedBy>Admin</cp:lastModifiedBy>
  <cp:revision>2</cp:revision>
  <dcterms:created xsi:type="dcterms:W3CDTF">2020-08-02T13:20:06Z</dcterms:created>
  <dcterms:modified xsi:type="dcterms:W3CDTF">2025-11-28T09:38:18Z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0x0101006791A877936F4F4895848517DF90D692</vt:lpwstr>
  </property>
</Properties>
</file>