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Calibri" pitchFamily="34" charset="0"/>
      <p:regular r:id="rId11"/>
      <p:bold r:id="rId12"/>
      <p:italic r:id="rId13"/>
      <p:boldItalic r:id="rId14"/>
    </p:embeddedFont>
    <p:embeddedFont>
      <p:font typeface="Marcellus" charset="0"/>
      <p:regular r:id="rId15"/>
    </p:embeddedFont>
    <p:embeddedFont>
      <p:font typeface="Fira Sans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g7r+Z4X+AjHSSHm2KKlDOObvvZ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BCCE0F89-72DC-4B10-9AFE-5240F527C88D}">
  <a:tblStyle styleId="{BCCE0F89-72DC-4B10-9AFE-5240F527C8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8" d="100"/>
          <a:sy n="68" d="100"/>
        </p:scale>
        <p:origin x="-49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794631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51fae375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51fae375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6535da16db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g26535da16db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2a7a1c69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2a7a1c69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6535da16db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g26535da16db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6535da16d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" name="Google Shape;134;g26535da16d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Marcellus"/>
              <a:buNone/>
            </a:pPr>
            <a:r>
              <a:rPr lang="en-US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Project Based Learning 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00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Semester II</a:t>
            </a:r>
            <a:endParaRPr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January - April 2026</a:t>
            </a:r>
            <a:endParaRPr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" y="2219"/>
            <a:ext cx="566958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563" y="0"/>
            <a:ext cx="209677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5239" y="5830821"/>
            <a:ext cx="868683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7240" y="5620871"/>
            <a:ext cx="2163184" cy="791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51fae375d_1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b51fae375d_1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26535da16db_1_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880675" y="567535"/>
            <a:ext cx="385984" cy="12236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26535da16db_1_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4533653" y="1754135"/>
            <a:ext cx="176409" cy="933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26535da16db_1_5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0828421" y="5610533"/>
            <a:ext cx="968400" cy="7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g26535da16db_1_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159" y="5420808"/>
            <a:ext cx="2475914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26535da16db_1_5"/>
          <p:cNvSpPr txBox="1">
            <a:spLocks noGrp="1"/>
          </p:cNvSpPr>
          <p:nvPr>
            <p:ph type="title"/>
          </p:nvPr>
        </p:nvSpPr>
        <p:spPr>
          <a:xfrm>
            <a:off x="553454" y="344261"/>
            <a:ext cx="11395800" cy="7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Project</a:t>
            </a:r>
            <a:endParaRPr sz="3600"/>
          </a:p>
        </p:txBody>
      </p:sp>
      <p:sp>
        <p:nvSpPr>
          <p:cNvPr id="105" name="Google Shape;105;g26535da16db_1_5"/>
          <p:cNvSpPr txBox="1"/>
          <p:nvPr/>
        </p:nvSpPr>
        <p:spPr>
          <a:xfrm>
            <a:off x="553450" y="1455225"/>
            <a:ext cx="11638500" cy="52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project must present 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●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functional prototype that incorporates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hardware, or a hardware–software combination.</a:t>
            </a:r>
            <a:endParaRPr/>
          </a:p>
          <a:p>
            <a:pPr marL="508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●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Purely software-based projects are not permitted</a:t>
            </a:r>
            <a:endParaRPr sz="2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144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</a:pPr>
            <a:endParaRPr sz="2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880675" y="567535"/>
            <a:ext cx="385984" cy="12236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4533653" y="1754135"/>
            <a:ext cx="176409" cy="933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0828421" y="5610533"/>
            <a:ext cx="968400" cy="7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1159" y="5420808"/>
            <a:ext cx="2475914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>
            <a:spLocks noGrp="1"/>
          </p:cNvSpPr>
          <p:nvPr>
            <p:ph type="title"/>
          </p:nvPr>
        </p:nvSpPr>
        <p:spPr>
          <a:xfrm>
            <a:off x="553454" y="344261"/>
            <a:ext cx="11395800" cy="7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Project</a:t>
            </a:r>
            <a:endParaRPr sz="3600"/>
          </a:p>
        </p:txBody>
      </p:sp>
      <p:sp>
        <p:nvSpPr>
          <p:cNvPr id="115" name="Google Shape;115;p2"/>
          <p:cNvSpPr txBox="1"/>
          <p:nvPr/>
        </p:nvSpPr>
        <p:spPr>
          <a:xfrm>
            <a:off x="553450" y="1455225"/>
            <a:ext cx="10598644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Project Groups</a:t>
            </a:r>
            <a:endParaRPr/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Same groups as activities in all lab sessions 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Maximum Budget </a:t>
            </a:r>
            <a:endParaRPr/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Maximum Rs 3000/-  per group ( Final cost sheet to be produced)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2a7a1c693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CC0000"/>
                </a:solidFill>
                <a:latin typeface="Fira Sans"/>
                <a:ea typeface="Fira Sans"/>
                <a:cs typeface="Fira Sans"/>
                <a:sym typeface="Fira Sans"/>
              </a:rPr>
              <a:t>Evaluation of Term II </a:t>
            </a:r>
            <a:endParaRPr sz="4900"/>
          </a:p>
        </p:txBody>
      </p:sp>
      <p:sp>
        <p:nvSpPr>
          <p:cNvPr id="121" name="Google Shape;121;g3b2a7a1c693_0_0"/>
          <p:cNvSpPr txBox="1">
            <a:spLocks noGrp="1"/>
          </p:cNvSpPr>
          <p:nvPr>
            <p:ph type="body" idx="1"/>
          </p:nvPr>
        </p:nvSpPr>
        <p:spPr>
          <a:xfrm>
            <a:off x="838200" y="1481950"/>
            <a:ext cx="10515600" cy="469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6990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000"/>
              <a:buChar char="•"/>
            </a:pPr>
            <a:r>
              <a:rPr lang="en-US" sz="3000" b="1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PBL Lab</a:t>
            </a:r>
            <a:endParaRPr sz="3000" b="1">
              <a:solidFill>
                <a:srgbClr val="C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469900" algn="l" rtl="0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2900">
                <a:latin typeface="Fira Sans"/>
                <a:ea typeface="Fira Sans"/>
                <a:cs typeface="Fira Sans"/>
                <a:sym typeface="Fira Sans"/>
              </a:rPr>
              <a:t>Graded Assignments: Graded assignments each of 15 marks </a:t>
            </a:r>
            <a:endParaRPr sz="2900"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469900" algn="l" rtl="0">
              <a:spcBef>
                <a:spcPts val="0"/>
              </a:spcBef>
              <a:spcAft>
                <a:spcPts val="0"/>
              </a:spcAft>
              <a:buSzPts val="3000"/>
              <a:buChar char="•"/>
            </a:pPr>
            <a:r>
              <a:rPr lang="en-US" sz="2900">
                <a:latin typeface="Fira Sans"/>
                <a:ea typeface="Fira Sans"/>
                <a:cs typeface="Fira Sans"/>
                <a:sym typeface="Fira Sans"/>
              </a:rPr>
              <a:t>Total of 45 marks</a:t>
            </a:r>
            <a:endParaRPr sz="2900"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>
              <a:latin typeface="Fira Sans"/>
              <a:ea typeface="Fira Sans"/>
              <a:cs typeface="Fira Sans"/>
              <a:sym typeface="Fira Sans"/>
            </a:endParaRPr>
          </a:p>
          <a:p>
            <a:pPr marL="457200" lvl="0" indent="-469900" algn="l" rtl="0"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900" b="1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Project : 150 marks</a:t>
            </a:r>
            <a:r>
              <a:rPr lang="en-US" sz="2900" b="1">
                <a:latin typeface="Fira Sans"/>
                <a:ea typeface="Fira Sans"/>
                <a:cs typeface="Fira Sans"/>
                <a:sym typeface="Fira Sans"/>
              </a:rPr>
              <a:t>, will be scaled down to 50 for Term II evaluation</a:t>
            </a:r>
            <a:endParaRPr sz="2900" b="1">
              <a:latin typeface="Fira Sans"/>
              <a:ea typeface="Fira Sans"/>
              <a:cs typeface="Fira Sans"/>
              <a:sym typeface="Fira Sans"/>
            </a:endParaRPr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>
                <a:latin typeface="Fira Sans"/>
                <a:ea typeface="Fira Sans"/>
                <a:cs typeface="Fira Sans"/>
                <a:sym typeface="Fira Sans"/>
              </a:rPr>
              <a:t>Review-1 (25)</a:t>
            </a:r>
            <a:endParaRPr sz="2600">
              <a:latin typeface="Fira Sans"/>
              <a:ea typeface="Fira Sans"/>
              <a:cs typeface="Fira Sans"/>
              <a:sym typeface="Fira Sans"/>
            </a:endParaRPr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>
                <a:latin typeface="Fira Sans"/>
                <a:ea typeface="Fira Sans"/>
                <a:cs typeface="Fira Sans"/>
                <a:sym typeface="Fira Sans"/>
              </a:rPr>
              <a:t>Review-2 (25)</a:t>
            </a:r>
            <a:endParaRPr sz="2600">
              <a:latin typeface="Fira Sans"/>
              <a:ea typeface="Fira Sans"/>
              <a:cs typeface="Fira Sans"/>
              <a:sym typeface="Fira Sans"/>
            </a:endParaRPr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>
                <a:latin typeface="Fira Sans"/>
                <a:ea typeface="Fira Sans"/>
                <a:cs typeface="Fira Sans"/>
                <a:sym typeface="Fira Sans"/>
              </a:rPr>
              <a:t>Final Presentation (50)</a:t>
            </a:r>
            <a:endParaRPr sz="2600">
              <a:latin typeface="Fira Sans"/>
              <a:ea typeface="Fira Sans"/>
              <a:cs typeface="Fira Sans"/>
              <a:sym typeface="Fira Sans"/>
            </a:endParaRPr>
          </a:p>
          <a:p>
            <a:pPr marL="514350" lvl="0" indent="-450850" algn="l" rtl="0">
              <a:spcBef>
                <a:spcPts val="0"/>
              </a:spcBef>
              <a:spcAft>
                <a:spcPts val="0"/>
              </a:spcAft>
              <a:buSzPts val="2600"/>
              <a:buFont typeface="Fira Sans"/>
              <a:buChar char="•"/>
            </a:pPr>
            <a:r>
              <a:rPr lang="en-US" sz="2600">
                <a:latin typeface="Fira Sans"/>
                <a:ea typeface="Fira Sans"/>
                <a:cs typeface="Fira Sans"/>
                <a:sym typeface="Fira Sans"/>
              </a:rPr>
              <a:t>Week wise Evaluation - 50 Marks </a:t>
            </a:r>
            <a:endParaRPr sz="2600"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  *  I</a:t>
            </a:r>
            <a:r>
              <a:rPr lang="en-US" sz="3000" b="1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ndependent Component - Not a part of Makerspace </a:t>
            </a:r>
            <a:endParaRPr sz="3000" b="1">
              <a:solidFill>
                <a:srgbClr val="C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C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g26535da16db_0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880675" y="567535"/>
            <a:ext cx="385984" cy="12236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g26535da16db_0_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4533653" y="1754135"/>
            <a:ext cx="176409" cy="933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26535da16db_0_39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0828421" y="5610533"/>
            <a:ext cx="968400" cy="7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g26535da16db_0_3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194" y="5424417"/>
            <a:ext cx="2475914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26535da16db_0_39"/>
          <p:cNvSpPr txBox="1">
            <a:spLocks noGrp="1"/>
          </p:cNvSpPr>
          <p:nvPr>
            <p:ph type="title"/>
          </p:nvPr>
        </p:nvSpPr>
        <p:spPr>
          <a:xfrm>
            <a:off x="553454" y="344261"/>
            <a:ext cx="11395800" cy="7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Project Theme</a:t>
            </a:r>
            <a:endParaRPr sz="3600"/>
          </a:p>
        </p:txBody>
      </p:sp>
      <p:sp>
        <p:nvSpPr>
          <p:cNvPr id="131" name="Google Shape;131;g26535da16db_0_39"/>
          <p:cNvSpPr txBox="1"/>
          <p:nvPr/>
        </p:nvSpPr>
        <p:spPr>
          <a:xfrm>
            <a:off x="977374" y="1455225"/>
            <a:ext cx="10366617" cy="3770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-US" sz="27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Broad areas :</a:t>
            </a:r>
            <a:endParaRPr sz="2700" b="1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144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Noto Sans Symbols"/>
              <a:buChar char="❖"/>
            </a:pPr>
            <a:r>
              <a:rPr lang="en-US" sz="2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Waste management</a:t>
            </a:r>
            <a:endParaRPr/>
          </a:p>
          <a:p>
            <a:pPr marL="9144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Noto Sans Symbols"/>
              <a:buChar char="❖"/>
            </a:pPr>
            <a:r>
              <a:rPr lang="en-US" sz="2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Smart City</a:t>
            </a:r>
            <a:endParaRPr/>
          </a:p>
          <a:p>
            <a:pPr marL="9144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Noto Sans Symbols"/>
              <a:buChar char="❖"/>
            </a:pPr>
            <a:r>
              <a:rPr lang="en-US" sz="2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Energy management</a:t>
            </a:r>
            <a:endParaRPr/>
          </a:p>
          <a:p>
            <a:pPr marL="9144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Noto Sans Symbols"/>
              <a:buChar char="❖"/>
            </a:pPr>
            <a:r>
              <a:rPr lang="en-US" sz="2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Healthcare</a:t>
            </a:r>
            <a:endParaRPr/>
          </a:p>
          <a:p>
            <a:pPr marL="9144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Noto Sans Symbols"/>
              <a:buChar char="❖"/>
            </a:pPr>
            <a:r>
              <a:rPr lang="en-US" sz="2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Water management</a:t>
            </a:r>
            <a:endParaRPr sz="26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144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Noto Sans Symbols"/>
              <a:buChar char="❖"/>
            </a:pPr>
            <a:r>
              <a:rPr lang="en-US" sz="2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Agriculture</a:t>
            </a:r>
            <a:endParaRPr sz="26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9144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Noto Sans Symbols"/>
              <a:buChar char="❖"/>
            </a:pPr>
            <a:r>
              <a:rPr lang="en-US" sz="26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Smart Toys</a:t>
            </a:r>
            <a:endParaRPr sz="26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g26535da16db_0_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880675" y="567535"/>
            <a:ext cx="385984" cy="12236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26535da16db_0_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4533653" y="1754135"/>
            <a:ext cx="176409" cy="933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26535da16db_0_16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0828421" y="5610533"/>
            <a:ext cx="968400" cy="7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26535da16db_0_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512" y="5521020"/>
            <a:ext cx="2475914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26535da16db_0_16"/>
          <p:cNvSpPr txBox="1">
            <a:spLocks noGrp="1"/>
          </p:cNvSpPr>
          <p:nvPr>
            <p:ph type="title"/>
          </p:nvPr>
        </p:nvSpPr>
        <p:spPr>
          <a:xfrm>
            <a:off x="553454" y="213936"/>
            <a:ext cx="11395800" cy="7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Project Schedule ( All Graded activities )</a:t>
            </a:r>
            <a:endParaRPr sz="3600"/>
          </a:p>
        </p:txBody>
      </p:sp>
      <p:sp>
        <p:nvSpPr>
          <p:cNvPr id="141" name="Google Shape;141;g26535da16db_0_16"/>
          <p:cNvSpPr txBox="1"/>
          <p:nvPr/>
        </p:nvSpPr>
        <p:spPr>
          <a:xfrm>
            <a:off x="841600" y="935725"/>
            <a:ext cx="10819500" cy="46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Identification of project within theme given ( Week 2)</a:t>
            </a: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Project Review I : </a:t>
            </a: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Literature Review, Final problem statement and Gantt Chart  ( Week 5)  </a:t>
            </a: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Project Review 2: </a:t>
            </a: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Design , Block Diagram, Partial Implementation / submission of requirements and tentative budget ( Week 9)</a:t>
            </a: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Final Presentation with Mechatronics Project / Model / Poster (Week 11,12 &amp;13) </a:t>
            </a: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Final Project exhibition ( Week 14 )</a:t>
            </a: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880675" y="567535"/>
            <a:ext cx="385984" cy="12236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4533653" y="1754135"/>
            <a:ext cx="176409" cy="933304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"/>
          <p:cNvSpPr txBox="1">
            <a:spLocks noGrp="1"/>
          </p:cNvSpPr>
          <p:nvPr>
            <p:ph type="title"/>
          </p:nvPr>
        </p:nvSpPr>
        <p:spPr>
          <a:xfrm>
            <a:off x="878186" y="344261"/>
            <a:ext cx="10384325" cy="85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b="1">
                <a:solidFill>
                  <a:srgbClr val="C00000"/>
                </a:solidFill>
              </a:rPr>
              <a:t>PBL Project – Tentative Week-wise Schedule</a:t>
            </a:r>
            <a:endParaRPr sz="3600">
              <a:solidFill>
                <a:srgbClr val="C00000"/>
              </a:solidFill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762079" y="136195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0" name="Google Shape;150;p3"/>
          <p:cNvGraphicFramePr/>
          <p:nvPr/>
        </p:nvGraphicFramePr>
        <p:xfrm>
          <a:off x="669852" y="1158948"/>
          <a:ext cx="11057875" cy="4996445"/>
        </p:xfrm>
        <a:graphic>
          <a:graphicData uri="http://schemas.openxmlformats.org/drawingml/2006/table">
            <a:tbl>
              <a:tblPr>
                <a:noFill/>
                <a:tableStyleId>{BCCE0F89-72DC-4B10-9AFE-5240F527C88D}</a:tableStyleId>
              </a:tblPr>
              <a:tblGrid>
                <a:gridCol w="1148875"/>
                <a:gridCol w="3213250"/>
                <a:gridCol w="6695750"/>
              </a:tblGrid>
              <a:tr h="296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No.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Expected Task 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Details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0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Introduction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PBL project PPT, themes and evaluation details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0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Selection of theme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choose theme or broad area of project for group project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766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 Statement, Problem statement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Timeline chart &amp; Hardware requirements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write problem statement for their project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(Refer to activity 2 last semester for details)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Gantt chart preparation &amp; list of components required (Refer to activity 2 last semester for details)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Share Review -1 PPT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0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Review-1  (25 marks)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Review-1 to be conducted as per shared rubrics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0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Review-1  (25 marks)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Review-1 to be conducted as per shared rubrics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0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Review-1  (25 marks)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Review-1 to be conducted as per shared rubrics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2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Conceptual Design / Block Diagram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1D3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Conceptual design and Block diagram of project to represents major components, their relationships and working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66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 working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Finalization of hardware &amp; cost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1D3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Detailed project execution as prototype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finalize the cost sheet based on final components 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0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Review-2 (25 marks)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Review- 2 to be conducted as per shared rubrics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67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Follow up &amp; project building &amp; optimization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Incorporate the suggestions and recommendations and final project model ready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2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Project Presentation &amp; selection (50 marks)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project presentation to be conducted as per shared rubrics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Selection of 1 or 2 projects for exhibition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2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Project Presentation &amp; selection (50 marks)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project presentation to be conducted as per shared rubrics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Selection of 1 or 2 projects for exhibition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2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Project Presentation &amp; selection (50 marks)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Final project presentation to be conducted as per shared rubrics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Selection of 1 or 2 projects for exhibition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02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Exhibition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Exhibition of selected projects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28875" marR="28875" marT="19250" marB="192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3"/>
          <p:cNvSpPr/>
          <p:nvPr/>
        </p:nvSpPr>
        <p:spPr>
          <a:xfrm>
            <a:off x="5272088" y="1825625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</Words>
  <Application>Microsoft Office PowerPoint</Application>
  <PresentationFormat>Custom</PresentationFormat>
  <Paragraphs>109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Noto Sans Symbols</vt:lpstr>
      <vt:lpstr>Calibri</vt:lpstr>
      <vt:lpstr>Marcellus</vt:lpstr>
      <vt:lpstr>Times New Roman</vt:lpstr>
      <vt:lpstr>Fira Sans</vt:lpstr>
      <vt:lpstr>Office Theme</vt:lpstr>
      <vt:lpstr>Project Based Learning </vt:lpstr>
      <vt:lpstr>PowerPoint Presentation</vt:lpstr>
      <vt:lpstr>Project</vt:lpstr>
      <vt:lpstr>Project</vt:lpstr>
      <vt:lpstr>Evaluation of Term II </vt:lpstr>
      <vt:lpstr>Project Theme</vt:lpstr>
      <vt:lpstr>Project Schedule ( All Graded activities )</vt:lpstr>
      <vt:lpstr>PBL Project – Tentative Week-wise Schedule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Based Learning </dc:title>
  <dc:creator>Admin</dc:creator>
  <cp:lastModifiedBy>admin</cp:lastModifiedBy>
  <cp:revision>1</cp:revision>
  <dcterms:modified xsi:type="dcterms:W3CDTF">2026-01-07T05:20:55Z</dcterms:modified>
</cp:coreProperties>
</file>