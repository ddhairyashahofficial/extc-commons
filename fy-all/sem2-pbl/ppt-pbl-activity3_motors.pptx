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6858000" cy="9144000"/>
  <p:embeddedFontLst>
    <p:embeddedFont>
      <p:font typeface="Marcellus"/>
      <p:regular r:id="rId21"/>
    </p:embeddedFont>
    <p:embeddedFont>
      <p:font typeface="Fira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26" roundtripDataSignature="AMtx7mirvAIHsYhV2AjKjFpqx8lqWKJm8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7AD4891-5457-4A3B-8749-17705BF88AAE}">
  <a:tblStyle styleId="{77AD4891-5457-4A3B-8749-17705BF88AAE}"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FiraSans-regular.fntdata"/><Relationship Id="rId21" Type="http://schemas.openxmlformats.org/officeDocument/2006/relationships/font" Target="fonts/Marcellus-regular.fntdata"/><Relationship Id="rId24" Type="http://schemas.openxmlformats.org/officeDocument/2006/relationships/font" Target="fonts/FiraSans-italic.fntdata"/><Relationship Id="rId23" Type="http://schemas.openxmlformats.org/officeDocument/2006/relationships/font" Target="fonts/Fira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font" Target="fonts/FiraSa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653658776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g2653658776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 name="Google Shape;9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 name="Google Shape;11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b82f7b13a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g2b82f7b13a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ad3aab633e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gad3aab633e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ad3aab633e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gad3aab633e_0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b53ef716da_1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g2b53ef716da_1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1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4"/>
          <p:cNvSpPr/>
          <p:nvPr>
            <p:ph idx="2" type="pic"/>
          </p:nvPr>
        </p:nvSpPr>
        <p:spPr>
          <a:xfrm>
            <a:off x="5183188" y="987425"/>
            <a:ext cx="6172200" cy="4873625"/>
          </a:xfrm>
          <a:prstGeom prst="rect">
            <a:avLst/>
          </a:prstGeom>
          <a:noFill/>
          <a:ln>
            <a:noFill/>
          </a:ln>
        </p:spPr>
      </p:sp>
      <p:sp>
        <p:nvSpPr>
          <p:cNvPr id="64" name="Google Shape;64;p2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15.png"/><Relationship Id="rId5" Type="http://schemas.openxmlformats.org/officeDocument/2006/relationships/image" Target="../media/image8.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2.gif"/><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1.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6.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gif"/><Relationship Id="rId4" Type="http://schemas.openxmlformats.org/officeDocument/2006/relationships/image" Target="../media/image23.gif"/><Relationship Id="rId5" Type="http://schemas.openxmlformats.org/officeDocument/2006/relationships/image" Target="../media/image24.png"/><Relationship Id="rId6"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9.jpg"/><Relationship Id="rId7" Type="http://schemas.openxmlformats.org/officeDocument/2006/relationships/image" Target="../media/image28.png"/><Relationship Id="rId8"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9.jpg"/><Relationship Id="rId7"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9.jpg"/><Relationship Id="rId7"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26536587769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C00000"/>
              </a:buClr>
              <a:buSzPts val="4400"/>
              <a:buFont typeface="Marcellus"/>
              <a:buNone/>
            </a:pPr>
            <a:r>
              <a:rPr lang="en-US">
                <a:solidFill>
                  <a:srgbClr val="C00000"/>
                </a:solidFill>
                <a:latin typeface="Marcellus"/>
                <a:ea typeface="Marcellus"/>
                <a:cs typeface="Marcellus"/>
                <a:sym typeface="Marcellus"/>
              </a:rPr>
              <a:t>Project Based Learning </a:t>
            </a:r>
            <a:endParaRPr/>
          </a:p>
        </p:txBody>
      </p:sp>
      <p:sp>
        <p:nvSpPr>
          <p:cNvPr id="85" name="Google Shape;85;g26536587769_0_0"/>
          <p:cNvSpPr txBox="1"/>
          <p:nvPr>
            <p:ph idx="1" type="body"/>
          </p:nvPr>
        </p:nvSpPr>
        <p:spPr>
          <a:xfrm>
            <a:off x="838200" y="1978025"/>
            <a:ext cx="10515600" cy="40053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1800"/>
              <a:buNone/>
            </a:pPr>
            <a:r>
              <a:rPr lang="en-US">
                <a:solidFill>
                  <a:srgbClr val="262626"/>
                </a:solidFill>
                <a:latin typeface="Fira Sans"/>
                <a:ea typeface="Fira Sans"/>
                <a:cs typeface="Fira Sans"/>
                <a:sym typeface="Fira Sans"/>
              </a:rPr>
              <a:t>Semester II</a:t>
            </a:r>
            <a:endParaRPr>
              <a:solidFill>
                <a:srgbClr val="262626"/>
              </a:solidFill>
              <a:latin typeface="Fira Sans"/>
              <a:ea typeface="Fira Sans"/>
              <a:cs typeface="Fira Sans"/>
              <a:sym typeface="Fira Sans"/>
            </a:endParaRPr>
          </a:p>
          <a:p>
            <a:pPr indent="0" lvl="0" marL="0" rtl="0" algn="ctr">
              <a:lnSpc>
                <a:spcPct val="90000"/>
              </a:lnSpc>
              <a:spcBef>
                <a:spcPts val="0"/>
              </a:spcBef>
              <a:spcAft>
                <a:spcPts val="0"/>
              </a:spcAft>
              <a:buSzPts val="1800"/>
              <a:buNone/>
            </a:pPr>
            <a:r>
              <a:t/>
            </a:r>
            <a:endParaRPr>
              <a:solidFill>
                <a:srgbClr val="262626"/>
              </a:solidFill>
              <a:latin typeface="Fira Sans"/>
              <a:ea typeface="Fira Sans"/>
              <a:cs typeface="Fira Sans"/>
              <a:sym typeface="Fira Sans"/>
            </a:endParaRPr>
          </a:p>
          <a:p>
            <a:pPr indent="0" lvl="0" marL="0" rtl="0" algn="ctr">
              <a:lnSpc>
                <a:spcPct val="90000"/>
              </a:lnSpc>
              <a:spcBef>
                <a:spcPts val="0"/>
              </a:spcBef>
              <a:spcAft>
                <a:spcPts val="0"/>
              </a:spcAft>
              <a:buSzPts val="1800"/>
              <a:buNone/>
            </a:pPr>
            <a:r>
              <a:t/>
            </a:r>
            <a:endParaRPr>
              <a:solidFill>
                <a:srgbClr val="262626"/>
              </a:solidFill>
              <a:latin typeface="Fira Sans"/>
              <a:ea typeface="Fira Sans"/>
              <a:cs typeface="Fira Sans"/>
              <a:sym typeface="Fira Sans"/>
            </a:endParaRPr>
          </a:p>
          <a:p>
            <a:pPr indent="0" lvl="0" marL="0" rtl="0" algn="ctr">
              <a:lnSpc>
                <a:spcPct val="90000"/>
              </a:lnSpc>
              <a:spcBef>
                <a:spcPts val="0"/>
              </a:spcBef>
              <a:spcAft>
                <a:spcPts val="0"/>
              </a:spcAft>
              <a:buSzPts val="1800"/>
              <a:buNone/>
            </a:pPr>
            <a:r>
              <a:rPr lang="en-US">
                <a:solidFill>
                  <a:srgbClr val="262626"/>
                </a:solidFill>
                <a:latin typeface="Fira Sans"/>
                <a:ea typeface="Fira Sans"/>
                <a:cs typeface="Fira Sans"/>
                <a:sym typeface="Fira Sans"/>
              </a:rPr>
              <a:t>January - April 2026</a:t>
            </a:r>
            <a:endParaRPr>
              <a:solidFill>
                <a:srgbClr val="262626"/>
              </a:solidFill>
              <a:latin typeface="Fira Sans"/>
              <a:ea typeface="Fira Sans"/>
              <a:cs typeface="Fira Sans"/>
              <a:sym typeface="Fira Sans"/>
            </a:endParaRPr>
          </a:p>
          <a:p>
            <a:pPr indent="0" lvl="0" marL="0" rtl="0" algn="ctr">
              <a:lnSpc>
                <a:spcPct val="90000"/>
              </a:lnSpc>
              <a:spcBef>
                <a:spcPts val="0"/>
              </a:spcBef>
              <a:spcAft>
                <a:spcPts val="0"/>
              </a:spcAft>
              <a:buSzPts val="1800"/>
              <a:buNone/>
            </a:pPr>
            <a:r>
              <a:t/>
            </a:r>
            <a:endParaRPr>
              <a:solidFill>
                <a:srgbClr val="262626"/>
              </a:solidFill>
              <a:latin typeface="Marcellus"/>
              <a:ea typeface="Marcellus"/>
              <a:cs typeface="Marcellus"/>
              <a:sym typeface="Marcellus"/>
            </a:endParaRPr>
          </a:p>
        </p:txBody>
      </p:sp>
      <p:pic>
        <p:nvPicPr>
          <p:cNvPr id="86" name="Google Shape;86;g26536587769_0_0"/>
          <p:cNvPicPr preferRelativeResize="0"/>
          <p:nvPr/>
        </p:nvPicPr>
        <p:blipFill rotWithShape="1">
          <a:blip r:embed="rId3">
            <a:alphaModFix/>
          </a:blip>
          <a:srcRect b="0" l="0" r="0" t="0"/>
          <a:stretch/>
        </p:blipFill>
        <p:spPr>
          <a:xfrm>
            <a:off x="605" y="2219"/>
            <a:ext cx="566958" cy="6855782"/>
          </a:xfrm>
          <a:prstGeom prst="rect">
            <a:avLst/>
          </a:prstGeom>
          <a:noFill/>
          <a:ln>
            <a:noFill/>
          </a:ln>
        </p:spPr>
      </p:pic>
      <p:pic>
        <p:nvPicPr>
          <p:cNvPr id="87" name="Google Shape;87;g26536587769_0_0"/>
          <p:cNvPicPr preferRelativeResize="0"/>
          <p:nvPr/>
        </p:nvPicPr>
        <p:blipFill rotWithShape="1">
          <a:blip r:embed="rId4">
            <a:alphaModFix/>
          </a:blip>
          <a:srcRect b="0" l="0" r="0" t="0"/>
          <a:stretch/>
        </p:blipFill>
        <p:spPr>
          <a:xfrm>
            <a:off x="567563" y="0"/>
            <a:ext cx="209677" cy="5440679"/>
          </a:xfrm>
          <a:prstGeom prst="rect">
            <a:avLst/>
          </a:prstGeom>
          <a:noFill/>
          <a:ln>
            <a:noFill/>
          </a:ln>
        </p:spPr>
      </p:pic>
      <p:pic>
        <p:nvPicPr>
          <p:cNvPr descr="A close up of a sign&#10;&#10;Description automatically generated" id="88" name="Google Shape;88;g26536587769_0_0"/>
          <p:cNvPicPr preferRelativeResize="0"/>
          <p:nvPr/>
        </p:nvPicPr>
        <p:blipFill rotWithShape="1">
          <a:blip r:embed="rId5">
            <a:alphaModFix/>
          </a:blip>
          <a:srcRect b="0" l="0" r="0" t="0"/>
          <a:stretch/>
        </p:blipFill>
        <p:spPr>
          <a:xfrm>
            <a:off x="10835239" y="5830821"/>
            <a:ext cx="868683" cy="647487"/>
          </a:xfrm>
          <a:prstGeom prst="rect">
            <a:avLst/>
          </a:prstGeom>
          <a:noFill/>
          <a:ln>
            <a:noFill/>
          </a:ln>
        </p:spPr>
      </p:pic>
      <p:pic>
        <p:nvPicPr>
          <p:cNvPr descr="A picture containing drawing&#10;&#10;Description automatically generated" id="89" name="Google Shape;89;g26536587769_0_0"/>
          <p:cNvPicPr preferRelativeResize="0"/>
          <p:nvPr/>
        </p:nvPicPr>
        <p:blipFill rotWithShape="1">
          <a:blip r:embed="rId6">
            <a:alphaModFix/>
          </a:blip>
          <a:srcRect b="0" l="0" r="0" t="0"/>
          <a:stretch/>
        </p:blipFill>
        <p:spPr>
          <a:xfrm>
            <a:off x="777240" y="5828983"/>
            <a:ext cx="2655568" cy="66389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nvSpPr>
        <p:spPr>
          <a:xfrm>
            <a:off x="2814901" y="2590797"/>
            <a:ext cx="65391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rgbClr val="000000"/>
              </a:buClr>
              <a:buSzPts val="3200"/>
              <a:buFont typeface="Arial"/>
              <a:buNone/>
            </a:pPr>
            <a:r>
              <a:rPr b="1" i="0" lang="en-US" sz="3200" u="none" cap="none" strike="noStrike">
                <a:solidFill>
                  <a:schemeClr val="accent5"/>
                </a:solidFill>
                <a:latin typeface="Marcellus"/>
                <a:ea typeface="Marcellus"/>
                <a:cs typeface="Marcellus"/>
                <a:sym typeface="Marcellus"/>
              </a:rPr>
              <a:t>Motors interfacing with Arduino </a:t>
            </a:r>
            <a:endParaRPr b="1" i="0" sz="3200" u="none" cap="none" strike="noStrike">
              <a:solidFill>
                <a:schemeClr val="accent5"/>
              </a:solidFill>
              <a:latin typeface="Marcellus"/>
              <a:ea typeface="Marcellus"/>
              <a:cs typeface="Marcellus"/>
              <a:sym typeface="Marcellu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8"/>
          <p:cNvSpPr txBox="1"/>
          <p:nvPr/>
        </p:nvSpPr>
        <p:spPr>
          <a:xfrm>
            <a:off x="733050" y="155675"/>
            <a:ext cx="96762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0" i="0" lang="en-US" sz="4000" u="none" cap="none" strike="noStrike">
                <a:solidFill>
                  <a:srgbClr val="C00000"/>
                </a:solidFill>
                <a:latin typeface="Marcellus"/>
                <a:ea typeface="Marcellus"/>
                <a:cs typeface="Marcellus"/>
                <a:sym typeface="Marcellus"/>
              </a:rPr>
              <a:t>Electric Motors used as Actuators</a:t>
            </a:r>
            <a:endParaRPr b="0" i="0" sz="4000" u="none" cap="none" strike="noStrike">
              <a:solidFill>
                <a:srgbClr val="C00000"/>
              </a:solidFill>
              <a:latin typeface="Marcellus"/>
              <a:ea typeface="Marcellus"/>
              <a:cs typeface="Marcellus"/>
              <a:sym typeface="Marcellus"/>
            </a:endParaRPr>
          </a:p>
        </p:txBody>
      </p:sp>
      <p:sp>
        <p:nvSpPr>
          <p:cNvPr id="100" name="Google Shape;100;p8"/>
          <p:cNvSpPr/>
          <p:nvPr/>
        </p:nvSpPr>
        <p:spPr>
          <a:xfrm>
            <a:off x="340650" y="987149"/>
            <a:ext cx="11510700" cy="110795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2200"/>
              <a:buFont typeface="Fira Sans"/>
              <a:buChar char="•"/>
            </a:pPr>
            <a:r>
              <a:rPr b="0" i="0" lang="en-US" sz="2200" u="none" cap="none" strike="noStrike">
                <a:solidFill>
                  <a:srgbClr val="000000"/>
                </a:solidFill>
                <a:latin typeface="Fira Sans"/>
                <a:ea typeface="Fira Sans"/>
                <a:cs typeface="Fira Sans"/>
                <a:sym typeface="Fira Sans"/>
              </a:rPr>
              <a:t>Electrical machine that converts electrical energy into mechanical energy. </a:t>
            </a:r>
            <a:endParaRPr b="0" i="0" sz="22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2200"/>
              <a:buFont typeface="Fira Sans"/>
              <a:buChar char="•"/>
            </a:pPr>
            <a:r>
              <a:rPr b="0" i="0" lang="en-US" sz="2200" u="none" cap="none" strike="noStrike">
                <a:solidFill>
                  <a:srgbClr val="000000"/>
                </a:solidFill>
                <a:latin typeface="Fira Sans"/>
                <a:ea typeface="Fira Sans"/>
                <a:cs typeface="Fira Sans"/>
                <a:sym typeface="Fira Sans"/>
              </a:rPr>
              <a:t>Works on  interaction between the motor's magnetic field and electric current in a wire winding to generate force in the form of torque applied on the motor's shaft.</a:t>
            </a:r>
            <a:endParaRPr b="0" i="0" sz="2200" u="none" cap="none" strike="noStrike">
              <a:solidFill>
                <a:srgbClr val="000000"/>
              </a:solidFill>
              <a:latin typeface="Fira Sans"/>
              <a:ea typeface="Fira Sans"/>
              <a:cs typeface="Fira Sans"/>
              <a:sym typeface="Fira Sans"/>
            </a:endParaRPr>
          </a:p>
        </p:txBody>
      </p:sp>
      <p:pic>
        <p:nvPicPr>
          <p:cNvPr descr="Types of Motors Used In Robotics" id="101" name="Google Shape;101;p8"/>
          <p:cNvPicPr preferRelativeResize="0"/>
          <p:nvPr/>
        </p:nvPicPr>
        <p:blipFill rotWithShape="1">
          <a:blip r:embed="rId3">
            <a:alphaModFix/>
          </a:blip>
          <a:srcRect b="0" l="0" r="0" t="0"/>
          <a:stretch/>
        </p:blipFill>
        <p:spPr>
          <a:xfrm>
            <a:off x="1223293" y="2465089"/>
            <a:ext cx="5976282" cy="3809880"/>
          </a:xfrm>
          <a:prstGeom prst="rect">
            <a:avLst/>
          </a:prstGeom>
          <a:noFill/>
          <a:ln cap="flat" cmpd="sng" w="9525">
            <a:solidFill>
              <a:schemeClr val="accent1"/>
            </a:solidFill>
            <a:prstDash val="solid"/>
            <a:round/>
            <a:headEnd len="sm" w="sm" type="none"/>
            <a:tailEnd len="sm" w="sm" type="none"/>
          </a:ln>
        </p:spPr>
      </p:pic>
      <p:sp>
        <p:nvSpPr>
          <p:cNvPr id="102" name="Google Shape;102;p8"/>
          <p:cNvSpPr txBox="1"/>
          <p:nvPr/>
        </p:nvSpPr>
        <p:spPr>
          <a:xfrm>
            <a:off x="7998275" y="2678950"/>
            <a:ext cx="3616500" cy="3231624"/>
          </a:xfrm>
          <a:prstGeom prst="rect">
            <a:avLst/>
          </a:prstGeom>
          <a:noFill/>
          <a:ln>
            <a:noFill/>
          </a:ln>
        </p:spPr>
        <p:txBody>
          <a:bodyPr anchorCtr="0" anchor="t" bIns="91425" lIns="91425" spcFirstLastPara="1" rIns="91425" wrap="square" tIns="91425">
            <a:spAutoFit/>
          </a:bodyPr>
          <a:lstStyle/>
          <a:p>
            <a:pPr indent="-342900" lvl="0" marL="342900" marR="0" rtl="0" algn="l">
              <a:lnSpc>
                <a:spcPct val="150000"/>
              </a:lnSpc>
              <a:spcBef>
                <a:spcPts val="0"/>
              </a:spcBef>
              <a:spcAft>
                <a:spcPts val="0"/>
              </a:spcAft>
              <a:buClr>
                <a:schemeClr val="dk1"/>
              </a:buClr>
              <a:buSzPts val="2200"/>
              <a:buFont typeface="Fira Sans"/>
              <a:buAutoNum type="arabicPeriod"/>
            </a:pPr>
            <a:r>
              <a:rPr b="1" i="0" lang="en-US" sz="2200" u="none" cap="none" strike="noStrike">
                <a:solidFill>
                  <a:schemeClr val="dk1"/>
                </a:solidFill>
                <a:latin typeface="Fira Sans"/>
                <a:ea typeface="Fira Sans"/>
                <a:cs typeface="Fira Sans"/>
                <a:sym typeface="Fira Sans"/>
              </a:rPr>
              <a:t>AC MOTOR</a:t>
            </a:r>
            <a:endParaRPr b="1" i="0" sz="2200" u="none" cap="none" strike="noStrike">
              <a:solidFill>
                <a:schemeClr val="dk1"/>
              </a:solidFill>
              <a:latin typeface="Fira Sans"/>
              <a:ea typeface="Fira Sans"/>
              <a:cs typeface="Fira Sans"/>
              <a:sym typeface="Fira Sans"/>
            </a:endParaRPr>
          </a:p>
          <a:p>
            <a:pPr indent="-342900" lvl="0" marL="342900" marR="0" rtl="0" algn="l">
              <a:lnSpc>
                <a:spcPct val="150000"/>
              </a:lnSpc>
              <a:spcBef>
                <a:spcPts val="0"/>
              </a:spcBef>
              <a:spcAft>
                <a:spcPts val="0"/>
              </a:spcAft>
              <a:buClr>
                <a:schemeClr val="dk1"/>
              </a:buClr>
              <a:buSzPts val="2200"/>
              <a:buFont typeface="Fira Sans"/>
              <a:buAutoNum type="arabicPeriod"/>
            </a:pPr>
            <a:r>
              <a:rPr b="1" i="0" lang="en-US" sz="2200" u="none" cap="none" strike="noStrike">
                <a:solidFill>
                  <a:schemeClr val="dk1"/>
                </a:solidFill>
                <a:latin typeface="Fira Sans"/>
                <a:ea typeface="Fira Sans"/>
                <a:cs typeface="Fira Sans"/>
                <a:sym typeface="Fira Sans"/>
              </a:rPr>
              <a:t>BRUSHED DC MOTOR</a:t>
            </a:r>
            <a:endParaRPr b="1" i="0" sz="2200" u="none" cap="none" strike="noStrike">
              <a:solidFill>
                <a:schemeClr val="dk1"/>
              </a:solidFill>
              <a:latin typeface="Fira Sans"/>
              <a:ea typeface="Fira Sans"/>
              <a:cs typeface="Fira Sans"/>
              <a:sym typeface="Fira Sans"/>
            </a:endParaRPr>
          </a:p>
          <a:p>
            <a:pPr indent="-342900" lvl="0" marL="342900" marR="0" rtl="0" algn="l">
              <a:lnSpc>
                <a:spcPct val="150000"/>
              </a:lnSpc>
              <a:spcBef>
                <a:spcPts val="0"/>
              </a:spcBef>
              <a:spcAft>
                <a:spcPts val="0"/>
              </a:spcAft>
              <a:buClr>
                <a:schemeClr val="dk1"/>
              </a:buClr>
              <a:buSzPts val="2200"/>
              <a:buFont typeface="Fira Sans"/>
              <a:buAutoNum type="arabicPeriod"/>
            </a:pPr>
            <a:r>
              <a:rPr b="1" i="0" lang="en-US" sz="2200" u="none" cap="none" strike="noStrike">
                <a:solidFill>
                  <a:schemeClr val="dk1"/>
                </a:solidFill>
                <a:latin typeface="Fira Sans"/>
                <a:ea typeface="Fira Sans"/>
                <a:cs typeface="Fira Sans"/>
                <a:sym typeface="Fira Sans"/>
              </a:rPr>
              <a:t>BRUSHLESS DC MOTOR</a:t>
            </a:r>
            <a:endParaRPr b="1" i="0" sz="2200" u="none" cap="none" strike="noStrike">
              <a:solidFill>
                <a:schemeClr val="dk1"/>
              </a:solidFill>
              <a:latin typeface="Fira Sans"/>
              <a:ea typeface="Fira Sans"/>
              <a:cs typeface="Fira Sans"/>
              <a:sym typeface="Fira Sans"/>
            </a:endParaRPr>
          </a:p>
          <a:p>
            <a:pPr indent="-342900" lvl="0" marL="342900" marR="0" rtl="0" algn="l">
              <a:lnSpc>
                <a:spcPct val="150000"/>
              </a:lnSpc>
              <a:spcBef>
                <a:spcPts val="0"/>
              </a:spcBef>
              <a:spcAft>
                <a:spcPts val="0"/>
              </a:spcAft>
              <a:buClr>
                <a:schemeClr val="dk1"/>
              </a:buClr>
              <a:buSzPts val="2200"/>
              <a:buFont typeface="Fira Sans"/>
              <a:buAutoNum type="arabicPeriod"/>
            </a:pPr>
            <a:r>
              <a:rPr b="1" i="0" lang="en-US" sz="2200" u="none" cap="none" strike="noStrike">
                <a:solidFill>
                  <a:schemeClr val="dk1"/>
                </a:solidFill>
                <a:latin typeface="Fira Sans"/>
                <a:ea typeface="Fira Sans"/>
                <a:cs typeface="Fira Sans"/>
                <a:sym typeface="Fira Sans"/>
              </a:rPr>
              <a:t>GEARED DC MOTOR</a:t>
            </a:r>
            <a:endParaRPr b="1" i="0" sz="2200" u="none" cap="none" strike="noStrike">
              <a:solidFill>
                <a:schemeClr val="dk1"/>
              </a:solidFill>
              <a:latin typeface="Fira Sans"/>
              <a:ea typeface="Fira Sans"/>
              <a:cs typeface="Fira Sans"/>
              <a:sym typeface="Fira Sans"/>
            </a:endParaRPr>
          </a:p>
          <a:p>
            <a:pPr indent="-342900" lvl="0" marL="342900" marR="0" rtl="0" algn="l">
              <a:lnSpc>
                <a:spcPct val="150000"/>
              </a:lnSpc>
              <a:spcBef>
                <a:spcPts val="0"/>
              </a:spcBef>
              <a:spcAft>
                <a:spcPts val="0"/>
              </a:spcAft>
              <a:buClr>
                <a:schemeClr val="dk1"/>
              </a:buClr>
              <a:buSzPts val="2200"/>
              <a:buFont typeface="Fira Sans"/>
              <a:buAutoNum type="arabicPeriod"/>
            </a:pPr>
            <a:r>
              <a:rPr b="1" i="0" lang="en-US" sz="2200" u="none" cap="none" strike="noStrike">
                <a:solidFill>
                  <a:schemeClr val="dk1"/>
                </a:solidFill>
                <a:latin typeface="Fira Sans"/>
                <a:ea typeface="Fira Sans"/>
                <a:cs typeface="Fira Sans"/>
                <a:sym typeface="Fira Sans"/>
              </a:rPr>
              <a:t>SERVO MOTOR</a:t>
            </a:r>
            <a:endParaRPr b="1" i="0" sz="2200" u="none" cap="none" strike="noStrike">
              <a:solidFill>
                <a:schemeClr val="dk1"/>
              </a:solidFill>
              <a:latin typeface="Fira Sans"/>
              <a:ea typeface="Fira Sans"/>
              <a:cs typeface="Fira Sans"/>
              <a:sym typeface="Fira Sans"/>
            </a:endParaRPr>
          </a:p>
          <a:p>
            <a:pPr indent="-342900" lvl="0" marL="342900" marR="0" rtl="0" algn="l">
              <a:lnSpc>
                <a:spcPct val="150000"/>
              </a:lnSpc>
              <a:spcBef>
                <a:spcPts val="0"/>
              </a:spcBef>
              <a:spcAft>
                <a:spcPts val="0"/>
              </a:spcAft>
              <a:buClr>
                <a:schemeClr val="dk1"/>
              </a:buClr>
              <a:buSzPts val="2200"/>
              <a:buFont typeface="Fira Sans"/>
              <a:buAutoNum type="arabicPeriod"/>
            </a:pPr>
            <a:r>
              <a:rPr b="1" i="0" lang="en-US" sz="2200" u="none" cap="none" strike="noStrike">
                <a:solidFill>
                  <a:schemeClr val="dk1"/>
                </a:solidFill>
                <a:latin typeface="Fira Sans"/>
                <a:ea typeface="Fira Sans"/>
                <a:cs typeface="Fira Sans"/>
                <a:sym typeface="Fira Sans"/>
              </a:rPr>
              <a:t>STEPPER MOTOR.</a:t>
            </a:r>
            <a:endParaRPr b="1" i="0" sz="2200" u="none" cap="none" strike="noStrike">
              <a:solidFill>
                <a:schemeClr val="dk1"/>
              </a:solidFill>
              <a:latin typeface="Fira Sans"/>
              <a:ea typeface="Fira Sans"/>
              <a:cs typeface="Fira Sans"/>
              <a:sym typeface="Fir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0"/>
          <p:cNvSpPr txBox="1"/>
          <p:nvPr/>
        </p:nvSpPr>
        <p:spPr>
          <a:xfrm>
            <a:off x="914399" y="108012"/>
            <a:ext cx="9942000" cy="769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rgbClr val="C00000"/>
                </a:solidFill>
                <a:latin typeface="Marcellus"/>
                <a:ea typeface="Marcellus"/>
                <a:cs typeface="Marcellus"/>
                <a:sym typeface="Marcellus"/>
              </a:rPr>
              <a:t>Motors used in Robotic Applications…</a:t>
            </a:r>
            <a:endParaRPr b="0" i="0" sz="4400" u="none" cap="none" strike="noStrike">
              <a:solidFill>
                <a:srgbClr val="C00000"/>
              </a:solidFill>
              <a:latin typeface="Marcellus"/>
              <a:ea typeface="Marcellus"/>
              <a:cs typeface="Marcellus"/>
              <a:sym typeface="Marcellus"/>
            </a:endParaRPr>
          </a:p>
        </p:txBody>
      </p:sp>
      <p:sp>
        <p:nvSpPr>
          <p:cNvPr id="108" name="Google Shape;108;p10"/>
          <p:cNvSpPr/>
          <p:nvPr/>
        </p:nvSpPr>
        <p:spPr>
          <a:xfrm>
            <a:off x="627518" y="806641"/>
            <a:ext cx="5853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Arial"/>
                <a:ea typeface="Arial"/>
                <a:cs typeface="Arial"/>
                <a:sym typeface="Arial"/>
              </a:rPr>
              <a:t>1. </a:t>
            </a:r>
            <a:r>
              <a:rPr b="1" i="0" lang="en-US" sz="2800" u="none" cap="none" strike="noStrike">
                <a:solidFill>
                  <a:srgbClr val="C00000"/>
                </a:solidFill>
                <a:latin typeface="Arial"/>
                <a:ea typeface="Arial"/>
                <a:cs typeface="Arial"/>
                <a:sym typeface="Arial"/>
              </a:rPr>
              <a:t>Brushed DC Motor </a:t>
            </a:r>
            <a:endParaRPr b="1" i="0" sz="2800" u="none" cap="none" strike="noStrike">
              <a:solidFill>
                <a:srgbClr val="C00000"/>
              </a:solidFill>
              <a:latin typeface="Arial"/>
              <a:ea typeface="Arial"/>
              <a:cs typeface="Arial"/>
              <a:sym typeface="Arial"/>
            </a:endParaRPr>
          </a:p>
        </p:txBody>
      </p:sp>
      <p:pic>
        <p:nvPicPr>
          <p:cNvPr id="109" name="Google Shape;109;p10"/>
          <p:cNvPicPr preferRelativeResize="0"/>
          <p:nvPr/>
        </p:nvPicPr>
        <p:blipFill rotWithShape="1">
          <a:blip r:embed="rId3">
            <a:alphaModFix/>
          </a:blip>
          <a:srcRect b="0" l="0" r="0" t="0"/>
          <a:stretch/>
        </p:blipFill>
        <p:spPr>
          <a:xfrm>
            <a:off x="1449798" y="2592023"/>
            <a:ext cx="3498725" cy="2502075"/>
          </a:xfrm>
          <a:prstGeom prst="rect">
            <a:avLst/>
          </a:prstGeom>
          <a:noFill/>
          <a:ln>
            <a:noFill/>
          </a:ln>
        </p:spPr>
      </p:pic>
      <p:pic>
        <p:nvPicPr>
          <p:cNvPr id="110" name="Google Shape;110;p10"/>
          <p:cNvPicPr preferRelativeResize="0"/>
          <p:nvPr/>
        </p:nvPicPr>
        <p:blipFill rotWithShape="1">
          <a:blip r:embed="rId4">
            <a:alphaModFix/>
          </a:blip>
          <a:srcRect b="0" l="0" r="0" t="0"/>
          <a:stretch/>
        </p:blipFill>
        <p:spPr>
          <a:xfrm>
            <a:off x="5113393" y="2757500"/>
            <a:ext cx="2736050" cy="2195800"/>
          </a:xfrm>
          <a:prstGeom prst="rect">
            <a:avLst/>
          </a:prstGeom>
          <a:noFill/>
          <a:ln>
            <a:noFill/>
          </a:ln>
        </p:spPr>
      </p:pic>
      <p:sp>
        <p:nvSpPr>
          <p:cNvPr id="111" name="Google Shape;111;p10"/>
          <p:cNvSpPr/>
          <p:nvPr/>
        </p:nvSpPr>
        <p:spPr>
          <a:xfrm>
            <a:off x="914399" y="1443299"/>
            <a:ext cx="109101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2200" u="none" cap="none" strike="noStrike">
                <a:solidFill>
                  <a:srgbClr val="000000"/>
                </a:solidFill>
                <a:latin typeface="Fira Sans"/>
                <a:ea typeface="Fira Sans"/>
                <a:cs typeface="Fira Sans"/>
                <a:sym typeface="Fira Sans"/>
              </a:rPr>
              <a:t>It typically consists of a pair of permanent magnets named as the stator and a motor coil named as the rotor connected to a commutator. In this motor, armature winding is on rotor and permanent magnets are always on the stator.</a:t>
            </a:r>
            <a:endParaRPr b="0" i="0" sz="2200" u="none" cap="none" strike="noStrike">
              <a:solidFill>
                <a:srgbClr val="000000"/>
              </a:solidFill>
              <a:latin typeface="Fira Sans"/>
              <a:ea typeface="Fira Sans"/>
              <a:cs typeface="Fira Sans"/>
              <a:sym typeface="Fira Sans"/>
            </a:endParaRPr>
          </a:p>
        </p:txBody>
      </p:sp>
      <p:sp>
        <p:nvSpPr>
          <p:cNvPr id="112" name="Google Shape;112;p10"/>
          <p:cNvSpPr/>
          <p:nvPr/>
        </p:nvSpPr>
        <p:spPr>
          <a:xfrm>
            <a:off x="336750" y="4953300"/>
            <a:ext cx="11097300" cy="175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2200" u="none" cap="none" strike="noStrike">
                <a:solidFill>
                  <a:srgbClr val="C00000"/>
                </a:solidFill>
                <a:latin typeface="Fira Sans"/>
                <a:ea typeface="Fira Sans"/>
                <a:cs typeface="Fira Sans"/>
                <a:sym typeface="Fira Sans"/>
              </a:rPr>
              <a:t>Limitations of Brushed DC motor</a:t>
            </a:r>
            <a:endParaRPr b="0" i="0" sz="22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2200"/>
              <a:buFont typeface="Fira Sans"/>
              <a:buChar char="•"/>
            </a:pPr>
            <a:r>
              <a:rPr b="0" i="0" lang="en-US" sz="2200" u="none" cap="none" strike="noStrike">
                <a:solidFill>
                  <a:srgbClr val="000000"/>
                </a:solidFill>
                <a:latin typeface="Fira Sans"/>
                <a:ea typeface="Fira Sans"/>
                <a:cs typeface="Fira Sans"/>
                <a:sym typeface="Fira Sans"/>
              </a:rPr>
              <a:t>Less efficient , Electrically noisy due to switching action of the commutators</a:t>
            </a:r>
            <a:endParaRPr b="0" i="0" sz="22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2200"/>
              <a:buFont typeface="Fira Sans"/>
              <a:buChar char="•"/>
            </a:pPr>
            <a:r>
              <a:rPr b="0" i="0" lang="en-US" sz="2200" u="none" cap="none" strike="noStrike">
                <a:solidFill>
                  <a:srgbClr val="000000"/>
                </a:solidFill>
                <a:latin typeface="Fira Sans"/>
                <a:ea typeface="Fira Sans"/>
                <a:cs typeface="Fira Sans"/>
                <a:sym typeface="Fira Sans"/>
              </a:rPr>
              <a:t>Lifespan:  As they are in perpetual physical contact with the shaft, brushes and commutators wear out.   </a:t>
            </a:r>
            <a:endParaRPr b="0" i="0" sz="2200" u="none" cap="none" strike="noStrike">
              <a:solidFill>
                <a:srgbClr val="000000"/>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Fira Sans"/>
              <a:ea typeface="Fira Sans"/>
              <a:cs typeface="Fira Sans"/>
              <a:sym typeface="Fira Sans"/>
            </a:endParaRPr>
          </a:p>
        </p:txBody>
      </p:sp>
      <p:pic>
        <p:nvPicPr>
          <p:cNvPr descr="What are Brushless DC Motors | Renesas" id="113" name="Google Shape;113;p10"/>
          <p:cNvPicPr preferRelativeResize="0"/>
          <p:nvPr/>
        </p:nvPicPr>
        <p:blipFill rotWithShape="1">
          <a:blip r:embed="rId5">
            <a:alphaModFix/>
          </a:blip>
          <a:srcRect b="0" l="0" r="0" t="0"/>
          <a:stretch/>
        </p:blipFill>
        <p:spPr>
          <a:xfrm>
            <a:off x="8379389" y="2604362"/>
            <a:ext cx="2390859" cy="2502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1"/>
          <p:cNvSpPr txBox="1"/>
          <p:nvPr/>
        </p:nvSpPr>
        <p:spPr>
          <a:xfrm>
            <a:off x="914399" y="108012"/>
            <a:ext cx="9942000" cy="769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rgbClr val="C00000"/>
                </a:solidFill>
                <a:latin typeface="Marcellus"/>
                <a:ea typeface="Marcellus"/>
                <a:cs typeface="Marcellus"/>
                <a:sym typeface="Marcellus"/>
              </a:rPr>
              <a:t>Motors used in Robotic Applications…</a:t>
            </a:r>
            <a:endParaRPr b="0" i="0" sz="4400" u="none" cap="none" strike="noStrike">
              <a:solidFill>
                <a:srgbClr val="C00000"/>
              </a:solidFill>
              <a:latin typeface="Marcellus"/>
              <a:ea typeface="Marcellus"/>
              <a:cs typeface="Marcellus"/>
              <a:sym typeface="Marcellus"/>
            </a:endParaRPr>
          </a:p>
        </p:txBody>
      </p:sp>
      <p:sp>
        <p:nvSpPr>
          <p:cNvPr id="119" name="Google Shape;119;p11"/>
          <p:cNvSpPr/>
          <p:nvPr/>
        </p:nvSpPr>
        <p:spPr>
          <a:xfrm>
            <a:off x="627518" y="806641"/>
            <a:ext cx="6114000" cy="4308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200" u="none" cap="none" strike="noStrike">
                <a:solidFill>
                  <a:srgbClr val="C00000"/>
                </a:solidFill>
                <a:latin typeface="Fira Sans"/>
                <a:ea typeface="Fira Sans"/>
                <a:cs typeface="Fira Sans"/>
                <a:sym typeface="Fira Sans"/>
              </a:rPr>
              <a:t>2. Brushless DC (BLDC)Motor</a:t>
            </a:r>
            <a:endParaRPr b="0" i="0" sz="2200" u="none" cap="none" strike="noStrike">
              <a:solidFill>
                <a:srgbClr val="C00000"/>
              </a:solidFill>
              <a:latin typeface="Fira Sans"/>
              <a:ea typeface="Fira Sans"/>
              <a:cs typeface="Fira Sans"/>
              <a:sym typeface="Fira Sans"/>
            </a:endParaRPr>
          </a:p>
        </p:txBody>
      </p:sp>
      <p:sp>
        <p:nvSpPr>
          <p:cNvPr id="120" name="Google Shape;120;p11"/>
          <p:cNvSpPr/>
          <p:nvPr/>
        </p:nvSpPr>
        <p:spPr>
          <a:xfrm>
            <a:off x="609590" y="1362614"/>
            <a:ext cx="6060000" cy="13233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The brushless DC motor do not use brushes. the rotor is a permanent</a:t>
            </a:r>
            <a:endParaRPr b="0" i="0" sz="2000" u="none" cap="none" strike="noStrike">
              <a:solidFill>
                <a:srgbClr val="000000"/>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 magnet; the coils do not rotate, but are instead fixed in place on the stator.</a:t>
            </a:r>
            <a:endParaRPr b="0" i="0" sz="2000" u="none" cap="none" strike="noStrike">
              <a:solidFill>
                <a:srgbClr val="000000"/>
              </a:solidFill>
              <a:latin typeface="Fira Sans"/>
              <a:ea typeface="Fira Sans"/>
              <a:cs typeface="Fira Sans"/>
              <a:sym typeface="Fira Sans"/>
            </a:endParaRPr>
          </a:p>
        </p:txBody>
      </p:sp>
      <p:pic>
        <p:nvPicPr>
          <p:cNvPr descr="A BLDC Motor." id="121" name="Google Shape;121;p11"/>
          <p:cNvPicPr preferRelativeResize="0"/>
          <p:nvPr/>
        </p:nvPicPr>
        <p:blipFill rotWithShape="1">
          <a:blip r:embed="rId3">
            <a:alphaModFix/>
          </a:blip>
          <a:srcRect b="0" l="0" r="0" t="0"/>
          <a:stretch/>
        </p:blipFill>
        <p:spPr>
          <a:xfrm>
            <a:off x="7018250" y="3558513"/>
            <a:ext cx="2587454" cy="2341030"/>
          </a:xfrm>
          <a:prstGeom prst="rect">
            <a:avLst/>
          </a:prstGeom>
          <a:noFill/>
          <a:ln>
            <a:noFill/>
          </a:ln>
        </p:spPr>
      </p:pic>
      <p:sp>
        <p:nvSpPr>
          <p:cNvPr id="122" name="Google Shape;122;p11"/>
          <p:cNvSpPr/>
          <p:nvPr/>
        </p:nvSpPr>
        <p:spPr>
          <a:xfrm>
            <a:off x="343500" y="3314260"/>
            <a:ext cx="5295300" cy="258528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US" sz="2000" u="none" cap="none" strike="noStrike">
                <a:solidFill>
                  <a:srgbClr val="000000"/>
                </a:solidFill>
                <a:latin typeface="Fira Sans"/>
                <a:ea typeface="Fira Sans"/>
                <a:cs typeface="Fira Sans"/>
                <a:sym typeface="Fira Sans"/>
              </a:rPr>
              <a:t>High Efficiency, as these motors can control continuously at maximum rotational force (torque).</a:t>
            </a:r>
            <a:endParaRPr b="0" i="0" sz="20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1400"/>
              <a:buFont typeface="Arial"/>
              <a:buChar char="•"/>
            </a:pPr>
            <a:r>
              <a:rPr b="0" i="0" lang="en-US" sz="2000" u="none" cap="none" strike="noStrike">
                <a:solidFill>
                  <a:srgbClr val="000000"/>
                </a:solidFill>
                <a:latin typeface="Fira Sans"/>
                <a:ea typeface="Fira Sans"/>
                <a:cs typeface="Fira Sans"/>
                <a:sym typeface="Fira Sans"/>
              </a:rPr>
              <a:t>High durability ,  low electric noise generation , due to the lack of brushes.</a:t>
            </a:r>
            <a:endParaRPr b="0" i="0" sz="20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1400"/>
              <a:buFont typeface="Arial"/>
              <a:buChar char="•"/>
            </a:pPr>
            <a:r>
              <a:rPr b="0" i="0" lang="en-US" sz="2000" u="none" cap="none" strike="noStrike">
                <a:solidFill>
                  <a:srgbClr val="000000"/>
                </a:solidFill>
                <a:latin typeface="Fira Sans"/>
                <a:ea typeface="Fira Sans"/>
                <a:cs typeface="Fira Sans"/>
                <a:sym typeface="Fira Sans"/>
              </a:rPr>
              <a:t>Controlled using feedback mechanism, to deliver precisely the desired torque and rotation speed</a:t>
            </a:r>
            <a:r>
              <a:rPr b="0" i="0" lang="en-US" sz="2200" u="none" cap="none" strike="noStrike">
                <a:solidFill>
                  <a:srgbClr val="000000"/>
                </a:solidFill>
                <a:latin typeface="Fira Sans"/>
                <a:ea typeface="Fira Sans"/>
                <a:cs typeface="Fira Sans"/>
                <a:sym typeface="Fira Sans"/>
              </a:rPr>
              <a:t>.</a:t>
            </a:r>
            <a:endParaRPr b="0" i="0" sz="2200" u="none" cap="none" strike="noStrike">
              <a:solidFill>
                <a:srgbClr val="000000"/>
              </a:solidFill>
              <a:latin typeface="Fira Sans"/>
              <a:ea typeface="Fira Sans"/>
              <a:cs typeface="Fira Sans"/>
              <a:sym typeface="Fira Sans"/>
            </a:endParaRPr>
          </a:p>
        </p:txBody>
      </p:sp>
      <p:sp>
        <p:nvSpPr>
          <p:cNvPr id="123" name="Google Shape;123;p11"/>
          <p:cNvSpPr/>
          <p:nvPr/>
        </p:nvSpPr>
        <p:spPr>
          <a:xfrm>
            <a:off x="768001" y="2960337"/>
            <a:ext cx="4410667" cy="4000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2000" u="none" cap="none" strike="noStrike">
                <a:solidFill>
                  <a:srgbClr val="C00000"/>
                </a:solidFill>
                <a:latin typeface="Fira Sans"/>
                <a:ea typeface="Fira Sans"/>
                <a:cs typeface="Fira Sans"/>
                <a:sym typeface="Fira Sans"/>
              </a:rPr>
              <a:t>Advantages of Brushed DC motor</a:t>
            </a:r>
            <a:endParaRPr b="0" i="0" sz="2000" u="none" cap="none" strike="noStrike">
              <a:solidFill>
                <a:srgbClr val="000000"/>
              </a:solidFill>
              <a:latin typeface="Fira Sans"/>
              <a:ea typeface="Fira Sans"/>
              <a:cs typeface="Fira Sans"/>
              <a:sym typeface="Fira Sans"/>
            </a:endParaRPr>
          </a:p>
        </p:txBody>
      </p:sp>
      <p:sp>
        <p:nvSpPr>
          <p:cNvPr descr="Arduino Brushelss Motor Control using ESC" id="124" name="Google Shape;124;p11"/>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Arduino Brushelss Motor Control using ESC" id="125" name="Google Shape;125;p11"/>
          <p:cNvSpPr/>
          <p:nvPr/>
        </p:nvSpPr>
        <p:spPr>
          <a:xfrm>
            <a:off x="307975" y="7937"/>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6" name="Google Shape;126;p11"/>
          <p:cNvPicPr preferRelativeResize="0"/>
          <p:nvPr/>
        </p:nvPicPr>
        <p:blipFill rotWithShape="1">
          <a:blip r:embed="rId4">
            <a:alphaModFix/>
          </a:blip>
          <a:srcRect b="0" l="0" r="0" t="0"/>
          <a:stretch/>
        </p:blipFill>
        <p:spPr>
          <a:xfrm>
            <a:off x="7218485" y="820697"/>
            <a:ext cx="4274255" cy="237091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2"/>
          <p:cNvSpPr txBox="1"/>
          <p:nvPr/>
        </p:nvSpPr>
        <p:spPr>
          <a:xfrm>
            <a:off x="914399" y="108012"/>
            <a:ext cx="9941859" cy="76940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rgbClr val="C00000"/>
                </a:solidFill>
                <a:latin typeface="Marcellus"/>
                <a:ea typeface="Marcellus"/>
                <a:cs typeface="Marcellus"/>
                <a:sym typeface="Marcellus"/>
              </a:rPr>
              <a:t>Motors used in Robotic Applications…</a:t>
            </a:r>
            <a:endParaRPr b="0" i="0" sz="4400" u="none" cap="none" strike="noStrike">
              <a:solidFill>
                <a:srgbClr val="C00000"/>
              </a:solidFill>
              <a:latin typeface="Marcellus"/>
              <a:ea typeface="Marcellus"/>
              <a:cs typeface="Marcellus"/>
              <a:sym typeface="Marcellus"/>
            </a:endParaRPr>
          </a:p>
        </p:txBody>
      </p:sp>
      <p:sp>
        <p:nvSpPr>
          <p:cNvPr id="132" name="Google Shape;132;p12"/>
          <p:cNvSpPr/>
          <p:nvPr/>
        </p:nvSpPr>
        <p:spPr>
          <a:xfrm>
            <a:off x="627518" y="770781"/>
            <a:ext cx="5257810" cy="4308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200" u="none" cap="none" strike="noStrike">
                <a:solidFill>
                  <a:srgbClr val="C00000"/>
                </a:solidFill>
                <a:latin typeface="Fira Sans"/>
                <a:ea typeface="Fira Sans"/>
                <a:cs typeface="Fira Sans"/>
                <a:sym typeface="Fira Sans"/>
              </a:rPr>
              <a:t>3. Geared DC Motor</a:t>
            </a:r>
            <a:endParaRPr b="1" i="0" sz="2200" u="none" cap="none" strike="noStrike">
              <a:solidFill>
                <a:srgbClr val="C00000"/>
              </a:solidFill>
              <a:latin typeface="Fira Sans"/>
              <a:ea typeface="Fira Sans"/>
              <a:cs typeface="Fira Sans"/>
              <a:sym typeface="Fira Sans"/>
            </a:endParaRPr>
          </a:p>
        </p:txBody>
      </p:sp>
      <p:pic>
        <p:nvPicPr>
          <p:cNvPr id="133" name="Google Shape;133;p12"/>
          <p:cNvPicPr preferRelativeResize="0"/>
          <p:nvPr/>
        </p:nvPicPr>
        <p:blipFill rotWithShape="1">
          <a:blip r:embed="rId3">
            <a:alphaModFix/>
          </a:blip>
          <a:srcRect b="0" l="0" r="0" t="0"/>
          <a:stretch/>
        </p:blipFill>
        <p:spPr>
          <a:xfrm>
            <a:off x="228056" y="1490009"/>
            <a:ext cx="3295074" cy="2830979"/>
          </a:xfrm>
          <a:prstGeom prst="rect">
            <a:avLst/>
          </a:prstGeom>
          <a:noFill/>
          <a:ln>
            <a:noFill/>
          </a:ln>
        </p:spPr>
      </p:pic>
      <p:sp>
        <p:nvSpPr>
          <p:cNvPr id="134" name="Google Shape;134;p12"/>
          <p:cNvSpPr/>
          <p:nvPr/>
        </p:nvSpPr>
        <p:spPr>
          <a:xfrm>
            <a:off x="3612777" y="1167408"/>
            <a:ext cx="8668871" cy="193895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US" sz="2000" u="none" cap="none" strike="noStrike">
                <a:solidFill>
                  <a:srgbClr val="000000"/>
                </a:solidFill>
                <a:latin typeface="Fira Sans"/>
                <a:ea typeface="Fira Sans"/>
                <a:cs typeface="Fira Sans"/>
                <a:sym typeface="Fira Sans"/>
              </a:rPr>
              <a:t>Geared DC motors can be defined as an extension of DC motor.</a:t>
            </a:r>
            <a:endParaRPr b="0" i="0" sz="20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1400"/>
              <a:buFont typeface="Arial"/>
              <a:buChar char="•"/>
            </a:pPr>
            <a:r>
              <a:rPr b="0" i="0" lang="en-US" sz="2000" u="none" cap="none" strike="noStrike">
                <a:solidFill>
                  <a:srgbClr val="000000"/>
                </a:solidFill>
                <a:latin typeface="Fira Sans"/>
                <a:ea typeface="Fira Sans"/>
                <a:cs typeface="Fira Sans"/>
                <a:sym typeface="Fira Sans"/>
              </a:rPr>
              <a:t>A geared DC Motor has a gear assembly attached to the motor. </a:t>
            </a:r>
            <a:endParaRPr b="0" i="0" sz="20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1400"/>
              <a:buFont typeface="Arial"/>
              <a:buChar char="•"/>
            </a:pPr>
            <a:r>
              <a:rPr b="0" i="0" lang="en-US" sz="2000" u="none" cap="none" strike="noStrike">
                <a:solidFill>
                  <a:srgbClr val="000000"/>
                </a:solidFill>
                <a:latin typeface="Fira Sans"/>
                <a:ea typeface="Fira Sans"/>
                <a:cs typeface="Fira Sans"/>
                <a:sym typeface="Fira Sans"/>
              </a:rPr>
              <a:t>The gear assembly helps in increasing the torque and reducing the speed. </a:t>
            </a:r>
            <a:endParaRPr b="0" i="0" sz="20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1400"/>
              <a:buFont typeface="Arial"/>
              <a:buChar char="•"/>
            </a:pPr>
            <a:r>
              <a:rPr b="0" i="0" lang="en-US" sz="2000" u="none" cap="none" strike="noStrike">
                <a:solidFill>
                  <a:srgbClr val="000000"/>
                </a:solidFill>
                <a:latin typeface="Fira Sans"/>
                <a:ea typeface="Fira Sans"/>
                <a:cs typeface="Fira Sans"/>
                <a:sym typeface="Fira Sans"/>
              </a:rPr>
              <a:t>Using the correct combination of gears in a gear motor, its speed can be reduced to any desirable figure. </a:t>
            </a:r>
            <a:endParaRPr b="0" i="0" sz="2000" u="none" cap="none" strike="noStrike">
              <a:solidFill>
                <a:srgbClr val="000000"/>
              </a:solidFill>
              <a:latin typeface="Fira Sans"/>
              <a:ea typeface="Fira Sans"/>
              <a:cs typeface="Fira Sans"/>
              <a:sym typeface="Fira Sans"/>
            </a:endParaRPr>
          </a:p>
        </p:txBody>
      </p:sp>
      <p:sp>
        <p:nvSpPr>
          <p:cNvPr id="135" name="Google Shape;135;p12"/>
          <p:cNvSpPr/>
          <p:nvPr/>
        </p:nvSpPr>
        <p:spPr>
          <a:xfrm>
            <a:off x="3881718" y="3327882"/>
            <a:ext cx="8032376" cy="31700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Fira Sans"/>
                <a:ea typeface="Fira Sans"/>
                <a:cs typeface="Fira Sans"/>
                <a:sym typeface="Fira Sans"/>
              </a:rPr>
              <a:t>Specifications:DC Geared Motor, 12V, 100 RPM, Torque up to 2 Kg-cm</a:t>
            </a:r>
            <a:endParaRPr b="1" i="0" sz="2000" u="none" cap="none" strike="noStrike">
              <a:solidFill>
                <a:srgbClr val="C00000"/>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Motor Type         :	 DC with Gear Box, Metal Gears</a:t>
            </a:r>
            <a:endParaRPr b="0" i="0" sz="2000" u="none" cap="none" strike="noStrike">
              <a:solidFill>
                <a:srgbClr val="000000"/>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Base Motor         :	 DC 3000 RPM</a:t>
            </a:r>
            <a:endParaRPr b="0" i="0" sz="2000" u="none" cap="none" strike="noStrike">
              <a:solidFill>
                <a:srgbClr val="000000"/>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Shaft Type          :	 Circular 6mm Dia with Internal Hole for coupling, 23 mm shaft Length</a:t>
            </a:r>
            <a:endParaRPr b="0" i="0" sz="2000" u="none" cap="none" strike="noStrike">
              <a:solidFill>
                <a:srgbClr val="000000"/>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Maximum Torque:	 ~3 Kg-cm at 12V</a:t>
            </a:r>
            <a:endParaRPr b="0" i="0" sz="2000" u="none" cap="none" strike="noStrike">
              <a:solidFill>
                <a:srgbClr val="000000"/>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RPM                    :	 100 RPM at 12V</a:t>
            </a:r>
            <a:endParaRPr b="0" i="0" sz="2000" u="none" cap="none" strike="noStrike">
              <a:solidFill>
                <a:srgbClr val="000000"/>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Weight                :	 130 Gms</a:t>
            </a:r>
            <a:endParaRPr b="0" i="0" sz="2000" u="none" cap="none" strike="noStrike">
              <a:solidFill>
                <a:srgbClr val="000000"/>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Max Load Current:	 ~330mA at 12V</a:t>
            </a:r>
            <a:endParaRPr b="0" i="0" sz="2000" u="none" cap="none" strike="noStrike">
              <a:solidFill>
                <a:srgbClr val="000000"/>
              </a:solidFill>
              <a:latin typeface="Fira Sans"/>
              <a:ea typeface="Fira Sans"/>
              <a:cs typeface="Fira Sans"/>
              <a:sym typeface="Fira Sans"/>
            </a:endParaRPr>
          </a:p>
        </p:txBody>
      </p:sp>
      <p:pic>
        <p:nvPicPr>
          <p:cNvPr id="136" name="Google Shape;136;p12"/>
          <p:cNvPicPr preferRelativeResize="0"/>
          <p:nvPr/>
        </p:nvPicPr>
        <p:blipFill rotWithShape="1">
          <a:blip r:embed="rId4">
            <a:alphaModFix/>
          </a:blip>
          <a:srcRect b="0" l="0" r="0" t="0"/>
          <a:stretch/>
        </p:blipFill>
        <p:spPr>
          <a:xfrm>
            <a:off x="627518" y="3850199"/>
            <a:ext cx="2578885" cy="257888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3"/>
          <p:cNvSpPr txBox="1"/>
          <p:nvPr/>
        </p:nvSpPr>
        <p:spPr>
          <a:xfrm>
            <a:off x="914397" y="108012"/>
            <a:ext cx="9941859" cy="76940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rgbClr val="C00000"/>
                </a:solidFill>
                <a:latin typeface="Marcellus"/>
                <a:ea typeface="Marcellus"/>
                <a:cs typeface="Marcellus"/>
                <a:sym typeface="Marcellus"/>
              </a:rPr>
              <a:t>Motors used in Robotic Applications…</a:t>
            </a:r>
            <a:endParaRPr b="0" i="0" sz="4400" u="none" cap="none" strike="noStrike">
              <a:solidFill>
                <a:srgbClr val="C00000"/>
              </a:solidFill>
              <a:latin typeface="Marcellus"/>
              <a:ea typeface="Marcellus"/>
              <a:cs typeface="Marcellus"/>
              <a:sym typeface="Marcellus"/>
            </a:endParaRPr>
          </a:p>
        </p:txBody>
      </p:sp>
      <p:pic>
        <p:nvPicPr>
          <p:cNvPr id="142" name="Google Shape;142;p13"/>
          <p:cNvPicPr preferRelativeResize="0"/>
          <p:nvPr/>
        </p:nvPicPr>
        <p:blipFill rotWithShape="1">
          <a:blip r:embed="rId3">
            <a:alphaModFix/>
          </a:blip>
          <a:srcRect b="0" l="0" r="0" t="0"/>
          <a:stretch/>
        </p:blipFill>
        <p:spPr>
          <a:xfrm>
            <a:off x="6242538" y="1260893"/>
            <a:ext cx="5307948" cy="2383259"/>
          </a:xfrm>
          <a:prstGeom prst="rect">
            <a:avLst/>
          </a:prstGeom>
          <a:noFill/>
          <a:ln cap="flat" cmpd="sng" w="9525">
            <a:solidFill>
              <a:schemeClr val="dk1"/>
            </a:solidFill>
            <a:prstDash val="solid"/>
            <a:miter lim="800000"/>
            <a:headEnd len="sm" w="sm" type="none"/>
            <a:tailEnd len="sm" w="sm" type="none"/>
          </a:ln>
        </p:spPr>
      </p:pic>
      <p:pic>
        <p:nvPicPr>
          <p:cNvPr id="143" name="Google Shape;143;p13"/>
          <p:cNvPicPr preferRelativeResize="0"/>
          <p:nvPr/>
        </p:nvPicPr>
        <p:blipFill rotWithShape="1">
          <a:blip r:embed="rId4">
            <a:alphaModFix/>
          </a:blip>
          <a:srcRect b="0" l="0" r="0" t="0"/>
          <a:stretch/>
        </p:blipFill>
        <p:spPr>
          <a:xfrm>
            <a:off x="537873" y="1317785"/>
            <a:ext cx="4605628" cy="2269477"/>
          </a:xfrm>
          <a:prstGeom prst="rect">
            <a:avLst/>
          </a:prstGeom>
          <a:noFill/>
          <a:ln cap="flat" cmpd="sng" w="9525">
            <a:solidFill>
              <a:schemeClr val="dk1"/>
            </a:solidFill>
            <a:prstDash val="solid"/>
            <a:miter lim="800000"/>
            <a:headEnd len="sm" w="sm" type="none"/>
            <a:tailEnd len="sm" w="sm" type="none"/>
          </a:ln>
        </p:spPr>
      </p:pic>
      <p:sp>
        <p:nvSpPr>
          <p:cNvPr id="144" name="Google Shape;144;p13"/>
          <p:cNvSpPr/>
          <p:nvPr/>
        </p:nvSpPr>
        <p:spPr>
          <a:xfrm>
            <a:off x="313748" y="3816463"/>
            <a:ext cx="11236738" cy="272378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US" sz="1900" u="none" cap="none" strike="noStrike">
                <a:solidFill>
                  <a:srgbClr val="000000"/>
                </a:solidFill>
                <a:latin typeface="Fira Sans"/>
                <a:ea typeface="Fira Sans"/>
                <a:cs typeface="Fira Sans"/>
                <a:sym typeface="Fira Sans"/>
              </a:rPr>
              <a:t>Closed-loop servomechanism that uses position feedback to control its motion and final position. </a:t>
            </a:r>
            <a:endParaRPr b="0" i="0" sz="19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1400"/>
              <a:buFont typeface="Arial"/>
              <a:buChar char="•"/>
            </a:pPr>
            <a:r>
              <a:rPr b="0" i="0" lang="en-US" sz="1900" u="none" cap="none" strike="noStrike">
                <a:solidFill>
                  <a:srgbClr val="000000"/>
                </a:solidFill>
                <a:latin typeface="Fira Sans"/>
                <a:ea typeface="Fira Sans"/>
                <a:cs typeface="Fira Sans"/>
                <a:sym typeface="Fira Sans"/>
              </a:rPr>
              <a:t>The input to its control is a signal (either analogue or digital) representing the position commanded for the output shaft.</a:t>
            </a:r>
            <a:endParaRPr b="0" i="0" sz="19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1400"/>
              <a:buFont typeface="Arial"/>
              <a:buChar char="•"/>
            </a:pPr>
            <a:r>
              <a:rPr b="0" i="0" lang="en-US" sz="1900" u="none" cap="none" strike="noStrike">
                <a:solidFill>
                  <a:srgbClr val="000000"/>
                </a:solidFill>
                <a:latin typeface="Fira Sans"/>
                <a:ea typeface="Fira Sans"/>
                <a:cs typeface="Fira Sans"/>
                <a:sym typeface="Fira Sans"/>
              </a:rPr>
              <a:t>The motor is paired with some type of position encoder to provide position and speed feedback..</a:t>
            </a:r>
            <a:endParaRPr b="0" i="0" sz="19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1400"/>
              <a:buFont typeface="Arial"/>
              <a:buChar char="•"/>
            </a:pPr>
            <a:r>
              <a:rPr b="0" i="0" lang="en-US" sz="1900" u="none" cap="none" strike="noStrike">
                <a:solidFill>
                  <a:srgbClr val="000000"/>
                </a:solidFill>
                <a:latin typeface="Fira Sans"/>
                <a:ea typeface="Fira Sans"/>
                <a:cs typeface="Fira Sans"/>
                <a:sym typeface="Fira Sans"/>
              </a:rPr>
              <a:t>If the output position differs from that required, an error signal is generated which then causes the motor to rotate in either direction, as needed to bring the output shaft to the appropriate position. </a:t>
            </a:r>
            <a:endParaRPr b="0" i="0" sz="19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1400"/>
              <a:buFont typeface="Arial"/>
              <a:buChar char="•"/>
            </a:pPr>
            <a:r>
              <a:rPr b="0" i="0" lang="en-US" sz="1900" u="none" cap="none" strike="noStrike">
                <a:solidFill>
                  <a:srgbClr val="000000"/>
                </a:solidFill>
                <a:latin typeface="Fira Sans"/>
                <a:ea typeface="Fira Sans"/>
                <a:cs typeface="Fira Sans"/>
                <a:sym typeface="Fira Sans"/>
              </a:rPr>
              <a:t>As the positions approach, the error signal reduces to zero and the motor stops.</a:t>
            </a:r>
            <a:endParaRPr b="0" i="0" sz="1900" u="none" cap="none" strike="noStrike">
              <a:solidFill>
                <a:srgbClr val="000000"/>
              </a:solidFill>
              <a:latin typeface="Fira Sans"/>
              <a:ea typeface="Fira Sans"/>
              <a:cs typeface="Fira Sans"/>
              <a:sym typeface="Fira Sans"/>
            </a:endParaRPr>
          </a:p>
        </p:txBody>
      </p:sp>
      <p:sp>
        <p:nvSpPr>
          <p:cNvPr id="145" name="Google Shape;145;p13"/>
          <p:cNvSpPr/>
          <p:nvPr/>
        </p:nvSpPr>
        <p:spPr>
          <a:xfrm>
            <a:off x="627518" y="785601"/>
            <a:ext cx="2699778" cy="4308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200" u="none" cap="none" strike="noStrike">
                <a:solidFill>
                  <a:srgbClr val="C00000"/>
                </a:solidFill>
                <a:latin typeface="Fira Sans"/>
                <a:ea typeface="Fira Sans"/>
                <a:cs typeface="Fira Sans"/>
                <a:sym typeface="Fira Sans"/>
              </a:rPr>
              <a:t>4. Servo motor</a:t>
            </a:r>
            <a:endParaRPr b="0" i="0" sz="2200" u="none" cap="none" strike="noStrike">
              <a:solidFill>
                <a:srgbClr val="C00000"/>
              </a:solidFill>
              <a:latin typeface="Fira Sans"/>
              <a:ea typeface="Fira Sans"/>
              <a:cs typeface="Fira Sans"/>
              <a:sym typeface="Fir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4"/>
          <p:cNvSpPr txBox="1"/>
          <p:nvPr/>
        </p:nvSpPr>
        <p:spPr>
          <a:xfrm>
            <a:off x="914399" y="108012"/>
            <a:ext cx="9941859" cy="76940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rgbClr val="C00000"/>
                </a:solidFill>
                <a:latin typeface="Marcellus"/>
                <a:ea typeface="Marcellus"/>
                <a:cs typeface="Marcellus"/>
                <a:sym typeface="Marcellus"/>
              </a:rPr>
              <a:t>Motors used in Robotic Applications…</a:t>
            </a:r>
            <a:endParaRPr b="0" i="0" sz="4400" u="none" cap="none" strike="noStrike">
              <a:solidFill>
                <a:srgbClr val="C00000"/>
              </a:solidFill>
              <a:latin typeface="Marcellus"/>
              <a:ea typeface="Marcellus"/>
              <a:cs typeface="Marcellus"/>
              <a:sym typeface="Marcellus"/>
            </a:endParaRPr>
          </a:p>
        </p:txBody>
      </p:sp>
      <p:sp>
        <p:nvSpPr>
          <p:cNvPr id="151" name="Google Shape;151;p14"/>
          <p:cNvSpPr/>
          <p:nvPr/>
        </p:nvSpPr>
        <p:spPr>
          <a:xfrm>
            <a:off x="627518" y="776636"/>
            <a:ext cx="2898550" cy="4308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200" u="none" cap="none" strike="noStrike">
                <a:solidFill>
                  <a:srgbClr val="C00000"/>
                </a:solidFill>
                <a:latin typeface="Fira Sans"/>
                <a:ea typeface="Fira Sans"/>
                <a:cs typeface="Fira Sans"/>
                <a:sym typeface="Fira Sans"/>
              </a:rPr>
              <a:t>4. Servo motor..</a:t>
            </a:r>
            <a:endParaRPr b="0" i="0" sz="2200" u="none" cap="none" strike="noStrike">
              <a:solidFill>
                <a:srgbClr val="C00000"/>
              </a:solidFill>
              <a:latin typeface="Fira Sans"/>
              <a:ea typeface="Fira Sans"/>
              <a:cs typeface="Fira Sans"/>
              <a:sym typeface="Fira Sans"/>
            </a:endParaRPr>
          </a:p>
        </p:txBody>
      </p:sp>
      <p:sp>
        <p:nvSpPr>
          <p:cNvPr id="152" name="Google Shape;152;p14"/>
          <p:cNvSpPr/>
          <p:nvPr/>
        </p:nvSpPr>
        <p:spPr>
          <a:xfrm>
            <a:off x="5253325" y="1168600"/>
            <a:ext cx="5889000" cy="5247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2000" u="none" cap="none" strike="noStrike">
                <a:solidFill>
                  <a:srgbClr val="C00000"/>
                </a:solidFill>
                <a:latin typeface="Fira Sans"/>
                <a:ea typeface="Fira Sans"/>
                <a:cs typeface="Fira Sans"/>
                <a:sym typeface="Fira Sans"/>
              </a:rPr>
              <a:t>Servo Motor SG90 Features</a:t>
            </a:r>
            <a:endParaRPr b="1" i="0" sz="2000" u="none" cap="none" strike="noStrike">
              <a:solidFill>
                <a:srgbClr val="C00000"/>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Working Frequency:	1520μs / 50hz </a:t>
            </a:r>
            <a:endParaRPr b="0" i="0" sz="2000" u="none" cap="none" strike="noStrike">
              <a:solidFill>
                <a:srgbClr val="000000"/>
              </a:solidFill>
              <a:latin typeface="Fira Sans"/>
              <a:ea typeface="Fira Sans"/>
              <a:cs typeface="Fira Sans"/>
              <a:sym typeface="Fira Sans"/>
            </a:endParaRPr>
          </a:p>
          <a:p>
            <a:pPr indent="0" lvl="0" marL="0" marR="0" rtl="0" algn="l">
              <a:lnSpc>
                <a:spcPct val="100000"/>
              </a:lnSpc>
              <a:spcBef>
                <a:spcPts val="60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(RX) Required Pulse:	3.3 ~ 5 Volt Peak to Peak Square Wave</a:t>
            </a:r>
            <a:endParaRPr b="0" i="0" sz="2000" u="none" cap="none" strike="noStrike">
              <a:solidFill>
                <a:srgbClr val="000000"/>
              </a:solidFill>
              <a:latin typeface="Fira Sans"/>
              <a:ea typeface="Fira Sans"/>
              <a:cs typeface="Fira Sans"/>
              <a:sym typeface="Fira Sans"/>
            </a:endParaRPr>
          </a:p>
          <a:p>
            <a:pPr indent="0" lvl="0" marL="0" marR="0" rtl="0" algn="l">
              <a:lnSpc>
                <a:spcPct val="100000"/>
              </a:lnSpc>
              <a:spcBef>
                <a:spcPts val="60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Operating Voltage:	4.8 ~ 6 V DC Volts</a:t>
            </a:r>
            <a:endParaRPr b="0" i="0" sz="2000" u="none" cap="none" strike="noStrike">
              <a:solidFill>
                <a:srgbClr val="000000"/>
              </a:solidFill>
              <a:latin typeface="Fira Sans"/>
              <a:ea typeface="Fira Sans"/>
              <a:cs typeface="Fira Sans"/>
              <a:sym typeface="Fira Sans"/>
            </a:endParaRPr>
          </a:p>
          <a:p>
            <a:pPr indent="0" lvl="0" marL="0" marR="0" rtl="0" algn="l">
              <a:lnSpc>
                <a:spcPct val="100000"/>
              </a:lnSpc>
              <a:spcBef>
                <a:spcPts val="60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Operating Speed (4.8v):0.15 Sec/60 Degrees</a:t>
            </a:r>
            <a:endParaRPr b="0" i="0" sz="2000" u="none" cap="none" strike="noStrike">
              <a:solidFill>
                <a:srgbClr val="000000"/>
              </a:solidFill>
              <a:latin typeface="Fira Sans"/>
              <a:ea typeface="Fira Sans"/>
              <a:cs typeface="Fira Sans"/>
              <a:sym typeface="Fira Sans"/>
            </a:endParaRPr>
          </a:p>
          <a:p>
            <a:pPr indent="0" lvl="0" marL="0" marR="0" rtl="0" algn="l">
              <a:lnSpc>
                <a:spcPct val="100000"/>
              </a:lnSpc>
              <a:spcBef>
                <a:spcPts val="60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Operating Speed (6v)	0.12 Sec/60 Degrees</a:t>
            </a:r>
            <a:endParaRPr b="0" i="0" sz="2000" u="none" cap="none" strike="noStrike">
              <a:solidFill>
                <a:srgbClr val="000000"/>
              </a:solidFill>
              <a:latin typeface="Fira Sans"/>
              <a:ea typeface="Fira Sans"/>
              <a:cs typeface="Fira Sans"/>
              <a:sym typeface="Fira Sans"/>
            </a:endParaRPr>
          </a:p>
          <a:p>
            <a:pPr indent="0" lvl="0" marL="0" marR="0" rtl="0" algn="l">
              <a:lnSpc>
                <a:spcPct val="100000"/>
              </a:lnSpc>
              <a:spcBef>
                <a:spcPts val="60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Stall Torque (4.8v):	1.3kg/cm</a:t>
            </a:r>
            <a:endParaRPr b="0" i="0" sz="2000" u="none" cap="none" strike="noStrike">
              <a:solidFill>
                <a:srgbClr val="000000"/>
              </a:solidFill>
              <a:latin typeface="Fira Sans"/>
              <a:ea typeface="Fira Sans"/>
              <a:cs typeface="Fira Sans"/>
              <a:sym typeface="Fira Sans"/>
            </a:endParaRPr>
          </a:p>
          <a:p>
            <a:pPr indent="0" lvl="0" marL="0" marR="0" rtl="0" algn="l">
              <a:lnSpc>
                <a:spcPct val="100000"/>
              </a:lnSpc>
              <a:spcBef>
                <a:spcPts val="60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Stall Torque (6v):	1.5kg/cm</a:t>
            </a:r>
            <a:endParaRPr b="0" i="0" sz="2000" u="none" cap="none" strike="noStrike">
              <a:solidFill>
                <a:srgbClr val="000000"/>
              </a:solidFill>
              <a:latin typeface="Fira Sans"/>
              <a:ea typeface="Fira Sans"/>
              <a:cs typeface="Fira Sans"/>
              <a:sym typeface="Fira Sans"/>
            </a:endParaRPr>
          </a:p>
          <a:p>
            <a:pPr indent="0" lvl="0" marL="0" marR="0" rtl="0" algn="l">
              <a:lnSpc>
                <a:spcPct val="100000"/>
              </a:lnSpc>
              <a:spcBef>
                <a:spcPts val="60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Motor Type:	Brushed DC Motor</a:t>
            </a:r>
            <a:endParaRPr b="0" i="0" sz="2000" u="none" cap="none" strike="noStrike">
              <a:solidFill>
                <a:srgbClr val="000000"/>
              </a:solidFill>
              <a:latin typeface="Fira Sans"/>
              <a:ea typeface="Fira Sans"/>
              <a:cs typeface="Fira Sans"/>
              <a:sym typeface="Fira Sans"/>
            </a:endParaRPr>
          </a:p>
          <a:p>
            <a:pPr indent="0" lvl="0" marL="0" marR="0" rtl="0" algn="l">
              <a:lnSpc>
                <a:spcPct val="100000"/>
              </a:lnSpc>
              <a:spcBef>
                <a:spcPts val="60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Gear Type  :	Plastic Gears</a:t>
            </a:r>
            <a:endParaRPr b="0" i="0" sz="2000" u="none" cap="none" strike="noStrike">
              <a:solidFill>
                <a:srgbClr val="000000"/>
              </a:solidFill>
              <a:latin typeface="Fira Sans"/>
              <a:ea typeface="Fira Sans"/>
              <a:cs typeface="Fira Sans"/>
              <a:sym typeface="Fira Sans"/>
            </a:endParaRPr>
          </a:p>
          <a:p>
            <a:pPr indent="0" lvl="0" marL="0" marR="0" rtl="0" algn="l">
              <a:lnSpc>
                <a:spcPct val="100000"/>
              </a:lnSpc>
              <a:spcBef>
                <a:spcPts val="60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Case Material:	Plastic</a:t>
            </a:r>
            <a:endParaRPr b="0" i="0" sz="2000" u="none" cap="none" strike="noStrike">
              <a:solidFill>
                <a:srgbClr val="000000"/>
              </a:solidFill>
              <a:latin typeface="Fira Sans"/>
              <a:ea typeface="Fira Sans"/>
              <a:cs typeface="Fira Sans"/>
              <a:sym typeface="Fira Sans"/>
            </a:endParaRPr>
          </a:p>
          <a:p>
            <a:pPr indent="0" lvl="0" marL="0" marR="0" rtl="0" algn="l">
              <a:lnSpc>
                <a:spcPct val="100000"/>
              </a:lnSpc>
              <a:spcBef>
                <a:spcPts val="60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Dimensions:	23 x 11.5 x 24mm</a:t>
            </a:r>
            <a:endParaRPr b="0" i="0" sz="2000" u="none" cap="none" strike="noStrike">
              <a:solidFill>
                <a:srgbClr val="000000"/>
              </a:solidFill>
              <a:latin typeface="Fira Sans"/>
              <a:ea typeface="Fira Sans"/>
              <a:cs typeface="Fira Sans"/>
              <a:sym typeface="Fira Sans"/>
            </a:endParaRPr>
          </a:p>
          <a:p>
            <a:pPr indent="0" lvl="0" marL="0" marR="0" rtl="0" algn="l">
              <a:lnSpc>
                <a:spcPct val="100000"/>
              </a:lnSpc>
              <a:spcBef>
                <a:spcPts val="600"/>
              </a:spcBef>
              <a:spcAft>
                <a:spcPts val="0"/>
              </a:spcAft>
              <a:buClr>
                <a:srgbClr val="000000"/>
              </a:buClr>
              <a:buSzPts val="1400"/>
              <a:buFont typeface="Arial"/>
              <a:buNone/>
            </a:pPr>
            <a:r>
              <a:rPr b="0" i="0" lang="en-US" sz="2000" u="none" cap="none" strike="noStrike">
                <a:solidFill>
                  <a:srgbClr val="000000"/>
                </a:solidFill>
                <a:latin typeface="Fira Sans"/>
                <a:ea typeface="Fira Sans"/>
                <a:cs typeface="Fira Sans"/>
                <a:sym typeface="Fira Sans"/>
              </a:rPr>
              <a:t>Weight:	 	9 grams</a:t>
            </a:r>
            <a:endParaRPr b="0" i="0" sz="2000" u="none" cap="none" strike="noStrike">
              <a:solidFill>
                <a:srgbClr val="000000"/>
              </a:solidFill>
              <a:latin typeface="Fira Sans"/>
              <a:ea typeface="Fira Sans"/>
              <a:cs typeface="Fira Sans"/>
              <a:sym typeface="Fira Sans"/>
            </a:endParaRPr>
          </a:p>
        </p:txBody>
      </p:sp>
      <p:pic>
        <p:nvPicPr>
          <p:cNvPr id="153" name="Google Shape;153;p14"/>
          <p:cNvPicPr preferRelativeResize="0"/>
          <p:nvPr/>
        </p:nvPicPr>
        <p:blipFill rotWithShape="1">
          <a:blip r:embed="rId3">
            <a:alphaModFix/>
          </a:blip>
          <a:srcRect b="11624" l="7589" r="10880" t="9945"/>
          <a:stretch/>
        </p:blipFill>
        <p:spPr>
          <a:xfrm>
            <a:off x="712693" y="1255057"/>
            <a:ext cx="4007407" cy="2526652"/>
          </a:xfrm>
          <a:prstGeom prst="rect">
            <a:avLst/>
          </a:prstGeom>
          <a:noFill/>
          <a:ln>
            <a:noFill/>
          </a:ln>
        </p:spPr>
      </p:pic>
      <p:pic>
        <p:nvPicPr>
          <p:cNvPr id="154" name="Google Shape;154;p14"/>
          <p:cNvPicPr preferRelativeResize="0"/>
          <p:nvPr/>
        </p:nvPicPr>
        <p:blipFill rotWithShape="1">
          <a:blip r:embed="rId4">
            <a:alphaModFix/>
          </a:blip>
          <a:srcRect b="0" l="32913" r="6662" t="0"/>
          <a:stretch/>
        </p:blipFill>
        <p:spPr>
          <a:xfrm>
            <a:off x="690270" y="3781709"/>
            <a:ext cx="4029831" cy="275356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nvSpPr>
        <p:spPr>
          <a:xfrm>
            <a:off x="914398" y="215152"/>
            <a:ext cx="9941859" cy="76940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rgbClr val="C00000"/>
                </a:solidFill>
                <a:latin typeface="Marcellus"/>
                <a:ea typeface="Marcellus"/>
                <a:cs typeface="Marcellus"/>
                <a:sym typeface="Marcellus"/>
              </a:rPr>
              <a:t>Motors used in Robotic Applications</a:t>
            </a:r>
            <a:endParaRPr b="0" i="0" sz="4400" u="none" cap="none" strike="noStrike">
              <a:solidFill>
                <a:srgbClr val="C00000"/>
              </a:solidFill>
              <a:latin typeface="Marcellus"/>
              <a:ea typeface="Marcellus"/>
              <a:cs typeface="Marcellus"/>
              <a:sym typeface="Marcellus"/>
            </a:endParaRPr>
          </a:p>
        </p:txBody>
      </p:sp>
      <p:pic>
        <p:nvPicPr>
          <p:cNvPr descr="Optimizing the coils in a stepper motor" id="160" name="Google Shape;160;p27"/>
          <p:cNvPicPr preferRelativeResize="0"/>
          <p:nvPr/>
        </p:nvPicPr>
        <p:blipFill rotWithShape="1">
          <a:blip r:embed="rId3">
            <a:alphaModFix/>
          </a:blip>
          <a:srcRect b="0" l="0" r="0" t="0"/>
          <a:stretch/>
        </p:blipFill>
        <p:spPr>
          <a:xfrm>
            <a:off x="3311798" y="4386994"/>
            <a:ext cx="2093887" cy="1969845"/>
          </a:xfrm>
          <a:prstGeom prst="rect">
            <a:avLst/>
          </a:prstGeom>
          <a:noFill/>
          <a:ln>
            <a:noFill/>
          </a:ln>
        </p:spPr>
      </p:pic>
      <p:pic>
        <p:nvPicPr>
          <p:cNvPr descr="Theoretical principle of the driving of a stepper motor" id="161" name="Google Shape;161;p27"/>
          <p:cNvPicPr preferRelativeResize="0"/>
          <p:nvPr/>
        </p:nvPicPr>
        <p:blipFill rotWithShape="1">
          <a:blip r:embed="rId4">
            <a:alphaModFix/>
          </a:blip>
          <a:srcRect b="0" l="0" r="0" t="0"/>
          <a:stretch/>
        </p:blipFill>
        <p:spPr>
          <a:xfrm>
            <a:off x="739526" y="4406462"/>
            <a:ext cx="1898092" cy="1902095"/>
          </a:xfrm>
          <a:prstGeom prst="rect">
            <a:avLst/>
          </a:prstGeom>
          <a:noFill/>
          <a:ln>
            <a:noFill/>
          </a:ln>
        </p:spPr>
      </p:pic>
      <p:pic>
        <p:nvPicPr>
          <p:cNvPr id="162" name="Google Shape;162;p27"/>
          <p:cNvPicPr preferRelativeResize="0"/>
          <p:nvPr/>
        </p:nvPicPr>
        <p:blipFill rotWithShape="1">
          <a:blip r:embed="rId5">
            <a:alphaModFix/>
          </a:blip>
          <a:srcRect b="0" l="0" r="0" t="0"/>
          <a:stretch/>
        </p:blipFill>
        <p:spPr>
          <a:xfrm>
            <a:off x="8352692" y="4259057"/>
            <a:ext cx="3099703" cy="2049684"/>
          </a:xfrm>
          <a:prstGeom prst="rect">
            <a:avLst/>
          </a:prstGeom>
          <a:noFill/>
          <a:ln>
            <a:noFill/>
          </a:ln>
        </p:spPr>
      </p:pic>
      <p:sp>
        <p:nvSpPr>
          <p:cNvPr id="163" name="Google Shape;163;p27"/>
          <p:cNvSpPr/>
          <p:nvPr/>
        </p:nvSpPr>
        <p:spPr>
          <a:xfrm>
            <a:off x="510926" y="897851"/>
            <a:ext cx="7270266" cy="35086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1" i="0" lang="en-US" sz="2200" u="none" cap="none" strike="noStrike">
                <a:solidFill>
                  <a:srgbClr val="C00000"/>
                </a:solidFill>
                <a:latin typeface="Fira Sans"/>
                <a:ea typeface="Fira Sans"/>
                <a:cs typeface="Fira Sans"/>
                <a:sym typeface="Fira Sans"/>
              </a:rPr>
              <a:t>5. Stepper motors</a:t>
            </a:r>
            <a:r>
              <a:rPr b="0" i="0" lang="en-US" sz="2200" u="none" cap="none" strike="noStrike">
                <a:solidFill>
                  <a:srgbClr val="000000"/>
                </a:solidFill>
                <a:latin typeface="Fira Sans"/>
                <a:ea typeface="Fira Sans"/>
                <a:cs typeface="Fira Sans"/>
                <a:sym typeface="Fira Sans"/>
              </a:rPr>
              <a:t> </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600"/>
              <a:buFont typeface="Arial"/>
              <a:buChar char="•"/>
            </a:pPr>
            <a:r>
              <a:rPr b="0" i="0" lang="en-US" sz="1800" u="none" cap="none" strike="noStrike">
                <a:solidFill>
                  <a:srgbClr val="000000"/>
                </a:solidFill>
                <a:latin typeface="Fira Sans"/>
                <a:ea typeface="Fira Sans"/>
                <a:cs typeface="Fira Sans"/>
                <a:sym typeface="Fira Sans"/>
              </a:rPr>
              <a:t>DC motors that divide a full rotation into a number of equal steps. </a:t>
            </a:r>
            <a:endParaRPr b="0" i="0" sz="1800" u="none" cap="none" strike="noStrike">
              <a:solidFill>
                <a:srgbClr val="000000"/>
              </a:solidFill>
              <a:latin typeface="Fira Sans"/>
              <a:ea typeface="Fira Sans"/>
              <a:cs typeface="Fira Sans"/>
              <a:sym typeface="Fira Sans"/>
            </a:endParaRPr>
          </a:p>
          <a:p>
            <a:pPr indent="-285750" lvl="0" marL="285750" marR="0" rtl="0" algn="just">
              <a:lnSpc>
                <a:spcPct val="100000"/>
              </a:lnSpc>
              <a:spcBef>
                <a:spcPts val="0"/>
              </a:spcBef>
              <a:spcAft>
                <a:spcPts val="0"/>
              </a:spcAft>
              <a:buClr>
                <a:srgbClr val="000000"/>
              </a:buClr>
              <a:buSzPts val="1600"/>
              <a:buFont typeface="Arial"/>
              <a:buChar char="•"/>
            </a:pPr>
            <a:r>
              <a:rPr b="0" i="0" lang="en-US" sz="1800" u="none" cap="none" strike="noStrike">
                <a:solidFill>
                  <a:srgbClr val="000000"/>
                </a:solidFill>
                <a:latin typeface="Fira Sans"/>
                <a:ea typeface="Fira Sans"/>
                <a:cs typeface="Fira Sans"/>
                <a:sym typeface="Fira Sans"/>
              </a:rPr>
              <a:t>One pulse causes the motor to increment one precise angle of motion. </a:t>
            </a:r>
            <a:endParaRPr b="0" i="0" sz="1800" u="none" cap="none" strike="noStrike">
              <a:solidFill>
                <a:srgbClr val="000000"/>
              </a:solidFill>
              <a:latin typeface="Fira Sans"/>
              <a:ea typeface="Fira Sans"/>
              <a:cs typeface="Fira Sans"/>
              <a:sym typeface="Fira Sans"/>
            </a:endParaRPr>
          </a:p>
          <a:p>
            <a:pPr indent="-285750" lvl="0" marL="285750" marR="0" rtl="0" algn="just">
              <a:lnSpc>
                <a:spcPct val="100000"/>
              </a:lnSpc>
              <a:spcBef>
                <a:spcPts val="0"/>
              </a:spcBef>
              <a:spcAft>
                <a:spcPts val="0"/>
              </a:spcAft>
              <a:buClr>
                <a:srgbClr val="000000"/>
              </a:buClr>
              <a:buSzPts val="1600"/>
              <a:buFont typeface="Arial"/>
              <a:buChar char="•"/>
            </a:pPr>
            <a:r>
              <a:rPr b="0" i="0" lang="en-US" sz="1800" u="none" cap="none" strike="noStrike">
                <a:solidFill>
                  <a:srgbClr val="000000"/>
                </a:solidFill>
                <a:latin typeface="Fira Sans"/>
                <a:ea typeface="Fira Sans"/>
                <a:cs typeface="Fira Sans"/>
                <a:sym typeface="Fira Sans"/>
              </a:rPr>
              <a:t>By energizing each step in sequence, the motor will rotate, one step at a time. </a:t>
            </a:r>
            <a:endParaRPr b="0" i="0" sz="1800" u="none" cap="none" strike="noStrike">
              <a:solidFill>
                <a:srgbClr val="000000"/>
              </a:solidFill>
              <a:latin typeface="Fira Sans"/>
              <a:ea typeface="Fira Sans"/>
              <a:cs typeface="Fira Sans"/>
              <a:sym typeface="Fira Sans"/>
            </a:endParaRPr>
          </a:p>
          <a:p>
            <a:pPr indent="-285750" lvl="0" marL="285750" marR="0" rtl="0" algn="just">
              <a:lnSpc>
                <a:spcPct val="100000"/>
              </a:lnSpc>
              <a:spcBef>
                <a:spcPts val="0"/>
              </a:spcBef>
              <a:spcAft>
                <a:spcPts val="0"/>
              </a:spcAft>
              <a:buClr>
                <a:srgbClr val="000000"/>
              </a:buClr>
              <a:buSzPts val="1600"/>
              <a:buFont typeface="Arial"/>
              <a:buChar char="•"/>
            </a:pPr>
            <a:r>
              <a:rPr b="0" i="0" lang="en-US" sz="1800" u="none" cap="none" strike="noStrike">
                <a:solidFill>
                  <a:srgbClr val="000000"/>
                </a:solidFill>
                <a:latin typeface="Fira Sans"/>
                <a:ea typeface="Fira Sans"/>
                <a:cs typeface="Fira Sans"/>
                <a:sym typeface="Fira Sans"/>
              </a:rPr>
              <a:t>Increasing the current or pulse increases motor torque, and the higher the step frequency, the higher the motor speed. </a:t>
            </a:r>
            <a:endParaRPr b="0" i="0" sz="1800" u="none" cap="none" strike="noStrike">
              <a:solidFill>
                <a:srgbClr val="000000"/>
              </a:solidFill>
              <a:latin typeface="Fira Sans"/>
              <a:ea typeface="Fira Sans"/>
              <a:cs typeface="Fira Sans"/>
              <a:sym typeface="Fira Sans"/>
            </a:endParaRPr>
          </a:p>
          <a:p>
            <a:pPr indent="-285750" lvl="0" marL="285750" marR="0" rtl="0" algn="just">
              <a:lnSpc>
                <a:spcPct val="100000"/>
              </a:lnSpc>
              <a:spcBef>
                <a:spcPts val="0"/>
              </a:spcBef>
              <a:spcAft>
                <a:spcPts val="0"/>
              </a:spcAft>
              <a:buClr>
                <a:srgbClr val="000000"/>
              </a:buClr>
              <a:buSzPts val="1600"/>
              <a:buFont typeface="Arial"/>
              <a:buChar char="•"/>
            </a:pPr>
            <a:r>
              <a:rPr b="0" i="0" lang="en-US" sz="1800" u="none" cap="none" strike="noStrike">
                <a:solidFill>
                  <a:srgbClr val="000000"/>
                </a:solidFill>
                <a:latin typeface="Fira Sans"/>
                <a:ea typeface="Fira Sans"/>
                <a:cs typeface="Fira Sans"/>
                <a:sym typeface="Fira Sans"/>
              </a:rPr>
              <a:t>The motor's position can be commanded to move and hold at one of these steps without any position sensor, as long as the motor is correctly sized to the application</a:t>
            </a:r>
            <a:r>
              <a:rPr b="0" i="0" lang="en-US" sz="2000" u="none" cap="none" strike="noStrike">
                <a:solidFill>
                  <a:srgbClr val="000000"/>
                </a:solidFill>
                <a:latin typeface="Fira Sans"/>
                <a:ea typeface="Fira Sans"/>
                <a:cs typeface="Fira Sans"/>
                <a:sym typeface="Fira Sans"/>
              </a:rPr>
              <a:t>.</a:t>
            </a:r>
            <a:endParaRPr b="0" i="0" sz="2000" u="none" cap="none" strike="noStrike">
              <a:solidFill>
                <a:srgbClr val="000000"/>
              </a:solidFill>
              <a:latin typeface="Fira Sans"/>
              <a:ea typeface="Fira Sans"/>
              <a:cs typeface="Fira Sans"/>
              <a:sym typeface="Fira Sans"/>
            </a:endParaRPr>
          </a:p>
        </p:txBody>
      </p:sp>
      <p:sp>
        <p:nvSpPr>
          <p:cNvPr id="164" name="Google Shape;164;p27"/>
          <p:cNvSpPr/>
          <p:nvPr/>
        </p:nvSpPr>
        <p:spPr>
          <a:xfrm>
            <a:off x="8352692" y="1095644"/>
            <a:ext cx="3631223" cy="28622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800" u="none" cap="none" strike="noStrike">
                <a:solidFill>
                  <a:srgbClr val="C00000"/>
                </a:solidFill>
                <a:latin typeface="Fira Sans"/>
                <a:ea typeface="Fira Sans"/>
                <a:cs typeface="Fira Sans"/>
                <a:sym typeface="Fira Sans"/>
              </a:rPr>
              <a:t>Typical Specifications </a:t>
            </a:r>
            <a:endParaRPr b="1" i="0" sz="1800" u="none" cap="none" strike="noStrike">
              <a:solidFill>
                <a:srgbClr val="C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1400"/>
              <a:buFont typeface="Arial"/>
              <a:buChar char="•"/>
            </a:pPr>
            <a:r>
              <a:rPr b="0" i="0" lang="en-US" sz="1800" u="none" cap="none" strike="noStrike">
                <a:solidFill>
                  <a:srgbClr val="000000"/>
                </a:solidFill>
                <a:latin typeface="Fira Sans"/>
                <a:ea typeface="Fira Sans"/>
                <a:cs typeface="Fira Sans"/>
                <a:sym typeface="Fira Sans"/>
              </a:rPr>
              <a:t>Size: 42.3 mm square × 48 mm</a:t>
            </a:r>
            <a:endParaRPr b="0" i="0" sz="18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1400"/>
              <a:buFont typeface="Arial"/>
              <a:buChar char="•"/>
            </a:pPr>
            <a:r>
              <a:rPr b="0" i="0" lang="en-US" sz="1800" u="none" cap="none" strike="noStrike">
                <a:solidFill>
                  <a:srgbClr val="000000"/>
                </a:solidFill>
                <a:latin typeface="Fira Sans"/>
                <a:ea typeface="Fira Sans"/>
                <a:cs typeface="Fira Sans"/>
                <a:sym typeface="Fira Sans"/>
              </a:rPr>
              <a:t>Weight: 350 g </a:t>
            </a:r>
            <a:endParaRPr b="0" i="0" sz="18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1400"/>
              <a:buFont typeface="Arial"/>
              <a:buChar char="•"/>
            </a:pPr>
            <a:r>
              <a:rPr b="0" i="0" lang="en-US" sz="1800" u="none" cap="none" strike="noStrike">
                <a:solidFill>
                  <a:srgbClr val="000000"/>
                </a:solidFill>
                <a:latin typeface="Fira Sans"/>
                <a:ea typeface="Fira Sans"/>
                <a:cs typeface="Fira Sans"/>
                <a:sym typeface="Fira Sans"/>
              </a:rPr>
              <a:t>Shaft diameter: 5 mm “D”</a:t>
            </a:r>
            <a:endParaRPr b="0" i="0" sz="18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1400"/>
              <a:buFont typeface="Arial"/>
              <a:buChar char="•"/>
            </a:pPr>
            <a:r>
              <a:rPr b="0" i="0" lang="en-US" sz="1800" u="none" cap="none" strike="noStrike">
                <a:solidFill>
                  <a:srgbClr val="000000"/>
                </a:solidFill>
                <a:latin typeface="Fira Sans"/>
                <a:ea typeface="Fira Sans"/>
                <a:cs typeface="Fira Sans"/>
                <a:sym typeface="Fira Sans"/>
              </a:rPr>
              <a:t>Steps per revolution: 200</a:t>
            </a:r>
            <a:endParaRPr b="0" i="0" sz="18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1400"/>
              <a:buFont typeface="Arial"/>
              <a:buChar char="•"/>
            </a:pPr>
            <a:r>
              <a:rPr b="0" i="0" lang="en-US" sz="1800" u="none" cap="none" strike="noStrike">
                <a:solidFill>
                  <a:srgbClr val="000000"/>
                </a:solidFill>
                <a:latin typeface="Fira Sans"/>
                <a:ea typeface="Fira Sans"/>
                <a:cs typeface="Fira Sans"/>
                <a:sym typeface="Fira Sans"/>
              </a:rPr>
              <a:t>Current rating: 1.2 A per coil</a:t>
            </a:r>
            <a:endParaRPr b="0" i="0" sz="18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1400"/>
              <a:buFont typeface="Arial"/>
              <a:buChar char="•"/>
            </a:pPr>
            <a:r>
              <a:rPr b="0" i="0" lang="en-US" sz="1800" u="none" cap="none" strike="noStrike">
                <a:solidFill>
                  <a:srgbClr val="000000"/>
                </a:solidFill>
                <a:latin typeface="Fira Sans"/>
                <a:ea typeface="Fira Sans"/>
                <a:cs typeface="Fira Sans"/>
                <a:sym typeface="Fira Sans"/>
              </a:rPr>
              <a:t>Voltage rating: 4 V</a:t>
            </a:r>
            <a:endParaRPr b="0" i="0" sz="18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1400"/>
              <a:buFont typeface="Arial"/>
              <a:buChar char="•"/>
            </a:pPr>
            <a:r>
              <a:rPr b="0" i="0" lang="en-US" sz="1800" u="none" cap="none" strike="noStrike">
                <a:solidFill>
                  <a:srgbClr val="000000"/>
                </a:solidFill>
                <a:latin typeface="Fira Sans"/>
                <a:ea typeface="Fira Sans"/>
                <a:cs typeface="Fira Sans"/>
                <a:sym typeface="Fira Sans"/>
              </a:rPr>
              <a:t>Resistance: 3.3 Ω per coil</a:t>
            </a:r>
            <a:endParaRPr b="0" i="0" sz="18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1400"/>
              <a:buFont typeface="Arial"/>
              <a:buChar char="•"/>
            </a:pPr>
            <a:r>
              <a:rPr b="0" i="0" lang="en-US" sz="1800" u="none" cap="none" strike="noStrike">
                <a:solidFill>
                  <a:srgbClr val="000000"/>
                </a:solidFill>
                <a:latin typeface="Fira Sans"/>
                <a:ea typeface="Fira Sans"/>
                <a:cs typeface="Fira Sans"/>
                <a:sym typeface="Fira Sans"/>
              </a:rPr>
              <a:t>Holding torque: 3.2 kg-cm </a:t>
            </a:r>
            <a:endParaRPr b="0" i="0" sz="1800" u="none" cap="none" strike="noStrike">
              <a:solidFill>
                <a:srgbClr val="000000"/>
              </a:solidFill>
              <a:latin typeface="Fira Sans"/>
              <a:ea typeface="Fira Sans"/>
              <a:cs typeface="Fira Sans"/>
              <a:sym typeface="Fira Sans"/>
            </a:endParaRPr>
          </a:p>
          <a:p>
            <a:pPr indent="-285750" lvl="0" marL="285750" marR="0" rtl="0" algn="l">
              <a:lnSpc>
                <a:spcPct val="100000"/>
              </a:lnSpc>
              <a:spcBef>
                <a:spcPts val="0"/>
              </a:spcBef>
              <a:spcAft>
                <a:spcPts val="0"/>
              </a:spcAft>
              <a:buClr>
                <a:srgbClr val="000000"/>
              </a:buClr>
              <a:buSzPts val="1400"/>
              <a:buFont typeface="Arial"/>
              <a:buChar char="•"/>
            </a:pPr>
            <a:r>
              <a:rPr b="0" i="0" lang="en-US" sz="1800" u="none" cap="none" strike="noStrike">
                <a:solidFill>
                  <a:srgbClr val="000000"/>
                </a:solidFill>
                <a:latin typeface="Fira Sans"/>
                <a:ea typeface="Fira Sans"/>
                <a:cs typeface="Fira Sans"/>
                <a:sym typeface="Fira Sans"/>
              </a:rPr>
              <a:t>Inductance: 2.8 mH per coil</a:t>
            </a:r>
            <a:endParaRPr b="0" i="0" sz="1800" u="none" cap="none" strike="noStrike">
              <a:solidFill>
                <a:srgbClr val="000000"/>
              </a:solidFill>
              <a:latin typeface="Fira Sans"/>
              <a:ea typeface="Fira Sans"/>
              <a:cs typeface="Fira Sans"/>
              <a:sym typeface="Fira Sans"/>
            </a:endParaRPr>
          </a:p>
        </p:txBody>
      </p:sp>
      <p:pic>
        <p:nvPicPr>
          <p:cNvPr id="165" name="Google Shape;165;p27"/>
          <p:cNvPicPr preferRelativeResize="0"/>
          <p:nvPr/>
        </p:nvPicPr>
        <p:blipFill rotWithShape="1">
          <a:blip r:embed="rId6">
            <a:alphaModFix/>
          </a:blip>
          <a:srcRect b="0" l="20179" r="18167" t="0"/>
          <a:stretch/>
        </p:blipFill>
        <p:spPr>
          <a:xfrm>
            <a:off x="5864608" y="4210960"/>
            <a:ext cx="1784728" cy="214587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2b82f7b13af_0_0"/>
          <p:cNvSpPr txBox="1"/>
          <p:nvPr/>
        </p:nvSpPr>
        <p:spPr>
          <a:xfrm>
            <a:off x="1000225" y="155675"/>
            <a:ext cx="96762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0" i="0" lang="en-US" sz="4000" u="none" cap="none" strike="noStrike">
                <a:solidFill>
                  <a:srgbClr val="C00000"/>
                </a:solidFill>
                <a:latin typeface="Marcellus"/>
                <a:ea typeface="Marcellus"/>
                <a:cs typeface="Marcellus"/>
                <a:sym typeface="Marcellus"/>
              </a:rPr>
              <a:t>Electric Motors Types &amp; Comparison </a:t>
            </a:r>
            <a:endParaRPr b="0" i="0" sz="4000" u="none" cap="none" strike="noStrike">
              <a:solidFill>
                <a:srgbClr val="C00000"/>
              </a:solidFill>
              <a:latin typeface="Marcellus"/>
              <a:ea typeface="Marcellus"/>
              <a:cs typeface="Marcellus"/>
              <a:sym typeface="Marcellus"/>
            </a:endParaRPr>
          </a:p>
        </p:txBody>
      </p:sp>
      <p:graphicFrame>
        <p:nvGraphicFramePr>
          <p:cNvPr id="171" name="Google Shape;171;g2b82f7b13af_0_0"/>
          <p:cNvGraphicFramePr/>
          <p:nvPr/>
        </p:nvGraphicFramePr>
        <p:xfrm>
          <a:off x="775000" y="1065350"/>
          <a:ext cx="3000000" cy="3000000"/>
        </p:xfrm>
        <a:graphic>
          <a:graphicData uri="http://schemas.openxmlformats.org/drawingml/2006/table">
            <a:tbl>
              <a:tblPr>
                <a:noFill/>
                <a:tableStyleId>{77AD4891-5457-4A3B-8749-17705BF88AAE}</a:tableStyleId>
              </a:tblPr>
              <a:tblGrid>
                <a:gridCol w="2660500"/>
                <a:gridCol w="2660500"/>
                <a:gridCol w="2660500"/>
                <a:gridCol w="2660500"/>
              </a:tblGrid>
              <a:tr h="301125">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t>Motor Type</a:t>
                      </a:r>
                      <a:endParaRPr b="1"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t>Pros</a:t>
                      </a:r>
                      <a:endParaRPr b="1"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t>Cons</a:t>
                      </a:r>
                      <a:endParaRPr b="1"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t>Applications</a:t>
                      </a:r>
                      <a:endParaRPr b="1"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93875">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t>AC Motors</a:t>
                      </a:r>
                      <a:endParaRPr b="1"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t>Robust, cost-effective, powerful</a:t>
                      </a:r>
                      <a:endParaRPr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t>Speed control complexities</a:t>
                      </a:r>
                      <a:endParaRPr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t>Industrial, Appliances</a:t>
                      </a:r>
                      <a:endParaRPr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93875">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t>Brushed DC Motors</a:t>
                      </a:r>
                      <a:endParaRPr b="1"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t>Simple, good speed control</a:t>
                      </a:r>
                      <a:endParaRPr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t>Brush wear, noise, maintenance</a:t>
                      </a:r>
                      <a:endParaRPr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t>Toys, declining use in automotive</a:t>
                      </a:r>
                      <a:endParaRPr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93875">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t>Brushless DC</a:t>
                      </a:r>
                      <a:endParaRPr b="1"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t>Long life, efficient, high power density</a:t>
                      </a:r>
                      <a:endParaRPr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t>Complex control, more expensive</a:t>
                      </a:r>
                      <a:endParaRPr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t>Drones, EVs, computer components</a:t>
                      </a:r>
                      <a:endParaRPr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93875">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t>Geared DC Motors</a:t>
                      </a:r>
                      <a:endParaRPr b="1"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t>High torque at low speeds, compact</a:t>
                      </a:r>
                      <a:endParaRPr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t>Additional mechanical complexity</a:t>
                      </a:r>
                      <a:endParaRPr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t>Robotics, winches</a:t>
                      </a:r>
                      <a:endParaRPr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7500">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t>Servo Motors</a:t>
                      </a:r>
                      <a:endParaRPr b="1"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t>Precise position control</a:t>
                      </a:r>
                      <a:endParaRPr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t>Complex, expensive</a:t>
                      </a:r>
                      <a:endParaRPr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t>Robotics, CNC</a:t>
                      </a:r>
                      <a:endParaRPr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40250">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t>Stepper Motors</a:t>
                      </a:r>
                      <a:endParaRPr b="1"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t>Precise open-loop control, holding torque</a:t>
                      </a:r>
                      <a:endParaRPr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t>Limited speed, resonance issues</a:t>
                      </a:r>
                      <a:endParaRPr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t>3D printers, CNC</a:t>
                      </a:r>
                      <a:endParaRPr sz="2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ad3aab633e_0_43"/>
          <p:cNvSpPr txBox="1"/>
          <p:nvPr/>
        </p:nvSpPr>
        <p:spPr>
          <a:xfrm>
            <a:off x="304800" y="304800"/>
            <a:ext cx="10972800" cy="5334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alibri"/>
              <a:buNone/>
            </a:pPr>
            <a:r>
              <a:rPr b="0" i="0" lang="en-US" sz="4400" u="none" cap="none" strike="noStrike">
                <a:solidFill>
                  <a:srgbClr val="C00000"/>
                </a:solidFill>
                <a:latin typeface="Marcellus"/>
                <a:ea typeface="Marcellus"/>
                <a:cs typeface="Marcellus"/>
                <a:sym typeface="Marcellus"/>
              </a:rPr>
              <a:t>Motor Drivers </a:t>
            </a:r>
            <a:endParaRPr b="0" i="0" sz="4400" u="none" cap="none" strike="noStrike">
              <a:solidFill>
                <a:srgbClr val="C00000"/>
              </a:solidFill>
              <a:latin typeface="Marcellus"/>
              <a:ea typeface="Marcellus"/>
              <a:cs typeface="Marcellus"/>
              <a:sym typeface="Marcellus"/>
            </a:endParaRPr>
          </a:p>
        </p:txBody>
      </p:sp>
      <p:pic>
        <p:nvPicPr>
          <p:cNvPr id="177" name="Google Shape;177;gad3aab633e_0_43"/>
          <p:cNvPicPr preferRelativeResize="0"/>
          <p:nvPr/>
        </p:nvPicPr>
        <p:blipFill rotWithShape="1">
          <a:blip r:embed="rId3">
            <a:alphaModFix/>
          </a:blip>
          <a:srcRect b="0" l="0" r="0" t="0"/>
          <a:stretch/>
        </p:blipFill>
        <p:spPr>
          <a:xfrm rot="5400000">
            <a:off x="5880675" y="567535"/>
            <a:ext cx="385984" cy="12236663"/>
          </a:xfrm>
          <a:prstGeom prst="rect">
            <a:avLst/>
          </a:prstGeom>
          <a:noFill/>
          <a:ln>
            <a:noFill/>
          </a:ln>
        </p:spPr>
      </p:pic>
      <p:pic>
        <p:nvPicPr>
          <p:cNvPr id="178" name="Google Shape;178;gad3aab633e_0_43"/>
          <p:cNvPicPr preferRelativeResize="0"/>
          <p:nvPr/>
        </p:nvPicPr>
        <p:blipFill rotWithShape="1">
          <a:blip r:embed="rId4">
            <a:alphaModFix/>
          </a:blip>
          <a:srcRect b="0" l="0" r="0" t="0"/>
          <a:stretch/>
        </p:blipFill>
        <p:spPr>
          <a:xfrm rot="5400000">
            <a:off x="4533653" y="1754135"/>
            <a:ext cx="176409" cy="9333047"/>
          </a:xfrm>
          <a:prstGeom prst="rect">
            <a:avLst/>
          </a:prstGeom>
          <a:noFill/>
          <a:ln>
            <a:noFill/>
          </a:ln>
        </p:spPr>
      </p:pic>
      <p:pic>
        <p:nvPicPr>
          <p:cNvPr descr="A close up of a sign&#10;&#10;Description automatically generated" id="179" name="Google Shape;179;gad3aab633e_0_43"/>
          <p:cNvPicPr preferRelativeResize="0"/>
          <p:nvPr/>
        </p:nvPicPr>
        <p:blipFill rotWithShape="1">
          <a:blip r:embed="rId5">
            <a:alphaModFix/>
          </a:blip>
          <a:srcRect b="0" l="0" r="0" t="0"/>
          <a:stretch/>
        </p:blipFill>
        <p:spPr>
          <a:xfrm>
            <a:off x="10828421" y="5610533"/>
            <a:ext cx="968400" cy="721800"/>
          </a:xfrm>
          <a:prstGeom prst="rect">
            <a:avLst/>
          </a:prstGeom>
          <a:noFill/>
          <a:ln>
            <a:noFill/>
          </a:ln>
        </p:spPr>
      </p:pic>
      <p:pic>
        <p:nvPicPr>
          <p:cNvPr descr="A picture containing drawing&#10;&#10;Description automatically generated" id="180" name="Google Shape;180;gad3aab633e_0_43"/>
          <p:cNvPicPr preferRelativeResize="0"/>
          <p:nvPr/>
        </p:nvPicPr>
        <p:blipFill rotWithShape="1">
          <a:blip r:embed="rId6">
            <a:alphaModFix/>
          </a:blip>
          <a:srcRect b="0" l="0" r="0" t="0"/>
          <a:stretch/>
        </p:blipFill>
        <p:spPr>
          <a:xfrm>
            <a:off x="120014" y="5440809"/>
            <a:ext cx="3245735" cy="811434"/>
          </a:xfrm>
          <a:prstGeom prst="rect">
            <a:avLst/>
          </a:prstGeom>
          <a:noFill/>
          <a:ln>
            <a:noFill/>
          </a:ln>
        </p:spPr>
      </p:pic>
      <p:sp>
        <p:nvSpPr>
          <p:cNvPr id="181" name="Google Shape;181;gad3aab633e_0_43"/>
          <p:cNvSpPr txBox="1"/>
          <p:nvPr/>
        </p:nvSpPr>
        <p:spPr>
          <a:xfrm>
            <a:off x="859200" y="1169790"/>
            <a:ext cx="5799300" cy="2434022"/>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000000"/>
              </a:buClr>
              <a:buSzPts val="2400"/>
              <a:buFont typeface="Fira Sans"/>
              <a:buChar char="●"/>
            </a:pPr>
            <a:r>
              <a:rPr b="0" i="0" lang="en-US" sz="2400" u="none" cap="none" strike="noStrike">
                <a:solidFill>
                  <a:srgbClr val="000000"/>
                </a:solidFill>
                <a:latin typeface="Fira Sans"/>
                <a:ea typeface="Fira Sans"/>
                <a:cs typeface="Fira Sans"/>
                <a:sym typeface="Fira Sans"/>
              </a:rPr>
              <a:t>Can we connect the motor to arduino directly?</a:t>
            </a:r>
            <a:endParaRPr b="0" i="0" sz="2400" u="none" cap="none" strike="noStrike">
              <a:solidFill>
                <a:srgbClr val="000000"/>
              </a:solidFill>
              <a:latin typeface="Fira Sans"/>
              <a:ea typeface="Fira Sans"/>
              <a:cs typeface="Fira Sans"/>
              <a:sym typeface="Fira Sans"/>
            </a:endParaRPr>
          </a:p>
          <a:p>
            <a:pPr indent="-381000" lvl="0" marL="457200" marR="0" rtl="0" algn="l">
              <a:lnSpc>
                <a:spcPct val="100000"/>
              </a:lnSpc>
              <a:spcBef>
                <a:spcPts val="0"/>
              </a:spcBef>
              <a:spcAft>
                <a:spcPts val="0"/>
              </a:spcAft>
              <a:buClr>
                <a:srgbClr val="000000"/>
              </a:buClr>
              <a:buSzPts val="2400"/>
              <a:buFont typeface="Fira Sans"/>
              <a:buChar char="●"/>
            </a:pPr>
            <a:r>
              <a:rPr b="0" i="0" lang="en-US" sz="2400" u="none" cap="none" strike="noStrike">
                <a:solidFill>
                  <a:srgbClr val="000000"/>
                </a:solidFill>
                <a:latin typeface="Fira Sans"/>
                <a:ea typeface="Fira Sans"/>
                <a:cs typeface="Fira Sans"/>
                <a:sym typeface="Fira Sans"/>
              </a:rPr>
              <a:t>Need of a driver</a:t>
            </a:r>
            <a:endParaRPr b="0" i="0" sz="2400" u="none" cap="none" strike="noStrike">
              <a:solidFill>
                <a:srgbClr val="000000"/>
              </a:solidFill>
              <a:latin typeface="Fira Sans"/>
              <a:ea typeface="Fira Sans"/>
              <a:cs typeface="Fira Sans"/>
              <a:sym typeface="Fira Sans"/>
            </a:endParaRPr>
          </a:p>
          <a:p>
            <a:pPr indent="-3810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Fira Sans"/>
                <a:ea typeface="Fira Sans"/>
                <a:cs typeface="Fira Sans"/>
                <a:sym typeface="Fira Sans"/>
              </a:rPr>
              <a:t>L298</a:t>
            </a:r>
            <a:r>
              <a:rPr b="1" i="0" lang="en-US" sz="2400" u="none" cap="none" strike="noStrike">
                <a:solidFill>
                  <a:srgbClr val="333333"/>
                </a:solidFill>
                <a:latin typeface="Fira Sans"/>
                <a:ea typeface="Fira Sans"/>
                <a:cs typeface="Fira Sans"/>
                <a:sym typeface="Fira Sans"/>
              </a:rPr>
              <a:t> Motor Driver Module</a:t>
            </a:r>
            <a:endParaRPr b="1" i="0" sz="2400" u="none" cap="none" strike="noStrike">
              <a:solidFill>
                <a:srgbClr val="333333"/>
              </a:solidFill>
              <a:latin typeface="Fira Sans"/>
              <a:ea typeface="Fira Sans"/>
              <a:cs typeface="Fira Sans"/>
              <a:sym typeface="Fira Sans"/>
            </a:endParaRPr>
          </a:p>
          <a:p>
            <a:pPr indent="-381000" lvl="0" marL="457200" marR="0" rtl="0" algn="l">
              <a:lnSpc>
                <a:spcPct val="115000"/>
              </a:lnSpc>
              <a:spcBef>
                <a:spcPts val="0"/>
              </a:spcBef>
              <a:spcAft>
                <a:spcPts val="0"/>
              </a:spcAft>
              <a:buClr>
                <a:srgbClr val="000000"/>
              </a:buClr>
              <a:buSzPts val="2400"/>
              <a:buFont typeface="Fira Sans"/>
              <a:buChar char="●"/>
            </a:pPr>
            <a:r>
              <a:rPr b="1" i="0" lang="en-US" sz="2400" u="none" cap="none" strike="noStrike">
                <a:solidFill>
                  <a:srgbClr val="333333"/>
                </a:solidFill>
                <a:latin typeface="Fira Sans"/>
                <a:ea typeface="Fira Sans"/>
                <a:cs typeface="Fira Sans"/>
                <a:sym typeface="Fira Sans"/>
              </a:rPr>
              <a:t>Dual Bidirectional Motor Driver using H Bridge </a:t>
            </a:r>
            <a:endParaRPr b="1" i="0" sz="2400" u="none" cap="none" strike="noStrike">
              <a:solidFill>
                <a:srgbClr val="333333"/>
              </a:solidFill>
              <a:latin typeface="Fira Sans"/>
              <a:ea typeface="Fira Sans"/>
              <a:cs typeface="Fira Sans"/>
              <a:sym typeface="Fira Sans"/>
            </a:endParaRPr>
          </a:p>
          <a:p>
            <a:pPr indent="0" lvl="0" marL="457200" marR="0" rtl="0" algn="l">
              <a:lnSpc>
                <a:spcPct val="100000"/>
              </a:lnSpc>
              <a:spcBef>
                <a:spcPts val="11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2" name="Google Shape;182;gad3aab633e_0_43"/>
          <p:cNvPicPr preferRelativeResize="0"/>
          <p:nvPr/>
        </p:nvPicPr>
        <p:blipFill rotWithShape="1">
          <a:blip r:embed="rId7">
            <a:alphaModFix/>
          </a:blip>
          <a:srcRect b="0" l="0" r="0" t="0"/>
          <a:stretch/>
        </p:blipFill>
        <p:spPr>
          <a:xfrm>
            <a:off x="6658500" y="981998"/>
            <a:ext cx="5385003" cy="3590002"/>
          </a:xfrm>
          <a:prstGeom prst="rect">
            <a:avLst/>
          </a:prstGeom>
          <a:noFill/>
          <a:ln>
            <a:noFill/>
          </a:ln>
        </p:spPr>
      </p:pic>
      <p:pic>
        <p:nvPicPr>
          <p:cNvPr id="183" name="Google Shape;183;gad3aab633e_0_43"/>
          <p:cNvPicPr preferRelativeResize="0"/>
          <p:nvPr/>
        </p:nvPicPr>
        <p:blipFill rotWithShape="1">
          <a:blip r:embed="rId8">
            <a:alphaModFix/>
          </a:blip>
          <a:srcRect b="0" l="0" r="0" t="0"/>
          <a:stretch/>
        </p:blipFill>
        <p:spPr>
          <a:xfrm>
            <a:off x="2802032" y="3095933"/>
            <a:ext cx="2571750" cy="2514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ad3aab633e_0_57"/>
          <p:cNvSpPr txBox="1"/>
          <p:nvPr/>
        </p:nvSpPr>
        <p:spPr>
          <a:xfrm>
            <a:off x="304800" y="304800"/>
            <a:ext cx="10972800" cy="5334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alibri"/>
              <a:buNone/>
            </a:pPr>
            <a:r>
              <a:rPr b="0" i="0" lang="en-US" sz="4400" u="none" cap="none" strike="noStrike">
                <a:solidFill>
                  <a:srgbClr val="C00000"/>
                </a:solidFill>
                <a:latin typeface="Marcellus"/>
                <a:ea typeface="Marcellus"/>
                <a:cs typeface="Marcellus"/>
                <a:sym typeface="Marcellus"/>
              </a:rPr>
              <a:t>Interfacing Motor Driver</a:t>
            </a:r>
            <a:endParaRPr b="0" i="0" sz="4400" u="none" cap="none" strike="noStrike">
              <a:solidFill>
                <a:srgbClr val="C00000"/>
              </a:solidFill>
              <a:latin typeface="Marcellus"/>
              <a:ea typeface="Marcellus"/>
              <a:cs typeface="Marcellus"/>
              <a:sym typeface="Marcellus"/>
            </a:endParaRPr>
          </a:p>
        </p:txBody>
      </p:sp>
      <p:pic>
        <p:nvPicPr>
          <p:cNvPr id="189" name="Google Shape;189;gad3aab633e_0_57"/>
          <p:cNvPicPr preferRelativeResize="0"/>
          <p:nvPr/>
        </p:nvPicPr>
        <p:blipFill rotWithShape="1">
          <a:blip r:embed="rId3">
            <a:alphaModFix/>
          </a:blip>
          <a:srcRect b="0" l="0" r="0" t="0"/>
          <a:stretch/>
        </p:blipFill>
        <p:spPr>
          <a:xfrm rot="5400000">
            <a:off x="5880675" y="567535"/>
            <a:ext cx="385984" cy="12236663"/>
          </a:xfrm>
          <a:prstGeom prst="rect">
            <a:avLst/>
          </a:prstGeom>
          <a:noFill/>
          <a:ln>
            <a:noFill/>
          </a:ln>
        </p:spPr>
      </p:pic>
      <p:pic>
        <p:nvPicPr>
          <p:cNvPr id="190" name="Google Shape;190;gad3aab633e_0_57"/>
          <p:cNvPicPr preferRelativeResize="0"/>
          <p:nvPr/>
        </p:nvPicPr>
        <p:blipFill rotWithShape="1">
          <a:blip r:embed="rId4">
            <a:alphaModFix/>
          </a:blip>
          <a:srcRect b="0" l="0" r="0" t="0"/>
          <a:stretch/>
        </p:blipFill>
        <p:spPr>
          <a:xfrm rot="5400000">
            <a:off x="4533653" y="1754135"/>
            <a:ext cx="176409" cy="9333047"/>
          </a:xfrm>
          <a:prstGeom prst="rect">
            <a:avLst/>
          </a:prstGeom>
          <a:noFill/>
          <a:ln>
            <a:noFill/>
          </a:ln>
        </p:spPr>
      </p:pic>
      <p:pic>
        <p:nvPicPr>
          <p:cNvPr descr="A close up of a sign&#10;&#10;Description automatically generated" id="191" name="Google Shape;191;gad3aab633e_0_57"/>
          <p:cNvPicPr preferRelativeResize="0"/>
          <p:nvPr/>
        </p:nvPicPr>
        <p:blipFill rotWithShape="1">
          <a:blip r:embed="rId5">
            <a:alphaModFix/>
          </a:blip>
          <a:srcRect b="0" l="0" r="0" t="0"/>
          <a:stretch/>
        </p:blipFill>
        <p:spPr>
          <a:xfrm>
            <a:off x="10828421" y="5610533"/>
            <a:ext cx="968400" cy="721800"/>
          </a:xfrm>
          <a:prstGeom prst="rect">
            <a:avLst/>
          </a:prstGeom>
          <a:noFill/>
          <a:ln>
            <a:noFill/>
          </a:ln>
        </p:spPr>
      </p:pic>
      <p:pic>
        <p:nvPicPr>
          <p:cNvPr descr="A picture containing drawing&#10;&#10;Description automatically generated" id="192" name="Google Shape;192;gad3aab633e_0_57"/>
          <p:cNvPicPr preferRelativeResize="0"/>
          <p:nvPr/>
        </p:nvPicPr>
        <p:blipFill rotWithShape="1">
          <a:blip r:embed="rId6">
            <a:alphaModFix/>
          </a:blip>
          <a:srcRect b="0" l="0" r="0" t="0"/>
          <a:stretch/>
        </p:blipFill>
        <p:spPr>
          <a:xfrm>
            <a:off x="120014" y="5440809"/>
            <a:ext cx="3245735" cy="811434"/>
          </a:xfrm>
          <a:prstGeom prst="rect">
            <a:avLst/>
          </a:prstGeom>
          <a:noFill/>
          <a:ln>
            <a:noFill/>
          </a:ln>
        </p:spPr>
      </p:pic>
      <p:sp>
        <p:nvSpPr>
          <p:cNvPr id="193" name="Google Shape;193;gad3aab633e_0_57"/>
          <p:cNvSpPr txBox="1"/>
          <p:nvPr/>
        </p:nvSpPr>
        <p:spPr>
          <a:xfrm>
            <a:off x="823200" y="843200"/>
            <a:ext cx="9015300" cy="4627200"/>
          </a:xfrm>
          <a:prstGeom prst="rect">
            <a:avLst/>
          </a:prstGeom>
          <a:noFill/>
          <a:ln>
            <a:noFill/>
          </a:ln>
        </p:spPr>
        <p:txBody>
          <a:bodyPr anchorCtr="0" anchor="ctr" bIns="91425" lIns="91425" spcFirstLastPara="1" rIns="91425" wrap="square" tIns="91425">
            <a:noAutofit/>
          </a:bodyPr>
          <a:lstStyle/>
          <a:p>
            <a:pPr indent="-368300" lvl="0" marL="457200" marR="0" rtl="0" algn="l">
              <a:lnSpc>
                <a:spcPct val="100000"/>
              </a:lnSpc>
              <a:spcBef>
                <a:spcPts val="0"/>
              </a:spcBef>
              <a:spcAft>
                <a:spcPts val="0"/>
              </a:spcAft>
              <a:buClr>
                <a:srgbClr val="555555"/>
              </a:buClr>
              <a:buSzPts val="2200"/>
              <a:buFont typeface="Fira Sans"/>
              <a:buChar char="●"/>
            </a:pPr>
            <a:r>
              <a:rPr b="0" i="0" lang="en-US" sz="2200" u="none" cap="none" strike="noStrike">
                <a:solidFill>
                  <a:srgbClr val="555555"/>
                </a:solidFill>
                <a:latin typeface="Fira Sans"/>
                <a:ea typeface="Fira Sans"/>
                <a:cs typeface="Fira Sans"/>
                <a:sym typeface="Fira Sans"/>
              </a:rPr>
              <a:t>4:Module 5V (or Vcc) - Arduino 5V pin</a:t>
            </a:r>
            <a:endParaRPr b="0" i="0" sz="2200" u="none" cap="none" strike="noStrike">
              <a:solidFill>
                <a:srgbClr val="555555"/>
              </a:solidFill>
              <a:latin typeface="Fira Sans"/>
              <a:ea typeface="Fira Sans"/>
              <a:cs typeface="Fira Sans"/>
              <a:sym typeface="Fira Sans"/>
            </a:endParaRPr>
          </a:p>
          <a:p>
            <a:pPr indent="-368300" lvl="0" marL="457200" marR="0" rtl="0" algn="l">
              <a:lnSpc>
                <a:spcPct val="100000"/>
              </a:lnSpc>
              <a:spcBef>
                <a:spcPts val="0"/>
              </a:spcBef>
              <a:spcAft>
                <a:spcPts val="0"/>
              </a:spcAft>
              <a:buClr>
                <a:srgbClr val="555555"/>
              </a:buClr>
              <a:buSzPts val="2200"/>
              <a:buFont typeface="Fira Sans"/>
              <a:buChar char="●"/>
            </a:pPr>
            <a:r>
              <a:rPr b="0" i="0" lang="en-US" sz="2200" u="none" cap="none" strike="noStrike">
                <a:solidFill>
                  <a:srgbClr val="555555"/>
                </a:solidFill>
                <a:latin typeface="Fira Sans"/>
                <a:ea typeface="Fira Sans"/>
                <a:cs typeface="Fira Sans"/>
                <a:sym typeface="Fira Sans"/>
              </a:rPr>
              <a:t>5:Module GND - Arduino GND pin</a:t>
            </a:r>
            <a:endParaRPr b="0" i="0" sz="2200" u="none" cap="none" strike="noStrike">
              <a:solidFill>
                <a:srgbClr val="555555"/>
              </a:solidFill>
              <a:latin typeface="Fira Sans"/>
              <a:ea typeface="Fira Sans"/>
              <a:cs typeface="Fira Sans"/>
              <a:sym typeface="Fira Sans"/>
            </a:endParaRPr>
          </a:p>
          <a:p>
            <a:pPr indent="-368300" lvl="0" marL="457200" marR="0" rtl="0" algn="l">
              <a:lnSpc>
                <a:spcPct val="100000"/>
              </a:lnSpc>
              <a:spcBef>
                <a:spcPts val="0"/>
              </a:spcBef>
              <a:spcAft>
                <a:spcPts val="0"/>
              </a:spcAft>
              <a:buClr>
                <a:srgbClr val="555555"/>
              </a:buClr>
              <a:buSzPts val="2200"/>
              <a:buFont typeface="Fira Sans"/>
              <a:buChar char="●"/>
            </a:pPr>
            <a:r>
              <a:rPr b="0" i="0" lang="en-US" sz="2200" u="none" cap="none" strike="noStrike">
                <a:solidFill>
                  <a:srgbClr val="555555"/>
                </a:solidFill>
                <a:latin typeface="Fira Sans"/>
                <a:ea typeface="Fira Sans"/>
                <a:cs typeface="Fira Sans"/>
                <a:sym typeface="Fira Sans"/>
              </a:rPr>
              <a:t>6:Module 12V (or Vbat) - To external power source</a:t>
            </a:r>
            <a:endParaRPr b="0" i="0" sz="2200" u="none" cap="none" strike="noStrike">
              <a:solidFill>
                <a:srgbClr val="555555"/>
              </a:solidFill>
              <a:latin typeface="Fira Sans"/>
              <a:ea typeface="Fira Sans"/>
              <a:cs typeface="Fira Sans"/>
              <a:sym typeface="Fira Sans"/>
            </a:endParaRPr>
          </a:p>
          <a:p>
            <a:pPr indent="-368300" lvl="0" marL="457200" marR="0" rtl="0" algn="l">
              <a:lnSpc>
                <a:spcPct val="100000"/>
              </a:lnSpc>
              <a:spcBef>
                <a:spcPts val="0"/>
              </a:spcBef>
              <a:spcAft>
                <a:spcPts val="0"/>
              </a:spcAft>
              <a:buClr>
                <a:srgbClr val="555555"/>
              </a:buClr>
              <a:buSzPts val="2200"/>
              <a:buFont typeface="Fira Sans"/>
              <a:buChar char="●"/>
            </a:pPr>
            <a:r>
              <a:rPr b="0" i="0" lang="en-US" sz="2200" u="none" cap="none" strike="noStrike">
                <a:solidFill>
                  <a:srgbClr val="555555"/>
                </a:solidFill>
                <a:latin typeface="Fira Sans"/>
                <a:ea typeface="Fira Sans"/>
                <a:cs typeface="Fira Sans"/>
                <a:sym typeface="Fira Sans"/>
              </a:rPr>
              <a:t>Module output 1 &amp; 2 - Connect dc motor A</a:t>
            </a:r>
            <a:endParaRPr b="0" i="0" sz="2200" u="none" cap="none" strike="noStrike">
              <a:solidFill>
                <a:srgbClr val="555555"/>
              </a:solidFill>
              <a:latin typeface="Fira Sans"/>
              <a:ea typeface="Fira Sans"/>
              <a:cs typeface="Fira Sans"/>
              <a:sym typeface="Fira Sans"/>
            </a:endParaRPr>
          </a:p>
          <a:p>
            <a:pPr indent="-368300" lvl="0" marL="457200" marR="0" rtl="0" algn="l">
              <a:lnSpc>
                <a:spcPct val="100000"/>
              </a:lnSpc>
              <a:spcBef>
                <a:spcPts val="0"/>
              </a:spcBef>
              <a:spcAft>
                <a:spcPts val="0"/>
              </a:spcAft>
              <a:buClr>
                <a:srgbClr val="555555"/>
              </a:buClr>
              <a:buSzPts val="2200"/>
              <a:buFont typeface="Fira Sans"/>
              <a:buChar char="●"/>
            </a:pPr>
            <a:r>
              <a:rPr b="0" i="0" lang="en-US" sz="2200" u="none" cap="none" strike="noStrike">
                <a:solidFill>
                  <a:srgbClr val="555555"/>
                </a:solidFill>
                <a:latin typeface="Fira Sans"/>
                <a:ea typeface="Fira Sans"/>
                <a:cs typeface="Fira Sans"/>
                <a:sym typeface="Fira Sans"/>
              </a:rPr>
              <a:t>Module output 13 &amp; 14 - Connect dc motor B</a:t>
            </a:r>
            <a:endParaRPr b="0" i="0" sz="2200" u="none" cap="none" strike="noStrike">
              <a:solidFill>
                <a:srgbClr val="555555"/>
              </a:solidFill>
              <a:latin typeface="Fira Sans"/>
              <a:ea typeface="Fira Sans"/>
              <a:cs typeface="Fira Sans"/>
              <a:sym typeface="Fira Sans"/>
            </a:endParaRPr>
          </a:p>
          <a:p>
            <a:pPr indent="-368300" lvl="0" marL="457200" marR="0" rtl="0" algn="l">
              <a:lnSpc>
                <a:spcPct val="100000"/>
              </a:lnSpc>
              <a:spcBef>
                <a:spcPts val="0"/>
              </a:spcBef>
              <a:spcAft>
                <a:spcPts val="0"/>
              </a:spcAft>
              <a:buClr>
                <a:srgbClr val="555555"/>
              </a:buClr>
              <a:buSzPts val="2200"/>
              <a:buFont typeface="Fira Sans"/>
              <a:buChar char="●"/>
            </a:pPr>
            <a:r>
              <a:rPr b="0" i="0" lang="en-US" sz="2200" u="none" cap="none" strike="noStrike">
                <a:solidFill>
                  <a:srgbClr val="555555"/>
                </a:solidFill>
                <a:latin typeface="Fira Sans"/>
                <a:ea typeface="Fira Sans"/>
                <a:cs typeface="Fira Sans"/>
                <a:sym typeface="Fira Sans"/>
              </a:rPr>
              <a:t>7: Enable to Motor A</a:t>
            </a:r>
            <a:endParaRPr b="0" i="0" sz="2200" u="none" cap="none" strike="noStrike">
              <a:solidFill>
                <a:srgbClr val="555555"/>
              </a:solidFill>
              <a:latin typeface="Fira Sans"/>
              <a:ea typeface="Fira Sans"/>
              <a:cs typeface="Fira Sans"/>
              <a:sym typeface="Fira Sans"/>
            </a:endParaRPr>
          </a:p>
          <a:p>
            <a:pPr indent="-368300" lvl="0" marL="457200" marR="0" rtl="0" algn="l">
              <a:lnSpc>
                <a:spcPct val="100000"/>
              </a:lnSpc>
              <a:spcBef>
                <a:spcPts val="0"/>
              </a:spcBef>
              <a:spcAft>
                <a:spcPts val="0"/>
              </a:spcAft>
              <a:buClr>
                <a:srgbClr val="555555"/>
              </a:buClr>
              <a:buSzPts val="2200"/>
              <a:buFont typeface="Fira Sans"/>
              <a:buChar char="●"/>
            </a:pPr>
            <a:r>
              <a:rPr b="0" i="0" lang="en-US" sz="2200" u="none" cap="none" strike="noStrike">
                <a:solidFill>
                  <a:srgbClr val="555555"/>
                </a:solidFill>
                <a:latin typeface="Fira Sans"/>
                <a:ea typeface="Fira Sans"/>
                <a:cs typeface="Fira Sans"/>
                <a:sym typeface="Fira Sans"/>
              </a:rPr>
              <a:t>8:Module IN1 </a:t>
            </a:r>
            <a:endParaRPr b="0" i="0" sz="2200" u="none" cap="none" strike="noStrike">
              <a:solidFill>
                <a:srgbClr val="555555"/>
              </a:solidFill>
              <a:latin typeface="Fira Sans"/>
              <a:ea typeface="Fira Sans"/>
              <a:cs typeface="Fira Sans"/>
              <a:sym typeface="Fira Sans"/>
            </a:endParaRPr>
          </a:p>
          <a:p>
            <a:pPr indent="-368300" lvl="0" marL="457200" marR="0" rtl="0" algn="l">
              <a:lnSpc>
                <a:spcPct val="100000"/>
              </a:lnSpc>
              <a:spcBef>
                <a:spcPts val="0"/>
              </a:spcBef>
              <a:spcAft>
                <a:spcPts val="0"/>
              </a:spcAft>
              <a:buClr>
                <a:srgbClr val="555555"/>
              </a:buClr>
              <a:buSzPts val="2200"/>
              <a:buFont typeface="Fira Sans"/>
              <a:buChar char="●"/>
            </a:pPr>
            <a:r>
              <a:rPr b="0" i="0" lang="en-US" sz="2200" u="none" cap="none" strike="noStrike">
                <a:solidFill>
                  <a:srgbClr val="555555"/>
                </a:solidFill>
                <a:latin typeface="Fira Sans"/>
                <a:ea typeface="Fira Sans"/>
                <a:cs typeface="Fira Sans"/>
                <a:sym typeface="Fira Sans"/>
              </a:rPr>
              <a:t>9:Module IN2 </a:t>
            </a:r>
            <a:endParaRPr b="0" i="0" sz="2200" u="none" cap="none" strike="noStrike">
              <a:solidFill>
                <a:srgbClr val="555555"/>
              </a:solidFill>
              <a:latin typeface="Fira Sans"/>
              <a:ea typeface="Fira Sans"/>
              <a:cs typeface="Fira Sans"/>
              <a:sym typeface="Fira Sans"/>
            </a:endParaRPr>
          </a:p>
          <a:p>
            <a:pPr indent="-368300" lvl="0" marL="457200" marR="0" rtl="0" algn="l">
              <a:lnSpc>
                <a:spcPct val="100000"/>
              </a:lnSpc>
              <a:spcBef>
                <a:spcPts val="0"/>
              </a:spcBef>
              <a:spcAft>
                <a:spcPts val="0"/>
              </a:spcAft>
              <a:buClr>
                <a:srgbClr val="555555"/>
              </a:buClr>
              <a:buSzPts val="2200"/>
              <a:buFont typeface="Fira Sans"/>
              <a:buChar char="●"/>
            </a:pPr>
            <a:r>
              <a:rPr b="0" i="0" lang="en-US" sz="2200" u="none" cap="none" strike="noStrike">
                <a:solidFill>
                  <a:srgbClr val="555555"/>
                </a:solidFill>
                <a:latin typeface="Fira Sans"/>
                <a:ea typeface="Fira Sans"/>
                <a:cs typeface="Fira Sans"/>
                <a:sym typeface="Fira Sans"/>
              </a:rPr>
              <a:t>10:Module IN3 </a:t>
            </a:r>
            <a:endParaRPr b="0" i="0" sz="2200" u="none" cap="none" strike="noStrike">
              <a:solidFill>
                <a:srgbClr val="555555"/>
              </a:solidFill>
              <a:latin typeface="Fira Sans"/>
              <a:ea typeface="Fira Sans"/>
              <a:cs typeface="Fira Sans"/>
              <a:sym typeface="Fira Sans"/>
            </a:endParaRPr>
          </a:p>
          <a:p>
            <a:pPr indent="-368300" lvl="0" marL="457200" marR="0" rtl="0" algn="l">
              <a:lnSpc>
                <a:spcPct val="100000"/>
              </a:lnSpc>
              <a:spcBef>
                <a:spcPts val="0"/>
              </a:spcBef>
              <a:spcAft>
                <a:spcPts val="0"/>
              </a:spcAft>
              <a:buClr>
                <a:srgbClr val="555555"/>
              </a:buClr>
              <a:buSzPts val="2200"/>
              <a:buFont typeface="Fira Sans"/>
              <a:buChar char="●"/>
            </a:pPr>
            <a:r>
              <a:rPr b="0" i="0" lang="en-US" sz="2200" u="none" cap="none" strike="noStrike">
                <a:solidFill>
                  <a:srgbClr val="555555"/>
                </a:solidFill>
                <a:latin typeface="Fira Sans"/>
                <a:ea typeface="Fira Sans"/>
                <a:cs typeface="Fira Sans"/>
                <a:sym typeface="Fira Sans"/>
              </a:rPr>
              <a:t>11:Module IN4 </a:t>
            </a:r>
            <a:endParaRPr b="0" i="0" sz="2200" u="none" cap="none" strike="noStrike">
              <a:solidFill>
                <a:srgbClr val="555555"/>
              </a:solidFill>
              <a:latin typeface="Fira Sans"/>
              <a:ea typeface="Fira Sans"/>
              <a:cs typeface="Fira Sans"/>
              <a:sym typeface="Fira Sans"/>
            </a:endParaRPr>
          </a:p>
          <a:p>
            <a:pPr indent="-368300" lvl="0" marL="457200" marR="0" rtl="0" algn="l">
              <a:lnSpc>
                <a:spcPct val="100000"/>
              </a:lnSpc>
              <a:spcBef>
                <a:spcPts val="0"/>
              </a:spcBef>
              <a:spcAft>
                <a:spcPts val="0"/>
              </a:spcAft>
              <a:buClr>
                <a:srgbClr val="555555"/>
              </a:buClr>
              <a:buSzPts val="2200"/>
              <a:buFont typeface="Fira Sans"/>
              <a:buChar char="●"/>
            </a:pPr>
            <a:r>
              <a:rPr b="0" i="0" lang="en-US" sz="2200" u="none" cap="none" strike="noStrike">
                <a:solidFill>
                  <a:srgbClr val="555555"/>
                </a:solidFill>
                <a:latin typeface="Fira Sans"/>
                <a:ea typeface="Fira Sans"/>
                <a:cs typeface="Fira Sans"/>
                <a:sym typeface="Fira Sans"/>
              </a:rPr>
              <a:t>12: Enable to Motor B </a:t>
            </a:r>
            <a:endParaRPr b="0" i="0" sz="2200" u="none" cap="none" strike="noStrike">
              <a:solidFill>
                <a:srgbClr val="555555"/>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pic>
        <p:nvPicPr>
          <p:cNvPr id="194" name="Google Shape;194;gad3aab633e_0_57"/>
          <p:cNvPicPr preferRelativeResize="0"/>
          <p:nvPr/>
        </p:nvPicPr>
        <p:blipFill rotWithShape="1">
          <a:blip r:embed="rId7">
            <a:alphaModFix/>
          </a:blip>
          <a:srcRect b="0" l="0" r="0" t="0"/>
          <a:stretch/>
        </p:blipFill>
        <p:spPr>
          <a:xfrm>
            <a:off x="7343927" y="2288543"/>
            <a:ext cx="4774349" cy="357648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2b53ef716da_1_50"/>
          <p:cNvSpPr txBox="1"/>
          <p:nvPr/>
        </p:nvSpPr>
        <p:spPr>
          <a:xfrm>
            <a:off x="587263" y="460300"/>
            <a:ext cx="10972800" cy="5334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alibri"/>
              <a:buNone/>
            </a:pPr>
            <a:r>
              <a:rPr b="0" i="0" lang="en-US" sz="4400" u="none" cap="none" strike="noStrike">
                <a:solidFill>
                  <a:srgbClr val="C00000"/>
                </a:solidFill>
                <a:latin typeface="Marcellus"/>
                <a:ea typeface="Marcellus"/>
                <a:cs typeface="Marcellus"/>
                <a:sym typeface="Marcellus"/>
              </a:rPr>
              <a:t>Speed and Direction Control of DC Motor</a:t>
            </a:r>
            <a:endParaRPr b="0" i="0" sz="4400" u="none" cap="none" strike="noStrike">
              <a:solidFill>
                <a:srgbClr val="C00000"/>
              </a:solidFill>
              <a:latin typeface="Marcellus"/>
              <a:ea typeface="Marcellus"/>
              <a:cs typeface="Marcellus"/>
              <a:sym typeface="Marcellus"/>
            </a:endParaRPr>
          </a:p>
        </p:txBody>
      </p:sp>
      <p:pic>
        <p:nvPicPr>
          <p:cNvPr id="200" name="Google Shape;200;g2b53ef716da_1_50"/>
          <p:cNvPicPr preferRelativeResize="0"/>
          <p:nvPr/>
        </p:nvPicPr>
        <p:blipFill rotWithShape="1">
          <a:blip r:embed="rId3">
            <a:alphaModFix/>
          </a:blip>
          <a:srcRect b="0" l="0" r="0" t="0"/>
          <a:stretch/>
        </p:blipFill>
        <p:spPr>
          <a:xfrm rot="5400000">
            <a:off x="5880675" y="567535"/>
            <a:ext cx="385984" cy="12236663"/>
          </a:xfrm>
          <a:prstGeom prst="rect">
            <a:avLst/>
          </a:prstGeom>
          <a:noFill/>
          <a:ln>
            <a:noFill/>
          </a:ln>
        </p:spPr>
      </p:pic>
      <p:pic>
        <p:nvPicPr>
          <p:cNvPr id="201" name="Google Shape;201;g2b53ef716da_1_50"/>
          <p:cNvPicPr preferRelativeResize="0"/>
          <p:nvPr/>
        </p:nvPicPr>
        <p:blipFill rotWithShape="1">
          <a:blip r:embed="rId4">
            <a:alphaModFix/>
          </a:blip>
          <a:srcRect b="0" l="0" r="0" t="0"/>
          <a:stretch/>
        </p:blipFill>
        <p:spPr>
          <a:xfrm rot="5400000">
            <a:off x="4533653" y="1754135"/>
            <a:ext cx="176409" cy="9333047"/>
          </a:xfrm>
          <a:prstGeom prst="rect">
            <a:avLst/>
          </a:prstGeom>
          <a:noFill/>
          <a:ln>
            <a:noFill/>
          </a:ln>
        </p:spPr>
      </p:pic>
      <p:pic>
        <p:nvPicPr>
          <p:cNvPr descr="A close up of a sign&#10;&#10;Description automatically generated" id="202" name="Google Shape;202;g2b53ef716da_1_50"/>
          <p:cNvPicPr preferRelativeResize="0"/>
          <p:nvPr/>
        </p:nvPicPr>
        <p:blipFill rotWithShape="1">
          <a:blip r:embed="rId5">
            <a:alphaModFix/>
          </a:blip>
          <a:srcRect b="0" l="0" r="0" t="0"/>
          <a:stretch/>
        </p:blipFill>
        <p:spPr>
          <a:xfrm>
            <a:off x="10828421" y="5610533"/>
            <a:ext cx="968400" cy="721800"/>
          </a:xfrm>
          <a:prstGeom prst="rect">
            <a:avLst/>
          </a:prstGeom>
          <a:noFill/>
          <a:ln>
            <a:noFill/>
          </a:ln>
        </p:spPr>
      </p:pic>
      <p:pic>
        <p:nvPicPr>
          <p:cNvPr descr="A picture containing drawing&#10;&#10;Description automatically generated" id="203" name="Google Shape;203;g2b53ef716da_1_50"/>
          <p:cNvPicPr preferRelativeResize="0"/>
          <p:nvPr/>
        </p:nvPicPr>
        <p:blipFill rotWithShape="1">
          <a:blip r:embed="rId6">
            <a:alphaModFix/>
          </a:blip>
          <a:srcRect b="0" l="0" r="0" t="0"/>
          <a:stretch/>
        </p:blipFill>
        <p:spPr>
          <a:xfrm>
            <a:off x="120014" y="5440809"/>
            <a:ext cx="3245735" cy="811434"/>
          </a:xfrm>
          <a:prstGeom prst="rect">
            <a:avLst/>
          </a:prstGeom>
          <a:noFill/>
          <a:ln>
            <a:noFill/>
          </a:ln>
        </p:spPr>
      </p:pic>
      <p:sp>
        <p:nvSpPr>
          <p:cNvPr id="204" name="Google Shape;204;g2b53ef716da_1_50"/>
          <p:cNvSpPr txBox="1"/>
          <p:nvPr/>
        </p:nvSpPr>
        <p:spPr>
          <a:xfrm>
            <a:off x="304700" y="1080675"/>
            <a:ext cx="6010500" cy="444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000000"/>
                </a:solidFill>
                <a:latin typeface="Times New Roman"/>
                <a:ea typeface="Times New Roman"/>
                <a:cs typeface="Times New Roman"/>
                <a:sym typeface="Times New Roman"/>
              </a:rPr>
              <a:t>L 293 D Motor Driver IC</a:t>
            </a:r>
            <a:endParaRPr b="1"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Pin Enable 1: Pin 11 of Arduino ( Analog Pin)</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Input 1 : Pin 6 of Arduino</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Input 2: Pin 7 of Arduino</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Output 1: Motor</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Outout 2: Motor</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Gnd </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Vcc</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rPr b="0" i="0" lang="en-US" sz="2600" u="none" cap="none" strike="noStrike">
                <a:solidFill>
                  <a:srgbClr val="000000"/>
                </a:solidFill>
                <a:latin typeface="Times New Roman"/>
                <a:ea typeface="Times New Roman"/>
                <a:cs typeface="Times New Roman"/>
                <a:sym typeface="Times New Roman"/>
              </a:rPr>
              <a:t>Activity </a:t>
            </a:r>
            <a:endParaRPr b="0" i="0" sz="26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rPr b="0" i="0" lang="en-US" sz="2600" u="none" cap="none" strike="noStrike">
                <a:solidFill>
                  <a:srgbClr val="000000"/>
                </a:solidFill>
                <a:latin typeface="Times New Roman"/>
                <a:ea typeface="Times New Roman"/>
                <a:cs typeface="Times New Roman"/>
                <a:sym typeface="Times New Roman"/>
              </a:rPr>
              <a:t>Create circuit on TinkerCAD</a:t>
            </a:r>
            <a:endParaRPr b="0" i="0" sz="26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rPr b="1" i="0" lang="en-US" sz="2600" u="none" cap="none" strike="noStrike">
                <a:solidFill>
                  <a:srgbClr val="000000"/>
                </a:solidFill>
                <a:latin typeface="Times New Roman"/>
                <a:ea typeface="Times New Roman"/>
                <a:cs typeface="Times New Roman"/>
                <a:sym typeface="Times New Roman"/>
              </a:rPr>
              <a:t>Simulate code in TinkerCAD for DC motor speed control and direction</a:t>
            </a:r>
            <a:endParaRPr b="1" i="0" sz="26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600" u="none" cap="none" strike="noStrike">
              <a:solidFill>
                <a:srgbClr val="000000"/>
              </a:solidFill>
              <a:latin typeface="Times New Roman"/>
              <a:ea typeface="Times New Roman"/>
              <a:cs typeface="Times New Roman"/>
              <a:sym typeface="Times New Roman"/>
            </a:endParaRPr>
          </a:p>
        </p:txBody>
      </p:sp>
      <p:pic>
        <p:nvPicPr>
          <p:cNvPr id="205" name="Google Shape;205;g2b53ef716da_1_50"/>
          <p:cNvPicPr preferRelativeResize="0"/>
          <p:nvPr/>
        </p:nvPicPr>
        <p:blipFill rotWithShape="1">
          <a:blip r:embed="rId7">
            <a:alphaModFix/>
          </a:blip>
          <a:srcRect b="0" l="0" r="0" t="0"/>
          <a:stretch/>
        </p:blipFill>
        <p:spPr>
          <a:xfrm>
            <a:off x="6460200" y="1080675"/>
            <a:ext cx="5905000" cy="344413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
          <p:cNvSpPr txBox="1"/>
          <p:nvPr/>
        </p:nvSpPr>
        <p:spPr>
          <a:xfrm>
            <a:off x="914398" y="215152"/>
            <a:ext cx="9942000" cy="769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rgbClr val="C00000"/>
                </a:solidFill>
                <a:latin typeface="Marcellus"/>
                <a:ea typeface="Marcellus"/>
                <a:cs typeface="Marcellus"/>
                <a:sym typeface="Marcellus"/>
              </a:rPr>
              <a:t>Activity with </a:t>
            </a:r>
            <a:r>
              <a:rPr lang="en-US" sz="4400">
                <a:solidFill>
                  <a:srgbClr val="C00000"/>
                </a:solidFill>
                <a:latin typeface="Marcellus"/>
                <a:ea typeface="Marcellus"/>
                <a:cs typeface="Marcellus"/>
                <a:sym typeface="Marcellus"/>
              </a:rPr>
              <a:t>Servo Motor</a:t>
            </a:r>
            <a:endParaRPr b="0" i="0" sz="4400" u="none" cap="none" strike="noStrike">
              <a:solidFill>
                <a:srgbClr val="C00000"/>
              </a:solidFill>
              <a:latin typeface="Marcellus"/>
              <a:ea typeface="Marcellus"/>
              <a:cs typeface="Marcellus"/>
              <a:sym typeface="Marcellus"/>
            </a:endParaRPr>
          </a:p>
        </p:txBody>
      </p:sp>
      <p:sp>
        <p:nvSpPr>
          <p:cNvPr id="211" name="Google Shape;211;p4"/>
          <p:cNvSpPr/>
          <p:nvPr/>
        </p:nvSpPr>
        <p:spPr>
          <a:xfrm>
            <a:off x="1124023" y="1390087"/>
            <a:ext cx="5524200" cy="4682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2200" u="none" cap="none" strike="noStrike">
                <a:solidFill>
                  <a:srgbClr val="C00000"/>
                </a:solidFill>
                <a:latin typeface="Fira Sans"/>
                <a:ea typeface="Fira Sans"/>
                <a:cs typeface="Fira Sans"/>
                <a:sym typeface="Fira Sans"/>
              </a:rPr>
              <a:t>Tasks </a:t>
            </a:r>
            <a:endParaRPr b="1" i="0" sz="2200" u="none" cap="none" strike="noStrike">
              <a:solidFill>
                <a:srgbClr val="C00000"/>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t/>
            </a:r>
            <a:endParaRPr b="1" i="0" sz="2200" u="none" cap="none" strike="noStrike">
              <a:solidFill>
                <a:srgbClr val="C00000"/>
              </a:solidFill>
              <a:latin typeface="Fira Sans"/>
              <a:ea typeface="Fira Sans"/>
              <a:cs typeface="Fira Sans"/>
              <a:sym typeface="Fira Sans"/>
            </a:endParaRPr>
          </a:p>
          <a:p>
            <a:pPr indent="0" lvl="0" marL="457200" marR="0" rtl="0" algn="l">
              <a:lnSpc>
                <a:spcPct val="100000"/>
              </a:lnSpc>
              <a:spcBef>
                <a:spcPts val="800"/>
              </a:spcBef>
              <a:spcAft>
                <a:spcPts val="0"/>
              </a:spcAft>
              <a:buClr>
                <a:srgbClr val="000000"/>
              </a:buClr>
              <a:buSzPts val="2200"/>
              <a:buFont typeface="Arial"/>
              <a:buNone/>
            </a:pPr>
            <a:r>
              <a:t/>
            </a:r>
            <a:endParaRPr b="0" i="0" sz="2200" u="none" cap="none" strike="noStrike">
              <a:solidFill>
                <a:srgbClr val="000000"/>
              </a:solidFill>
              <a:latin typeface="Fira Sans"/>
              <a:ea typeface="Fira Sans"/>
              <a:cs typeface="Fira Sans"/>
              <a:sym typeface="Fira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Abhijeet</dc:creator>
</cp:coreProperties>
</file>