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761163" cy="9942513"/>
  <p:embeddedFontLst>
    <p:embeddedFont>
      <p:font typeface="Fira Sans" panose="020B060402020202020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Marcellus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0cPrDcU/B7/fHf93D3iZAXVh3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45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7860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b066cdbd5_0_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26b066cdb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0e0832f43_0_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2c0e0832f4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0e0832f43_0_2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2c0e0832f4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0e0832f43_0_1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2c0e0832f4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c07408bc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2c07408bc5_0_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2c07408bc5_0_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c07408bc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2c07408bc5_0_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2c07408bc5_0_10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c07408bc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c07408bc5_0_1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2c07408bc5_0_1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c07408bc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c07408bc5_0_3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2c07408bc5_0_3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c07408bc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2c07408bc5_0_6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2c07408bc5_0_6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0e0832f43_0_3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c0e0832f4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c181acbd9b_1_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g2c181acbd9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546971" y="132462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F42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212F4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9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>
            <a:gsLst>
              <a:gs pos="0">
                <a:srgbClr val="D0EBFF">
                  <a:alpha val="94509"/>
                </a:srgbClr>
              </a:gs>
              <a:gs pos="50000">
                <a:srgbClr val="BDDBFF">
                  <a:alpha val="89411"/>
                </a:srgbClr>
              </a:gs>
              <a:gs pos="95000">
                <a:srgbClr val="63B5FF">
                  <a:alpha val="87450"/>
                </a:srgbClr>
              </a:gs>
              <a:gs pos="100000">
                <a:srgbClr val="0096FF">
                  <a:alpha val="84313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5093D0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>
            <a:solidFill>
              <a:srgbClr val="4F88BA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546971" y="132462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26093" y="1189973"/>
            <a:ext cx="10997852" cy="489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1"/>
          </p:nvPr>
        </p:nvSpPr>
        <p:spPr>
          <a:xfrm>
            <a:off x="676950" y="1606006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8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3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9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3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39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3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/>
        </p:nvSpPr>
        <p:spPr>
          <a:xfrm>
            <a:off x="1531257" y="294321"/>
            <a:ext cx="9129486" cy="7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6"/>
          <p:cNvSpPr txBox="1"/>
          <p:nvPr/>
        </p:nvSpPr>
        <p:spPr>
          <a:xfrm>
            <a:off x="432522" y="6373654"/>
            <a:ext cx="19412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3/2/2024</a:t>
            </a:r>
            <a:endParaRPr sz="1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26"/>
          <p:cNvSpPr txBox="1"/>
          <p:nvPr/>
        </p:nvSpPr>
        <p:spPr>
          <a:xfrm>
            <a:off x="10986932" y="6347051"/>
            <a:ext cx="8019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6"/>
          <p:cNvCxnSpPr/>
          <p:nvPr/>
        </p:nvCxnSpPr>
        <p:spPr>
          <a:xfrm>
            <a:off x="231906" y="524443"/>
            <a:ext cx="20027" cy="5873873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26"/>
          <p:cNvCxnSpPr/>
          <p:nvPr/>
        </p:nvCxnSpPr>
        <p:spPr>
          <a:xfrm>
            <a:off x="11945044" y="135448"/>
            <a:ext cx="19164" cy="6100958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15;p26"/>
          <p:cNvCxnSpPr/>
          <p:nvPr/>
        </p:nvCxnSpPr>
        <p:spPr>
          <a:xfrm>
            <a:off x="572366" y="135448"/>
            <a:ext cx="11382258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26"/>
          <p:cNvCxnSpPr/>
          <p:nvPr/>
        </p:nvCxnSpPr>
        <p:spPr>
          <a:xfrm>
            <a:off x="251932" y="6398315"/>
            <a:ext cx="320400" cy="2931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17;p26"/>
          <p:cNvCxnSpPr/>
          <p:nvPr/>
        </p:nvCxnSpPr>
        <p:spPr>
          <a:xfrm rot="5400000">
            <a:off x="11558310" y="6285307"/>
            <a:ext cx="454800" cy="357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" name="Google Shape;18;p2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5" y="135448"/>
            <a:ext cx="566958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72785" y="135448"/>
            <a:ext cx="204457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6" descr="A close up of a sign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095527" y="6043825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6" descr="A picture containing drawing&#10;&#10;Description automatically generated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605" y="6214968"/>
            <a:ext cx="2655568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 rot="5400000">
            <a:off x="6714494" y="2503272"/>
            <a:ext cx="385984" cy="837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 rot="5400000">
            <a:off x="6820534" y="2236939"/>
            <a:ext cx="173904" cy="83760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atasy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xKe20Mb2e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LOKpUSnjHao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tinkercad.com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/>
        </p:nvSpPr>
        <p:spPr>
          <a:xfrm>
            <a:off x="1187116" y="120030"/>
            <a:ext cx="9946200" cy="409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endParaRPr sz="46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endParaRPr sz="46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US" sz="4600" b="0" i="0" u="none" strike="noStrike" cap="none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 Based Learning</a:t>
            </a:r>
            <a:endParaRPr sz="46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endParaRPr sz="46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500" b="0" i="0" u="none" strike="noStrike" cap="none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II</a:t>
            </a:r>
            <a:endParaRPr sz="3500" b="0" i="0" u="none" strike="noStrike" cap="none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3500" b="0" i="0" u="none" strike="noStrike" cap="none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500" b="0" i="0" u="none" strike="noStrike" cap="none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January </a:t>
            </a:r>
            <a:r>
              <a:rPr lang="en-US" sz="3500" b="0" i="0" u="none" strike="noStrike" cap="none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– April </a:t>
            </a:r>
            <a:r>
              <a:rPr lang="en-US" sz="3500" b="0" i="0" u="none" strike="noStrike" cap="none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202</a:t>
            </a: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46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b066cdbd5_0_0"/>
          <p:cNvSpPr txBox="1"/>
          <p:nvPr/>
        </p:nvSpPr>
        <p:spPr>
          <a:xfrm>
            <a:off x="1187116" y="120030"/>
            <a:ext cx="99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008B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26b066cdbd5_0_0"/>
          <p:cNvSpPr txBox="1"/>
          <p:nvPr/>
        </p:nvSpPr>
        <p:spPr>
          <a:xfrm>
            <a:off x="2341575" y="2188725"/>
            <a:ext cx="7754400" cy="20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3D PRINTING</a:t>
            </a:r>
            <a:endParaRPr sz="46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Fused Deposition Modelling (FDM)</a:t>
            </a:r>
            <a:endParaRPr sz="46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0e0832f43_0_2"/>
          <p:cNvSpPr txBox="1"/>
          <p:nvPr/>
        </p:nvSpPr>
        <p:spPr>
          <a:xfrm>
            <a:off x="1187116" y="120030"/>
            <a:ext cx="99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008B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2c0e0832f43_0_2"/>
          <p:cNvSpPr txBox="1"/>
          <p:nvPr/>
        </p:nvSpPr>
        <p:spPr>
          <a:xfrm>
            <a:off x="1054525" y="333525"/>
            <a:ext cx="10521300" cy="5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Contents</a:t>
            </a:r>
            <a:endParaRPr sz="46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Introduction to Rapid Prototyping</a:t>
            </a:r>
            <a:endParaRPr sz="3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Introduction to 3D printing</a:t>
            </a:r>
            <a:endParaRPr sz="3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What is Fused Deposition Modelling (FDM)</a:t>
            </a:r>
            <a:endParaRPr sz="3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How to use TinkerCAD</a:t>
            </a:r>
            <a:endParaRPr sz="3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How to use CURA software</a:t>
            </a:r>
            <a:endParaRPr sz="3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ira Sans"/>
              <a:buChar char="●"/>
            </a:pPr>
            <a:r>
              <a:rPr lang="en-US" sz="3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Activity on 3D printing (Paper weight model) (Pen stand model)</a:t>
            </a:r>
            <a:endParaRPr sz="3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6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510" cy="65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lang="en-US" b="1">
                <a:solidFill>
                  <a:srgbClr val="7030A0"/>
                </a:solidFill>
              </a:rPr>
              <a:t>Product development process</a:t>
            </a:r>
            <a:endParaRPr b="1">
              <a:solidFill>
                <a:srgbClr val="7030A0"/>
              </a:solidFill>
            </a:endParaRPr>
          </a:p>
        </p:txBody>
      </p:sp>
      <p:pic>
        <p:nvPicPr>
          <p:cNvPr id="123" name="Google Shape;123;p2" descr="Product Development Process - 6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204" y="765177"/>
            <a:ext cx="11231894" cy="539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>
            <a:off x="4061638" y="1541721"/>
            <a:ext cx="2349796" cy="409353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67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lang="en-US" b="1">
                <a:solidFill>
                  <a:srgbClr val="7030A0"/>
                </a:solidFill>
              </a:rPr>
              <a:t>What is Rapid Prototyping?</a:t>
            </a:r>
            <a:endParaRPr b="1">
              <a:solidFill>
                <a:srgbClr val="7030A0"/>
              </a:solidFill>
            </a:endParaRPr>
          </a:p>
        </p:txBody>
      </p:sp>
      <p:sp>
        <p:nvSpPr>
          <p:cNvPr id="130" name="Google Shape;130;p3"/>
          <p:cNvSpPr txBox="1">
            <a:spLocks noGrp="1"/>
          </p:cNvSpPr>
          <p:nvPr>
            <p:ph type="body" idx="1"/>
          </p:nvPr>
        </p:nvSpPr>
        <p:spPr>
          <a:xfrm>
            <a:off x="897845" y="931224"/>
            <a:ext cx="10972800" cy="227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Rapid prototyping is the fast </a:t>
            </a:r>
            <a:r>
              <a:rPr lang="en-US" b="1"/>
              <a:t>fabrication of a physical part</a:t>
            </a:r>
            <a:r>
              <a:rPr lang="en-US"/>
              <a:t>, model or assembly using 3D </a:t>
            </a:r>
            <a:r>
              <a:rPr lang="en-US" b="1"/>
              <a:t>computer aided design</a:t>
            </a:r>
            <a:r>
              <a:rPr lang="en-US"/>
              <a:t> (CAD). </a:t>
            </a:r>
            <a:endParaRPr/>
          </a:p>
          <a:p>
            <a:pPr marL="28575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creation of the part, model or assembly is usually completed using </a:t>
            </a:r>
            <a:r>
              <a:rPr lang="en-US" b="1"/>
              <a:t>additive manufacturing</a:t>
            </a:r>
            <a:r>
              <a:rPr lang="en-US"/>
              <a:t>, or more commonly known as 3D printing.</a:t>
            </a:r>
            <a:endParaRPr/>
          </a:p>
          <a:p>
            <a:pPr marL="285750" lvl="0" indent="-1079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31" name="Google Shape;131;p3" descr="Additive Manufacturing Pictures | Download Free Images on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55" y="3078939"/>
            <a:ext cx="4629076" cy="308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 descr="3D Printing Machine Three dimensional printing machine additive manufacturing stock pictures, royalty-free photos &amp; imag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2456" y="3078939"/>
            <a:ext cx="4795284" cy="319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510" cy="73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Times New Roman"/>
              <a:buNone/>
            </a:pPr>
            <a:r>
              <a:rPr lang="en-US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How Does Rapid Prototyping Work?</a:t>
            </a:r>
            <a:endParaRPr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844683" y="846162"/>
            <a:ext cx="10972800" cy="504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794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Rapid prototyping (RP) includes a </a:t>
            </a:r>
            <a:r>
              <a:rPr lang="en-US" sz="2300" b="1">
                <a:latin typeface="Fira Sans"/>
                <a:ea typeface="Fira Sans"/>
                <a:cs typeface="Fira Sans"/>
                <a:sym typeface="Fira Sans"/>
              </a:rPr>
              <a:t>variety of manufacturing technologies</a:t>
            </a: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, although most utilize layered additive manufacturing. </a:t>
            </a:r>
            <a:endParaRPr sz="23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79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However, other technologies used for RP include high-speed machining, casting, moulding and extruding.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While additive manufacturing is the most common rapid prototyping process, other more conventional processes can also be used to create prototypes.</a:t>
            </a:r>
            <a:endParaRPr sz="19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" name="Google Shape;139;p4" descr="Additive and subtractive hybrid manufacturing process | Download Scientific  Diagra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" descr="Lathe Stock Photos, Pictures &amp; Royalty-Free Images - i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5599" y="3721158"/>
            <a:ext cx="2686862" cy="1791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 descr="20,074 Metal Casting Stock Photos, Pictures &amp; Royalty-Free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7586" y="3693983"/>
            <a:ext cx="2768377" cy="184558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844675" y="3190875"/>
            <a:ext cx="5185800" cy="2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857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These processes include: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300" b="1">
                <a:latin typeface="Fira Sans"/>
                <a:ea typeface="Fira Sans"/>
                <a:cs typeface="Fira Sans"/>
                <a:sym typeface="Fira Sans"/>
              </a:rPr>
              <a:t>Subtractive</a:t>
            </a: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 - </a:t>
            </a: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whereby a block of material is carved to produce the desired shape using milling, grinding or turning.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300" b="1">
                <a:latin typeface="Fira Sans"/>
                <a:ea typeface="Fira Sans"/>
                <a:cs typeface="Fira Sans"/>
                <a:sym typeface="Fira Sans"/>
              </a:rPr>
              <a:t>Compressive</a:t>
            </a: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 - </a:t>
            </a: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whereby a semi-solid or liquid material is forced into the desired shape before being solidified, such as with casting, compressive sintering or moulding.</a:t>
            </a:r>
            <a:endParaRPr sz="19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3407" y="292837"/>
            <a:ext cx="8902072" cy="5236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56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>
                <a:latin typeface="Marcellus"/>
                <a:ea typeface="Marcellus"/>
                <a:cs typeface="Marcellus"/>
                <a:sym typeface="Marcellus"/>
              </a:rPr>
              <a:t>Why is Rapid prototyping important?</a:t>
            </a:r>
            <a:br>
              <a:rPr lang="en-US">
                <a:latin typeface="Marcellus"/>
                <a:ea typeface="Marcellus"/>
                <a:cs typeface="Marcellus"/>
                <a:sym typeface="Marcellus"/>
              </a:rPr>
            </a:b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1"/>
          </p:nvPr>
        </p:nvSpPr>
        <p:spPr>
          <a:xfrm>
            <a:off x="802150" y="776175"/>
            <a:ext cx="11138400" cy="52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•"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Companies need to develop and introduce new products faster to remain competitive in this fast-moving modern-day consumer market. 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•"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Since faster product development and technology innovation are vital to a company’s success, rapid prototyping becomes the most crucial element of new product development.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•"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Rapid prototyping achieves the following objectives.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8064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Char char="❑"/>
            </a:pP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Faster new product development – Rapid prototyping plays a vital role in the process of creating successful products because it speeds up the new product development process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8064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Char char="❑"/>
            </a:pP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Early-stage design/concept validation of the form, fit, and function of the design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8064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Char char="❑"/>
            </a:pP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Final stage product verification against the technical requirement and business objectives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8064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Char char="❑"/>
            </a:pP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It allows functionality testing to test the objectives of the concept and to finalize the product specification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80645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Char char="❑"/>
            </a:pPr>
            <a:r>
              <a:rPr lang="en-US" sz="1900">
                <a:latin typeface="Fira Sans"/>
                <a:ea typeface="Fira Sans"/>
                <a:cs typeface="Fira Sans"/>
                <a:sym typeface="Fira Sans"/>
              </a:rPr>
              <a:t>The prototype gives the end-user, client, customer, user participants hands-on user experience to get feedback</a:t>
            </a:r>
            <a:endParaRPr sz="27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133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3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838200" y="197575"/>
            <a:ext cx="11022000" cy="6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Advantages of rapid prototyping</a:t>
            </a:r>
            <a:endParaRPr sz="2400"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endParaRPr sz="2400" b="1">
              <a:solidFill>
                <a:srgbClr val="7030A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Reduced design &amp; development time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Reduced overall product development cost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Elimination or reduction of risk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Allows functionality testing at a fraction of the cost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Disadvantages of rapid prototyping</a:t>
            </a:r>
            <a:endParaRPr sz="2400"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endParaRPr sz="2400" b="1">
              <a:solidFill>
                <a:srgbClr val="7030A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Lack of accuracy – If the function of the product relies heavily on the accuracy of the parts, then rapid prototype parts and assembly might not be able to f the same accuracy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Added initial costs – Rapid prototyping costs money due to technologies used and faster turnaround required.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Some rapid prototyping processes are still expensive and not economical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Reduced material properties like surface finish and strength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Rapid prototyping required skilled labour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Fira Sans"/>
              <a:buChar char="•"/>
            </a:pPr>
            <a:r>
              <a:rPr lang="en-US" sz="2300">
                <a:latin typeface="Fira Sans"/>
                <a:ea typeface="Fira Sans"/>
                <a:cs typeface="Fira Sans"/>
                <a:sym typeface="Fira Sans"/>
              </a:rPr>
              <a:t>Limited material range</a:t>
            </a:r>
            <a:endParaRPr sz="31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59" name="Google Shape;159;p8" descr="What the hell is “Rapid Prototyping”? | by Keaton Herzer | Prototyp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2404" y="197574"/>
            <a:ext cx="3672371" cy="219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0e0832f43_0_29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6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Overview of Additive Manufacturing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5" name="Google Shape;165;g2c0e0832f43_0_29"/>
          <p:cNvSpPr txBox="1"/>
          <p:nvPr/>
        </p:nvSpPr>
        <p:spPr>
          <a:xfrm>
            <a:off x="902526" y="1035593"/>
            <a:ext cx="10621500" cy="51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Introduction to AM: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3D</a:t>
            </a:r>
            <a:r>
              <a:rPr lang="en-US" sz="22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printing, also known as additive manufacturing (AM), is a method of creating a three dimensional object layer-by-layer using a computer created design.</a:t>
            </a:r>
            <a:endParaRPr sz="2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Char char="▪"/>
            </a:pP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 AM technology was originally referred to as rapid prototyping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Rapid prototyping : Creating a physical prototypes directly from digital data.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Opposite of subtractive manufacturing processes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ra Sans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Rapid prototyping (RP): Additive manufacturing = 3D Printing</a:t>
            </a:r>
            <a:endParaRPr sz="22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9487" marR="0" lvl="5" indent="-5143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Layer by layer fabrication of three dimensional physical models directly from a computer – aided design (CAD)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9487" marR="0" lvl="5" indent="-5143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Printing the idea in 3D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9487" marR="0" lvl="5" indent="-5143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Construct the objects by producing a very thin cross section.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9487" marR="0" lvl="5" indent="-5143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Two dimensional slices being created and stacked together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436687" marR="0" lvl="6" indent="-5143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San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For example: Sphere : various sized circles are built consecutively in RP machine to create sphere.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28600" marR="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title"/>
          </p:nvPr>
        </p:nvSpPr>
        <p:spPr>
          <a:xfrm>
            <a:off x="809175" y="214825"/>
            <a:ext cx="109020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Generalized Additive Manufacturing Process Chain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902526" y="869339"/>
            <a:ext cx="10621420" cy="536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5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 Process Chain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5" indent="-3619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5" indent="-3619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2" name="Google Shape;172;p9"/>
          <p:cNvGrpSpPr/>
          <p:nvPr/>
        </p:nvGrpSpPr>
        <p:grpSpPr>
          <a:xfrm>
            <a:off x="809179" y="1142187"/>
            <a:ext cx="10222775" cy="5016188"/>
            <a:chOff x="990600" y="1485582"/>
            <a:chExt cx="10222775" cy="5016188"/>
          </a:xfrm>
        </p:grpSpPr>
        <p:grpSp>
          <p:nvGrpSpPr>
            <p:cNvPr id="173" name="Google Shape;173;p9"/>
            <p:cNvGrpSpPr/>
            <p:nvPr/>
          </p:nvGrpSpPr>
          <p:grpSpPr>
            <a:xfrm>
              <a:off x="2057401" y="1485582"/>
              <a:ext cx="6107972" cy="4318634"/>
              <a:chOff x="457201" y="190182"/>
              <a:chExt cx="6107972" cy="4318634"/>
            </a:xfrm>
          </p:grpSpPr>
          <p:sp>
            <p:nvSpPr>
              <p:cNvPr id="174" name="Google Shape;174;p9"/>
              <p:cNvSpPr/>
              <p:nvPr/>
            </p:nvSpPr>
            <p:spPr>
              <a:xfrm>
                <a:off x="1370708" y="528079"/>
                <a:ext cx="3636226" cy="3636226"/>
              </a:xfrm>
              <a:prstGeom prst="blockArc">
                <a:avLst>
                  <a:gd name="adj1" fmla="val 12340905"/>
                  <a:gd name="adj2" fmla="val 17003791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1382888" y="502218"/>
                <a:ext cx="3636226" cy="3636226"/>
              </a:xfrm>
              <a:prstGeom prst="blockArc">
                <a:avLst>
                  <a:gd name="adj1" fmla="val 8542336"/>
                  <a:gd name="adj2" fmla="val 12285604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1457381" y="606413"/>
                <a:ext cx="3636226" cy="3636226"/>
              </a:xfrm>
              <a:prstGeom prst="blockArc">
                <a:avLst>
                  <a:gd name="adj1" fmla="val 4767625"/>
                  <a:gd name="adj2" fmla="val 8790174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2141106" y="613006"/>
                <a:ext cx="3636226" cy="3636226"/>
              </a:xfrm>
              <a:prstGeom prst="blockArc">
                <a:avLst>
                  <a:gd name="adj1" fmla="val 1794504"/>
                  <a:gd name="adj2" fmla="val 6098672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2136130" y="621713"/>
                <a:ext cx="3636226" cy="3636226"/>
              </a:xfrm>
              <a:prstGeom prst="blockArc">
                <a:avLst>
                  <a:gd name="adj1" fmla="val 20031621"/>
                  <a:gd name="adj2" fmla="val 1775103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2101804" y="547497"/>
                <a:ext cx="3636226" cy="3636226"/>
              </a:xfrm>
              <a:prstGeom prst="blockArc">
                <a:avLst>
                  <a:gd name="adj1" fmla="val 15578783"/>
                  <a:gd name="adj2" fmla="val 20189821"/>
                  <a:gd name="adj3" fmla="val 4518"/>
                </a:avLst>
              </a:prstGeom>
              <a:solidFill>
                <a:srgbClr val="B3CA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2478740" y="1579656"/>
                <a:ext cx="2243603" cy="1629779"/>
              </a:xfrm>
              <a:prstGeom prst="ellipse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9"/>
              <p:cNvSpPr txBox="1"/>
              <p:nvPr/>
            </p:nvSpPr>
            <p:spPr>
              <a:xfrm>
                <a:off x="2807308" y="1818332"/>
                <a:ext cx="1586467" cy="11524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AM Process Chain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030119" y="190182"/>
                <a:ext cx="1140845" cy="854641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9"/>
              <p:cNvSpPr txBox="1"/>
              <p:nvPr/>
            </p:nvSpPr>
            <p:spPr>
              <a:xfrm>
                <a:off x="3071838" y="231901"/>
                <a:ext cx="1057407" cy="7712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CAD Design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4533897" y="1346199"/>
                <a:ext cx="2031276" cy="621464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9"/>
              <p:cNvSpPr txBox="1"/>
              <p:nvPr/>
            </p:nvSpPr>
            <p:spPr>
              <a:xfrm>
                <a:off x="4564234" y="1376536"/>
                <a:ext cx="1970602" cy="5607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STL File Format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571769" y="3094572"/>
                <a:ext cx="1855665" cy="445215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9"/>
              <p:cNvSpPr txBox="1"/>
              <p:nvPr/>
            </p:nvSpPr>
            <p:spPr>
              <a:xfrm>
                <a:off x="4593502" y="3116305"/>
                <a:ext cx="1812199" cy="401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Preprocessing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2894381" y="3834360"/>
                <a:ext cx="1412321" cy="674456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9"/>
              <p:cNvSpPr txBox="1"/>
              <p:nvPr/>
            </p:nvSpPr>
            <p:spPr>
              <a:xfrm>
                <a:off x="2927305" y="3867284"/>
                <a:ext cx="1346473" cy="6086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File Transfer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800100" y="3174999"/>
                <a:ext cx="1986988" cy="460536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9"/>
              <p:cNvSpPr txBox="1"/>
              <p:nvPr/>
            </p:nvSpPr>
            <p:spPr>
              <a:xfrm>
                <a:off x="822581" y="3197480"/>
                <a:ext cx="1942026" cy="415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Build Process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57201" y="1371598"/>
                <a:ext cx="2260243" cy="408947"/>
              </a:xfrm>
              <a:prstGeom prst="flowChartAlternateProcess">
                <a:avLst/>
              </a:prstGeom>
              <a:solidFill>
                <a:srgbClr val="599BD5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9"/>
              <p:cNvSpPr txBox="1"/>
              <p:nvPr/>
            </p:nvSpPr>
            <p:spPr>
              <a:xfrm>
                <a:off x="477164" y="1391561"/>
                <a:ext cx="2220317" cy="3690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Post Processing</a:t>
                </a:r>
                <a:endParaRPr sz="20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94" name="Google Shape;194;p9"/>
            <p:cNvSpPr txBox="1"/>
            <p:nvPr/>
          </p:nvSpPr>
          <p:spPr>
            <a:xfrm>
              <a:off x="8165375" y="4813450"/>
              <a:ext cx="30480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ncludes verifying the STL file, slicing, parameter setting</a:t>
              </a:r>
              <a:endPara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990600" y="1752600"/>
              <a:ext cx="35052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Includes removal of parts from machine, support removal, finishing</a:t>
              </a:r>
              <a:endPara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1355696" y="5855270"/>
              <a:ext cx="8588100" cy="646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If the finished part meets the necessary requirements, the cycle is complete. Otherwise, iteration can be implemented in the CAD file and cycle is repeated  </a:t>
              </a:r>
              <a:endParaRPr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97" name="Google Shape;197;p9"/>
          <p:cNvSpPr/>
          <p:nvPr/>
        </p:nvSpPr>
        <p:spPr>
          <a:xfrm>
            <a:off x="8220764" y="1339311"/>
            <a:ext cx="3719599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Conceptualization and CAD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Conversion to STL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Transfer and manipulation of STL file on AM machine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Machine setup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Build</a:t>
            </a:r>
            <a:endParaRPr sz="1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Part removal and cleanup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Post-processing of part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Application</a:t>
            </a:r>
            <a:endParaRPr sz="1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357948" y="2942475"/>
            <a:ext cx="18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Standard Tessellation Language</a:t>
            </a:r>
            <a:endParaRPr sz="180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0" descr="Applied Sciences | Free Full-Text | Design for Additive Manufacturing: Tool  Review and a Case Stud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425" y="238225"/>
            <a:ext cx="11017400" cy="36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 descr="Additive manufacturing: Digimat workflow [71] | Download Scientific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6825" y="238225"/>
            <a:ext cx="10921125" cy="40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 descr="Materials | Free Full-Text | Current Status and Prospects of Polymer Powder 3D  Printing Technologi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444" y="331075"/>
            <a:ext cx="9024869" cy="387149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955475" y="4498625"/>
            <a:ext cx="6191400" cy="17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Fused Deposition Modeling (FDM)</a:t>
            </a:r>
            <a:endParaRPr sz="1800" b="1">
              <a:solidFill>
                <a:srgbClr val="2F549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Laminated Object Manufacturing (LOM)-(Involves gluing layers of material together to create an object</a:t>
            </a:r>
            <a:endParaRPr sz="1800" b="1">
              <a:solidFill>
                <a:srgbClr val="2F549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Stereolithography (SLA)</a:t>
            </a:r>
            <a:endParaRPr sz="1800" b="1">
              <a:solidFill>
                <a:srgbClr val="2F549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Selective Laser Sintering (SLS)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2F549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578925" y="4498625"/>
            <a:ext cx="43647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Digital Light Process (DLP)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Multi Jet Fusion (MJF)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PolyJet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Direct Metal Laser Sintering (DMLS)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Fira Sans"/>
              <a:buChar char="⮚"/>
            </a:pPr>
            <a:r>
              <a:rPr lang="en-US" sz="1800" b="1" i="0" u="none" strike="noStrike" cap="none">
                <a:solidFill>
                  <a:srgbClr val="2F5496"/>
                </a:solidFill>
                <a:latin typeface="Fira Sans"/>
                <a:ea typeface="Fira Sans"/>
                <a:cs typeface="Fira Sans"/>
                <a:sym typeface="Fira Sans"/>
              </a:rPr>
              <a:t>Electron Beam Melting (EBM)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0e0832f43_0_15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Fused Deposition Modeling (FDM)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7" name="Google Shape;217;g2c0e0832f43_0_15"/>
          <p:cNvSpPr txBox="1">
            <a:spLocks noGrp="1"/>
          </p:cNvSpPr>
          <p:nvPr>
            <p:ph type="body" idx="1"/>
          </p:nvPr>
        </p:nvSpPr>
        <p:spPr>
          <a:xfrm>
            <a:off x="823425" y="867425"/>
            <a:ext cx="5653500" cy="52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Fira Sans"/>
                <a:ea typeface="Fira Sans"/>
                <a:cs typeface="Fira Sans"/>
                <a:sym typeface="Fira Sans"/>
              </a:rPr>
              <a:t>What is Fused Deposition Modeling (FDM)?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Fused deposition modeling is an additive manufacturing technology that creates 3D components using a continuous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thermoplastic or composite material </a:t>
            </a: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thread in filament form. 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•"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An extruder feeds the plastic filament through an extruding nozzle, where it is melted and then selectively deposited layer by layer onto the build platform in a predetermined automated path.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18" name="Google Shape;218;g2c0e0832f43_0_15" descr="fused-deposition-modeling-exampl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716" y="1494824"/>
            <a:ext cx="5038725" cy="308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body" idx="1"/>
          </p:nvPr>
        </p:nvSpPr>
        <p:spPr>
          <a:xfrm>
            <a:off x="1014800" y="1015400"/>
            <a:ext cx="10972800" cy="4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FDM, also known as Fused Filament Fabrication (FFF), is a material extrusion technology, one of the seven main types of additive manufacturing technologies. 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FDM is the most widely used 3D printing technique, with the most 3D printer users globally, and is typically the first 3D printing technology to which people are exposed.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Scott Crump pioneered the process in the 1980s under the registered term fused deposition modelling (FDM). 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u="sng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3"/>
              </a:rPr>
              <a:t>Stratasys Inc</a:t>
            </a: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, a business co-founded by Scott Crump, owns the trademark fused deposition modelling (FDM) and its abbreviation FDM.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Fused Deposition Modeling (FDM)</a:t>
            </a:r>
            <a:endParaRPr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>
            <a:spLocks noGrp="1"/>
          </p:cNvSpPr>
          <p:nvPr>
            <p:ph type="body" idx="1"/>
          </p:nvPr>
        </p:nvSpPr>
        <p:spPr>
          <a:xfrm>
            <a:off x="738357" y="229475"/>
            <a:ext cx="10972800" cy="14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How does FDM work?</a:t>
            </a:r>
            <a:endParaRPr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It consists of two extruding nozzles on linear slides, a build platform on another linear slide and supports for plastic filament spools.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30" name="Google Shape;230;p15" descr="AM06 | Fused Deposition Modelling | FDM | Best Engineer - YouTube"/>
          <p:cNvPicPr preferRelativeResize="0"/>
          <p:nvPr/>
        </p:nvPicPr>
        <p:blipFill rotWithShape="1">
          <a:blip r:embed="rId3">
            <a:alphaModFix/>
          </a:blip>
          <a:srcRect l="5817" t="5350" r="43253" b="5348"/>
          <a:stretch/>
        </p:blipFill>
        <p:spPr>
          <a:xfrm>
            <a:off x="6769061" y="1818130"/>
            <a:ext cx="5064975" cy="4995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5" descr="Polymers | Free Full-Text | FDM 3D Printing of Polymers Containing Natural  Fillers: A Review of their Mechanical Propertie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45" y="1930179"/>
            <a:ext cx="6560818" cy="4002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body" idx="1"/>
          </p:nvPr>
        </p:nvSpPr>
        <p:spPr>
          <a:xfrm>
            <a:off x="823418" y="229475"/>
            <a:ext cx="8299317" cy="593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6543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70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The extruders are called </a:t>
            </a:r>
            <a:r>
              <a:rPr lang="en-US" sz="2270" b="1">
                <a:latin typeface="Fira Sans"/>
                <a:ea typeface="Fira Sans"/>
                <a:cs typeface="Fira Sans"/>
                <a:sym typeface="Fira Sans"/>
              </a:rPr>
              <a:t>Model and Support extruders</a:t>
            </a: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. As the name implies, the model extruder prints the material for the 3D shape while the support extruder prints the supports. 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65430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0"/>
              <a:buFont typeface="Fira Sans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They can either have the same material or different materials. 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65430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0"/>
              <a:buFont typeface="Fira Sans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Hobbyist printers have a single extruder and use the same material for both model and support.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65430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0"/>
              <a:buFont typeface="Fira Sans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Depending on the type and brand of FDM printer, the XYZ movement could come from the extruders and the build platform. 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65430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0"/>
              <a:buFont typeface="Fira Sans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As the schematic shows, in this version, the extruder head gantry moves in X &amp; Y while the build platform moves in Z-axis comes. 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65430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70"/>
              <a:buFont typeface="Fira Sans"/>
              <a:buChar char="•"/>
            </a:pPr>
            <a:r>
              <a:rPr lang="en-US" sz="2270">
                <a:latin typeface="Fira Sans"/>
                <a:ea typeface="Fira Sans"/>
                <a:cs typeface="Fira Sans"/>
                <a:sym typeface="Fira Sans"/>
              </a:rPr>
              <a:t>In some versions, the print head moves in X and Z while the build platform moves in Y.</a:t>
            </a:r>
            <a:endParaRPr sz="227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121285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None/>
            </a:pPr>
            <a:endParaRPr sz="2270"/>
          </a:p>
        </p:txBody>
      </p:sp>
      <p:pic>
        <p:nvPicPr>
          <p:cNvPr id="237" name="Google Shape;237;p16" descr="All About Fused Deposition Model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08792" y="663613"/>
            <a:ext cx="2694111" cy="246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6" descr="Schematic of fused deposition modeling process. Source: [18] | Download  Scientific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3341" y="3418257"/>
            <a:ext cx="2373247" cy="263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7" descr="Leading FDM 3D Printing Services Provider | Get A Free Quo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101" y="138223"/>
            <a:ext cx="6858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 descr="9 most common FDM 3D Printing Materials (Quick &amp; Simple Guide)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5241" y="138222"/>
            <a:ext cx="4489933" cy="341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>
            <a:spLocks noGrp="1"/>
          </p:cNvSpPr>
          <p:nvPr>
            <p:ph type="body" idx="1"/>
          </p:nvPr>
        </p:nvSpPr>
        <p:spPr>
          <a:xfrm>
            <a:off x="808075" y="1194575"/>
            <a:ext cx="4338000" cy="5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Fira Sans"/>
                <a:ea typeface="Fira Sans"/>
                <a:cs typeface="Fira Sans"/>
                <a:sym typeface="Fira Sans"/>
              </a:rPr>
              <a:t>FDM process steps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❑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Part preparation step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❑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FDM machine set-up step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❑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FDM printing step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❑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FDM part removal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❑"/>
            </a:pPr>
            <a:r>
              <a:rPr lang="en-US">
                <a:latin typeface="Fira Sans"/>
                <a:ea typeface="Fira Sans"/>
                <a:cs typeface="Fira Sans"/>
                <a:sym typeface="Fira Sans"/>
              </a:rPr>
              <a:t>Post-processing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146075" y="1194575"/>
            <a:ext cx="6783600" cy="4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Characteristics and application of FDM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Temperature and build speed </a:t>
            </a:r>
            <a:r>
              <a:rPr lang="en-US" sz="1400" b="0" i="0" u="none" strike="noStrike" cap="none">
                <a:solidFill>
                  <a:srgbClr val="0070C0"/>
                </a:solidFill>
                <a:latin typeface="Fira Sans"/>
                <a:ea typeface="Fira Sans"/>
                <a:cs typeface="Fira Sans"/>
                <a:sym typeface="Fira Sans"/>
              </a:rPr>
              <a:t>(The nozzle and build platform temperature, build speed, layer height and cooling fan speed are all adjustable in most FDM systems. )</a:t>
            </a:r>
            <a:endParaRPr sz="1400" b="0" i="0" u="none" strike="noStrike" cap="none">
              <a:solidFill>
                <a:srgbClr val="0070C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Build volume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(Upto 1000 x 1000 x 1000 mm)</a:t>
            </a:r>
            <a:endParaRPr sz="1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Layer height </a:t>
            </a:r>
            <a:r>
              <a:rPr lang="en-US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(0.02 mm and 0.4 mm)</a:t>
            </a:r>
            <a:endParaRPr sz="1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Layer Adhesion </a:t>
            </a:r>
            <a:r>
              <a:rPr lang="en-US" sz="1600" b="0" i="0" u="none" strike="noStrike" cap="none">
                <a:solidFill>
                  <a:srgbClr val="0070C0"/>
                </a:solidFill>
                <a:latin typeface="Fira Sans"/>
                <a:ea typeface="Fira Sans"/>
                <a:cs typeface="Fira Sans"/>
                <a:sym typeface="Fira Sans"/>
              </a:rPr>
              <a:t>(good adhesion between the deposited layers is critical)</a:t>
            </a:r>
            <a:endParaRPr sz="1600" b="0" i="0" u="none" strike="noStrike" cap="none">
              <a:solidFill>
                <a:srgbClr val="0070C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Support Structure </a:t>
            </a:r>
            <a:r>
              <a:rPr lang="en-US" sz="1200" b="0" i="0" u="none" strike="noStrike" cap="none">
                <a:solidFill>
                  <a:srgbClr val="0070C0"/>
                </a:solidFill>
                <a:latin typeface="Fira Sans"/>
                <a:ea typeface="Fira Sans"/>
                <a:cs typeface="Fira Sans"/>
                <a:sym typeface="Fira Sans"/>
              </a:rPr>
              <a:t>(geometries with overhangs will require a support structure.)</a:t>
            </a:r>
            <a:endParaRPr sz="1200" b="0" i="0" u="none" strike="noStrike" cap="none">
              <a:solidFill>
                <a:srgbClr val="0070C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Infill and Shell thickness 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Warping</a:t>
            </a:r>
            <a:endParaRPr sz="1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marR="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57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Advantages of FDM</a:t>
            </a:r>
            <a:br>
              <a:rPr lang="en-US" b="1">
                <a:latin typeface="Marcellus"/>
                <a:ea typeface="Marcellus"/>
                <a:cs typeface="Marcellus"/>
                <a:sym typeface="Marcellus"/>
              </a:rPr>
            </a:br>
            <a:endParaRPr b="1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1"/>
          </p:nvPr>
        </p:nvSpPr>
        <p:spPr>
          <a:xfrm>
            <a:off x="951008" y="803634"/>
            <a:ext cx="10972800" cy="54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984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FDM is the most cost-effective method of manufacturing customer specific thermoplastic components and prototypes.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984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Due to the lower cost FDM printers are wide availability, the lead times are minimal and cheaper than other additive manufacturing processes.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984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There is a large variety of thermoplastic materials available for prototyping as well as certain non-commercial practical. Most common injection moulding materials can be replicated using FDM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984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The technology is aesthetically pleasing, easy to use, and appropriate for the workplace.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9845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Mechanical and environmental stability are provided by supported production-grade thermoplastics.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9845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Fira Sans"/>
              <a:buChar char="•"/>
            </a:pPr>
            <a:r>
              <a:rPr lang="en-US" sz="2790">
                <a:latin typeface="Fira Sans"/>
                <a:ea typeface="Fira Sans"/>
                <a:cs typeface="Fira Sans"/>
                <a:sym typeface="Fira Sans"/>
              </a:rPr>
              <a:t>FDM technology makes complex shapes and voids that would otherwise be impractical possible.</a:t>
            </a:r>
            <a:endParaRPr sz="2790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12128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endParaRPr sz="279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510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Disadvantages of FDM</a:t>
            </a:r>
            <a:br>
              <a:rPr lang="en-US" b="1">
                <a:latin typeface="Marcellus"/>
                <a:ea typeface="Marcellus"/>
                <a:cs typeface="Marcellus"/>
                <a:sym typeface="Marcellus"/>
              </a:rPr>
            </a:br>
            <a:endParaRPr b="1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929743" y="86742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8575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766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ira Sans"/>
              <a:buChar char="•"/>
            </a:pPr>
            <a:r>
              <a:rPr lang="en-US" sz="3124">
                <a:latin typeface="Fira Sans"/>
                <a:ea typeface="Fira Sans"/>
                <a:cs typeface="Fira Sans"/>
                <a:sym typeface="Fira Sans"/>
              </a:rPr>
              <a:t>When compared to other 3D printing methods, FDM has the lowest dimensional accuracy and resolution, making it unsuitable for items with delicate features.</a:t>
            </a:r>
            <a:endParaRPr sz="3124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76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ira Sans"/>
              <a:buChar char="•"/>
            </a:pPr>
            <a:r>
              <a:rPr lang="en-US" sz="3124">
                <a:latin typeface="Fira Sans"/>
                <a:ea typeface="Fira Sans"/>
                <a:cs typeface="Fira Sans"/>
                <a:sym typeface="Fira Sans"/>
              </a:rPr>
              <a:t>Because FDM items are prone to noticeable layer lines, post-processing is essential for a smooth finish.</a:t>
            </a:r>
            <a:endParaRPr sz="3124"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76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ira Sans"/>
              <a:buChar char="•"/>
            </a:pPr>
            <a:r>
              <a:rPr lang="en-US" sz="3124">
                <a:latin typeface="Fira Sans"/>
                <a:ea typeface="Fira Sans"/>
                <a:cs typeface="Fira Sans"/>
                <a:sym typeface="Fira Sans"/>
              </a:rPr>
              <a:t>Because of the layer adhesion technique, FDM components are inherently anisotropic.</a:t>
            </a:r>
            <a:endParaRPr sz="3124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en-US"/>
              <a:t>Youtube link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34508"/>
              <a:buNone/>
            </a:pPr>
            <a:r>
              <a:rPr lang="en-US" sz="2449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https://www.youtube.com/watch?v=7xKe20Mb2eY</a:t>
            </a:r>
            <a:endParaRPr sz="2449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5294"/>
              <a:buNone/>
            </a:pP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c07408bc5_0_2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3D Modelling with TinkerCAD</a:t>
            </a:r>
            <a:endParaRPr sz="4300"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2c07408bc5_0_2"/>
          <p:cNvSpPr txBox="1">
            <a:spLocks noGrp="1"/>
          </p:cNvSpPr>
          <p:nvPr>
            <p:ph type="body" idx="1"/>
          </p:nvPr>
        </p:nvSpPr>
        <p:spPr>
          <a:xfrm>
            <a:off x="877625" y="1324625"/>
            <a:ext cx="106422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●Tinkercad is a free-of-charge, online 3D modeling program that runs in a web browser.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●It is a popular platform for creating models for 3D printing as well as an entry-level introduction to constructive solid geometry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c07408bc5_0_10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3D Modelling Example</a:t>
            </a:r>
            <a:endParaRPr sz="4300"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g32c07408bc5_0_10" descr="Just take less than 10 mins to make 3D modeling.&#10;Tinkercad Basic Tutorials: https://bit.ly/2tdurvk&#10;3D printing with Tinkercad: https://goo.gl/iWpt4x &#10;Car Series: https://bit.ly/2Wy4b7V &#10;House Series: https://bit.ly/2TOlKUa &#10;Star Wars Series: https://bit.ly/2GUi7EJ &#10;Famous Buildings: https://bit.ly/2tcJfdD&#10;Flexible modeling: https://bit.ly/3afmzdw&#10;3D pen making: https://bit.ly/36PY4kP&#10;Pencil Toy: https://bit.ly/2uFxcWt&#10;#Eunny #Tinkercad&#10;&#10;Download file: https://www.thingiverse.com/thing:2765409" title="16) Make Simple Eiffel Tower with Tinkercad + 3D printing | 3D modeling How to make and desig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8225" y="1166116"/>
            <a:ext cx="8398100" cy="47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2c07408bc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175" y="1242325"/>
            <a:ext cx="8052574" cy="4531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2c07408bc5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6775" y="1258450"/>
            <a:ext cx="8052574" cy="452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2c07408bc5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6775" y="1242325"/>
            <a:ext cx="8052578" cy="45260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2c07408bc5_0_18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Using TinkerCAD</a:t>
            </a:r>
            <a:endParaRPr sz="4300"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2c07408bc5_0_18"/>
          <p:cNvSpPr txBox="1">
            <a:spLocks noGrp="1"/>
          </p:cNvSpPr>
          <p:nvPr>
            <p:ph type="body" idx="1"/>
          </p:nvPr>
        </p:nvSpPr>
        <p:spPr>
          <a:xfrm>
            <a:off x="797975" y="1324625"/>
            <a:ext cx="3018900" cy="477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●Goto web address -</a:t>
            </a:r>
            <a:r>
              <a:rPr lang="en-US" sz="2400">
                <a:uFill>
                  <a:noFill/>
                </a:uFill>
                <a:latin typeface="Fira Sans"/>
                <a:ea typeface="Fira Sans"/>
                <a:cs typeface="Fira Sans"/>
                <a:sym typeface="Fira Sans"/>
                <a:hlinkClick r:id="rId6"/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6"/>
              </a:rPr>
              <a:t>www.tinkercad.com</a:t>
            </a:r>
            <a:endParaRPr sz="2400" u="sng">
              <a:solidFill>
                <a:schemeClr val="hlink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●Log in / Sign up with somaiya email id as student account (By choosing Log In with Google Account)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●Once you log in/sign up go to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Designs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●Click on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Create</a:t>
            </a: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 and select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3D Design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88" name="Google Shape;288;g32c07408bc5_0_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16775" y="1242323"/>
            <a:ext cx="8052574" cy="452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2c07408bc5_0_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16775" y="1242325"/>
            <a:ext cx="8052574" cy="452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c07408bc5_0_38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Generating .STL file</a:t>
            </a:r>
            <a:endParaRPr sz="4300"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2c07408bc5_0_38"/>
          <p:cNvSpPr txBox="1">
            <a:spLocks noGrp="1"/>
          </p:cNvSpPr>
          <p:nvPr>
            <p:ph type="body" idx="1"/>
          </p:nvPr>
        </p:nvSpPr>
        <p:spPr>
          <a:xfrm>
            <a:off x="797975" y="1324625"/>
            <a:ext cx="3018900" cy="477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●Once design is ready, click on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Export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●Click on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.STL</a:t>
            </a: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 button to download the file in STL format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97" name="Google Shape;297;g32c07408bc5_0_38"/>
          <p:cNvGrpSpPr/>
          <p:nvPr/>
        </p:nvGrpSpPr>
        <p:grpSpPr>
          <a:xfrm>
            <a:off x="3816875" y="1471341"/>
            <a:ext cx="8070326" cy="3915307"/>
            <a:chOff x="3816875" y="1471341"/>
            <a:chExt cx="8070326" cy="3915307"/>
          </a:xfrm>
        </p:grpSpPr>
        <p:pic>
          <p:nvPicPr>
            <p:cNvPr id="298" name="Google Shape;298;g32c07408bc5_0_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16875" y="1471341"/>
              <a:ext cx="8070326" cy="3915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g32c07408bc5_0_38"/>
            <p:cNvSpPr/>
            <p:nvPr/>
          </p:nvSpPr>
          <p:spPr>
            <a:xfrm>
              <a:off x="10898850" y="1759700"/>
              <a:ext cx="476400" cy="2340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0" name="Google Shape;300;g32c07408bc5_0_38"/>
            <p:cNvCxnSpPr>
              <a:stCxn id="301" idx="3"/>
              <a:endCxn id="299" idx="1"/>
            </p:cNvCxnSpPr>
            <p:nvPr/>
          </p:nvCxnSpPr>
          <p:spPr>
            <a:xfrm rot="10800000" flipH="1">
              <a:off x="9324825" y="1876575"/>
              <a:ext cx="1574100" cy="8841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1" name="Google Shape;301;g32c07408bc5_0_38"/>
            <p:cNvSpPr txBox="1"/>
            <p:nvPr/>
          </p:nvSpPr>
          <p:spPr>
            <a:xfrm>
              <a:off x="8580225" y="2583075"/>
              <a:ext cx="744600" cy="35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0000"/>
                  </a:solidFill>
                </a:rPr>
                <a:t>Click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grpSp>
        <p:nvGrpSpPr>
          <p:cNvPr id="302" name="Google Shape;302;g32c07408bc5_0_38"/>
          <p:cNvGrpSpPr/>
          <p:nvPr/>
        </p:nvGrpSpPr>
        <p:grpSpPr>
          <a:xfrm>
            <a:off x="3816875" y="1471350"/>
            <a:ext cx="8109659" cy="3915299"/>
            <a:chOff x="7912100" y="2566450"/>
            <a:chExt cx="8109659" cy="3915299"/>
          </a:xfrm>
        </p:grpSpPr>
        <p:pic>
          <p:nvPicPr>
            <p:cNvPr id="303" name="Google Shape;303;g32c07408bc5_0_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12100" y="2566450"/>
              <a:ext cx="8109659" cy="39152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" name="Google Shape;304;g32c07408bc5_0_38"/>
            <p:cNvGrpSpPr/>
            <p:nvPr/>
          </p:nvGrpSpPr>
          <p:grpSpPr>
            <a:xfrm>
              <a:off x="11949500" y="4535950"/>
              <a:ext cx="1184756" cy="1322125"/>
              <a:chOff x="11949500" y="4535950"/>
              <a:chExt cx="1184756" cy="1322125"/>
            </a:xfrm>
          </p:grpSpPr>
          <p:sp>
            <p:nvSpPr>
              <p:cNvPr id="305" name="Google Shape;305;g32c07408bc5_0_38"/>
              <p:cNvSpPr/>
              <p:nvPr/>
            </p:nvSpPr>
            <p:spPr>
              <a:xfrm>
                <a:off x="11949500" y="4535950"/>
                <a:ext cx="1184700" cy="473100"/>
              </a:xfrm>
              <a:prstGeom prst="roundRect">
                <a:avLst>
                  <a:gd name="adj" fmla="val 16667"/>
                </a:avLst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6" name="Google Shape;306;g32c07408bc5_0_38"/>
              <p:cNvCxnSpPr>
                <a:stCxn id="307" idx="0"/>
                <a:endCxn id="305" idx="2"/>
              </p:cNvCxnSpPr>
              <p:nvPr/>
            </p:nvCxnSpPr>
            <p:spPr>
              <a:xfrm rot="10800000">
                <a:off x="12541906" y="5009075"/>
                <a:ext cx="200100" cy="493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07" name="Google Shape;307;g32c07408bc5_0_38"/>
              <p:cNvSpPr txBox="1"/>
              <p:nvPr/>
            </p:nvSpPr>
            <p:spPr>
              <a:xfrm>
                <a:off x="12349756" y="5502875"/>
                <a:ext cx="784500" cy="35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>
                    <a:solidFill>
                      <a:srgbClr val="FF0000"/>
                    </a:solidFill>
                  </a:rPr>
                  <a:t>Click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2c07408bc5_0_61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Generating .gcode file</a:t>
            </a:r>
            <a:endParaRPr sz="4300" b="1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2c07408bc5_0_61"/>
          <p:cNvSpPr txBox="1">
            <a:spLocks noGrp="1"/>
          </p:cNvSpPr>
          <p:nvPr>
            <p:ph type="body" idx="1"/>
          </p:nvPr>
        </p:nvSpPr>
        <p:spPr>
          <a:xfrm>
            <a:off x="797975" y="1324625"/>
            <a:ext cx="10992300" cy="477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●The downloaded .STL file can be opened with UltiMaker Cura Software</a:t>
            </a: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●Define print settings like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	●Infill Density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	●Infill Pattern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	●Shell Thickness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	●Support Type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	●Support Placement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●Click on </a:t>
            </a:r>
            <a:r>
              <a:rPr lang="en-US" sz="2400" b="1">
                <a:latin typeface="Fira Sans"/>
                <a:ea typeface="Fira Sans"/>
                <a:cs typeface="Fira Sans"/>
                <a:sym typeface="Fira Sans"/>
              </a:rPr>
              <a:t>Slice </a:t>
            </a: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to generate g code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Fira Sans"/>
                <a:ea typeface="Fira Sans"/>
                <a:cs typeface="Fira Sans"/>
                <a:sym typeface="Fira Sans"/>
              </a:rPr>
              <a:t>●Save the file and upload on 3D Printer</a:t>
            </a:r>
            <a:endParaRPr sz="2400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Fira Sans"/>
              <a:ea typeface="Fira Sans"/>
              <a:cs typeface="Fira Sans"/>
              <a:sym typeface="Fira Sans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0e0832f43_0_34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3D</a:t>
            </a:r>
            <a:r>
              <a:rPr lang="en-US" b="1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 Printing Steps</a:t>
            </a:r>
            <a:endParaRPr b="1">
              <a:solidFill>
                <a:srgbClr val="FF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20" name="Google Shape;320;g2c0e0832f43_0_34"/>
          <p:cNvSpPr txBox="1">
            <a:spLocks noGrp="1"/>
          </p:cNvSpPr>
          <p:nvPr>
            <p:ph type="title"/>
          </p:nvPr>
        </p:nvSpPr>
        <p:spPr>
          <a:xfrm>
            <a:off x="950325" y="909272"/>
            <a:ext cx="9870600" cy="5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Prepare model in TinkerCAD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Export .STL file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Open Ultimaker CURA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Go to File - open file from disk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load .STL file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Click on Slice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save to disk (It generates G code file)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save G code file to SD card and start printing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ira Sans"/>
              <a:buChar char="●"/>
            </a:pPr>
            <a:r>
              <a:rPr lang="en-US" sz="3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(Material is Generic PLA)</a:t>
            </a:r>
            <a:endParaRPr sz="3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c181acbd9b_1_0"/>
          <p:cNvSpPr txBox="1">
            <a:spLocks noGrp="1"/>
          </p:cNvSpPr>
          <p:nvPr>
            <p:ph type="title"/>
          </p:nvPr>
        </p:nvSpPr>
        <p:spPr>
          <a:xfrm>
            <a:off x="1089764" y="214816"/>
            <a:ext cx="98706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b="1">
                <a:latin typeface="Marcellus"/>
                <a:ea typeface="Marcellus"/>
                <a:cs typeface="Marcellus"/>
                <a:sym typeface="Marcellus"/>
              </a:rPr>
              <a:t>Activity </a:t>
            </a:r>
            <a:endParaRPr b="1"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26" name="Google Shape;326;g2c181acbd9b_1_0"/>
          <p:cNvSpPr txBox="1">
            <a:spLocks noGrp="1"/>
          </p:cNvSpPr>
          <p:nvPr>
            <p:ph type="title"/>
          </p:nvPr>
        </p:nvSpPr>
        <p:spPr>
          <a:xfrm>
            <a:off x="950325" y="909272"/>
            <a:ext cx="9870600" cy="5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Fira Sans"/>
              <a:buChar char="●"/>
            </a:pPr>
            <a:r>
              <a:rPr lang="en-US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Activity on 3D printing</a:t>
            </a:r>
            <a:r>
              <a:rPr lang="en-US" sz="43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4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(Paper weight model) (Pen stand model)</a:t>
            </a:r>
            <a:endParaRPr sz="4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4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923</Words>
  <Application>Microsoft Office PowerPoint</Application>
  <PresentationFormat>Custom</PresentationFormat>
  <Paragraphs>183</Paragraphs>
  <Slides>28</Slides>
  <Notes>28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Fira Sans</vt:lpstr>
      <vt:lpstr>Times New Roman</vt:lpstr>
      <vt:lpstr>Noto Sans Symbols</vt:lpstr>
      <vt:lpstr>Calibri</vt:lpstr>
      <vt:lpstr>Courier New</vt:lpstr>
      <vt:lpstr>Marcellus</vt:lpstr>
      <vt:lpstr>2_Custom Design</vt:lpstr>
      <vt:lpstr>PowerPoint Presentation</vt:lpstr>
      <vt:lpstr>PowerPoint Presentation</vt:lpstr>
      <vt:lpstr>PowerPoint Presentation</vt:lpstr>
      <vt:lpstr>Product development process</vt:lpstr>
      <vt:lpstr>What is Rapid Prototyping?</vt:lpstr>
      <vt:lpstr>How Does Rapid Prototyping Work?</vt:lpstr>
      <vt:lpstr>PowerPoint Presentation</vt:lpstr>
      <vt:lpstr>Why is Rapid prototyping important? </vt:lpstr>
      <vt:lpstr>PowerPoint Presentation</vt:lpstr>
      <vt:lpstr>Overview of Additive Manufacturing</vt:lpstr>
      <vt:lpstr>Generalized Additive Manufacturing Process Chain</vt:lpstr>
      <vt:lpstr>PowerPoint Presentation</vt:lpstr>
      <vt:lpstr>PowerPoint Presentation</vt:lpstr>
      <vt:lpstr>Fused Deposition Modeling (FDM)</vt:lpstr>
      <vt:lpstr>Fused Deposition Modeling (FDM)</vt:lpstr>
      <vt:lpstr>PowerPoint Presentation</vt:lpstr>
      <vt:lpstr>PowerPoint Presentation</vt:lpstr>
      <vt:lpstr>PowerPoint Presentation</vt:lpstr>
      <vt:lpstr>PowerPoint Presentation</vt:lpstr>
      <vt:lpstr>Advantages of FDM </vt:lpstr>
      <vt:lpstr>Disadvantages of FDM </vt:lpstr>
      <vt:lpstr>3D Modelling with TinkerCAD </vt:lpstr>
      <vt:lpstr>3D Modelling Example </vt:lpstr>
      <vt:lpstr>Using TinkerCAD </vt:lpstr>
      <vt:lpstr>Generating .STL file </vt:lpstr>
      <vt:lpstr>Generating .gcode file </vt:lpstr>
      <vt:lpstr>3D Printing Steps</vt:lpstr>
      <vt:lpstr>Activity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</cp:revision>
  <dcterms:created xsi:type="dcterms:W3CDTF">2019-03-30T05:08:49Z</dcterms:created>
  <dcterms:modified xsi:type="dcterms:W3CDTF">2025-11-26T09:09:48Z</dcterms:modified>
</cp:coreProperties>
</file>