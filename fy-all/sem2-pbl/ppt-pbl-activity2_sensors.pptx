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Marcellus" charset="0"/>
      <p:regular r:id="rId15"/>
    </p:embeddedFont>
    <p:embeddedFont>
      <p:font typeface="Calibri" pitchFamily="34" charset="0"/>
      <p:regular r:id="rId16"/>
      <p:bold r:id="rId17"/>
      <p:italic r:id="rId18"/>
      <p:boldItalic r:id="rId19"/>
    </p:embeddedFont>
    <p:embeddedFont>
      <p:font typeface="Fira Sans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4" roundtripDataSignature="AMtx7mianPjLHyr/PLY2EFSp5ETLd0k5c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1" d="100"/>
          <a:sy n="71" d="100"/>
        </p:scale>
        <p:origin x="-456" y="2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7611613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653658776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g2653658776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1" name="Google Shape;9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07d083860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7" name="Google Shape;97;g107d083860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ad3aab633e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8" name="Google Shape;108;gad3aab633e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9" name="Google Shape;11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ad3aab633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9" name="Google Shape;139;gad3aab633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ad3aab633e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4" name="Google Shape;154;gad3aab633e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1" name="Google Shape;17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1" name="Google Shape;18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d584eb501b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9" name="Google Shape;189;gd584eb501b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d584ff8090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1" name="Google Shape;201;gd584ff8090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1" name="Google Shape;21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4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5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6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g"/><Relationship Id="rId5" Type="http://schemas.openxmlformats.org/officeDocument/2006/relationships/image" Target="../media/image4.png"/><Relationship Id="rId10" Type="http://schemas.openxmlformats.org/officeDocument/2006/relationships/image" Target="../media/image14.png"/><Relationship Id="rId4" Type="http://schemas.openxmlformats.org/officeDocument/2006/relationships/image" Target="../media/image2.png"/><Relationship Id="rId9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g"/><Relationship Id="rId5" Type="http://schemas.openxmlformats.org/officeDocument/2006/relationships/image" Target="../media/image4.png"/><Relationship Id="rId4" Type="http://schemas.openxmlformats.org/officeDocument/2006/relationships/image" Target="../media/image2.png"/><Relationship Id="rId9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6536587769_0_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Marcellus"/>
              <a:buNone/>
            </a:pPr>
            <a:r>
              <a:rPr lang="en-US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Project Based Learning </a:t>
            </a:r>
            <a:endParaRPr/>
          </a:p>
        </p:txBody>
      </p:sp>
      <p:sp>
        <p:nvSpPr>
          <p:cNvPr id="85" name="Google Shape;85;g26536587769_0_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00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rgbClr val="262626"/>
                </a:solidFill>
                <a:latin typeface="Fira Sans"/>
                <a:ea typeface="Fira Sans"/>
                <a:cs typeface="Fira Sans"/>
                <a:sym typeface="Fira Sans"/>
              </a:rPr>
              <a:t>Semester II</a:t>
            </a:r>
            <a:endParaRPr>
              <a:solidFill>
                <a:srgbClr val="262626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solidFill>
                <a:srgbClr val="262626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solidFill>
                <a:srgbClr val="262626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>
                <a:solidFill>
                  <a:srgbClr val="262626"/>
                </a:solidFill>
                <a:latin typeface="Fira Sans"/>
                <a:ea typeface="Fira Sans"/>
                <a:cs typeface="Fira Sans"/>
                <a:sym typeface="Fira Sans"/>
              </a:rPr>
              <a:t>January - April 2026</a:t>
            </a:r>
            <a:endParaRPr>
              <a:solidFill>
                <a:srgbClr val="262626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id="86" name="Google Shape;86;g26536587769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5" y="2219"/>
            <a:ext cx="566958" cy="6855782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g26536587769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7563" y="0"/>
            <a:ext cx="209677" cy="5440679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g26536587769_0_0" descr="A close up of a sign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35239" y="5830821"/>
            <a:ext cx="868683" cy="6474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"/>
          <p:cNvSpPr txBox="1"/>
          <p:nvPr/>
        </p:nvSpPr>
        <p:spPr>
          <a:xfrm>
            <a:off x="304800" y="304800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4400" b="0" i="0" u="none" strike="noStrike" cap="none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 Outline</a:t>
            </a:r>
            <a:endParaRPr sz="4400" b="0" i="0" u="none" strike="noStrike" cap="none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sp>
        <p:nvSpPr>
          <p:cNvPr id="94" name="Google Shape;94;p3"/>
          <p:cNvSpPr txBox="1"/>
          <p:nvPr/>
        </p:nvSpPr>
        <p:spPr>
          <a:xfrm>
            <a:off x="806807" y="1210232"/>
            <a:ext cx="6538970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Input/ output ports on Arduino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Interfacing of sensors with Arduino board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107d083860c_0_0"/>
          <p:cNvSpPr txBox="1">
            <a:spLocks noGrp="1"/>
          </p:cNvSpPr>
          <p:nvPr>
            <p:ph type="title"/>
          </p:nvPr>
        </p:nvSpPr>
        <p:spPr>
          <a:xfrm>
            <a:off x="0" y="-89647"/>
            <a:ext cx="11396100" cy="7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arcellus"/>
              <a:buNone/>
            </a:pPr>
            <a:r>
              <a:rPr lang="en-US" sz="3200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Introduction to Arduino UNO</a:t>
            </a:r>
            <a:endParaRPr/>
          </a:p>
        </p:txBody>
      </p:sp>
      <p:pic>
        <p:nvPicPr>
          <p:cNvPr id="100" name="Google Shape;100;g107d083860c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5880675" y="567536"/>
            <a:ext cx="385984" cy="122366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g107d083860c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400000">
            <a:off x="4533654" y="1754135"/>
            <a:ext cx="176409" cy="9333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g107d083860c_0_0" descr="A close up of a sign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5">
            <a:alphaModFix/>
          </a:blip>
          <a:srcRect/>
          <a:stretch/>
        </p:blipFill>
        <p:spPr>
          <a:xfrm>
            <a:off x="10828421" y="5610533"/>
            <a:ext cx="726300" cy="721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g107d083860c_0_0"/>
          <p:cNvSpPr txBox="1"/>
          <p:nvPr/>
        </p:nvSpPr>
        <p:spPr>
          <a:xfrm>
            <a:off x="669757" y="1211543"/>
            <a:ext cx="10315200" cy="44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rgbClr val="262626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id="104" name="Google Shape;104;g107d083860c_0_0" descr="A picture containing drawing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0015" y="5440809"/>
            <a:ext cx="2434302" cy="8114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g107d083860c_0_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09600" y="457200"/>
            <a:ext cx="10743550" cy="50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ad3aab633e_0_75"/>
          <p:cNvSpPr txBox="1"/>
          <p:nvPr/>
        </p:nvSpPr>
        <p:spPr>
          <a:xfrm>
            <a:off x="304800" y="304800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4400" b="0" i="0" u="none" strike="noStrike" cap="none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Data </a:t>
            </a:r>
            <a:endParaRPr sz="4400" b="0" i="0" u="none" strike="noStrike" cap="none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id="111" name="Google Shape;111;gad3aab633e_0_7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5880675" y="567535"/>
            <a:ext cx="385984" cy="122366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gad3aab633e_0_7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400000">
            <a:off x="4533653" y="1754135"/>
            <a:ext cx="176409" cy="9333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gad3aab633e_0_75" descr="A close up of a sign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28421" y="5610533"/>
            <a:ext cx="968400" cy="72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gad3aab633e_0_75" descr="A picture containing drawing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0014" y="5440809"/>
            <a:ext cx="3245735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gad3aab633e_0_75"/>
          <p:cNvSpPr txBox="1"/>
          <p:nvPr/>
        </p:nvSpPr>
        <p:spPr>
          <a:xfrm>
            <a:off x="304800" y="1004704"/>
            <a:ext cx="7620242" cy="4498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Data has two ways of representation </a:t>
            </a:r>
            <a:endParaRPr sz="2400" b="1" i="0" u="none" strike="noStrike" cap="none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Fira Sans"/>
              <a:buChar char="●"/>
            </a:pPr>
            <a:r>
              <a:rPr lang="en-US" sz="2400" b="0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Digital : only two valid values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     </a:t>
            </a:r>
            <a:r>
              <a:rPr lang="en-US" sz="2400" b="0" i="0" u="none" strike="noStrike" cap="none">
                <a:solidFill>
                  <a:srgbClr val="FF0000"/>
                </a:solidFill>
                <a:latin typeface="Fira Sans"/>
                <a:ea typeface="Fira Sans"/>
                <a:cs typeface="Fira Sans"/>
                <a:sym typeface="Fira Sans"/>
              </a:rPr>
              <a:t>Logic-0 : 0 V     Logic-1:  5 V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6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marR="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Fira Sans"/>
              <a:buChar char="●"/>
            </a:pPr>
            <a:r>
              <a:rPr lang="en-US" sz="2400" b="0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Analog : continuous spectrum of values</a:t>
            </a:r>
            <a:endParaRPr sz="2400" b="0" i="0" u="none" strike="noStrike" cap="none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                    </a:t>
            </a:r>
            <a:r>
              <a:rPr lang="en-US" sz="2400" b="0" i="0" u="none" strike="noStrike" cap="none">
                <a:solidFill>
                  <a:srgbClr val="FF0000"/>
                </a:solidFill>
                <a:latin typeface="Fira Sans"/>
                <a:ea typeface="Fira Sans"/>
                <a:cs typeface="Fira Sans"/>
                <a:sym typeface="Fira Sans"/>
              </a:rPr>
              <a:t>Continuous Value 0.0 V to 5.0 V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The necessity of conversion of analog to Digital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    </a:t>
            </a:r>
            <a:r>
              <a:rPr lang="en-US" sz="2400" b="0" i="0" u="none" strike="noStrike" cap="none">
                <a:solidFill>
                  <a:srgbClr val="FF0000"/>
                </a:solidFill>
                <a:latin typeface="Fira Sans"/>
                <a:ea typeface="Fira Sans"/>
                <a:cs typeface="Fira Sans"/>
                <a:sym typeface="Fira Sans"/>
              </a:rPr>
              <a:t>Arduino ADC Size :  10 bit               </a:t>
            </a:r>
            <a:endParaRPr sz="2400" b="0" i="0" u="none" strike="noStrike" cap="none">
              <a:solidFill>
                <a:srgbClr val="FF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FF0000"/>
                </a:solidFill>
                <a:latin typeface="Fira Sans"/>
                <a:ea typeface="Fira Sans"/>
                <a:cs typeface="Fira Sans"/>
                <a:sym typeface="Fira Sans"/>
              </a:rPr>
              <a:t>          so  2</a:t>
            </a:r>
            <a:r>
              <a:rPr lang="en-US" sz="2400" b="0" i="0" u="none" strike="noStrike" cap="none" baseline="30000">
                <a:solidFill>
                  <a:srgbClr val="FF0000"/>
                </a:solidFill>
                <a:latin typeface="Fira Sans"/>
                <a:ea typeface="Fira Sans"/>
                <a:cs typeface="Fira Sans"/>
                <a:sym typeface="Fira Sans"/>
              </a:rPr>
              <a:t>10</a:t>
            </a:r>
            <a:r>
              <a:rPr lang="en-US" sz="2400" b="0" i="0" u="none" strike="noStrike" cap="none">
                <a:solidFill>
                  <a:srgbClr val="FF0000"/>
                </a:solidFill>
                <a:latin typeface="Fira Sans"/>
                <a:ea typeface="Fira Sans"/>
                <a:cs typeface="Fira Sans"/>
                <a:sym typeface="Fira Sans"/>
              </a:rPr>
              <a:t> = 1024 Levels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FF0000"/>
                </a:solidFill>
                <a:latin typeface="Fira Sans"/>
                <a:ea typeface="Fira Sans"/>
                <a:cs typeface="Fira Sans"/>
                <a:sym typeface="Fira Sans"/>
              </a:rPr>
              <a:t> Every level   0 to 5 V  ≈ 4.89 mV</a:t>
            </a:r>
            <a:endParaRPr sz="2400" b="1" i="0" u="none" strike="noStrike" cap="none">
              <a:solidFill>
                <a:srgbClr val="FF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b="0" i="0" u="none" strike="noStrike" cap="none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116" name="Google Shape;116;gad3aab633e_0_75"/>
          <p:cNvPicPr preferRelativeResize="0"/>
          <p:nvPr/>
        </p:nvPicPr>
        <p:blipFill rotWithShape="1">
          <a:blip r:embed="rId7">
            <a:alphaModFix/>
          </a:blip>
          <a:srcRect l="39210" t="3686" r="21170" b="3506"/>
          <a:stretch/>
        </p:blipFill>
        <p:spPr>
          <a:xfrm>
            <a:off x="7925042" y="690884"/>
            <a:ext cx="4061119" cy="44647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"/>
          <p:cNvSpPr txBox="1"/>
          <p:nvPr/>
        </p:nvSpPr>
        <p:spPr>
          <a:xfrm>
            <a:off x="152400" y="484094"/>
            <a:ext cx="120396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4400" b="0" i="0" u="none" strike="noStrike" cap="none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Interfacing of Sensors/input &amp; actuators/output devices  with Arduino</a:t>
            </a:r>
            <a:endParaRPr sz="4400" b="0" i="0" u="none" strike="noStrike" cap="none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grpSp>
        <p:nvGrpSpPr>
          <p:cNvPr id="122" name="Google Shape;122;p4"/>
          <p:cNvGrpSpPr/>
          <p:nvPr/>
        </p:nvGrpSpPr>
        <p:grpSpPr>
          <a:xfrm>
            <a:off x="891963" y="1983485"/>
            <a:ext cx="5029196" cy="3263345"/>
            <a:chOff x="886381" y="1467190"/>
            <a:chExt cx="5029196" cy="3263345"/>
          </a:xfrm>
        </p:grpSpPr>
        <p:sp>
          <p:nvSpPr>
            <p:cNvPr id="123" name="Google Shape;123;p4"/>
            <p:cNvSpPr txBox="1"/>
            <p:nvPr/>
          </p:nvSpPr>
          <p:spPr>
            <a:xfrm>
              <a:off x="3934378" y="4164366"/>
              <a:ext cx="1981199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Sensors </a:t>
              </a:r>
              <a:endParaRPr sz="1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4" name="Google Shape;124;p4"/>
            <p:cNvGrpSpPr/>
            <p:nvPr/>
          </p:nvGrpSpPr>
          <p:grpSpPr>
            <a:xfrm>
              <a:off x="886381" y="1467190"/>
              <a:ext cx="4300820" cy="3263345"/>
              <a:chOff x="244286" y="1578356"/>
              <a:chExt cx="4300820" cy="3263345"/>
            </a:xfrm>
          </p:grpSpPr>
          <p:sp>
            <p:nvSpPr>
              <p:cNvPr id="125" name="Google Shape;125;p4"/>
              <p:cNvSpPr txBox="1"/>
              <p:nvPr/>
            </p:nvSpPr>
            <p:spPr>
              <a:xfrm>
                <a:off x="461679" y="2646669"/>
                <a:ext cx="4083427" cy="1077218"/>
              </a:xfrm>
              <a:prstGeom prst="rect">
                <a:avLst/>
              </a:prstGeom>
              <a:noFill/>
              <a:ln w="9525" cap="flat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Arial"/>
                  <a:buNone/>
                </a:pPr>
                <a:r>
                  <a:rPr lang="en-US" sz="2800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Data Processing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rPr lang="en-US" sz="2400" b="1" i="0" u="none" strike="noStrike" cap="non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(Micro-controller)</a:t>
                </a:r>
                <a:r>
                  <a:rPr lang="en-US" sz="3600" b="1" i="0" u="none" strike="noStrike" cap="non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 </a:t>
                </a:r>
                <a:endParaRPr sz="3600" b="1" i="0" u="none" strike="noStrike" cap="non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" name="Google Shape;126;p4"/>
              <p:cNvSpPr txBox="1"/>
              <p:nvPr/>
            </p:nvSpPr>
            <p:spPr>
              <a:xfrm>
                <a:off x="244286" y="1757656"/>
                <a:ext cx="269389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US" sz="1800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Output Devices  </a:t>
                </a:r>
                <a:endParaRPr sz="18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" name="Google Shape;127;p4"/>
              <p:cNvSpPr txBox="1"/>
              <p:nvPr/>
            </p:nvSpPr>
            <p:spPr>
              <a:xfrm>
                <a:off x="3245221" y="1578356"/>
                <a:ext cx="1299885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US" sz="1800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Actuators (</a:t>
                </a:r>
                <a:r>
                  <a:rPr lang="en-US" sz="1600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Motors</a:t>
                </a:r>
                <a:r>
                  <a:rPr lang="en-US" sz="1800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)</a:t>
                </a:r>
                <a:endParaRPr sz="18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" name="Google Shape;128;p4"/>
              <p:cNvSpPr txBox="1"/>
              <p:nvPr/>
            </p:nvSpPr>
            <p:spPr>
              <a:xfrm>
                <a:off x="313762" y="4256926"/>
                <a:ext cx="2411505" cy="5847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US" sz="1800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Input Devices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-US" sz="1400" b="1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rPr>
                  <a:t>(Switches, Keypads )</a:t>
                </a:r>
                <a:endParaRPr sz="14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" name="Google Shape;129;p4"/>
              <p:cNvSpPr/>
              <p:nvPr/>
            </p:nvSpPr>
            <p:spPr>
              <a:xfrm>
                <a:off x="977153" y="2178424"/>
                <a:ext cx="215153" cy="468245"/>
              </a:xfrm>
              <a:prstGeom prst="upArrow">
                <a:avLst>
                  <a:gd name="adj1" fmla="val 50000"/>
                  <a:gd name="adj2" fmla="val 50000"/>
                </a:avLst>
              </a:prstGeom>
              <a:solidFill>
                <a:schemeClr val="accent1"/>
              </a:solidFill>
              <a:ln w="25400" cap="flat" cmpd="sng">
                <a:solidFill>
                  <a:srgbClr val="15705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" name="Google Shape;130;p4"/>
              <p:cNvSpPr/>
              <p:nvPr/>
            </p:nvSpPr>
            <p:spPr>
              <a:xfrm>
                <a:off x="3718107" y="2170499"/>
                <a:ext cx="215153" cy="468245"/>
              </a:xfrm>
              <a:prstGeom prst="upArrow">
                <a:avLst>
                  <a:gd name="adj1" fmla="val 50000"/>
                  <a:gd name="adj2" fmla="val 50000"/>
                </a:avLst>
              </a:prstGeom>
              <a:solidFill>
                <a:schemeClr val="accent1"/>
              </a:solidFill>
              <a:ln w="25400" cap="flat" cmpd="sng">
                <a:solidFill>
                  <a:srgbClr val="15705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" name="Google Shape;131;p4"/>
              <p:cNvSpPr/>
              <p:nvPr/>
            </p:nvSpPr>
            <p:spPr>
              <a:xfrm>
                <a:off x="954739" y="3846998"/>
                <a:ext cx="237567" cy="413487"/>
              </a:xfrm>
              <a:prstGeom prst="upArrow">
                <a:avLst>
                  <a:gd name="adj1" fmla="val 50000"/>
                  <a:gd name="adj2" fmla="val 50000"/>
                </a:avLst>
              </a:prstGeom>
              <a:solidFill>
                <a:schemeClr val="accent1"/>
              </a:solidFill>
              <a:ln w="25400" cap="flat" cmpd="sng">
                <a:solidFill>
                  <a:srgbClr val="15705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" name="Google Shape;132;p4"/>
              <p:cNvSpPr/>
              <p:nvPr/>
            </p:nvSpPr>
            <p:spPr>
              <a:xfrm>
                <a:off x="3599326" y="3877603"/>
                <a:ext cx="237567" cy="413487"/>
              </a:xfrm>
              <a:prstGeom prst="upArrow">
                <a:avLst>
                  <a:gd name="adj1" fmla="val 50000"/>
                  <a:gd name="adj2" fmla="val 50000"/>
                </a:avLst>
              </a:prstGeom>
              <a:solidFill>
                <a:schemeClr val="accent1"/>
              </a:solidFill>
              <a:ln w="25400" cap="flat" cmpd="sng">
                <a:solidFill>
                  <a:srgbClr val="157057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33" name="Google Shape;133;p4"/>
          <p:cNvGrpSpPr/>
          <p:nvPr/>
        </p:nvGrpSpPr>
        <p:grpSpPr>
          <a:xfrm>
            <a:off x="6295465" y="1761751"/>
            <a:ext cx="5376582" cy="3800289"/>
            <a:chOff x="6629401" y="945777"/>
            <a:chExt cx="5376582" cy="3800289"/>
          </a:xfrm>
        </p:grpSpPr>
        <p:pic>
          <p:nvPicPr>
            <p:cNvPr id="134" name="Google Shape;134;p4" descr="C:\Users\Admin\Pictures\Screenshots\Screenshot (1).png"/>
            <p:cNvPicPr preferRelativeResize="0"/>
            <p:nvPr/>
          </p:nvPicPr>
          <p:blipFill rotWithShape="1">
            <a:blip r:embed="rId3">
              <a:alphaModFix/>
            </a:blip>
            <a:srcRect l="25368" t="32549" r="24339" b="8366"/>
            <a:stretch/>
          </p:blipFill>
          <p:spPr>
            <a:xfrm>
              <a:off x="6629401" y="945777"/>
              <a:ext cx="5365376" cy="35455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" name="Google Shape;135;p4"/>
            <p:cNvSpPr txBox="1"/>
            <p:nvPr/>
          </p:nvSpPr>
          <p:spPr>
            <a:xfrm>
              <a:off x="7126941" y="4407512"/>
              <a:ext cx="2344271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Sensor (Temperature) </a:t>
              </a:r>
              <a:endParaRPr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4"/>
            <p:cNvSpPr txBox="1"/>
            <p:nvPr/>
          </p:nvSpPr>
          <p:spPr>
            <a:xfrm>
              <a:off x="9312089" y="3082259"/>
              <a:ext cx="2693894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Output Device (LCD)  </a:t>
              </a:r>
              <a:endParaRPr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ad3aab633e_0_0"/>
          <p:cNvSpPr txBox="1"/>
          <p:nvPr/>
        </p:nvSpPr>
        <p:spPr>
          <a:xfrm>
            <a:off x="304800" y="304800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4400" b="0" i="0" u="none" strike="noStrike" cap="none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Sensors</a:t>
            </a:r>
            <a:endParaRPr sz="4400" b="0" i="0" u="none" strike="noStrike" cap="none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id="142" name="Google Shape;142;gad3aab633e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5880675" y="567535"/>
            <a:ext cx="385984" cy="122366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gad3aab633e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400000">
            <a:off x="4533653" y="1754135"/>
            <a:ext cx="176409" cy="9333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gad3aab633e_0_0" descr="A close up of a sign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28421" y="5610533"/>
            <a:ext cx="968400" cy="72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gad3aab633e_0_0" descr="A picture containing drawing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0014" y="5440809"/>
            <a:ext cx="3245735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gad3aab633e_0_0"/>
          <p:cNvSpPr txBox="1"/>
          <p:nvPr/>
        </p:nvSpPr>
        <p:spPr>
          <a:xfrm>
            <a:off x="700450" y="838200"/>
            <a:ext cx="8487000" cy="92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-1397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Fira Sans"/>
              <a:buChar char="•"/>
            </a:pPr>
            <a:r>
              <a:rPr lang="en-US" sz="2000" b="0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US" sz="2600" b="0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Sensors convert physical quantity into electrical signal.</a:t>
            </a:r>
            <a:endParaRPr sz="2600" b="0" i="0" u="none" strike="noStrike" cap="none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47" name="Google Shape;147;gad3aab633e_0_0"/>
          <p:cNvSpPr txBox="1"/>
          <p:nvPr/>
        </p:nvSpPr>
        <p:spPr>
          <a:xfrm>
            <a:off x="4495975" y="1919825"/>
            <a:ext cx="4407600" cy="337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A61C00"/>
                </a:solidFill>
                <a:latin typeface="Fira Sans"/>
                <a:ea typeface="Fira Sans"/>
                <a:cs typeface="Fira Sans"/>
                <a:sym typeface="Fira Sans"/>
              </a:rPr>
              <a:t>Why to Sens</a:t>
            </a:r>
            <a:r>
              <a:rPr lang="en-US" sz="2000" b="1" i="0" u="none" strike="noStrike" cap="none">
                <a:solidFill>
                  <a:srgbClr val="C00000"/>
                </a:solidFill>
                <a:latin typeface="Fira Sans"/>
                <a:ea typeface="Fira Sans"/>
                <a:cs typeface="Fira Sans"/>
                <a:sym typeface="Fira Sans"/>
              </a:rPr>
              <a:t>e</a:t>
            </a:r>
            <a:r>
              <a:rPr lang="en-US" sz="2000" b="1" i="0" u="none" strike="noStrike" cap="none">
                <a:solidFill>
                  <a:srgbClr val="A61C00"/>
                </a:solidFill>
                <a:latin typeface="Fira Sans"/>
                <a:ea typeface="Fira Sans"/>
                <a:cs typeface="Fira Sans"/>
                <a:sym typeface="Fira Sans"/>
              </a:rPr>
              <a:t>?</a:t>
            </a:r>
            <a:endParaRPr sz="2000" b="1" i="0" u="none" strike="noStrike" cap="none">
              <a:solidFill>
                <a:srgbClr val="A61C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marR="0" lvl="0" indent="-393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"/>
              <a:buChar char="●"/>
            </a:pPr>
            <a:r>
              <a:rPr lang="en-US" sz="20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Connecting to the physical world</a:t>
            </a:r>
            <a:endParaRPr sz="2000" b="0" i="0" u="none" strike="noStrike" cap="non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marR="0" lvl="0" indent="-393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"/>
              <a:buChar char="●"/>
            </a:pPr>
            <a:r>
              <a:rPr lang="en-US" sz="20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 To quantify ( count in terms of numbers)</a:t>
            </a:r>
            <a:endParaRPr sz="2000" b="0" i="0" u="none" strike="noStrike" cap="non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marR="0" lvl="0" indent="-393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"/>
              <a:buChar char="●"/>
            </a:pPr>
            <a:r>
              <a:rPr lang="en-US" sz="20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 To monitor what is happening</a:t>
            </a:r>
            <a:endParaRPr sz="2000" b="0" i="0" u="none" strike="noStrike" cap="non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marR="0" lvl="0" indent="-393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"/>
              <a:buChar char="●"/>
            </a:pPr>
            <a:r>
              <a:rPr lang="en-US" sz="20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 To make decisions</a:t>
            </a:r>
            <a:endParaRPr sz="2000" b="0" i="0" u="none" strike="noStrike" cap="non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marR="0" lvl="0" indent="-393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"/>
              <a:buChar char="●"/>
            </a:pPr>
            <a:r>
              <a:rPr lang="en-US" sz="20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 Can we loop it?</a:t>
            </a:r>
            <a:endParaRPr sz="2000" b="0" i="0" u="none" strike="noStrike" cap="non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148" name="Google Shape;148;gad3aab633e_0_0"/>
          <p:cNvGrpSpPr/>
          <p:nvPr/>
        </p:nvGrpSpPr>
        <p:grpSpPr>
          <a:xfrm>
            <a:off x="457200" y="1919831"/>
            <a:ext cx="3858700" cy="2104859"/>
            <a:chOff x="1212875" y="1763225"/>
            <a:chExt cx="6272422" cy="3436950"/>
          </a:xfrm>
        </p:grpSpPr>
        <p:pic>
          <p:nvPicPr>
            <p:cNvPr id="149" name="Google Shape;149;gad3aab633e_0_0" descr="Image result for sensor block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1212875" y="1763225"/>
              <a:ext cx="6272422" cy="34369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0" name="Google Shape;150;gad3aab633e_0_0"/>
            <p:cNvSpPr txBox="1"/>
            <p:nvPr/>
          </p:nvSpPr>
          <p:spPr>
            <a:xfrm>
              <a:off x="5602941" y="3989294"/>
              <a:ext cx="1439818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Analog / Digital </a:t>
              </a:r>
              <a:endParaRPr sz="1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1" name="Google Shape;151;gad3aab633e_0_0"/>
          <p:cNvSpPr/>
          <p:nvPr/>
        </p:nvSpPr>
        <p:spPr>
          <a:xfrm>
            <a:off x="9369825" y="843225"/>
            <a:ext cx="2822100" cy="444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rgbClr val="C00000"/>
                </a:solidFill>
                <a:latin typeface="Fira Sans"/>
                <a:ea typeface="Fira Sans"/>
                <a:cs typeface="Fira Sans"/>
                <a:sym typeface="Fira Sans"/>
              </a:rPr>
              <a:t>List of Sensors</a:t>
            </a:r>
            <a:endParaRPr sz="2000" b="0" i="0" u="none" strike="noStrike" cap="none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Light  sensor</a:t>
            </a:r>
            <a:endParaRPr sz="2000" b="0" i="0" u="none" strike="noStrike" cap="none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Motion  sensor</a:t>
            </a:r>
            <a:endParaRPr sz="2000" b="0" i="0" u="none" strike="noStrike" cap="none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Temperature  sensor</a:t>
            </a:r>
            <a:endParaRPr sz="2000" b="0" i="0" u="none" strike="noStrike" cap="none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Magnetic fields  sensor</a:t>
            </a:r>
            <a:endParaRPr sz="2000" b="0" i="0" u="none" strike="noStrike" cap="none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Gravity  sensor</a:t>
            </a:r>
            <a:endParaRPr sz="2000" b="0" i="0" u="none" strike="noStrike" cap="none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Humidity  sensor</a:t>
            </a:r>
            <a:endParaRPr sz="2000" b="0" i="0" u="none" strike="noStrike" cap="none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Moisture  sensor</a:t>
            </a:r>
            <a:endParaRPr sz="2000" b="0" i="0" u="none" strike="noStrike" cap="none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Vibration  sensor</a:t>
            </a:r>
            <a:endParaRPr sz="2000" b="0" i="0" u="none" strike="noStrike" cap="none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Pressure  sensor</a:t>
            </a:r>
            <a:endParaRPr sz="2000" b="0" i="0" u="none" strike="noStrike" cap="none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Electrical fields sensor</a:t>
            </a:r>
            <a:endParaRPr sz="2000" b="0" i="0" u="none" strike="noStrike" cap="none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Sound sensor</a:t>
            </a:r>
            <a:endParaRPr sz="2000" b="0" i="0" u="none" strike="noStrike" cap="none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Position sensor</a:t>
            </a:r>
            <a:endParaRPr sz="2000" b="0" i="0" u="none" strike="noStrike" cap="none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ad3aab633e_0_11"/>
          <p:cNvSpPr txBox="1"/>
          <p:nvPr/>
        </p:nvSpPr>
        <p:spPr>
          <a:xfrm>
            <a:off x="339821" y="279393"/>
            <a:ext cx="10972800" cy="959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000"/>
              <a:buFont typeface="Times New Roman"/>
              <a:buNone/>
            </a:pPr>
            <a:r>
              <a:rPr lang="en-US" sz="28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1. Proximity Sensors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000"/>
              <a:buFont typeface="Times New Roman"/>
              <a:buNone/>
            </a:pPr>
            <a:r>
              <a:rPr lang="en-US" sz="2800" b="0" i="0" u="none" strike="noStrike" cap="none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1. Active IR Proximity sensor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000"/>
              <a:buFont typeface="Times New Roman"/>
              <a:buNone/>
            </a:pPr>
            <a:r>
              <a:rPr lang="en-US" sz="2800" b="0" i="0" u="none" strike="noStrike" cap="none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 </a:t>
            </a:r>
            <a:endParaRPr sz="2800" b="0" i="0" u="none" strike="noStrike" cap="none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id="157" name="Google Shape;157;gad3aab633e_0_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5880675" y="567535"/>
            <a:ext cx="385984" cy="122366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gad3aab633e_0_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400000">
            <a:off x="4533653" y="1754135"/>
            <a:ext cx="176409" cy="9333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gad3aab633e_0_11" descr="A close up of a sign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28421" y="5610533"/>
            <a:ext cx="968400" cy="72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gad3aab633e_0_11" descr="A picture containing drawing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0014" y="5440809"/>
            <a:ext cx="3245735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gad3aab633e_0_11"/>
          <p:cNvSpPr txBox="1"/>
          <p:nvPr/>
        </p:nvSpPr>
        <p:spPr>
          <a:xfrm>
            <a:off x="3447325" y="1283825"/>
            <a:ext cx="5841000" cy="45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2400"/>
              <a:buFont typeface="Times New Roman"/>
              <a:buNone/>
            </a:pPr>
            <a:r>
              <a:rPr lang="en-US" sz="2400" b="1" i="0" u="none" strike="noStrike" cap="none">
                <a:solidFill>
                  <a:srgbClr val="0D0D0D"/>
                </a:solidFill>
                <a:latin typeface="Fira Sans"/>
                <a:ea typeface="Fira Sans"/>
                <a:cs typeface="Fira Sans"/>
                <a:sym typeface="Fira Sans"/>
              </a:rPr>
              <a:t>Specifications</a:t>
            </a:r>
            <a:endParaRPr sz="2400" b="1" i="0" u="none" strike="noStrike" cap="none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marR="0" lvl="0" indent="-1778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2800"/>
              <a:buFont typeface="Fira Sans"/>
              <a:buChar char="•"/>
            </a:pPr>
            <a:r>
              <a:rPr lang="en-US" sz="2400" b="0" i="0" u="none" strike="noStrike" cap="none">
                <a:solidFill>
                  <a:srgbClr val="0D0D0D"/>
                </a:solidFill>
                <a:latin typeface="Fira Sans"/>
                <a:ea typeface="Fira Sans"/>
                <a:cs typeface="Fira Sans"/>
                <a:sym typeface="Fira Sans"/>
              </a:rPr>
              <a:t> </a:t>
            </a:r>
            <a:r>
              <a:rPr lang="en-US" sz="2800" b="0" i="0" u="none" strike="noStrike" cap="none">
                <a:solidFill>
                  <a:srgbClr val="0D0D0D"/>
                </a:solidFill>
                <a:latin typeface="Fira Sans"/>
                <a:ea typeface="Fira Sans"/>
                <a:cs typeface="Fira Sans"/>
                <a:sym typeface="Fira Sans"/>
              </a:rPr>
              <a:t>The operating voltage is 5VDC</a:t>
            </a:r>
            <a:endParaRPr sz="2800" b="0" i="0" u="none" strike="noStrike" cap="none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marR="0" lvl="0" indent="-203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3200"/>
              <a:buFont typeface="Fira Sans"/>
              <a:buChar char="•"/>
            </a:pPr>
            <a:r>
              <a:rPr lang="en-US" sz="2800" b="0" i="0" u="none" strike="noStrike" cap="none">
                <a:solidFill>
                  <a:srgbClr val="0D0D0D"/>
                </a:solidFill>
                <a:latin typeface="Fira Sans"/>
                <a:ea typeface="Fira Sans"/>
                <a:cs typeface="Fira Sans"/>
                <a:sym typeface="Fira Sans"/>
              </a:rPr>
              <a:t> I/O pins – 3.3V &amp; 5V</a:t>
            </a:r>
            <a:endParaRPr sz="2800" b="0" i="0" u="none" strike="noStrike" cap="none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marR="0" lvl="0" indent="-203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3200"/>
              <a:buFont typeface="Fira Sans"/>
              <a:buChar char="•"/>
            </a:pPr>
            <a:r>
              <a:rPr lang="en-US" sz="2800" b="0" i="0" u="none" strike="noStrike" cap="none">
                <a:solidFill>
                  <a:srgbClr val="0D0D0D"/>
                </a:solidFill>
                <a:latin typeface="Fira Sans"/>
                <a:ea typeface="Fira Sans"/>
                <a:cs typeface="Fira Sans"/>
                <a:sym typeface="Fira Sans"/>
              </a:rPr>
              <a:t> Mounting hole</a:t>
            </a:r>
            <a:endParaRPr sz="2900" b="0" i="0" u="none" strike="noStrike" cap="none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marR="0" lvl="0" indent="-203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3200"/>
              <a:buFont typeface="Fira Sans"/>
              <a:buChar char="•"/>
            </a:pPr>
            <a:r>
              <a:rPr lang="en-US" sz="2800" b="0" i="0" u="none" strike="noStrike" cap="none">
                <a:solidFill>
                  <a:srgbClr val="0D0D0D"/>
                </a:solidFill>
                <a:latin typeface="Fira Sans"/>
                <a:ea typeface="Fira Sans"/>
                <a:cs typeface="Fira Sans"/>
                <a:sym typeface="Fira Sans"/>
              </a:rPr>
              <a:t> The range is up to 20 centimeters</a:t>
            </a:r>
            <a:endParaRPr sz="2800" b="0" i="0" u="none" strike="noStrike" cap="none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marR="0" lvl="0" indent="-203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3200"/>
              <a:buFont typeface="Fira Sans"/>
              <a:buChar char="•"/>
            </a:pPr>
            <a:r>
              <a:rPr lang="en-US" sz="2800" b="0" i="0" u="none" strike="noStrike" cap="none">
                <a:solidFill>
                  <a:srgbClr val="0D0D0D"/>
                </a:solidFill>
                <a:latin typeface="Fira Sans"/>
                <a:ea typeface="Fira Sans"/>
                <a:cs typeface="Fira Sans"/>
                <a:sym typeface="Fira Sans"/>
              </a:rPr>
              <a:t> The supply current is 20mA</a:t>
            </a:r>
            <a:endParaRPr sz="2800" b="0" i="0" u="none" strike="noStrike" cap="none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marR="0" lvl="0" indent="-203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3200"/>
              <a:buFont typeface="Fira Sans"/>
              <a:buChar char="•"/>
            </a:pPr>
            <a:r>
              <a:rPr lang="en-US" sz="2800" b="0" i="0" u="none" strike="noStrike" cap="none">
                <a:solidFill>
                  <a:srgbClr val="0D0D0D"/>
                </a:solidFill>
                <a:latin typeface="Fira Sans"/>
                <a:ea typeface="Fira Sans"/>
                <a:cs typeface="Fira Sans"/>
                <a:sym typeface="Fira Sans"/>
              </a:rPr>
              <a:t> The range of sensing is adjustable</a:t>
            </a:r>
            <a:endParaRPr sz="2800" b="0" i="0" u="none" strike="noStrike" cap="none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marR="0" lvl="0" indent="-203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3200"/>
              <a:buFont typeface="Fira Sans"/>
              <a:buChar char="•"/>
            </a:pPr>
            <a:r>
              <a:rPr lang="en-US" sz="2800" b="0" i="0" u="none" strike="noStrike" cap="none">
                <a:solidFill>
                  <a:srgbClr val="0D0D0D"/>
                </a:solidFill>
                <a:latin typeface="Fira Sans"/>
                <a:ea typeface="Fira Sans"/>
                <a:cs typeface="Fira Sans"/>
                <a:sym typeface="Fira Sans"/>
              </a:rPr>
              <a:t> Fixed ambient light sensor</a:t>
            </a:r>
            <a:endParaRPr sz="2800" b="0" i="0" u="none" strike="noStrike" cap="none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162" name="Google Shape;162;gad3aab633e_0_1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 rot="2342501">
            <a:off x="353338" y="2355084"/>
            <a:ext cx="2343150" cy="195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gad3aab633e_0_11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0001" y="3927739"/>
            <a:ext cx="2301128" cy="15130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gad3aab633e_0_11" descr="C:\Users\Admin\Pictures\Screenshots\Screenshot (2).png"/>
          <p:cNvPicPr preferRelativeResize="0"/>
          <p:nvPr/>
        </p:nvPicPr>
        <p:blipFill rotWithShape="1">
          <a:blip r:embed="rId9">
            <a:alphaModFix/>
          </a:blip>
          <a:srcRect l="41251" t="9681" r="23530" b="11362"/>
          <a:stretch/>
        </p:blipFill>
        <p:spPr>
          <a:xfrm>
            <a:off x="9645076" y="1639300"/>
            <a:ext cx="3022046" cy="381068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5" name="Google Shape;165;gad3aab633e_0_11"/>
          <p:cNvGrpSpPr/>
          <p:nvPr/>
        </p:nvGrpSpPr>
        <p:grpSpPr>
          <a:xfrm>
            <a:off x="151655" y="1084718"/>
            <a:ext cx="3741773" cy="1500841"/>
            <a:chOff x="151645" y="1084728"/>
            <a:chExt cx="4452371" cy="1500841"/>
          </a:xfrm>
        </p:grpSpPr>
        <p:pic>
          <p:nvPicPr>
            <p:cNvPr id="166" name="Google Shape;166;gad3aab633e_0_11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151645" y="1084728"/>
              <a:ext cx="3182471" cy="15008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7" name="Google Shape;167;gad3aab633e_0_11"/>
            <p:cNvSpPr txBox="1"/>
            <p:nvPr/>
          </p:nvSpPr>
          <p:spPr>
            <a:xfrm>
              <a:off x="3334116" y="1936376"/>
              <a:ext cx="12699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Digital Output</a:t>
              </a:r>
              <a:endParaRPr sz="1400" b="0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8" name="Google Shape;168;gad3aab633e_0_11"/>
          <p:cNvSpPr/>
          <p:nvPr/>
        </p:nvSpPr>
        <p:spPr>
          <a:xfrm>
            <a:off x="3110671" y="6020867"/>
            <a:ext cx="751070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Infrared (IR) has wavelengths: 780 nm and 1 mm, which corresponds to a frequency 300 GHz to 400 THz.</a:t>
            </a:r>
            <a:endParaRPr sz="1200" b="0" i="0" u="none" strike="noStrike" cap="none">
              <a:solidFill>
                <a:srgbClr val="C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5"/>
          <p:cNvSpPr txBox="1"/>
          <p:nvPr/>
        </p:nvSpPr>
        <p:spPr>
          <a:xfrm>
            <a:off x="339821" y="161365"/>
            <a:ext cx="10972800" cy="959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000"/>
              <a:buFont typeface="Times New Roman"/>
              <a:buNone/>
            </a:pPr>
            <a:r>
              <a:rPr lang="en-US" sz="28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1. Proximity Sensors…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000"/>
              <a:buFont typeface="Times New Roman"/>
              <a:buNone/>
            </a:pPr>
            <a:r>
              <a:rPr lang="en-US" sz="2800" b="0" i="0" u="none" strike="noStrike" cap="none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2. Passive IR (PIR) Proximity sensor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000"/>
              <a:buFont typeface="Times New Roman"/>
              <a:buNone/>
            </a:pPr>
            <a:r>
              <a:rPr lang="en-US" sz="2800" b="0" i="0" u="none" strike="noStrike" cap="none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 </a:t>
            </a:r>
            <a:endParaRPr sz="2800" b="0" i="0" u="none" strike="noStrike" cap="none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id="174" name="Google Shape;174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6333" y="3576872"/>
            <a:ext cx="3619927" cy="284380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5" name="Google Shape;175;p5"/>
          <p:cNvGrpSpPr/>
          <p:nvPr/>
        </p:nvGrpSpPr>
        <p:grpSpPr>
          <a:xfrm>
            <a:off x="256334" y="928922"/>
            <a:ext cx="3480779" cy="2548233"/>
            <a:chOff x="646112" y="640976"/>
            <a:chExt cx="3253534" cy="2669521"/>
          </a:xfrm>
        </p:grpSpPr>
        <p:pic>
          <p:nvPicPr>
            <p:cNvPr id="176" name="Google Shape;176;p5" descr="Passive IR Sensor"/>
            <p:cNvPicPr preferRelativeResize="0"/>
            <p:nvPr/>
          </p:nvPicPr>
          <p:blipFill rotWithShape="1">
            <a:blip r:embed="rId4">
              <a:alphaModFix/>
            </a:blip>
            <a:srcRect l="16570" t="21245" r="46131" b="21230"/>
            <a:stretch/>
          </p:blipFill>
          <p:spPr>
            <a:xfrm>
              <a:off x="940455" y="640976"/>
              <a:ext cx="2959191" cy="2538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7" name="Google Shape;177;p5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646112" y="2939022"/>
              <a:ext cx="1292225" cy="3714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8" name="Google Shape;178;p5"/>
          <p:cNvSpPr txBox="1"/>
          <p:nvPr/>
        </p:nvSpPr>
        <p:spPr>
          <a:xfrm>
            <a:off x="4235350" y="1618125"/>
            <a:ext cx="8112300" cy="50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400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Fira Sans"/>
              <a:buChar char="●"/>
            </a:pPr>
            <a:r>
              <a:rPr lang="en-US" sz="27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Detect movement of objects that radiate IR light (like human bodies). </a:t>
            </a:r>
            <a:endParaRPr sz="2700" b="0" i="0" u="none" strike="noStrike" cap="non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marR="0" lvl="0" indent="-400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Fira Sans"/>
              <a:buChar char="●"/>
            </a:pPr>
            <a:r>
              <a:rPr lang="en-US" sz="27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Detect human movement or occupancy in security systems is very common. </a:t>
            </a:r>
            <a:endParaRPr sz="2700" b="0" i="0" u="none" strike="noStrike" cap="non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marR="0" lvl="0" indent="-400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Fira Sans"/>
              <a:buChar char="●"/>
            </a:pPr>
            <a:r>
              <a:rPr lang="en-US" sz="27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Initial setup and calibration of these sensors takes about 10 to 60 seconds.</a:t>
            </a:r>
            <a:endParaRPr sz="2700" b="0" i="0" u="none" strike="noStrike" cap="non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marR="0" lvl="0" indent="-400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Fira Sans"/>
              <a:buChar char="●"/>
            </a:pPr>
            <a:r>
              <a:rPr lang="en-US" sz="27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Two potentiometers on the board allow you to adjust the sensitivity and delay time after detecting a movement</a:t>
            </a:r>
            <a:endParaRPr sz="2700" b="0" i="0" u="none" strike="noStrike" cap="non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endParaRPr sz="2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8"/>
          <p:cNvSpPr txBox="1"/>
          <p:nvPr/>
        </p:nvSpPr>
        <p:spPr>
          <a:xfrm>
            <a:off x="339821" y="161365"/>
            <a:ext cx="10972800" cy="959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000"/>
              <a:buFont typeface="Times New Roman"/>
              <a:buNone/>
            </a:pPr>
            <a:r>
              <a:rPr lang="en-US" sz="2800" b="1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1. Proximity Sensors contd…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000"/>
              <a:buFont typeface="Times New Roman"/>
              <a:buNone/>
            </a:pPr>
            <a:r>
              <a:rPr lang="en-US" sz="2800" b="0" i="0" u="none" strike="noStrike" cap="none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2. Passive IR (PIR) Proximity sensor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000"/>
              <a:buFont typeface="Times New Roman"/>
              <a:buNone/>
            </a:pPr>
            <a:r>
              <a:rPr lang="en-US" sz="2800" b="0" i="0" u="none" strike="noStrike" cap="none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 </a:t>
            </a:r>
            <a:endParaRPr sz="2800" b="0" i="0" u="none" strike="noStrike" cap="none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id="184" name="Google Shape;184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61053" y="1063483"/>
            <a:ext cx="6468338" cy="3761088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8"/>
          <p:cNvSpPr txBox="1"/>
          <p:nvPr/>
        </p:nvSpPr>
        <p:spPr>
          <a:xfrm>
            <a:off x="5743575" y="4430825"/>
            <a:ext cx="6207600" cy="27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12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Fira Sans"/>
              <a:buChar char="●"/>
            </a:pPr>
            <a:r>
              <a:rPr lang="en-US" sz="29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Applications of IR sensors </a:t>
            </a:r>
            <a:endParaRPr sz="2900" b="0" i="0" u="none" strike="noStrike" cap="non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marR="0" lvl="0" indent="-412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Fira Sans"/>
              <a:buChar char="●"/>
            </a:pPr>
            <a:r>
              <a:rPr lang="en-US" sz="29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Proximity Detector </a:t>
            </a:r>
            <a:endParaRPr sz="2900" b="0" i="0" u="none" strike="noStrike" cap="non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marR="0" lvl="0" indent="-412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Fira Sans"/>
              <a:buChar char="●"/>
            </a:pPr>
            <a:r>
              <a:rPr lang="en-US" sz="29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Object counter</a:t>
            </a:r>
            <a:endParaRPr sz="2900" b="0" i="0" u="none" strike="noStrike" cap="non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marR="0" lvl="0" indent="-412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Fira Sans"/>
              <a:buChar char="●"/>
            </a:pPr>
            <a:r>
              <a:rPr lang="en-US" sz="29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Radiation Thermometer </a:t>
            </a:r>
            <a:endParaRPr sz="2900" b="0" i="0" u="none" strike="noStrike" cap="non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marR="0" lvl="0" indent="-412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Fira Sans"/>
              <a:buChar char="●"/>
            </a:pPr>
            <a:r>
              <a:rPr lang="en-US" sz="29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Gas Analysers  </a:t>
            </a:r>
            <a:endParaRPr sz="2900" b="0" i="0" u="none" strike="noStrike" cap="non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</a:pPr>
            <a:endParaRPr sz="2800" b="0" i="0" u="none" strike="noStrike" cap="non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339825" y="1233750"/>
            <a:ext cx="4721100" cy="48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2900" b="1" i="0" u="none" strike="noStrike" cap="none" baseline="-25000">
                <a:solidFill>
                  <a:srgbClr val="C00000"/>
                </a:solidFill>
                <a:latin typeface="Fira Sans"/>
                <a:ea typeface="Fira Sans"/>
                <a:cs typeface="Fira Sans"/>
                <a:sym typeface="Fira Sans"/>
              </a:rPr>
              <a:t>Specifications </a:t>
            </a:r>
            <a:endParaRPr sz="4700" b="1" i="0" u="none" strike="noStrike" cap="none" baseline="-25000">
              <a:solidFill>
                <a:srgbClr val="C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marR="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Char char="●"/>
            </a:pPr>
            <a:r>
              <a:rPr lang="en-US" sz="28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Wide Working Voltage Range: DC 4.5V- 20V</a:t>
            </a:r>
            <a:endParaRPr sz="2800" b="0" i="0" u="none" strike="noStrike" cap="non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marR="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Char char="●"/>
            </a:pPr>
            <a:r>
              <a:rPr lang="en-US" sz="28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Current Drain: &lt;60uA</a:t>
            </a:r>
            <a:endParaRPr sz="2800" b="0" i="0" u="none" strike="noStrike" cap="non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marR="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Char char="●"/>
            </a:pPr>
            <a:r>
              <a:rPr lang="en-US" sz="28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Detection Angle: &lt;140°</a:t>
            </a:r>
            <a:endParaRPr sz="2800" b="0" i="0" u="none" strike="noStrike" cap="non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marR="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Char char="●"/>
            </a:pPr>
            <a:r>
              <a:rPr lang="en-US" sz="28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Detection Distance: 3 to 7m (can be adjusted)</a:t>
            </a:r>
            <a:endParaRPr sz="2800" b="0" i="0" u="none" strike="noStrike" cap="non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marR="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Char char="●"/>
            </a:pPr>
            <a:r>
              <a:rPr lang="en-US" sz="28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Blockade time: 2.5s (Default)</a:t>
            </a:r>
            <a:endParaRPr sz="2800" b="0" i="0" u="none" strike="noStrike" cap="non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marR="0" lvl="0" indent="-406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Char char="●"/>
            </a:pPr>
            <a:r>
              <a:rPr lang="en-US" sz="28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Work temperature: -20-+80°C</a:t>
            </a:r>
            <a:endParaRPr sz="2800" b="0" i="0" u="none" strike="noStrike" cap="non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gd584eb501b_2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5880675" y="567535"/>
            <a:ext cx="385984" cy="122366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gd584eb501b_2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400000">
            <a:off x="4533653" y="1754135"/>
            <a:ext cx="176409" cy="9333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gd584eb501b_2_0" descr="A close up of a sign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28421" y="5610533"/>
            <a:ext cx="968400" cy="72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gd584eb501b_2_0" descr="A picture containing drawing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0014" y="5440809"/>
            <a:ext cx="3245735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gd584eb501b_2_0"/>
          <p:cNvSpPr txBox="1"/>
          <p:nvPr/>
        </p:nvSpPr>
        <p:spPr>
          <a:xfrm>
            <a:off x="299375" y="-63331"/>
            <a:ext cx="6858000" cy="2846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800" b="0" i="0" u="none" strike="noStrike" cap="none">
                <a:solidFill>
                  <a:srgbClr val="A61C00"/>
                </a:solidFill>
                <a:latin typeface="Fira Sans"/>
                <a:ea typeface="Fira Sans"/>
                <a:cs typeface="Fira Sans"/>
                <a:sym typeface="Fira Sans"/>
              </a:rPr>
              <a:t>2.  Distance Sensors </a:t>
            </a:r>
            <a:endParaRPr sz="2800" b="0" i="0" u="none" strike="noStrike" cap="none">
              <a:solidFill>
                <a:srgbClr val="A61C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marR="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1C00"/>
              </a:buClr>
              <a:buSzPts val="2200"/>
              <a:buFont typeface="Fira Sans"/>
              <a:buChar char="●"/>
            </a:pPr>
            <a:r>
              <a:rPr lang="en-US" sz="24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Ultrasonic Distance Sensor- HC SR 04</a:t>
            </a:r>
            <a:endParaRPr sz="2400" b="0" i="0" u="none" strike="noStrike" cap="non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marR="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1C00"/>
              </a:buClr>
              <a:buSzPts val="2200"/>
              <a:buFont typeface="Fira Sans"/>
              <a:buChar char="●"/>
            </a:pPr>
            <a:r>
              <a:rPr lang="en-US" sz="24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Transmits 40 KHz ultrasonic pulses and in case of object , </a:t>
            </a:r>
            <a:endParaRPr sz="2400" b="0" i="0" u="none" strike="noStrike" cap="non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1016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       received by receiver</a:t>
            </a:r>
            <a:endParaRPr sz="2400" b="0" i="0" u="none" strike="noStrike" cap="non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marR="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1C00"/>
              </a:buClr>
              <a:buSzPts val="2200"/>
              <a:buFont typeface="Fira Sans"/>
              <a:buChar char="●"/>
            </a:pPr>
            <a:r>
              <a:rPr lang="en-US" sz="24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Distance of object depends on time taken for detection  </a:t>
            </a:r>
            <a:endParaRPr sz="2400" b="0" i="0" u="none" strike="noStrike" cap="non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marR="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1C00"/>
              </a:buClr>
              <a:buSzPts val="2200"/>
              <a:buFont typeface="Fira Sans"/>
              <a:buChar char="●"/>
            </a:pPr>
            <a:r>
              <a:rPr lang="en-US" sz="24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Distance= Speed * time of echo pulse</a:t>
            </a:r>
            <a:endParaRPr sz="2400" b="0" i="0" u="none" strike="noStrike" cap="non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marR="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1C00"/>
              </a:buClr>
              <a:buSzPts val="2200"/>
              <a:buFont typeface="Fira Sans"/>
              <a:buChar char="●"/>
            </a:pPr>
            <a:r>
              <a:rPr lang="en-US" sz="24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Can detect distance from 2cm to 400cm</a:t>
            </a:r>
            <a:endParaRPr sz="2400" b="0" i="0" u="none" strike="noStrike" cap="non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marR="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1C00"/>
              </a:buClr>
              <a:buSzPts val="2200"/>
              <a:buFont typeface="Fira Sans"/>
              <a:buChar char="●"/>
            </a:pPr>
            <a:r>
              <a:rPr lang="en-US" sz="2400" b="0" i="0" u="none" strike="noStrike" cap="non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rPr>
              <a:t>Works on 5V</a:t>
            </a:r>
            <a:endParaRPr sz="2400" b="0" i="0" u="none" strike="noStrike" cap="none">
              <a:solidFill>
                <a:schemeClr val="dk1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61C00"/>
              </a:buClr>
              <a:buSzPts val="2000"/>
              <a:buFont typeface="Fira Sans"/>
              <a:buNone/>
            </a:pPr>
            <a:endParaRPr sz="2000" b="0" i="0" u="none" strike="noStrike" cap="none">
              <a:solidFill>
                <a:srgbClr val="A61C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pic>
        <p:nvPicPr>
          <p:cNvPr id="196" name="Google Shape;196;gd584eb501b_2_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687823" y="3623686"/>
            <a:ext cx="3719575" cy="2028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gd584eb501b_2_0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146225" y="462524"/>
            <a:ext cx="4861125" cy="2516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gd584eb501b_2_0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330884" y="3244217"/>
            <a:ext cx="4861113" cy="26736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d584ff8090_0_1"/>
          <p:cNvSpPr txBox="1"/>
          <p:nvPr/>
        </p:nvSpPr>
        <p:spPr>
          <a:xfrm>
            <a:off x="304800" y="304800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4400" b="0" i="0" u="none" strike="noStrike" cap="none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Criteria to choose a Sensor</a:t>
            </a:r>
            <a:endParaRPr sz="4400" b="0" i="0" u="none" strike="noStrike" cap="none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id="204" name="Google Shape;204;gd584ff8090_0_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5880675" y="567535"/>
            <a:ext cx="385984" cy="122366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gd584ff8090_0_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400000">
            <a:off x="4533653" y="1754135"/>
            <a:ext cx="176409" cy="9333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gd584ff8090_0_1" descr="A close up of a sign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28421" y="5610533"/>
            <a:ext cx="968400" cy="72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gd584ff8090_0_1" descr="A picture containing drawing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0014" y="5440809"/>
            <a:ext cx="3245735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gd584ff8090_0_1"/>
          <p:cNvSpPr txBox="1"/>
          <p:nvPr/>
        </p:nvSpPr>
        <p:spPr>
          <a:xfrm>
            <a:off x="304800" y="838200"/>
            <a:ext cx="11707958" cy="42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191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Fira Sans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Accuracy</a:t>
            </a:r>
            <a:endParaRPr sz="2800" b="0" i="0" u="none" strike="noStrike" cap="none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191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Fira Sans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Environmental condition – usually has limits for temperature/ humidity</a:t>
            </a:r>
            <a:endParaRPr sz="2800" b="0" i="0" u="none" strike="noStrike" cap="none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191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Fira Sans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Range – Measurement limit of sensor</a:t>
            </a:r>
            <a:endParaRPr sz="2800" b="0" i="0" u="none" strike="noStrike" cap="none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191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Fira Sans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Calibration – Essential for most of the measuring devices as the readings changes with time</a:t>
            </a:r>
            <a:endParaRPr sz="2800" b="0" i="0" u="none" strike="noStrike" cap="none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191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Fira Sans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Resolution – Smallest increment detected by the sensor</a:t>
            </a:r>
            <a:endParaRPr sz="2800" b="0" i="0" u="none" strike="noStrike" cap="none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191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Fira Sans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Cost</a:t>
            </a:r>
            <a:endParaRPr sz="2800" b="0" i="0" u="none" strike="noStrike" cap="none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  <a:p>
            <a:pPr marL="4191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Fira Sans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rPr>
              <a:t>Repeatability – The reading that varies is repeatedly measured under the same environment </a:t>
            </a:r>
            <a:endParaRPr sz="2800" b="0" i="0" u="none" strike="noStrike" cap="none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"/>
          <p:cNvSpPr txBox="1"/>
          <p:nvPr/>
        </p:nvSpPr>
        <p:spPr>
          <a:xfrm>
            <a:off x="304800" y="304800"/>
            <a:ext cx="109728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lang="en-US" sz="4400" b="0" i="0" u="none" strike="noStrike" cap="none">
                <a:solidFill>
                  <a:srgbClr val="C00000"/>
                </a:solidFill>
                <a:latin typeface="Marcellus"/>
                <a:ea typeface="Marcellus"/>
                <a:cs typeface="Marcellus"/>
                <a:sym typeface="Marcellus"/>
              </a:rPr>
              <a:t>Graded Activity </a:t>
            </a:r>
            <a:endParaRPr sz="4400" b="0" i="0" u="none" strike="noStrike" cap="none">
              <a:solidFill>
                <a:srgbClr val="C00000"/>
              </a:solidFill>
              <a:latin typeface="Marcellus"/>
              <a:ea typeface="Marcellus"/>
              <a:cs typeface="Marcellus"/>
              <a:sym typeface="Marcellus"/>
            </a:endParaRPr>
          </a:p>
        </p:txBody>
      </p:sp>
      <p:pic>
        <p:nvPicPr>
          <p:cNvPr id="214" name="Google Shape;214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5400000">
            <a:off x="5880675" y="567535"/>
            <a:ext cx="385984" cy="122366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400000">
            <a:off x="4533653" y="1754135"/>
            <a:ext cx="176409" cy="9333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1" descr="A close up of a sign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28421" y="5610533"/>
            <a:ext cx="968400" cy="72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1" descr="A picture containing drawing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0014" y="5440809"/>
            <a:ext cx="3245735" cy="811434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"/>
          <p:cNvSpPr txBox="1"/>
          <p:nvPr/>
        </p:nvSpPr>
        <p:spPr>
          <a:xfrm>
            <a:off x="304800" y="838200"/>
            <a:ext cx="11707958" cy="42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191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Fira Sans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Using an Arduino Uno, interface </a:t>
            </a:r>
            <a:r>
              <a:rPr lang="en-US" sz="28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IR sensor, PIR motion sensor, and Ultrasonic distance sensor</a:t>
            </a: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191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Fira Sans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Demonstrate how each sensor works and display the output on the Serial Monitor.</a:t>
            </a:r>
            <a:endParaRPr/>
          </a:p>
          <a:p>
            <a:pPr marL="4191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Fira Sans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Submit the circuit connections, code, and output screenshots on LMS</a:t>
            </a:r>
            <a:endParaRPr sz="2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593</Words>
  <Application>Microsoft Office PowerPoint</Application>
  <PresentationFormat>Custom</PresentationFormat>
  <Paragraphs>109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Marcellus</vt:lpstr>
      <vt:lpstr>Calibri</vt:lpstr>
      <vt:lpstr>Fira Sans</vt:lpstr>
      <vt:lpstr>Times New Roman</vt:lpstr>
      <vt:lpstr>Office Theme</vt:lpstr>
      <vt:lpstr>Project Based Learning </vt:lpstr>
      <vt:lpstr>PowerPoint Presentation</vt:lpstr>
      <vt:lpstr>Introduction to Arduino UNO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Based Learning </dc:title>
  <dc:creator>Abhijeet</dc:creator>
  <cp:lastModifiedBy>Admin</cp:lastModifiedBy>
  <cp:revision>1</cp:revision>
  <dcterms:modified xsi:type="dcterms:W3CDTF">2026-01-12T04:59:33Z</dcterms:modified>
</cp:coreProperties>
</file>