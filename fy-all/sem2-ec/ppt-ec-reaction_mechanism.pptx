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4" roundtripDataSignature="AMtx7mi/MnTZG3w7a8jB2sgf0/NBCHF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customschemas.google.com/relationships/presentationmetadata" Target="metadata"/><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4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4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4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4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4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4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4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4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4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48"/>
          <p:cNvSpPr/>
          <p:nvPr>
            <p:ph idx="2" type="pic"/>
          </p:nvPr>
        </p:nvSpPr>
        <p:spPr>
          <a:xfrm>
            <a:off x="1792288" y="612775"/>
            <a:ext cx="5486400" cy="4114800"/>
          </a:xfrm>
          <a:prstGeom prst="rect">
            <a:avLst/>
          </a:prstGeom>
          <a:noFill/>
          <a:ln>
            <a:noFill/>
          </a:ln>
        </p:spPr>
      </p:sp>
      <p:sp>
        <p:nvSpPr>
          <p:cNvPr id="64" name="Google Shape;64;p4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2.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hyperlink" Target="https://www.google.com/search?sa=X&amp;sca_esv=94f04881634f051b&amp;rlz=1C1GCEU_enIN1060IN1060&amp;biw=1280&amp;bih=585&amp;q=Wurtz-Fittig+reaction&amp;ved=2ahUKEwiOy__E2teQAxWSSGcHHTfKIr0QxccNegQIFxAB&amp;mstk=AUtExfCgcdufca3UaiKnLKIwOg_tlVbmhCdVb6U_JZWhNagOEgIwl8MPgu1wYjQkMOYkKxhegIvUf0O0S2jY2DijXhsL2AuuPEs18p8La5efoHudMSVSLr1AreLoszvvJgN1eGV5GwcCu80DIAHb3yeSK4HHlQdLpS3VAzJWBz2VU2OKR4k_G5kBalXwjVzUCbqibyzIJMUrSHY7B8kUhghcPK69bksLWUENMFv_Q2ArTwBWDw&amp;csui=3"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1.png"/><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0.png"/><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hyperlink" Target="https://www.google.com/search?sca_esv=eb68ead9e93085bb&amp;rlz=1C1GCEU_enIN1060IN1060&amp;q=Lewis+acid+catalyst&amp;source=lnms&amp;fbs=AIIjpHz2LkAPJDdeiKYzFgacvjxVmKaDDQLwycTxV2L0apBPyNTRLJN5Yi1fzSp12MAsxddz5xJE5w7Rju6k3BgvwaMAxUFdPcQCYbdHadzXLI5zkfzhKaIWL6NfHQAAtMmsYdt7maIDvVt2Blw83VaSjRK0vWAoycsDNvR36jLLEXIkQyptk0SFER6Tt8eujtruRBXwW4twrfl2fsCVB9dTQ0rrGWvrYG443rXPtPiRUigSLkFsVdI&amp;sa=X&amp;ved=2ahUKEwioyor8o92QAxWLoa8BHa24FEoQgK4QegYIAQgAEAY&amp;biw=1280&amp;bih=585&amp;dpr=1.5"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Reaction Mechanism</a:t>
            </a:r>
            <a:endParaRPr/>
          </a:p>
        </p:txBody>
      </p:sp>
      <p:sp>
        <p:nvSpPr>
          <p:cNvPr id="85" name="Google Shape;85;p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888888"/>
              </a:buClr>
              <a:buSzPts val="3200"/>
              <a:buNone/>
            </a:pPr>
            <a:r>
              <a:rPr lang="en-US"/>
              <a:t>Dr. Druman Ramesh Utekar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Aldol condensation </a:t>
            </a:r>
            <a:endParaRPr/>
          </a:p>
        </p:txBody>
      </p:sp>
      <p:sp>
        <p:nvSpPr>
          <p:cNvPr id="91" name="Google Shape;91;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dk1"/>
              </a:buClr>
              <a:buSzPts val="3200"/>
              <a:buChar char="•"/>
            </a:pPr>
            <a:r>
              <a:rPr lang="en-US"/>
              <a:t>Aldol condensation is an organic reaction where two carbonyl compounds, typically aldehydes or ketones with an alpha-hydrogen, react to form a β-hydroxy aldehyde or ketone (the "aldol"). This initial product can then undergo a dehydration step to form an α,β-unsaturated carbonyl compound. The reaction requires a base or acid catalyst and involves an enolate ion intermediate to create a new carbon-carbon bond.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descr="Aldol Condensation ..." id="96" name="Google Shape;96;p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97" name="Google Shape;97;p3"/>
          <p:cNvPicPr preferRelativeResize="0"/>
          <p:nvPr>
            <p:ph idx="1" type="body"/>
          </p:nvPr>
        </p:nvPicPr>
        <p:blipFill rotWithShape="1">
          <a:blip r:embed="rId3">
            <a:alphaModFix/>
          </a:blip>
          <a:srcRect b="0" l="0" r="0" t="0"/>
          <a:stretch/>
        </p:blipFill>
        <p:spPr>
          <a:xfrm>
            <a:off x="1371600" y="457200"/>
            <a:ext cx="6218153" cy="2148681"/>
          </a:xfrm>
          <a:prstGeom prst="rect">
            <a:avLst/>
          </a:prstGeom>
          <a:noFill/>
          <a:ln>
            <a:noFill/>
          </a:ln>
        </p:spPr>
      </p:pic>
      <p:pic>
        <p:nvPicPr>
          <p:cNvPr descr="crossed aldol condensation" id="98" name="Google Shape;98;p3"/>
          <p:cNvPicPr preferRelativeResize="0"/>
          <p:nvPr/>
        </p:nvPicPr>
        <p:blipFill rotWithShape="1">
          <a:blip r:embed="rId4">
            <a:alphaModFix/>
          </a:blip>
          <a:srcRect b="0" l="0" r="0" t="0"/>
          <a:stretch/>
        </p:blipFill>
        <p:spPr>
          <a:xfrm>
            <a:off x="1828799" y="2667000"/>
            <a:ext cx="6314661" cy="383931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pic>
        <p:nvPicPr>
          <p:cNvPr id="103" name="Google Shape;103;p4"/>
          <p:cNvPicPr preferRelativeResize="0"/>
          <p:nvPr>
            <p:ph idx="1" type="body"/>
          </p:nvPr>
        </p:nvPicPr>
        <p:blipFill rotWithShape="1">
          <a:blip r:embed="rId3">
            <a:alphaModFix/>
          </a:blip>
          <a:srcRect b="0" l="0" r="0" t="0"/>
          <a:stretch/>
        </p:blipFill>
        <p:spPr>
          <a:xfrm>
            <a:off x="762000" y="533400"/>
            <a:ext cx="7580822" cy="521573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5"/>
          <p:cNvPicPr preferRelativeResize="0"/>
          <p:nvPr>
            <p:ph idx="1" type="body"/>
          </p:nvPr>
        </p:nvPicPr>
        <p:blipFill rotWithShape="1">
          <a:blip r:embed="rId3">
            <a:alphaModFix/>
          </a:blip>
          <a:srcRect b="0" l="0" r="0" t="0"/>
          <a:stretch/>
        </p:blipFill>
        <p:spPr>
          <a:xfrm>
            <a:off x="958086" y="1295400"/>
            <a:ext cx="6890514" cy="489589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Mechanism</a:t>
            </a:r>
            <a:endParaRPr/>
          </a:p>
        </p:txBody>
      </p:sp>
      <p:pic>
        <p:nvPicPr>
          <p:cNvPr descr="Explain the mechanism of aldol condensation." id="114" name="Google Shape;114;p6"/>
          <p:cNvPicPr preferRelativeResize="0"/>
          <p:nvPr/>
        </p:nvPicPr>
        <p:blipFill rotWithShape="1">
          <a:blip r:embed="rId3">
            <a:alphaModFix/>
          </a:blip>
          <a:srcRect b="0" l="0" r="0" t="0"/>
          <a:stretch/>
        </p:blipFill>
        <p:spPr>
          <a:xfrm>
            <a:off x="533400" y="1524000"/>
            <a:ext cx="7604834" cy="5181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pic>
        <p:nvPicPr>
          <p:cNvPr id="120" name="Google Shape;120;p7"/>
          <p:cNvPicPr preferRelativeResize="0"/>
          <p:nvPr>
            <p:ph idx="1" type="body"/>
          </p:nvPr>
        </p:nvPicPr>
        <p:blipFill rotWithShape="1">
          <a:blip r:embed="rId3">
            <a:alphaModFix/>
          </a:blip>
          <a:srcRect b="0" l="0" r="0" t="0"/>
          <a:stretch/>
        </p:blipFill>
        <p:spPr>
          <a:xfrm>
            <a:off x="152400" y="228600"/>
            <a:ext cx="8827641" cy="580494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u="sng"/>
              <a:t>Baeyer-Villiger Oxidation</a:t>
            </a:r>
            <a:endParaRPr/>
          </a:p>
        </p:txBody>
      </p:sp>
      <p:sp>
        <p:nvSpPr>
          <p:cNvPr id="126" name="Google Shape;126;p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l">
              <a:spcBef>
                <a:spcPts val="0"/>
              </a:spcBef>
              <a:spcAft>
                <a:spcPts val="0"/>
              </a:spcAft>
              <a:buClr>
                <a:schemeClr val="dk1"/>
              </a:buClr>
              <a:buSzPct val="100000"/>
              <a:buChar char="•"/>
            </a:pPr>
            <a:r>
              <a:rPr lang="en-US"/>
              <a:t>The Baeyer-Villiger oxidation, which is a chemical reaction that converts a ketone into an ester or a cyclic ketone into a lactone using a peroxyacid. </a:t>
            </a:r>
            <a:endParaRPr/>
          </a:p>
          <a:p>
            <a:pPr indent="-342900" lvl="0" marL="342900" rtl="0" algn="l">
              <a:spcBef>
                <a:spcPts val="544"/>
              </a:spcBef>
              <a:spcAft>
                <a:spcPts val="0"/>
              </a:spcAft>
              <a:buClr>
                <a:schemeClr val="dk1"/>
              </a:buClr>
              <a:buSzPct val="100000"/>
              <a:buChar char="•"/>
            </a:pPr>
            <a:r>
              <a:rPr lang="en-US"/>
              <a:t>The reaction involves inserting an oxygen atom between the carbonyl group and an adjacent carbon atom, with the specific group that migrates determined by its migratory aptitude (tertiary &gt; secondary &gt; phenyl &gt; primary &gt; methyl). </a:t>
            </a:r>
            <a:endParaRPr/>
          </a:p>
          <a:p>
            <a:pPr indent="-342900" lvl="0" marL="342900" rtl="0" algn="l">
              <a:spcBef>
                <a:spcPts val="544"/>
              </a:spcBef>
              <a:spcAft>
                <a:spcPts val="0"/>
              </a:spcAft>
              <a:buClr>
                <a:schemeClr val="dk1"/>
              </a:buClr>
              <a:buSzPct val="100000"/>
              <a:buChar char="•"/>
            </a:pPr>
            <a:r>
              <a:rPr lang="en-US"/>
              <a:t>This reaction is important in the synthesis of various organic compounds, including pharmaceuticals and flavors.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9"/>
          <p:cNvPicPr preferRelativeResize="0"/>
          <p:nvPr>
            <p:ph idx="1" type="body"/>
          </p:nvPr>
        </p:nvPicPr>
        <p:blipFill rotWithShape="1">
          <a:blip r:embed="rId3">
            <a:alphaModFix/>
          </a:blip>
          <a:srcRect b="0" l="0" r="0" t="0"/>
          <a:stretch/>
        </p:blipFill>
        <p:spPr>
          <a:xfrm>
            <a:off x="2286000" y="152400"/>
            <a:ext cx="3269513" cy="651356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10"/>
          <p:cNvPicPr preferRelativeResize="0"/>
          <p:nvPr>
            <p:ph idx="1" type="body"/>
          </p:nvPr>
        </p:nvPicPr>
        <p:blipFill rotWithShape="1">
          <a:blip r:embed="rId3">
            <a:alphaModFix/>
          </a:blip>
          <a:srcRect b="0" l="0" r="0" t="0"/>
          <a:stretch/>
        </p:blipFill>
        <p:spPr>
          <a:xfrm>
            <a:off x="381000" y="762000"/>
            <a:ext cx="7924800" cy="2113280"/>
          </a:xfrm>
          <a:prstGeom prst="rect">
            <a:avLst/>
          </a:prstGeom>
          <a:noFill/>
          <a:ln>
            <a:noFill/>
          </a:ln>
        </p:spPr>
      </p:pic>
      <p:pic>
        <p:nvPicPr>
          <p:cNvPr descr="Baeyer-Villiger Oxidation - Chemistry Steps" id="137" name="Google Shape;137;p10"/>
          <p:cNvPicPr preferRelativeResize="0"/>
          <p:nvPr/>
        </p:nvPicPr>
        <p:blipFill rotWithShape="1">
          <a:blip r:embed="rId4">
            <a:alphaModFix/>
          </a:blip>
          <a:srcRect b="0" l="0" r="0" t="0"/>
          <a:stretch/>
        </p:blipFill>
        <p:spPr>
          <a:xfrm>
            <a:off x="1066800" y="2819400"/>
            <a:ext cx="6324600" cy="389206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Examples</a:t>
            </a:r>
            <a:endParaRPr/>
          </a:p>
        </p:txBody>
      </p:sp>
      <p:pic>
        <p:nvPicPr>
          <p:cNvPr id="143" name="Google Shape;143;p11"/>
          <p:cNvPicPr preferRelativeResize="0"/>
          <p:nvPr>
            <p:ph idx="1" type="body"/>
          </p:nvPr>
        </p:nvPicPr>
        <p:blipFill rotWithShape="1">
          <a:blip r:embed="rId3">
            <a:alphaModFix/>
          </a:blip>
          <a:srcRect b="0" l="0" r="0" t="0"/>
          <a:stretch/>
        </p:blipFill>
        <p:spPr>
          <a:xfrm>
            <a:off x="1447800" y="1447800"/>
            <a:ext cx="6587527" cy="378337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Dakin reaction</a:t>
            </a:r>
            <a:endParaRPr/>
          </a:p>
        </p:txBody>
      </p:sp>
      <p:sp>
        <p:nvSpPr>
          <p:cNvPr id="149" name="Google Shape;149;p12"/>
          <p:cNvSpPr txBox="1"/>
          <p:nvPr>
            <p:ph idx="1" type="body"/>
          </p:nvPr>
        </p:nvSpPr>
        <p:spPr>
          <a:xfrm>
            <a:off x="457200" y="1600201"/>
            <a:ext cx="8229600" cy="2667000"/>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spcBef>
                <a:spcPts val="0"/>
              </a:spcBef>
              <a:spcAft>
                <a:spcPts val="0"/>
              </a:spcAft>
              <a:buClr>
                <a:schemeClr val="dk1"/>
              </a:buClr>
              <a:buSzPct val="100000"/>
              <a:buChar char="•"/>
            </a:pPr>
            <a:r>
              <a:rPr lang="en-US"/>
              <a:t>The Dakin reaction is an organic chemical reaction where an ortho- or para-hydroxylated phenyl aldehyde or ketone is oxidized by hydrogen peroxide in a basic solution to produce a benzenediol and a carboxylate. </a:t>
            </a:r>
            <a:endParaRPr/>
          </a:p>
          <a:p>
            <a:pPr indent="-342900" lvl="0" marL="342900" rtl="0" algn="l">
              <a:spcBef>
                <a:spcPts val="496"/>
              </a:spcBef>
              <a:spcAft>
                <a:spcPts val="0"/>
              </a:spcAft>
              <a:buClr>
                <a:schemeClr val="dk1"/>
              </a:buClr>
              <a:buSzPct val="100000"/>
              <a:buChar char="•"/>
            </a:pPr>
            <a:r>
              <a:rPr lang="en-US"/>
              <a:t>The reaction involves a nucleophilic addition, an aryl migration, and a subsequent hydrolysis of an intermediate ester. This process converts the aldehyde or ketone group into a hydroxyl group. </a:t>
            </a:r>
            <a:endParaRPr/>
          </a:p>
        </p:txBody>
      </p:sp>
      <p:sp>
        <p:nvSpPr>
          <p:cNvPr descr="Dakin oxidation | Dakin reaction | organic reaction ..." id="150" name="Google Shape;150;p1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51" name="Google Shape;151;p12"/>
          <p:cNvPicPr preferRelativeResize="0"/>
          <p:nvPr/>
        </p:nvPicPr>
        <p:blipFill rotWithShape="1">
          <a:blip r:embed="rId3">
            <a:alphaModFix/>
          </a:blip>
          <a:srcRect b="0" l="0" r="0" t="0"/>
          <a:stretch/>
        </p:blipFill>
        <p:spPr>
          <a:xfrm>
            <a:off x="2749412" y="4114800"/>
            <a:ext cx="3638550" cy="2543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descr="A new avenue to the Dakin reaction in H 2 O 2 –WERSA - RSC Advances (RSC  Publishing) DOI:10.1039/C5RA20133K" id="156" name="Google Shape;156;p13"/>
          <p:cNvPicPr preferRelativeResize="0"/>
          <p:nvPr/>
        </p:nvPicPr>
        <p:blipFill rotWithShape="1">
          <a:blip r:embed="rId3">
            <a:alphaModFix/>
          </a:blip>
          <a:srcRect b="0" l="0" r="0" t="0"/>
          <a:stretch/>
        </p:blipFill>
        <p:spPr>
          <a:xfrm>
            <a:off x="1752600" y="685800"/>
            <a:ext cx="5497689" cy="54864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id="161" name="Google Shape;161;p14"/>
          <p:cNvPicPr preferRelativeResize="0"/>
          <p:nvPr>
            <p:ph idx="1" type="body"/>
          </p:nvPr>
        </p:nvPicPr>
        <p:blipFill rotWithShape="1">
          <a:blip r:embed="rId3">
            <a:alphaModFix/>
          </a:blip>
          <a:srcRect b="0" l="0" r="0" t="0"/>
          <a:stretch/>
        </p:blipFill>
        <p:spPr>
          <a:xfrm>
            <a:off x="838200" y="439253"/>
            <a:ext cx="7246857" cy="542814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Haloform Reaction</a:t>
            </a:r>
            <a:endParaRPr/>
          </a:p>
        </p:txBody>
      </p:sp>
      <p:sp>
        <p:nvSpPr>
          <p:cNvPr id="167" name="Google Shape;167;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l">
              <a:spcBef>
                <a:spcPts val="0"/>
              </a:spcBef>
              <a:spcAft>
                <a:spcPts val="0"/>
              </a:spcAft>
              <a:buClr>
                <a:schemeClr val="dk1"/>
              </a:buClr>
              <a:buSzPct val="100000"/>
              <a:buChar char="•"/>
            </a:pPr>
            <a:r>
              <a:rPr lang="en-US"/>
              <a:t>The haloform reaction is a chemical reaction where a methyl ketone or a methyl-bearing aldehyde is converted into a haloform (𝐶𝐻𝑋3) and a carboxylate salt. </a:t>
            </a:r>
            <a:endParaRPr/>
          </a:p>
          <a:p>
            <a:pPr indent="-342900" lvl="0" marL="342900" rtl="0" algn="l">
              <a:spcBef>
                <a:spcPts val="544"/>
              </a:spcBef>
              <a:spcAft>
                <a:spcPts val="0"/>
              </a:spcAft>
              <a:buClr>
                <a:schemeClr val="dk1"/>
              </a:buClr>
              <a:buSzPct val="100000"/>
              <a:buChar char="•"/>
            </a:pPr>
            <a:r>
              <a:rPr lang="en-US"/>
              <a:t>It involves treating the organic compound with a halogen (such as chlorine, bromine, or iodine) in the presence of a strong base, like sodium hydroxide. </a:t>
            </a:r>
            <a:endParaRPr/>
          </a:p>
          <a:p>
            <a:pPr indent="-342900" lvl="0" marL="342900" rtl="0" algn="l">
              <a:spcBef>
                <a:spcPts val="544"/>
              </a:spcBef>
              <a:spcAft>
                <a:spcPts val="0"/>
              </a:spcAft>
              <a:buClr>
                <a:schemeClr val="dk1"/>
              </a:buClr>
              <a:buSzPct val="100000"/>
              <a:buChar char="•"/>
            </a:pPr>
            <a:r>
              <a:rPr lang="en-US"/>
              <a:t>The reaction works on compounds with a methyl group bonded to the carbonyl carbon, and the products are a haloform and the corresponding salt of the carboxylic acid</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id="172" name="Google Shape;172;p16"/>
          <p:cNvPicPr preferRelativeResize="0"/>
          <p:nvPr>
            <p:ph idx="1" type="body"/>
          </p:nvPr>
        </p:nvPicPr>
        <p:blipFill rotWithShape="1">
          <a:blip r:embed="rId3">
            <a:alphaModFix/>
          </a:blip>
          <a:srcRect b="0" l="0" r="0" t="0"/>
          <a:stretch/>
        </p:blipFill>
        <p:spPr>
          <a:xfrm>
            <a:off x="228600" y="838200"/>
            <a:ext cx="8539886" cy="372983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Mechanism</a:t>
            </a:r>
            <a:endParaRPr/>
          </a:p>
        </p:txBody>
      </p:sp>
      <p:pic>
        <p:nvPicPr>
          <p:cNvPr descr="Haloform Reaction" id="178" name="Google Shape;178;p17"/>
          <p:cNvPicPr preferRelativeResize="0"/>
          <p:nvPr/>
        </p:nvPicPr>
        <p:blipFill rotWithShape="1">
          <a:blip r:embed="rId3">
            <a:alphaModFix/>
          </a:blip>
          <a:srcRect b="0" l="0" r="0" t="0"/>
          <a:stretch/>
        </p:blipFill>
        <p:spPr>
          <a:xfrm>
            <a:off x="1371600" y="1447800"/>
            <a:ext cx="6248400" cy="513808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id="183" name="Google Shape;183;p18"/>
          <p:cNvPicPr preferRelativeResize="0"/>
          <p:nvPr>
            <p:ph idx="1" type="body"/>
          </p:nvPr>
        </p:nvPicPr>
        <p:blipFill rotWithShape="1">
          <a:blip r:embed="rId3">
            <a:alphaModFix/>
          </a:blip>
          <a:srcRect b="0" l="0" r="0" t="0"/>
          <a:stretch/>
        </p:blipFill>
        <p:spPr>
          <a:xfrm>
            <a:off x="990600" y="1676400"/>
            <a:ext cx="6228750" cy="31242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Sharpless Epoxidation</a:t>
            </a:r>
            <a:endParaRPr/>
          </a:p>
        </p:txBody>
      </p:sp>
      <p:sp>
        <p:nvSpPr>
          <p:cNvPr id="189" name="Google Shape;189;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The Sharpless epoxidation reaction is an enantioselective chemical reaction to prepare 2,3-epoxyalcohols from primary and secondary allylic alcohols. The oxidizing agent is tert-butyl hydroperoxide. The method relies on a catalyst formed from titanium tetra(isopropoxide) and diethyl tartrate.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pic>
        <p:nvPicPr>
          <p:cNvPr id="194" name="Google Shape;194;p20"/>
          <p:cNvPicPr preferRelativeResize="0"/>
          <p:nvPr>
            <p:ph idx="1" type="body"/>
          </p:nvPr>
        </p:nvPicPr>
        <p:blipFill rotWithShape="1">
          <a:blip r:embed="rId3">
            <a:alphaModFix/>
          </a:blip>
          <a:srcRect b="0" l="0" r="0" t="0"/>
          <a:stretch/>
        </p:blipFill>
        <p:spPr>
          <a:xfrm>
            <a:off x="1371600" y="1143000"/>
            <a:ext cx="6634151" cy="433943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Mechanism</a:t>
            </a:r>
            <a:endParaRPr/>
          </a:p>
        </p:txBody>
      </p:sp>
      <p:pic>
        <p:nvPicPr>
          <p:cNvPr id="200" name="Google Shape;200;p21"/>
          <p:cNvPicPr preferRelativeResize="0"/>
          <p:nvPr>
            <p:ph idx="1" type="body"/>
          </p:nvPr>
        </p:nvPicPr>
        <p:blipFill rotWithShape="1">
          <a:blip r:embed="rId3">
            <a:alphaModFix/>
          </a:blip>
          <a:srcRect b="0" l="0" r="0" t="0"/>
          <a:stretch/>
        </p:blipFill>
        <p:spPr>
          <a:xfrm>
            <a:off x="565796" y="2057400"/>
            <a:ext cx="7776437" cy="35052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pic>
        <p:nvPicPr>
          <p:cNvPr descr="Utility" id="205" name="Google Shape;205;p22"/>
          <p:cNvPicPr preferRelativeResize="0"/>
          <p:nvPr/>
        </p:nvPicPr>
        <p:blipFill rotWithShape="1">
          <a:blip r:embed="rId3">
            <a:alphaModFix/>
          </a:blip>
          <a:srcRect b="0" l="0" r="0" t="0"/>
          <a:stretch/>
        </p:blipFill>
        <p:spPr>
          <a:xfrm>
            <a:off x="1447800" y="914400"/>
            <a:ext cx="5991225" cy="518160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Wurtz Synthesis</a:t>
            </a:r>
            <a:endParaRPr/>
          </a:p>
        </p:txBody>
      </p:sp>
      <p:sp>
        <p:nvSpPr>
          <p:cNvPr id="211" name="Google Shape;211;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Wurtz synthesis is a reaction that couples two alkyl halides with sodium metal to form a higher alkane, often a symmetrical one. It is performed using dry ether as a solvent to prevent unwanted side reactions. A variation, the </a:t>
            </a:r>
            <a:r>
              <a:rPr lang="en-US" u="sng">
                <a:solidFill>
                  <a:schemeClr val="hlink"/>
                </a:solidFill>
                <a:hlinkClick r:id="rId3"/>
              </a:rPr>
              <a:t>Wurtz-Fittig reaction</a:t>
            </a:r>
            <a:r>
              <a:rPr lang="en-US"/>
              <a:t>, couples an alkyl halide with an aryl halide to produce substituted aromatic compounds.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pic>
        <p:nvPicPr>
          <p:cNvPr id="216" name="Google Shape;216;p24"/>
          <p:cNvPicPr preferRelativeResize="0"/>
          <p:nvPr>
            <p:ph idx="1" type="body"/>
          </p:nvPr>
        </p:nvPicPr>
        <p:blipFill rotWithShape="1">
          <a:blip r:embed="rId3">
            <a:alphaModFix/>
          </a:blip>
          <a:srcRect b="0" l="0" r="0" t="0"/>
          <a:stretch/>
        </p:blipFill>
        <p:spPr>
          <a:xfrm>
            <a:off x="548922" y="1600200"/>
            <a:ext cx="8046156" cy="452596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Mechanism</a:t>
            </a:r>
            <a:endParaRPr/>
          </a:p>
        </p:txBody>
      </p:sp>
      <p:pic>
        <p:nvPicPr>
          <p:cNvPr id="222" name="Google Shape;222;p25"/>
          <p:cNvPicPr preferRelativeResize="0"/>
          <p:nvPr>
            <p:ph idx="1" type="body"/>
          </p:nvPr>
        </p:nvPicPr>
        <p:blipFill rotWithShape="1">
          <a:blip r:embed="rId3">
            <a:alphaModFix/>
          </a:blip>
          <a:srcRect b="0" l="0" r="0" t="0"/>
          <a:stretch/>
        </p:blipFill>
        <p:spPr>
          <a:xfrm>
            <a:off x="457200" y="2209800"/>
            <a:ext cx="6632049" cy="313293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id="227" name="Google Shape;227;p26"/>
          <p:cNvPicPr preferRelativeResize="0"/>
          <p:nvPr>
            <p:ph idx="1" type="body"/>
          </p:nvPr>
        </p:nvPicPr>
        <p:blipFill rotWithShape="1">
          <a:blip r:embed="rId3">
            <a:alphaModFix/>
          </a:blip>
          <a:srcRect b="0" l="0" r="0" t="0"/>
          <a:stretch/>
        </p:blipFill>
        <p:spPr>
          <a:xfrm>
            <a:off x="1371600" y="685800"/>
            <a:ext cx="6096000" cy="57108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Benzil Benzilic acid rearrangement</a:t>
            </a:r>
            <a:endParaRPr/>
          </a:p>
        </p:txBody>
      </p:sp>
      <p:sp>
        <p:nvSpPr>
          <p:cNvPr id="233" name="Google Shape;233;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dk1"/>
              </a:buClr>
              <a:buSzPts val="3200"/>
              <a:buChar char="•"/>
            </a:pPr>
            <a:r>
              <a:rPr lang="en-US"/>
              <a:t>The benzil benzilic acid rearrangement is a base-catalyzed reaction where a 1,2-diketone, like benzil, rearranges to form an α-hydroxycarboxylic acid. This classic organic reaction involves a strong base (like KOH) attacking one of the carbonyl groups, followed by a 1,2-migration of an aryl group and proton transfer, ultimately producing the rearranged carboxylate salt, which can be acidified to form the final acid product.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pic>
        <p:nvPicPr>
          <p:cNvPr id="238" name="Google Shape;238;p28"/>
          <p:cNvPicPr preferRelativeResize="0"/>
          <p:nvPr>
            <p:ph idx="1" type="body"/>
          </p:nvPr>
        </p:nvPicPr>
        <p:blipFill rotWithShape="1">
          <a:blip r:embed="rId3">
            <a:alphaModFix/>
          </a:blip>
          <a:srcRect b="0" l="0" r="0" t="0"/>
          <a:stretch/>
        </p:blipFill>
        <p:spPr>
          <a:xfrm>
            <a:off x="1371600" y="381000"/>
            <a:ext cx="6185181" cy="1885156"/>
          </a:xfrm>
          <a:prstGeom prst="rect">
            <a:avLst/>
          </a:prstGeom>
          <a:noFill/>
          <a:ln>
            <a:noFill/>
          </a:ln>
        </p:spPr>
      </p:pic>
      <p:sp>
        <p:nvSpPr>
          <p:cNvPr descr="Benzil benzilic acid rearrangement ..." id="239" name="Google Shape;239;p2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Benzil benzilic acid rearrangement" id="240" name="Google Shape;240;p28"/>
          <p:cNvPicPr preferRelativeResize="0"/>
          <p:nvPr/>
        </p:nvPicPr>
        <p:blipFill rotWithShape="1">
          <a:blip r:embed="rId4">
            <a:alphaModFix/>
          </a:blip>
          <a:srcRect b="0" l="0" r="0" t="0"/>
          <a:stretch/>
        </p:blipFill>
        <p:spPr>
          <a:xfrm>
            <a:off x="324540" y="2514600"/>
            <a:ext cx="8286750" cy="37052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pic>
        <p:nvPicPr>
          <p:cNvPr descr="benzil benzilic acid rearrangement mechanism&#10;benzil benzilic acid rearrangement pdf&#10;benzilic acid rearrangement mechanism" id="245" name="Google Shape;245;p29"/>
          <p:cNvPicPr preferRelativeResize="0"/>
          <p:nvPr>
            <p:ph idx="1" type="body"/>
          </p:nvPr>
        </p:nvPicPr>
        <p:blipFill rotWithShape="1">
          <a:blip r:embed="rId3">
            <a:alphaModFix/>
          </a:blip>
          <a:srcRect b="0" l="0" r="0" t="0"/>
          <a:stretch/>
        </p:blipFill>
        <p:spPr>
          <a:xfrm>
            <a:off x="0" y="685800"/>
            <a:ext cx="8789002" cy="486330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Examples</a:t>
            </a:r>
            <a:endParaRPr/>
          </a:p>
        </p:txBody>
      </p:sp>
      <p:pic>
        <p:nvPicPr>
          <p:cNvPr id="251" name="Google Shape;251;p30"/>
          <p:cNvPicPr preferRelativeResize="0"/>
          <p:nvPr>
            <p:ph idx="1" type="body"/>
          </p:nvPr>
        </p:nvPicPr>
        <p:blipFill rotWithShape="1">
          <a:blip r:embed="rId3">
            <a:alphaModFix/>
          </a:blip>
          <a:srcRect b="0" l="0" r="0" t="0"/>
          <a:stretch/>
        </p:blipFill>
        <p:spPr>
          <a:xfrm>
            <a:off x="2209800" y="1371600"/>
            <a:ext cx="4953000" cy="1901843"/>
          </a:xfrm>
          <a:prstGeom prst="rect">
            <a:avLst/>
          </a:prstGeom>
          <a:noFill/>
          <a:ln>
            <a:noFill/>
          </a:ln>
        </p:spPr>
      </p:pic>
      <p:sp>
        <p:nvSpPr>
          <p:cNvPr descr="Benzil benzilic acid rearrangement | PPTX" id="252" name="Google Shape;252;p3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53" name="Google Shape;253;p30"/>
          <p:cNvPicPr preferRelativeResize="0"/>
          <p:nvPr/>
        </p:nvPicPr>
        <p:blipFill rotWithShape="1">
          <a:blip r:embed="rId4">
            <a:alphaModFix/>
          </a:blip>
          <a:srcRect b="0" l="0" r="0" t="0"/>
          <a:stretch/>
        </p:blipFill>
        <p:spPr>
          <a:xfrm>
            <a:off x="1828800" y="3352800"/>
            <a:ext cx="6019800" cy="3386138"/>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Pinacol to Pinacolone rearrangement</a:t>
            </a:r>
            <a:endParaRPr/>
          </a:p>
        </p:txBody>
      </p:sp>
      <p:sp>
        <p:nvSpPr>
          <p:cNvPr id="259" name="Google Shape;259;p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dk1"/>
              </a:buClr>
              <a:buSzPts val="3200"/>
              <a:buChar char="•"/>
            </a:pPr>
            <a:r>
              <a:rPr lang="en-US"/>
              <a:t>The pinacol to pinacolone rearrangement is an acid-catalyzed reaction where a 1,2-diol (pinacol) is converted into a carbonyl compound (ketone) by eliminating water and undergoing a molecular rearrangement. The mechanism involves protonation of one hydroxyl group, loss of water to form a carbocation, a 1,2-alkyl shift to form a more stable carbocation, and finally, deprotonation to yield the ketone product.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pic>
        <p:nvPicPr>
          <p:cNvPr id="264" name="Google Shape;264;p32"/>
          <p:cNvPicPr preferRelativeResize="0"/>
          <p:nvPr>
            <p:ph idx="1" type="body"/>
          </p:nvPr>
        </p:nvPicPr>
        <p:blipFill rotWithShape="1">
          <a:blip r:embed="rId3">
            <a:alphaModFix/>
          </a:blip>
          <a:srcRect b="0" l="0" r="0" t="0"/>
          <a:stretch/>
        </p:blipFill>
        <p:spPr>
          <a:xfrm>
            <a:off x="228600" y="685800"/>
            <a:ext cx="8382000" cy="243803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Mechanism</a:t>
            </a:r>
            <a:endParaRPr/>
          </a:p>
        </p:txBody>
      </p:sp>
      <p:pic>
        <p:nvPicPr>
          <p:cNvPr id="270" name="Google Shape;270;p33"/>
          <p:cNvPicPr preferRelativeResize="0"/>
          <p:nvPr>
            <p:ph idx="1" type="body"/>
          </p:nvPr>
        </p:nvPicPr>
        <p:blipFill rotWithShape="1">
          <a:blip r:embed="rId3">
            <a:alphaModFix/>
          </a:blip>
          <a:srcRect b="0" l="0" r="0" t="0"/>
          <a:stretch/>
        </p:blipFill>
        <p:spPr>
          <a:xfrm>
            <a:off x="457200" y="1828800"/>
            <a:ext cx="8172594" cy="35814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pic>
        <p:nvPicPr>
          <p:cNvPr id="275" name="Google Shape;275;p34"/>
          <p:cNvPicPr preferRelativeResize="0"/>
          <p:nvPr/>
        </p:nvPicPr>
        <p:blipFill rotWithShape="1">
          <a:blip r:embed="rId3">
            <a:alphaModFix/>
          </a:blip>
          <a:srcRect b="0" l="0" r="0" t="0"/>
          <a:stretch/>
        </p:blipFill>
        <p:spPr>
          <a:xfrm>
            <a:off x="2043113" y="781050"/>
            <a:ext cx="5057775" cy="52959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Fries Rearrangement</a:t>
            </a:r>
            <a:endParaRPr/>
          </a:p>
        </p:txBody>
      </p:sp>
      <p:sp>
        <p:nvSpPr>
          <p:cNvPr id="281" name="Google Shape;281;p3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chemeClr val="dk1"/>
              </a:buClr>
              <a:buSzPct val="100000"/>
              <a:buChar char="•"/>
            </a:pPr>
            <a:r>
              <a:rPr lang="en-US"/>
              <a:t>The Fries rearrangement is an organic reaction where an aryl ester is converted into a hydroxy aryl ketone by the migration of an acyl group to the aryl ring, using a </a:t>
            </a:r>
            <a:r>
              <a:rPr lang="en-US" u="sng">
                <a:solidFill>
                  <a:schemeClr val="hlink"/>
                </a:solidFill>
                <a:hlinkClick r:id="rId3"/>
              </a:rPr>
              <a:t>Lewis acid catalyst</a:t>
            </a:r>
            <a:r>
              <a:rPr lang="en-US"/>
              <a:t> like 3𝐴𝑙𝐶𝑙3</a:t>
            </a:r>
            <a:endParaRPr/>
          </a:p>
          <a:p>
            <a:pPr indent="-342900" lvl="0" marL="342900" rtl="0" algn="l">
              <a:spcBef>
                <a:spcPts val="592"/>
              </a:spcBef>
              <a:spcAft>
                <a:spcPts val="0"/>
              </a:spcAft>
              <a:buClr>
                <a:schemeClr val="dk1"/>
              </a:buClr>
              <a:buSzPct val="100000"/>
              <a:buChar char="•"/>
            </a:pPr>
            <a:r>
              <a:rPr lang="en-US"/>
              <a:t>This reaction is selective for the ortho and para positions on the aryl ring, and the product ratio can be controlled by adjusting reaction conditions like temperature. Lower temperatures favor the para product, while higher temperatures favor the ortho product.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pic>
        <p:nvPicPr>
          <p:cNvPr id="286" name="Google Shape;286;p36"/>
          <p:cNvPicPr preferRelativeResize="0"/>
          <p:nvPr>
            <p:ph idx="1" type="body"/>
          </p:nvPr>
        </p:nvPicPr>
        <p:blipFill rotWithShape="1">
          <a:blip r:embed="rId3">
            <a:alphaModFix/>
          </a:blip>
          <a:srcRect b="0" l="0" r="0" t="0"/>
          <a:stretch/>
        </p:blipFill>
        <p:spPr>
          <a:xfrm>
            <a:off x="948927" y="584200"/>
            <a:ext cx="7467601" cy="49784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pic>
        <p:nvPicPr>
          <p:cNvPr id="291" name="Google Shape;291;p37"/>
          <p:cNvPicPr preferRelativeResize="0"/>
          <p:nvPr>
            <p:ph idx="1" type="body"/>
          </p:nvPr>
        </p:nvPicPr>
        <p:blipFill rotWithShape="1">
          <a:blip r:embed="rId3">
            <a:alphaModFix/>
          </a:blip>
          <a:srcRect b="0" l="0" r="0" t="0"/>
          <a:stretch/>
        </p:blipFill>
        <p:spPr>
          <a:xfrm>
            <a:off x="914400" y="303117"/>
            <a:ext cx="6705600" cy="652678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Applications</a:t>
            </a:r>
            <a:endParaRPr/>
          </a:p>
        </p:txBody>
      </p:sp>
      <p:pic>
        <p:nvPicPr>
          <p:cNvPr id="297" name="Google Shape;297;p38"/>
          <p:cNvPicPr preferRelativeResize="0"/>
          <p:nvPr>
            <p:ph idx="1" type="body"/>
          </p:nvPr>
        </p:nvPicPr>
        <p:blipFill rotWithShape="1">
          <a:blip r:embed="rId3">
            <a:alphaModFix/>
          </a:blip>
          <a:srcRect b="0" l="0" r="0" t="0"/>
          <a:stretch/>
        </p:blipFill>
        <p:spPr>
          <a:xfrm>
            <a:off x="152400" y="1371600"/>
            <a:ext cx="8461455" cy="233283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Admin</dc:creator>
</cp:coreProperties>
</file>