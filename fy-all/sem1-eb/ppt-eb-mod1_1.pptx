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88" r:id="rId3"/>
    <p:sldId id="289" r:id="rId4"/>
    <p:sldId id="290" r:id="rId5"/>
    <p:sldId id="260" r:id="rId6"/>
    <p:sldId id="291" r:id="rId7"/>
    <p:sldId id="263" r:id="rId8"/>
    <p:sldId id="293" r:id="rId9"/>
    <p:sldId id="259" r:id="rId10"/>
    <p:sldId id="294" r:id="rId11"/>
    <p:sldId id="308" r:id="rId12"/>
    <p:sldId id="295" r:id="rId13"/>
    <p:sldId id="298" r:id="rId14"/>
    <p:sldId id="299" r:id="rId15"/>
    <p:sldId id="268" r:id="rId16"/>
    <p:sldId id="269" r:id="rId17"/>
    <p:sldId id="270" r:id="rId18"/>
    <p:sldId id="272" r:id="rId19"/>
    <p:sldId id="273" r:id="rId20"/>
    <p:sldId id="300" r:id="rId21"/>
    <p:sldId id="276" r:id="rId22"/>
    <p:sldId id="277" r:id="rId23"/>
    <p:sldId id="278" r:id="rId24"/>
    <p:sldId id="279" r:id="rId25"/>
    <p:sldId id="301" r:id="rId26"/>
    <p:sldId id="302" r:id="rId27"/>
    <p:sldId id="303" r:id="rId28"/>
    <p:sldId id="282" r:id="rId29"/>
    <p:sldId id="312" r:id="rId30"/>
    <p:sldId id="283" r:id="rId31"/>
    <p:sldId id="304" r:id="rId32"/>
    <p:sldId id="305" r:id="rId33"/>
    <p:sldId id="306" r:id="rId34"/>
    <p:sldId id="307" r:id="rId35"/>
    <p:sldId id="309" r:id="rId36"/>
    <p:sldId id="310" r:id="rId37"/>
    <p:sldId id="31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B5D17-F35B-41EB-9B03-656344587474}" type="datetimeFigureOut">
              <a:rPr lang="en-IN" smtClean="0"/>
              <a:t>05-08-2025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B1D5CA-C4C2-4862-9BA0-62C1DC94D1B0}" type="slidenum">
              <a:rPr lang="en-IN" smtClean="0"/>
              <a:t>‹#›</a:t>
            </a:fld>
            <a:endParaRPr lang="en-IN"/>
          </a:p>
        </p:txBody>
      </p:sp>
    </p:spTree>
    <p:extLst>
      <p:ext uri="{BB962C8B-B14F-4D97-AF65-F5344CB8AC3E}">
        <p14:creationId xmlns:p14="http://schemas.microsoft.com/office/powerpoint/2010/main" val="844750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oogle.com/search?sca_esv=7bb187fa02092698&amp;cs=0&amp;sxsrf=AE3TifP3R5CkMLcHd0rG0a2LjHi0qo7j8A%3A1754296349161&amp;q=dental+implants&amp;sa=X&amp;ved=2ahUKEwiB7MiV3_COAxVRcGwGHe9PBUIQxccNegQIBRAB&amp;mstk=AUtExfAEfSt_mfvDjc8YiK8zri0e9wogX1EmTmM8I4YruaF-0CctHeQ4kDAEIKE7wJh05gsD9FXJsgtrzMJ_JhlOQh6NbOOAtT3fpTOOm4664szuenaSg9QmFC_D2fVM3chLdgLEjZf9ZJYG08tJhWj0SXxhjagPDqIe0Ddq0eilwScjB8JeF_ZQraKtfAyr29WXh-AbuErRl9gaQRnxlCSYyZKS7P3YT-nMUhHF8wVjOuFVCkMYwrKodUcwGlv2pf3YqmN8ytb0yGSrqXo6W98v_CHH&amp;csui=3"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B1D5CA-C4C2-4862-9BA0-62C1DC94D1B0}" type="slidenum">
              <a:rPr lang="en-IN" smtClean="0"/>
              <a:t>1</a:t>
            </a:fld>
            <a:endParaRPr lang="en-IN"/>
          </a:p>
        </p:txBody>
      </p:sp>
    </p:spTree>
    <p:extLst>
      <p:ext uri="{BB962C8B-B14F-4D97-AF65-F5344CB8AC3E}">
        <p14:creationId xmlns:p14="http://schemas.microsoft.com/office/powerpoint/2010/main" val="3049961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them like the </a:t>
            </a:r>
            <a:r>
              <a:rPr lang="en-US" b="1" dirty="0"/>
              <a:t>power, wiring, machinery, and software</a:t>
            </a:r>
            <a:r>
              <a:rPr lang="en-US" dirty="0"/>
              <a:t> in a robotic system.”</a:t>
            </a:r>
            <a:endParaRPr lang="en-IN" dirty="0"/>
          </a:p>
        </p:txBody>
      </p:sp>
      <p:sp>
        <p:nvSpPr>
          <p:cNvPr id="4" name="Slide Number Placeholder 3"/>
          <p:cNvSpPr>
            <a:spLocks noGrp="1"/>
          </p:cNvSpPr>
          <p:nvPr>
            <p:ph type="sldNum" sz="quarter" idx="5"/>
          </p:nvPr>
        </p:nvSpPr>
        <p:spPr/>
        <p:txBody>
          <a:bodyPr/>
          <a:lstStyle/>
          <a:p>
            <a:fld id="{5DB1D5CA-C4C2-4862-9BA0-62C1DC94D1B0}" type="slidenum">
              <a:rPr lang="en-IN" smtClean="0"/>
              <a:t>2</a:t>
            </a:fld>
            <a:endParaRPr lang="en-IN"/>
          </a:p>
        </p:txBody>
      </p:sp>
    </p:spTree>
    <p:extLst>
      <p:ext uri="{BB962C8B-B14F-4D97-AF65-F5344CB8AC3E}">
        <p14:creationId xmlns:p14="http://schemas.microsoft.com/office/powerpoint/2010/main" val="931112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Lactose- glucose, galactose</a:t>
            </a:r>
          </a:p>
          <a:p>
            <a:r>
              <a:rPr lang="en-IN" dirty="0"/>
              <a:t>Sucrose – glucose , fructose</a:t>
            </a:r>
          </a:p>
        </p:txBody>
      </p:sp>
      <p:sp>
        <p:nvSpPr>
          <p:cNvPr id="4" name="Slide Number Placeholder 3"/>
          <p:cNvSpPr>
            <a:spLocks noGrp="1"/>
          </p:cNvSpPr>
          <p:nvPr>
            <p:ph type="sldNum" sz="quarter" idx="5"/>
          </p:nvPr>
        </p:nvSpPr>
        <p:spPr/>
        <p:txBody>
          <a:bodyPr/>
          <a:lstStyle/>
          <a:p>
            <a:fld id="{5DB1D5CA-C4C2-4862-9BA0-62C1DC94D1B0}" type="slidenum">
              <a:rPr lang="en-IN" smtClean="0"/>
              <a:t>4</a:t>
            </a:fld>
            <a:endParaRPr lang="en-IN"/>
          </a:p>
        </p:txBody>
      </p:sp>
    </p:spTree>
    <p:extLst>
      <p:ext uri="{BB962C8B-B14F-4D97-AF65-F5344CB8AC3E}">
        <p14:creationId xmlns:p14="http://schemas.microsoft.com/office/powerpoint/2010/main" val="1597937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Maltose – 2 glucose</a:t>
            </a:r>
          </a:p>
          <a:p>
            <a:r>
              <a:rPr lang="en-IN" dirty="0"/>
              <a:t>Lactose- glucose, galactose</a:t>
            </a:r>
          </a:p>
          <a:p>
            <a:r>
              <a:rPr lang="en-IN" dirty="0"/>
              <a:t>Sucrose – glucose , fructose</a:t>
            </a:r>
          </a:p>
          <a:p>
            <a:endParaRPr lang="en-IN" dirty="0"/>
          </a:p>
        </p:txBody>
      </p:sp>
      <p:sp>
        <p:nvSpPr>
          <p:cNvPr id="4" name="Slide Number Placeholder 3"/>
          <p:cNvSpPr>
            <a:spLocks noGrp="1"/>
          </p:cNvSpPr>
          <p:nvPr>
            <p:ph type="sldNum" sz="quarter" idx="5"/>
          </p:nvPr>
        </p:nvSpPr>
        <p:spPr/>
        <p:txBody>
          <a:bodyPr/>
          <a:lstStyle/>
          <a:p>
            <a:fld id="{5DB1D5CA-C4C2-4862-9BA0-62C1DC94D1B0}" type="slidenum">
              <a:rPr lang="en-IN" smtClean="0"/>
              <a:t>6</a:t>
            </a:fld>
            <a:endParaRPr lang="en-IN"/>
          </a:p>
        </p:txBody>
      </p:sp>
    </p:spTree>
    <p:extLst>
      <p:ext uri="{BB962C8B-B14F-4D97-AF65-F5344CB8AC3E}">
        <p14:creationId xmlns:p14="http://schemas.microsoft.com/office/powerpoint/2010/main" val="3897691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err="1">
                <a:solidFill>
                  <a:schemeClr val="tx1"/>
                </a:solidFill>
                <a:effectLst/>
                <a:latin typeface="+mn-lt"/>
                <a:ea typeface="+mn-ea"/>
                <a:cs typeface="+mn-cs"/>
              </a:rPr>
              <a:t>Hyluronic</a:t>
            </a:r>
            <a:r>
              <a:rPr lang="en-IN" sz="1200" b="0" i="0" kern="1200" dirty="0">
                <a:solidFill>
                  <a:schemeClr val="tx1"/>
                </a:solidFill>
                <a:effectLst/>
                <a:latin typeface="+mn-lt"/>
                <a:ea typeface="+mn-ea"/>
                <a:cs typeface="+mn-cs"/>
              </a:rPr>
              <a:t> - glucuronic acid and N-acetylglucosamine.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brain alone consumes about </a:t>
            </a:r>
            <a:r>
              <a:rPr lang="en-US" b="1" dirty="0"/>
              <a:t>120g of glucose per day</a:t>
            </a:r>
            <a:r>
              <a:rPr lang="en-US" dirty="0"/>
              <a:t>!”</a:t>
            </a:r>
            <a:endParaRPr lang="en-IN" dirty="0"/>
          </a:p>
        </p:txBody>
      </p:sp>
      <p:sp>
        <p:nvSpPr>
          <p:cNvPr id="4" name="Slide Number Placeholder 3"/>
          <p:cNvSpPr>
            <a:spLocks noGrp="1"/>
          </p:cNvSpPr>
          <p:nvPr>
            <p:ph type="sldNum" sz="quarter" idx="5"/>
          </p:nvPr>
        </p:nvSpPr>
        <p:spPr/>
        <p:txBody>
          <a:bodyPr/>
          <a:lstStyle/>
          <a:p>
            <a:fld id="{5DB1D5CA-C4C2-4862-9BA0-62C1DC94D1B0}" type="slidenum">
              <a:rPr lang="en-IN" smtClean="0"/>
              <a:t>10</a:t>
            </a:fld>
            <a:endParaRPr lang="en-IN"/>
          </a:p>
        </p:txBody>
      </p:sp>
    </p:spTree>
    <p:extLst>
      <p:ext uri="{BB962C8B-B14F-4D97-AF65-F5344CB8AC3E}">
        <p14:creationId xmlns:p14="http://schemas.microsoft.com/office/powerpoint/2010/main" val="39094960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connect it with engineering:</a:t>
            </a:r>
          </a:p>
          <a:p>
            <a:r>
              <a:rPr lang="en-US" b="1" dirty="0"/>
              <a:t>Glucose biosensors</a:t>
            </a:r>
            <a:r>
              <a:rPr lang="en-US" dirty="0"/>
              <a:t> – used in wearable tech like Fitbit</a:t>
            </a:r>
          </a:p>
          <a:p>
            <a:r>
              <a:rPr lang="en-US" b="1" dirty="0"/>
              <a:t>Bioplastics</a:t>
            </a:r>
            <a:r>
              <a:rPr lang="en-US" dirty="0"/>
              <a:t> – starch is a low-cost, compostable option</a:t>
            </a:r>
          </a:p>
          <a:p>
            <a:r>
              <a:rPr lang="en-US" b="1" dirty="0"/>
              <a:t>Cellulose</a:t>
            </a:r>
            <a:r>
              <a:rPr lang="en-US" dirty="0"/>
              <a:t> – used in textiles, insulation, and biodegradable packaging</a:t>
            </a:r>
          </a:p>
          <a:p>
            <a:r>
              <a:rPr lang="en-US" dirty="0"/>
              <a:t>Carbohydrates are materials, fuels, and data signals — just like components in engineering systems.”</a:t>
            </a:r>
          </a:p>
          <a:p>
            <a:endParaRPr lang="en-IN" dirty="0"/>
          </a:p>
        </p:txBody>
      </p:sp>
      <p:sp>
        <p:nvSpPr>
          <p:cNvPr id="4" name="Slide Number Placeholder 3"/>
          <p:cNvSpPr>
            <a:spLocks noGrp="1"/>
          </p:cNvSpPr>
          <p:nvPr>
            <p:ph type="sldNum" sz="quarter" idx="5"/>
          </p:nvPr>
        </p:nvSpPr>
        <p:spPr/>
        <p:txBody>
          <a:bodyPr/>
          <a:lstStyle/>
          <a:p>
            <a:fld id="{5DB1D5CA-C4C2-4862-9BA0-62C1DC94D1B0}" type="slidenum">
              <a:rPr lang="en-IN" smtClean="0"/>
              <a:t>11</a:t>
            </a:fld>
            <a:endParaRPr lang="en-IN"/>
          </a:p>
        </p:txBody>
      </p:sp>
    </p:spTree>
    <p:extLst>
      <p:ext uri="{BB962C8B-B14F-4D97-AF65-F5344CB8AC3E}">
        <p14:creationId xmlns:p14="http://schemas.microsoft.com/office/powerpoint/2010/main" val="1520697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Amino acids are the letters of the protein alphabet. Each has a core structure but a unique side chain that defines its behavior.</a:t>
            </a:r>
          </a:p>
          <a:p>
            <a:r>
              <a:rPr lang="en-US" dirty="0"/>
              <a:t>Just like binary in code — amino acid combinations define biological programs.”</a:t>
            </a:r>
          </a:p>
          <a:p>
            <a:endParaRPr lang="en-IN" dirty="0"/>
          </a:p>
        </p:txBody>
      </p:sp>
      <p:sp>
        <p:nvSpPr>
          <p:cNvPr id="4" name="Slide Number Placeholder 3"/>
          <p:cNvSpPr>
            <a:spLocks noGrp="1"/>
          </p:cNvSpPr>
          <p:nvPr>
            <p:ph type="sldNum" sz="quarter" idx="5"/>
          </p:nvPr>
        </p:nvSpPr>
        <p:spPr/>
        <p:txBody>
          <a:bodyPr/>
          <a:lstStyle/>
          <a:p>
            <a:fld id="{5DB1D5CA-C4C2-4862-9BA0-62C1DC94D1B0}" type="slidenum">
              <a:rPr lang="en-IN" smtClean="0"/>
              <a:t>12</a:t>
            </a:fld>
            <a:endParaRPr lang="en-IN"/>
          </a:p>
        </p:txBody>
      </p:sp>
    </p:spTree>
    <p:extLst>
      <p:ext uri="{BB962C8B-B14F-4D97-AF65-F5344CB8AC3E}">
        <p14:creationId xmlns:p14="http://schemas.microsoft.com/office/powerpoint/2010/main" val="2134693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Casein - Calcium, zinc, iron</a:t>
            </a:r>
          </a:p>
        </p:txBody>
      </p:sp>
      <p:sp>
        <p:nvSpPr>
          <p:cNvPr id="4" name="Slide Number Placeholder 3"/>
          <p:cNvSpPr>
            <a:spLocks noGrp="1"/>
          </p:cNvSpPr>
          <p:nvPr>
            <p:ph type="sldNum" sz="quarter" idx="5"/>
          </p:nvPr>
        </p:nvSpPr>
        <p:spPr/>
        <p:txBody>
          <a:bodyPr/>
          <a:lstStyle/>
          <a:p>
            <a:fld id="{5DB1D5CA-C4C2-4862-9BA0-62C1DC94D1B0}" type="slidenum">
              <a:rPr lang="en-IN" smtClean="0"/>
              <a:t>27</a:t>
            </a:fld>
            <a:endParaRPr lang="en-IN"/>
          </a:p>
        </p:txBody>
      </p:sp>
    </p:spTree>
    <p:extLst>
      <p:ext uri="{BB962C8B-B14F-4D97-AF65-F5344CB8AC3E}">
        <p14:creationId xmlns:p14="http://schemas.microsoft.com/office/powerpoint/2010/main" val="269703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0" i="0" kern="1200" dirty="0">
                <a:solidFill>
                  <a:schemeClr val="tx1"/>
                </a:solidFill>
                <a:effectLst/>
                <a:latin typeface="+mn-lt"/>
                <a:ea typeface="+mn-ea"/>
                <a:cs typeface="+mn-cs"/>
              </a:rPr>
              <a:t> collagen-based implants for wound care and tissue regeneration,. Additionally, proteins are incorporated into </a:t>
            </a:r>
            <a:r>
              <a:rPr lang="en-US" sz="1200" b="0" i="0" kern="1200" dirty="0">
                <a:solidFill>
                  <a:schemeClr val="tx1"/>
                </a:solidFill>
                <a:effectLst/>
                <a:latin typeface="+mn-lt"/>
                <a:ea typeface="+mn-ea"/>
                <a:cs typeface="+mn-cs"/>
                <a:hlinkClick r:id="rId3"/>
              </a:rPr>
              <a:t>dental implants</a:t>
            </a:r>
            <a:r>
              <a:rPr lang="en-US" sz="1200" b="0" i="0" kern="1200" dirty="0">
                <a:solidFill>
                  <a:schemeClr val="tx1"/>
                </a:solidFill>
                <a:effectLst/>
                <a:latin typeface="+mn-lt"/>
                <a:ea typeface="+mn-ea"/>
                <a:cs typeface="+mn-cs"/>
              </a:rPr>
              <a:t> and other prosthetics to enhance biocompatibility and integration with surrounding tissues. </a:t>
            </a:r>
          </a:p>
          <a:p>
            <a:br>
              <a:rPr lang="en-US" sz="1200" b="0" i="0" kern="1200" dirty="0">
                <a:solidFill>
                  <a:schemeClr val="tx1"/>
                </a:solidFill>
                <a:effectLst/>
                <a:latin typeface="+mn-lt"/>
                <a:ea typeface="+mn-ea"/>
                <a:cs typeface="+mn-cs"/>
              </a:rPr>
            </a:br>
            <a:endParaRPr lang="en-IN" dirty="0"/>
          </a:p>
        </p:txBody>
      </p:sp>
      <p:sp>
        <p:nvSpPr>
          <p:cNvPr id="4" name="Slide Number Placeholder 3"/>
          <p:cNvSpPr>
            <a:spLocks noGrp="1"/>
          </p:cNvSpPr>
          <p:nvPr>
            <p:ph type="sldNum" sz="quarter" idx="5"/>
          </p:nvPr>
        </p:nvSpPr>
        <p:spPr/>
        <p:txBody>
          <a:bodyPr/>
          <a:lstStyle/>
          <a:p>
            <a:fld id="{5DB1D5CA-C4C2-4862-9BA0-62C1DC94D1B0}" type="slidenum">
              <a:rPr lang="en-IN" smtClean="0"/>
              <a:t>29</a:t>
            </a:fld>
            <a:endParaRPr lang="en-IN"/>
          </a:p>
        </p:txBody>
      </p:sp>
    </p:spTree>
    <p:extLst>
      <p:ext uri="{BB962C8B-B14F-4D97-AF65-F5344CB8AC3E}">
        <p14:creationId xmlns:p14="http://schemas.microsoft.com/office/powerpoint/2010/main" val="2264266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6E99E-0297-5C89-2D85-9DA9722539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E7C487-F4DF-FAFD-9E85-F0B922D527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1391FA-BE47-89C4-AF61-2A354153C94A}"/>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5" name="Footer Placeholder 4">
            <a:extLst>
              <a:ext uri="{FF2B5EF4-FFF2-40B4-BE49-F238E27FC236}">
                <a16:creationId xmlns:a16="http://schemas.microsoft.com/office/drawing/2014/main" id="{6A5A6CAC-1A9C-C84E-C96D-B30B99CEDC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66D801-134D-F3B0-4179-89CA4D457850}"/>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2922647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830B1-1BE1-57DD-DFDA-F76D4D5961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1E60CC-B976-34A4-256A-0D1F05FD47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91A3BD-4D9F-690F-3FD4-B319768596FF}"/>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5" name="Footer Placeholder 4">
            <a:extLst>
              <a:ext uri="{FF2B5EF4-FFF2-40B4-BE49-F238E27FC236}">
                <a16:creationId xmlns:a16="http://schemas.microsoft.com/office/drawing/2014/main" id="{990B6D6D-A0B6-6139-DEEE-F22D57B89D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C1A30C-D04C-162C-23BA-8238D86CB5BE}"/>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1280342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6E8E6-4AC2-6661-DC10-52E730219B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0203E7-ED21-EBEF-5F21-D9C3723EC6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E1F4ED-A65F-FC77-AA6B-939352C6734A}"/>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5" name="Footer Placeholder 4">
            <a:extLst>
              <a:ext uri="{FF2B5EF4-FFF2-40B4-BE49-F238E27FC236}">
                <a16:creationId xmlns:a16="http://schemas.microsoft.com/office/drawing/2014/main" id="{04D51213-B493-2641-453C-AFB8A3A401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36396C-039C-6BAD-D81F-E41453414D89}"/>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906202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FB56-27B1-27A4-4CFE-204EDDCEDE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90D8AC-9F4A-B6BC-AAF6-9F9A8681AA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1E9A5C-BCC8-5099-3829-E22C452963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F99D42-2A94-D5ED-F821-C56331CE892E}"/>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6" name="Footer Placeholder 5">
            <a:extLst>
              <a:ext uri="{FF2B5EF4-FFF2-40B4-BE49-F238E27FC236}">
                <a16:creationId xmlns:a16="http://schemas.microsoft.com/office/drawing/2014/main" id="{590D0A99-9CCA-2892-D956-8C3B085CF8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6426F1-74ED-96C5-42F9-D8EB54782EFF}"/>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641356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C74C5-690C-3375-AA89-C1BE046992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E90770-EFC6-9B1E-5D79-D489D2C0E7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C47AB5-FFB5-8C28-6E08-3C6E239D25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F13166D-F9D4-0836-A675-A339F044FC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644D92-0F15-201A-03B3-D77738A734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46D494-AFE7-C56B-9768-C90A6C7C72CF}"/>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8" name="Footer Placeholder 7">
            <a:extLst>
              <a:ext uri="{FF2B5EF4-FFF2-40B4-BE49-F238E27FC236}">
                <a16:creationId xmlns:a16="http://schemas.microsoft.com/office/drawing/2014/main" id="{5B8BA254-B9CE-A33D-0361-FFF213082BC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4F35F4-2913-99FB-466D-8090DDB02439}"/>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2371046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65FF6-6116-4176-284A-6F5E80D2998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9EC3714-7754-89C9-4F32-95CC9D81790C}"/>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4" name="Footer Placeholder 3">
            <a:extLst>
              <a:ext uri="{FF2B5EF4-FFF2-40B4-BE49-F238E27FC236}">
                <a16:creationId xmlns:a16="http://schemas.microsoft.com/office/drawing/2014/main" id="{73316E82-69F3-1BA9-7398-D6202B3F87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1B1850-7520-D644-85D9-CE6304566B5F}"/>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695397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718DAE-F574-6F55-4267-6CFD73552882}"/>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3" name="Footer Placeholder 2">
            <a:extLst>
              <a:ext uri="{FF2B5EF4-FFF2-40B4-BE49-F238E27FC236}">
                <a16:creationId xmlns:a16="http://schemas.microsoft.com/office/drawing/2014/main" id="{C91F4147-646E-C215-A48D-EAD08ED72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966ADC-29F9-B95F-7383-992959A1474C}"/>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3720628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570B4-5C32-9734-313E-EDB1D0267E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5E5000C-7E2B-DD70-E157-EFCAF13EA7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BA7B6C-3E9B-51F2-B022-A41B45DE92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500C1E-808C-66BB-1D60-0F20A70DA164}"/>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6" name="Footer Placeholder 5">
            <a:extLst>
              <a:ext uri="{FF2B5EF4-FFF2-40B4-BE49-F238E27FC236}">
                <a16:creationId xmlns:a16="http://schemas.microsoft.com/office/drawing/2014/main" id="{5916F825-823E-F2AC-68FF-73FFAD0B57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BF029D-DE4C-B65A-D633-23FF8EF3A7DE}"/>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4233023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73502-430F-0708-C56B-7D2235B565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44A991C-F6C7-36A2-B14F-8FF5831F4D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B2BA992-DCDE-CCCF-BCAD-D9C740C1C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E9945D-5240-D319-D1AC-A0BD88AA977E}"/>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6" name="Footer Placeholder 5">
            <a:extLst>
              <a:ext uri="{FF2B5EF4-FFF2-40B4-BE49-F238E27FC236}">
                <a16:creationId xmlns:a16="http://schemas.microsoft.com/office/drawing/2014/main" id="{D28BF182-A5C1-D00B-D342-8AF208AABB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AAE8C93-06B0-0DBD-C591-ED5C0CE46507}"/>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4118019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C974A-B539-C603-E774-052AF90A17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737108-7EDD-20B6-80AB-5445485CF8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CF3F2A-45F9-699F-05CA-EAFD1FE78CCA}"/>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5" name="Footer Placeholder 4">
            <a:extLst>
              <a:ext uri="{FF2B5EF4-FFF2-40B4-BE49-F238E27FC236}">
                <a16:creationId xmlns:a16="http://schemas.microsoft.com/office/drawing/2014/main" id="{D3F280AB-406D-DEBA-9400-41BD8F950F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3469AD-C372-FE24-210C-48C8D35D6D03}"/>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3989698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AB1EF3-868E-C73E-9712-785AC96C2A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E00A308-F8D0-E72E-5624-B3F9C2C76B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970AD2-7646-39D1-00EA-CC24E7064F09}"/>
              </a:ext>
            </a:extLst>
          </p:cNvPr>
          <p:cNvSpPr>
            <a:spLocks noGrp="1"/>
          </p:cNvSpPr>
          <p:nvPr>
            <p:ph type="dt" sz="half" idx="10"/>
          </p:nvPr>
        </p:nvSpPr>
        <p:spPr/>
        <p:txBody>
          <a:bodyPr/>
          <a:lstStyle/>
          <a:p>
            <a:fld id="{0C2A12C3-4DEA-4C29-801A-CB4A7CFF28EA}" type="datetimeFigureOut">
              <a:rPr lang="en-IN" smtClean="0"/>
              <a:t>05-08-2025</a:t>
            </a:fld>
            <a:endParaRPr lang="en-IN"/>
          </a:p>
        </p:txBody>
      </p:sp>
      <p:sp>
        <p:nvSpPr>
          <p:cNvPr id="5" name="Footer Placeholder 4">
            <a:extLst>
              <a:ext uri="{FF2B5EF4-FFF2-40B4-BE49-F238E27FC236}">
                <a16:creationId xmlns:a16="http://schemas.microsoft.com/office/drawing/2014/main" id="{E397E4BA-7A05-638C-852E-CB21FAE70B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F6ED2E-4727-8E4F-3758-9507CC5CE9C6}"/>
              </a:ext>
            </a:extLst>
          </p:cNvPr>
          <p:cNvSpPr>
            <a:spLocks noGrp="1"/>
          </p:cNvSpPr>
          <p:nvPr>
            <p:ph type="sldNum" sz="quarter" idx="12"/>
          </p:nvPr>
        </p:nvSpPr>
        <p:spPr/>
        <p:txBody>
          <a:bodyPr/>
          <a:lstStyle/>
          <a:p>
            <a:fld id="{A90C41E3-20D1-4177-90FF-F496ED003E32}" type="slidenum">
              <a:rPr lang="en-IN" smtClean="0"/>
              <a:t>‹#›</a:t>
            </a:fld>
            <a:endParaRPr lang="en-IN"/>
          </a:p>
        </p:txBody>
      </p:sp>
    </p:spTree>
    <p:extLst>
      <p:ext uri="{BB962C8B-B14F-4D97-AF65-F5344CB8AC3E}">
        <p14:creationId xmlns:p14="http://schemas.microsoft.com/office/powerpoint/2010/main" val="720386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527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2850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5DB409-BE91-F416-A2A0-C615B53EEE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ADC8C8-9EFF-1589-3AA4-2D5A67C00A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DBDC27-B918-5ED6-163B-4D508CCB8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2A12C3-4DEA-4C29-801A-CB4A7CFF28EA}" type="datetimeFigureOut">
              <a:rPr lang="en-IN" smtClean="0"/>
              <a:t>05-08-2025</a:t>
            </a:fld>
            <a:endParaRPr lang="en-IN"/>
          </a:p>
        </p:txBody>
      </p:sp>
      <p:sp>
        <p:nvSpPr>
          <p:cNvPr id="5" name="Footer Placeholder 4">
            <a:extLst>
              <a:ext uri="{FF2B5EF4-FFF2-40B4-BE49-F238E27FC236}">
                <a16:creationId xmlns:a16="http://schemas.microsoft.com/office/drawing/2014/main" id="{160B7453-25D6-EAA8-7572-B9B75B0CF7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49CDD3-9BD9-5A46-395C-027C361BFE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0C41E3-20D1-4177-90FF-F496ED003E32}" type="slidenum">
              <a:rPr lang="en-IN" smtClean="0"/>
              <a:t>‹#›</a:t>
            </a:fld>
            <a:endParaRPr lang="en-IN"/>
          </a:p>
        </p:txBody>
      </p:sp>
    </p:spTree>
    <p:extLst>
      <p:ext uri="{BB962C8B-B14F-4D97-AF65-F5344CB8AC3E}">
        <p14:creationId xmlns:p14="http://schemas.microsoft.com/office/powerpoint/2010/main" val="1578019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512EE-21F6-F223-406D-D683E9CB0D13}"/>
              </a:ext>
            </a:extLst>
          </p:cNvPr>
          <p:cNvSpPr>
            <a:spLocks noGrp="1"/>
          </p:cNvSpPr>
          <p:nvPr>
            <p:ph type="ctrTitle"/>
          </p:nvPr>
        </p:nvSpPr>
        <p:spPr>
          <a:xfrm>
            <a:off x="1013552" y="1926595"/>
            <a:ext cx="10164896" cy="2387600"/>
          </a:xfrm>
        </p:spPr>
        <p:txBody>
          <a:bodyPr>
            <a:normAutofit fontScale="90000"/>
          </a:bodyPr>
          <a:lstStyle/>
          <a:p>
            <a:r>
              <a:rPr lang="en-IN" b="1" dirty="0">
                <a:solidFill>
                  <a:srgbClr val="C00000"/>
                </a:solidFill>
                <a:latin typeface="Arial Rounded MT Bold" panose="020F0704030504030204" pitchFamily="34" charset="0"/>
              </a:rPr>
              <a:t>Unit 1: </a:t>
            </a:r>
            <a:br>
              <a:rPr lang="en-IN" b="1" dirty="0">
                <a:solidFill>
                  <a:srgbClr val="C00000"/>
                </a:solidFill>
                <a:latin typeface="Arial Rounded MT Bold" panose="020F0704030504030204" pitchFamily="34" charset="0"/>
              </a:rPr>
            </a:br>
            <a:r>
              <a:rPr lang="en-IN" b="1" dirty="0">
                <a:solidFill>
                  <a:srgbClr val="C00000"/>
                </a:solidFill>
                <a:latin typeface="Arial Rounded MT Bold" panose="020F0704030504030204" pitchFamily="34" charset="0"/>
              </a:rPr>
              <a:t>Biomolecules and Enzymes</a:t>
            </a:r>
          </a:p>
        </p:txBody>
      </p:sp>
    </p:spTree>
    <p:extLst>
      <p:ext uri="{BB962C8B-B14F-4D97-AF65-F5344CB8AC3E}">
        <p14:creationId xmlns:p14="http://schemas.microsoft.com/office/powerpoint/2010/main" val="1485405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6F786-89B8-DA4F-FFB6-093B625177D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Biomolecules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5D7E2A-C205-AC79-71CF-40629060A95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Occur naturally in living organisms.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7C7726F-2AA9-6A82-0980-23BE006855C9}"/>
              </a:ext>
            </a:extLst>
          </p:cNvPr>
          <p:cNvPicPr>
            <a:picLocks noChangeAspect="1"/>
          </p:cNvPicPr>
          <p:nvPr/>
        </p:nvPicPr>
        <p:blipFill>
          <a:blip r:embed="rId3"/>
          <a:srcRect l="3524" t="22972" r="4759" b="9930"/>
          <a:stretch>
            <a:fillRect/>
          </a:stretch>
        </p:blipFill>
        <p:spPr>
          <a:xfrm>
            <a:off x="1531345" y="2491189"/>
            <a:ext cx="8956713" cy="3685774"/>
          </a:xfrm>
          <a:prstGeom prst="rect">
            <a:avLst/>
          </a:prstGeom>
        </p:spPr>
      </p:pic>
    </p:spTree>
    <p:extLst>
      <p:ext uri="{BB962C8B-B14F-4D97-AF65-F5344CB8AC3E}">
        <p14:creationId xmlns:p14="http://schemas.microsoft.com/office/powerpoint/2010/main" val="13374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298B4-AB11-58ED-D52D-80ACA33FE803}"/>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Carbohydrates</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59BAA25-FA97-563B-64F7-769E24003C17}"/>
              </a:ext>
            </a:extLst>
          </p:cNvPr>
          <p:cNvSpPr>
            <a:spLocks noGrp="1"/>
          </p:cNvSpPr>
          <p:nvPr>
            <p:ph idx="1"/>
          </p:nvPr>
        </p:nvSpPr>
        <p:spPr>
          <a:xfrm>
            <a:off x="610059" y="1690688"/>
            <a:ext cx="10971882" cy="4351338"/>
          </a:xfrm>
        </p:spPr>
        <p:txBody>
          <a:bodyPr/>
          <a:lstStyle/>
          <a:p>
            <a:r>
              <a:rPr lang="en-US" dirty="0">
                <a:latin typeface="Times New Roman" panose="02020603050405020304" pitchFamily="18" charset="0"/>
                <a:cs typeface="Times New Roman" panose="02020603050405020304" pitchFamily="18" charset="0"/>
              </a:rPr>
              <a:t>Most abundant biomolecules on earth.</a:t>
            </a:r>
          </a:p>
          <a:p>
            <a:r>
              <a:rPr lang="en-US" dirty="0">
                <a:latin typeface="Times New Roman" panose="02020603050405020304" pitchFamily="18" charset="0"/>
                <a:cs typeface="Times New Roman" panose="02020603050405020304" pitchFamily="18" charset="0"/>
              </a:rPr>
              <a:t>Contains multiple hydroxyl (-OH) groups and either an aldehyde (-CHO) or a ketone (C=O) functional group</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DCC4844-C8F2-8CC8-7622-FD0F56B616B6}"/>
              </a:ext>
            </a:extLst>
          </p:cNvPr>
          <p:cNvGraphicFramePr>
            <a:graphicFrameLocks noGrp="1"/>
          </p:cNvGraphicFramePr>
          <p:nvPr>
            <p:extLst>
              <p:ext uri="{D42A27DB-BD31-4B8C-83A1-F6EECF244321}">
                <p14:modId xmlns:p14="http://schemas.microsoft.com/office/powerpoint/2010/main" val="3142666543"/>
              </p:ext>
            </p:extLst>
          </p:nvPr>
        </p:nvGraphicFramePr>
        <p:xfrm>
          <a:off x="1107807" y="3295229"/>
          <a:ext cx="9976386" cy="3200400"/>
        </p:xfrm>
        <a:graphic>
          <a:graphicData uri="http://schemas.openxmlformats.org/drawingml/2006/table">
            <a:tbl>
              <a:tblPr firstRow="1" bandRow="1">
                <a:tableStyleId>{5940675A-B579-460E-94D1-54222C63F5DA}</a:tableStyleId>
              </a:tblPr>
              <a:tblGrid>
                <a:gridCol w="2346855">
                  <a:extLst>
                    <a:ext uri="{9D8B030D-6E8A-4147-A177-3AD203B41FA5}">
                      <a16:colId xmlns:a16="http://schemas.microsoft.com/office/drawing/2014/main" val="2778765950"/>
                    </a:ext>
                  </a:extLst>
                </a:gridCol>
                <a:gridCol w="7629531">
                  <a:extLst>
                    <a:ext uri="{9D8B030D-6E8A-4147-A177-3AD203B41FA5}">
                      <a16:colId xmlns:a16="http://schemas.microsoft.com/office/drawing/2014/main" val="528379593"/>
                    </a:ext>
                  </a:extLst>
                </a:gridCol>
              </a:tblGrid>
              <a:tr h="370840">
                <a:tc gridSpan="2">
                  <a:txBody>
                    <a:bodyPr/>
                    <a:lstStyle/>
                    <a:p>
                      <a:pPr algn="ctr"/>
                      <a:r>
                        <a:rPr lang="en-US" sz="2400" b="1" dirty="0">
                          <a:solidFill>
                            <a:schemeClr val="accent1"/>
                          </a:solidFill>
                          <a:latin typeface="Times New Roman" panose="02020603050405020304" pitchFamily="18" charset="0"/>
                          <a:cs typeface="Times New Roman" panose="02020603050405020304" pitchFamily="18" charset="0"/>
                        </a:rPr>
                        <a:t>Classes of carbohydrates </a:t>
                      </a:r>
                      <a:endParaRPr lang="en-IN" sz="2400" b="1" dirty="0">
                        <a:solidFill>
                          <a:schemeClr val="accent1"/>
                        </a:solidFill>
                        <a:latin typeface="Times New Roman" panose="02020603050405020304" pitchFamily="18" charset="0"/>
                        <a:cs typeface="Times New Roman" panose="02020603050405020304" pitchFamily="18"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44337666"/>
                  </a:ext>
                </a:extLst>
              </a:tr>
              <a:tr h="370840">
                <a:tc>
                  <a:txBody>
                    <a:bodyPr/>
                    <a:lstStyle/>
                    <a:p>
                      <a:r>
                        <a:rPr lang="en-US" dirty="0">
                          <a:latin typeface="Times New Roman" panose="02020603050405020304" pitchFamily="18" charset="0"/>
                          <a:cs typeface="Times New Roman" panose="02020603050405020304" pitchFamily="18" charset="0"/>
                        </a:rPr>
                        <a:t>Monosaccharides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Monosaccharides are simple sugars, classified as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aldoses</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or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ketoses</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serving as fundamental units for larger carbohydrates. </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Eg.</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 Glucose</a:t>
                      </a:r>
                    </a:p>
                  </a:txBody>
                  <a:tcPr/>
                </a:tc>
                <a:extLst>
                  <a:ext uri="{0D108BD9-81ED-4DB2-BD59-A6C34878D82A}">
                    <a16:rowId xmlns:a16="http://schemas.microsoft.com/office/drawing/2014/main" val="4076127847"/>
                  </a:ext>
                </a:extLst>
              </a:tr>
              <a:tr h="370840">
                <a:tc>
                  <a:txBody>
                    <a:bodyPr/>
                    <a:lstStyle/>
                    <a:p>
                      <a:r>
                        <a:rPr lang="en-US" dirty="0">
                          <a:latin typeface="Times New Roman" panose="02020603050405020304" pitchFamily="18" charset="0"/>
                          <a:cs typeface="Times New Roman" panose="02020603050405020304" pitchFamily="18" charset="0"/>
                        </a:rPr>
                        <a:t>Oligosaccharides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Disaccharides are formed by two monosaccharides linked via an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O-glycosidic bond</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key examples include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sucrose</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lactose</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and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maltose</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54186150"/>
                  </a:ext>
                </a:extLst>
              </a:tr>
              <a:tr h="370840">
                <a:tc>
                  <a:txBody>
                    <a:bodyPr/>
                    <a:lstStyle/>
                    <a:p>
                      <a:r>
                        <a:rPr lang="en-US" dirty="0">
                          <a:latin typeface="Times New Roman" panose="02020603050405020304" pitchFamily="18" charset="0"/>
                          <a:cs typeface="Times New Roman" panose="02020603050405020304" pitchFamily="18" charset="0"/>
                        </a:rPr>
                        <a:t>Polysaccharides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Polysaccharides are </a:t>
                      </a:r>
                      <a:r>
                        <a:rPr lang="en-US" dirty="0">
                          <a:latin typeface="Times New Roman" panose="02020603050405020304" pitchFamily="18" charset="0"/>
                          <a:cs typeface="Times New Roman" panose="02020603050405020304" pitchFamily="18" charset="0"/>
                        </a:rPr>
                        <a:t>containing more than 20 or more </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Monosaccharides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can be classified as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homopolysaccharides</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(one type of monosaccharide) or </a:t>
                      </a:r>
                      <a:r>
                        <a:rPr lang="en-US" sz="1800" b="1" i="0" kern="1200" dirty="0">
                          <a:solidFill>
                            <a:schemeClr val="tx1"/>
                          </a:solidFill>
                          <a:effectLst/>
                          <a:latin typeface="Times New Roman" panose="02020603050405020304" pitchFamily="18" charset="0"/>
                          <a:ea typeface="+mn-ea"/>
                          <a:cs typeface="Times New Roman" panose="02020603050405020304" pitchFamily="18" charset="0"/>
                        </a:rPr>
                        <a:t>heteropolysaccharides</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(multiple types), showcasing structural diversity.</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40042491"/>
                  </a:ext>
                </a:extLst>
              </a:tr>
            </a:tbl>
          </a:graphicData>
        </a:graphic>
      </p:graphicFrame>
    </p:spTree>
    <p:extLst>
      <p:ext uri="{BB962C8B-B14F-4D97-AF65-F5344CB8AC3E}">
        <p14:creationId xmlns:p14="http://schemas.microsoft.com/office/powerpoint/2010/main" val="3200063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1C2604-5B1A-560A-70C2-D4BFEB8FB36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Monosaccharides are also classified as aldoses or ketoses. </a:t>
            </a:r>
          </a:p>
          <a:p>
            <a:r>
              <a:rPr lang="en-US" dirty="0">
                <a:latin typeface="Times New Roman" panose="02020603050405020304" pitchFamily="18" charset="0"/>
                <a:cs typeface="Times New Roman" panose="02020603050405020304" pitchFamily="18" charset="0"/>
              </a:rPr>
              <a:t>Those monosaccharides that contain an a</a:t>
            </a:r>
            <a:r>
              <a:rPr lang="en-US" b="1" dirty="0">
                <a:latin typeface="Times New Roman" panose="02020603050405020304" pitchFamily="18" charset="0"/>
                <a:cs typeface="Times New Roman" panose="02020603050405020304" pitchFamily="18" charset="0"/>
              </a:rPr>
              <a:t>ldehyde functional group</a:t>
            </a:r>
            <a:r>
              <a:rPr lang="en-US" dirty="0">
                <a:latin typeface="Times New Roman" panose="02020603050405020304" pitchFamily="18" charset="0"/>
                <a:cs typeface="Times New Roman" panose="02020603050405020304" pitchFamily="18" charset="0"/>
              </a:rPr>
              <a:t> are called </a:t>
            </a:r>
            <a:r>
              <a:rPr lang="en-US" b="1" dirty="0">
                <a:latin typeface="Times New Roman" panose="02020603050405020304" pitchFamily="18" charset="0"/>
                <a:cs typeface="Times New Roman" panose="02020603050405020304" pitchFamily="18" charset="0"/>
              </a:rPr>
              <a:t>aldoses</a:t>
            </a:r>
          </a:p>
          <a:p>
            <a:r>
              <a:rPr lang="en-US" dirty="0">
                <a:latin typeface="Times New Roman" panose="02020603050405020304" pitchFamily="18" charset="0"/>
                <a:cs typeface="Times New Roman" panose="02020603050405020304" pitchFamily="18" charset="0"/>
              </a:rPr>
              <a:t>those containing a </a:t>
            </a:r>
            <a:r>
              <a:rPr lang="en-US" b="1" dirty="0">
                <a:latin typeface="Times New Roman" panose="02020603050405020304" pitchFamily="18" charset="0"/>
                <a:cs typeface="Times New Roman" panose="02020603050405020304" pitchFamily="18" charset="0"/>
              </a:rPr>
              <a:t>ketone functional group</a:t>
            </a:r>
            <a:r>
              <a:rPr lang="en-US" dirty="0">
                <a:latin typeface="Times New Roman" panose="02020603050405020304" pitchFamily="18" charset="0"/>
                <a:cs typeface="Times New Roman" panose="02020603050405020304" pitchFamily="18" charset="0"/>
              </a:rPr>
              <a:t> on the second carbon atom are </a:t>
            </a:r>
            <a:r>
              <a:rPr lang="en-US" b="1" dirty="0">
                <a:latin typeface="Times New Roman" panose="02020603050405020304" pitchFamily="18" charset="0"/>
                <a:cs typeface="Times New Roman" panose="02020603050405020304" pitchFamily="18" charset="0"/>
              </a:rPr>
              <a:t>ketoses.</a:t>
            </a:r>
          </a:p>
          <a:p>
            <a:endParaRPr lang="en-IN" b="1"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41E6E5EC-2334-81A1-1C53-8EA1C946D772}"/>
              </a:ext>
            </a:extLst>
          </p:cNvPr>
          <p:cNvSpPr txBox="1">
            <a:spLocks/>
          </p:cNvSpPr>
          <p:nvPr/>
        </p:nvSpPr>
        <p:spPr>
          <a:xfrm>
            <a:off x="838200" y="40860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Monosaccharides classification </a:t>
            </a:r>
          </a:p>
        </p:txBody>
      </p:sp>
      <p:pic>
        <p:nvPicPr>
          <p:cNvPr id="5" name="Picture 4">
            <a:extLst>
              <a:ext uri="{FF2B5EF4-FFF2-40B4-BE49-F238E27FC236}">
                <a16:creationId xmlns:a16="http://schemas.microsoft.com/office/drawing/2014/main" id="{4A6F8DDF-35BC-ACA3-01A2-2759457F3A97}"/>
              </a:ext>
            </a:extLst>
          </p:cNvPr>
          <p:cNvPicPr>
            <a:picLocks noChangeAspect="1"/>
          </p:cNvPicPr>
          <p:nvPr/>
        </p:nvPicPr>
        <p:blipFill>
          <a:blip r:embed="rId3"/>
          <a:stretch>
            <a:fillRect/>
          </a:stretch>
        </p:blipFill>
        <p:spPr>
          <a:xfrm>
            <a:off x="6096000" y="3751862"/>
            <a:ext cx="3441794" cy="2425101"/>
          </a:xfrm>
          <a:prstGeom prst="rect">
            <a:avLst/>
          </a:prstGeom>
        </p:spPr>
      </p:pic>
      <p:sp>
        <p:nvSpPr>
          <p:cNvPr id="9" name="TextBox 8">
            <a:extLst>
              <a:ext uri="{FF2B5EF4-FFF2-40B4-BE49-F238E27FC236}">
                <a16:creationId xmlns:a16="http://schemas.microsoft.com/office/drawing/2014/main" id="{80811647-2658-903E-88A3-C005AEDA8631}"/>
              </a:ext>
            </a:extLst>
          </p:cNvPr>
          <p:cNvSpPr txBox="1"/>
          <p:nvPr/>
        </p:nvSpPr>
        <p:spPr>
          <a:xfrm>
            <a:off x="6379624" y="6159603"/>
            <a:ext cx="1445847" cy="369332"/>
          </a:xfrm>
          <a:prstGeom prst="rect">
            <a:avLst/>
          </a:prstGeom>
          <a:noFill/>
        </p:spPr>
        <p:txBody>
          <a:bodyPr wrap="square" rtlCol="0">
            <a:spAutoFit/>
          </a:bodyPr>
          <a:lstStyle/>
          <a:p>
            <a:r>
              <a:rPr lang="en-IN" dirty="0"/>
              <a:t>Fructose</a:t>
            </a:r>
          </a:p>
        </p:txBody>
      </p:sp>
      <p:sp>
        <p:nvSpPr>
          <p:cNvPr id="10" name="TextBox 9">
            <a:extLst>
              <a:ext uri="{FF2B5EF4-FFF2-40B4-BE49-F238E27FC236}">
                <a16:creationId xmlns:a16="http://schemas.microsoft.com/office/drawing/2014/main" id="{EA6F2CD9-8BE2-7EFE-B1CB-8FC31EB1C160}"/>
              </a:ext>
            </a:extLst>
          </p:cNvPr>
          <p:cNvSpPr txBox="1"/>
          <p:nvPr/>
        </p:nvSpPr>
        <p:spPr>
          <a:xfrm>
            <a:off x="7958709" y="6176963"/>
            <a:ext cx="1445847" cy="369332"/>
          </a:xfrm>
          <a:prstGeom prst="rect">
            <a:avLst/>
          </a:prstGeom>
          <a:noFill/>
        </p:spPr>
        <p:txBody>
          <a:bodyPr wrap="square" rtlCol="0">
            <a:spAutoFit/>
          </a:bodyPr>
          <a:lstStyle/>
          <a:p>
            <a:r>
              <a:rPr lang="en-IN" dirty="0"/>
              <a:t>Glucose</a:t>
            </a:r>
          </a:p>
        </p:txBody>
      </p:sp>
    </p:spTree>
    <p:extLst>
      <p:ext uri="{BB962C8B-B14F-4D97-AF65-F5344CB8AC3E}">
        <p14:creationId xmlns:p14="http://schemas.microsoft.com/office/powerpoint/2010/main" val="347956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01542" y="556501"/>
            <a:ext cx="8005688" cy="442987"/>
          </a:xfrm>
          <a:prstGeom prst="rect">
            <a:avLst/>
          </a:prstGeom>
          <a:noFill/>
          <a:ln/>
        </p:spPr>
        <p:txBody>
          <a:bodyPr wrap="none" lIns="0" tIns="0" rIns="0" bIns="0" rtlCol="0" anchor="t"/>
          <a:lstStyle/>
          <a:p>
            <a:pPr>
              <a:lnSpc>
                <a:spcPts val="3469"/>
              </a:lnSpc>
            </a:pPr>
            <a:r>
              <a:rPr lang="en-US" sz="4400" b="1" dirty="0">
                <a:solidFill>
                  <a:srgbClr val="091C53"/>
                </a:solidFill>
                <a:latin typeface="Times New Roman" panose="02020603050405020304" pitchFamily="18" charset="0"/>
                <a:ea typeface="Instrument Sans Semi Bold" pitchFamily="34" charset="-122"/>
                <a:cs typeface="Times New Roman" panose="02020603050405020304" pitchFamily="18" charset="0"/>
              </a:rPr>
              <a:t>Oligosaccharides</a:t>
            </a:r>
            <a:r>
              <a:rPr lang="en-US" sz="3600" b="1" dirty="0">
                <a:solidFill>
                  <a:srgbClr val="091C53"/>
                </a:solidFill>
                <a:latin typeface="Times New Roman" panose="02020603050405020304" pitchFamily="18" charset="0"/>
                <a:ea typeface="Instrument Sans Semi Bold" pitchFamily="34" charset="-122"/>
                <a:cs typeface="Times New Roman" panose="02020603050405020304" pitchFamily="18" charset="0"/>
              </a:rPr>
              <a:t>: Bridging Simple and Complex</a:t>
            </a:r>
            <a:endParaRPr lang="en-US" sz="3600" b="1" dirty="0">
              <a:latin typeface="Times New Roman" panose="02020603050405020304" pitchFamily="18" charset="0"/>
              <a:cs typeface="Times New Roman" panose="02020603050405020304" pitchFamily="18" charset="0"/>
            </a:endParaRPr>
          </a:p>
        </p:txBody>
      </p:sp>
      <p:sp>
        <p:nvSpPr>
          <p:cNvPr id="3" name="Text 1"/>
          <p:cNvSpPr/>
          <p:nvPr/>
        </p:nvSpPr>
        <p:spPr>
          <a:xfrm>
            <a:off x="782321" y="1152064"/>
            <a:ext cx="11074400" cy="2121932"/>
          </a:xfrm>
          <a:prstGeom prst="rect">
            <a:avLst/>
          </a:prstGeom>
          <a:noFill/>
          <a:ln/>
        </p:spPr>
        <p:txBody>
          <a:bodyPr wrap="square" lIns="0" tIns="0" rIns="0" bIns="0" rtlCol="0" anchor="t"/>
          <a:lstStyle/>
          <a:p>
            <a:pPr marL="285739" indent="-285739">
              <a:lnSpc>
                <a:spcPct val="150000"/>
              </a:lnSpc>
              <a:buFont typeface="Arial" panose="020B0604020202020204" pitchFamily="34" charset="0"/>
              <a:buChar char="•"/>
            </a:pPr>
            <a:r>
              <a:rPr lang="en-US" sz="2400" dirty="0">
                <a:solidFill>
                  <a:srgbClr val="1E3063"/>
                </a:solidFill>
                <a:latin typeface="Times New Roman" panose="02020603050405020304" pitchFamily="18" charset="0"/>
                <a:ea typeface="Instrument Sans Medium" pitchFamily="34" charset="-122"/>
                <a:cs typeface="Times New Roman" panose="02020603050405020304" pitchFamily="18" charset="0"/>
              </a:rPr>
              <a:t>Oligosaccharides are carbohydrates composed of 2 to 10 monosaccharide units linked together by glycosidic bonds. </a:t>
            </a:r>
          </a:p>
          <a:p>
            <a:pPr marL="285739" indent="-285739">
              <a:lnSpc>
                <a:spcPct val="150000"/>
              </a:lnSpc>
              <a:buFont typeface="Arial" panose="020B0604020202020204" pitchFamily="34" charset="0"/>
              <a:buChar char="•"/>
            </a:pPr>
            <a:r>
              <a:rPr lang="en-US" sz="2400" dirty="0">
                <a:solidFill>
                  <a:srgbClr val="1E3063"/>
                </a:solidFill>
                <a:latin typeface="Times New Roman" panose="02020603050405020304" pitchFamily="18" charset="0"/>
                <a:ea typeface="Instrument Sans Medium" pitchFamily="34" charset="-122"/>
                <a:cs typeface="Times New Roman" panose="02020603050405020304" pitchFamily="18" charset="0"/>
              </a:rPr>
              <a:t>These covalent bonds are formed through a condensation reaction, where a water molecule is removed between two hydroxyl (-OH) groups.</a:t>
            </a:r>
            <a:endParaRPr lang="en-US" sz="2400" dirty="0">
              <a:latin typeface="Times New Roman" panose="02020603050405020304" pitchFamily="18" charset="0"/>
              <a:cs typeface="Times New Roman" panose="02020603050405020304" pitchFamily="18" charset="0"/>
            </a:endParaRPr>
          </a:p>
        </p:txBody>
      </p:sp>
      <p:sp>
        <p:nvSpPr>
          <p:cNvPr id="4" name="Shape 2"/>
          <p:cNvSpPr/>
          <p:nvPr/>
        </p:nvSpPr>
        <p:spPr>
          <a:xfrm>
            <a:off x="1393158" y="3582106"/>
            <a:ext cx="4268016" cy="2121932"/>
          </a:xfrm>
          <a:prstGeom prst="roundRect">
            <a:avLst>
              <a:gd name="adj" fmla="val 5047"/>
            </a:avLst>
          </a:prstGeom>
          <a:solidFill>
            <a:srgbClr val="FFFFFF"/>
          </a:solidFill>
          <a:ln w="30480">
            <a:solidFill>
              <a:srgbClr val="B4CCE3"/>
            </a:solidFill>
            <a:prstDash val="solid"/>
          </a:ln>
        </p:spPr>
        <p:txBody>
          <a:bodyPr/>
          <a:lstStyle/>
          <a:p>
            <a:pPr>
              <a:lnSpc>
                <a:spcPct val="150000"/>
              </a:lnSpc>
            </a:pPr>
            <a:endParaRPr lang="en-IN" sz="1125" dirty="0"/>
          </a:p>
        </p:txBody>
      </p:sp>
      <p:sp>
        <p:nvSpPr>
          <p:cNvPr id="5" name="Shape 3"/>
          <p:cNvSpPr/>
          <p:nvPr/>
        </p:nvSpPr>
        <p:spPr>
          <a:xfrm>
            <a:off x="1403548" y="3582106"/>
            <a:ext cx="128450" cy="2121932"/>
          </a:xfrm>
          <a:prstGeom prst="roundRect">
            <a:avLst>
              <a:gd name="adj" fmla="val 167442"/>
            </a:avLst>
          </a:prstGeom>
          <a:solidFill>
            <a:srgbClr val="84C1FA"/>
          </a:solidFill>
          <a:ln/>
        </p:spPr>
        <p:txBody>
          <a:bodyPr/>
          <a:lstStyle/>
          <a:p>
            <a:endParaRPr lang="en-IN" sz="1125"/>
          </a:p>
        </p:txBody>
      </p:sp>
      <p:sp>
        <p:nvSpPr>
          <p:cNvPr id="6" name="Text 4"/>
          <p:cNvSpPr/>
          <p:nvPr/>
        </p:nvSpPr>
        <p:spPr>
          <a:xfrm>
            <a:off x="1893951" y="3934396"/>
            <a:ext cx="1772022" cy="221457"/>
          </a:xfrm>
          <a:prstGeom prst="rect">
            <a:avLst/>
          </a:prstGeom>
          <a:noFill/>
          <a:ln/>
        </p:spPr>
        <p:txBody>
          <a:bodyPr wrap="none" lIns="0" tIns="0" rIns="0" bIns="0" rtlCol="0" anchor="t"/>
          <a:lstStyle/>
          <a:p>
            <a:pPr>
              <a:lnSpc>
                <a:spcPts val="1719"/>
              </a:lnSpc>
            </a:pPr>
            <a:r>
              <a:rPr lang="en-US" sz="2000" dirty="0">
                <a:solidFill>
                  <a:srgbClr val="1E3063"/>
                </a:solidFill>
                <a:latin typeface="Times New Roman" panose="02020603050405020304" pitchFamily="18" charset="0"/>
                <a:ea typeface="Instrument Sans Semi Bold" pitchFamily="34" charset="-122"/>
                <a:cs typeface="Times New Roman" panose="02020603050405020304" pitchFamily="18" charset="0"/>
              </a:rPr>
              <a:t>Glycosidic Linkages:</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1893952" y="4308429"/>
            <a:ext cx="3626198" cy="453628"/>
          </a:xfrm>
          <a:prstGeom prst="rect">
            <a:avLst/>
          </a:prstGeom>
          <a:noFill/>
          <a:ln/>
        </p:spPr>
        <p:txBody>
          <a:bodyPr wrap="square" lIns="0" tIns="0" rIns="0" bIns="0" rtlCol="0" anchor="t"/>
          <a:lstStyle/>
          <a:p>
            <a:pPr marL="214304" indent="-214304">
              <a:lnSpc>
                <a:spcPts val="1782"/>
              </a:lnSpc>
              <a:buSzPct val="100000"/>
              <a:buChar char="•"/>
            </a:pPr>
            <a:r>
              <a:rPr lang="en-US" sz="2000" b="1" dirty="0">
                <a:solidFill>
                  <a:srgbClr val="1E3063"/>
                </a:solidFill>
                <a:latin typeface="Times New Roman" panose="02020603050405020304" pitchFamily="18" charset="0"/>
                <a:ea typeface="Instrument Sans Medium" pitchFamily="34" charset="-122"/>
                <a:cs typeface="Times New Roman" panose="02020603050405020304" pitchFamily="18" charset="0"/>
              </a:rPr>
              <a:t>α-Glycosidic Bonds:</a:t>
            </a:r>
            <a:r>
              <a:rPr lang="en-US" sz="2000" dirty="0">
                <a:solidFill>
                  <a:srgbClr val="1E3063"/>
                </a:solidFill>
                <a:latin typeface="Times New Roman" panose="02020603050405020304" pitchFamily="18" charset="0"/>
                <a:ea typeface="Instrument Sans Medium" pitchFamily="34" charset="-122"/>
                <a:cs typeface="Times New Roman" panose="02020603050405020304" pitchFamily="18" charset="0"/>
              </a:rPr>
              <a:t> Anomeric carbon configuration is alpha.</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893952" y="4975589"/>
            <a:ext cx="3626198" cy="453628"/>
          </a:xfrm>
          <a:prstGeom prst="rect">
            <a:avLst/>
          </a:prstGeom>
          <a:noFill/>
          <a:ln/>
        </p:spPr>
        <p:txBody>
          <a:bodyPr wrap="square" lIns="0" tIns="0" rIns="0" bIns="0" rtlCol="0" anchor="t"/>
          <a:lstStyle/>
          <a:p>
            <a:pPr marL="214304" indent="-214304">
              <a:lnSpc>
                <a:spcPts val="1782"/>
              </a:lnSpc>
              <a:buSzPct val="100000"/>
              <a:buChar char="•"/>
            </a:pPr>
            <a:r>
              <a:rPr lang="en-US" sz="2000" b="1" dirty="0">
                <a:solidFill>
                  <a:srgbClr val="1E3063"/>
                </a:solidFill>
                <a:latin typeface="Times New Roman" panose="02020603050405020304" pitchFamily="18" charset="0"/>
                <a:ea typeface="Instrument Sans Medium" pitchFamily="34" charset="-122"/>
                <a:cs typeface="Times New Roman" panose="02020603050405020304" pitchFamily="18" charset="0"/>
              </a:rPr>
              <a:t>β-Glycosidic Bonds:</a:t>
            </a:r>
            <a:r>
              <a:rPr lang="en-US" sz="2000" dirty="0">
                <a:solidFill>
                  <a:srgbClr val="1E3063"/>
                </a:solidFill>
                <a:latin typeface="Times New Roman" panose="02020603050405020304" pitchFamily="18" charset="0"/>
                <a:ea typeface="Instrument Sans Medium" pitchFamily="34" charset="-122"/>
                <a:cs typeface="Times New Roman" panose="02020603050405020304" pitchFamily="18" charset="0"/>
              </a:rPr>
              <a:t> Anomeric carbon configuration is beta.</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6530828" y="3584005"/>
            <a:ext cx="4441972" cy="2121932"/>
          </a:xfrm>
          <a:prstGeom prst="roundRect">
            <a:avLst>
              <a:gd name="adj" fmla="val 5047"/>
            </a:avLst>
          </a:prstGeom>
          <a:solidFill>
            <a:srgbClr val="FFFFFF"/>
          </a:solidFill>
          <a:ln w="30480">
            <a:solidFill>
              <a:srgbClr val="B4CCE3"/>
            </a:solidFill>
            <a:prstDash val="solid"/>
          </a:ln>
        </p:spPr>
        <p:txBody>
          <a:bodyPr/>
          <a:lstStyle/>
          <a:p>
            <a:endParaRPr lang="en-IN" sz="1125" dirty="0"/>
          </a:p>
        </p:txBody>
      </p:sp>
      <p:sp>
        <p:nvSpPr>
          <p:cNvPr id="10" name="Shape 8"/>
          <p:cNvSpPr/>
          <p:nvPr/>
        </p:nvSpPr>
        <p:spPr>
          <a:xfrm>
            <a:off x="6518393" y="3618291"/>
            <a:ext cx="128450" cy="2087645"/>
          </a:xfrm>
          <a:prstGeom prst="roundRect">
            <a:avLst>
              <a:gd name="adj" fmla="val 167442"/>
            </a:avLst>
          </a:prstGeom>
          <a:solidFill>
            <a:srgbClr val="84C1FA"/>
          </a:solidFill>
          <a:ln/>
        </p:spPr>
        <p:txBody>
          <a:bodyPr/>
          <a:lstStyle/>
          <a:p>
            <a:endParaRPr lang="en-IN" sz="1125"/>
          </a:p>
        </p:txBody>
      </p:sp>
      <p:sp>
        <p:nvSpPr>
          <p:cNvPr id="11" name="Text 9"/>
          <p:cNvSpPr/>
          <p:nvPr/>
        </p:nvSpPr>
        <p:spPr>
          <a:xfrm>
            <a:off x="7033731" y="3747582"/>
            <a:ext cx="2055539" cy="221457"/>
          </a:xfrm>
          <a:prstGeom prst="rect">
            <a:avLst/>
          </a:prstGeom>
          <a:noFill/>
          <a:ln/>
        </p:spPr>
        <p:txBody>
          <a:bodyPr wrap="none" lIns="0" tIns="0" rIns="0" bIns="0" rtlCol="0" anchor="t"/>
          <a:lstStyle/>
          <a:p>
            <a:pPr>
              <a:lnSpc>
                <a:spcPts val="1719"/>
              </a:lnSpc>
            </a:pPr>
            <a:r>
              <a:rPr lang="en-US" sz="2000" dirty="0">
                <a:solidFill>
                  <a:srgbClr val="1E3063"/>
                </a:solidFill>
                <a:latin typeface="Times New Roman" panose="02020603050405020304" pitchFamily="18" charset="0"/>
                <a:ea typeface="Instrument Sans Semi Bold" pitchFamily="34" charset="-122"/>
                <a:cs typeface="Times New Roman" panose="02020603050405020304" pitchFamily="18" charset="0"/>
              </a:rPr>
              <a:t>Common Linkage Types:</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6778087" y="4103258"/>
            <a:ext cx="3626272" cy="453628"/>
          </a:xfrm>
          <a:prstGeom prst="rect">
            <a:avLst/>
          </a:prstGeom>
          <a:noFill/>
          <a:ln/>
        </p:spPr>
        <p:txBody>
          <a:bodyPr wrap="square" lIns="0" tIns="0" rIns="0" bIns="0" rtlCol="0" anchor="t"/>
          <a:lstStyle/>
          <a:p>
            <a:pPr marL="214304" indent="-214304">
              <a:lnSpc>
                <a:spcPts val="1782"/>
              </a:lnSpc>
              <a:buSzPct val="100000"/>
              <a:buChar char="•"/>
            </a:pPr>
            <a:r>
              <a:rPr lang="en-US" sz="2000" b="1" dirty="0">
                <a:solidFill>
                  <a:srgbClr val="1E3063"/>
                </a:solidFill>
                <a:latin typeface="Times New Roman" panose="02020603050405020304" pitchFamily="18" charset="0"/>
                <a:ea typeface="Instrument Sans Medium" pitchFamily="34" charset="-122"/>
                <a:cs typeface="Times New Roman" panose="02020603050405020304" pitchFamily="18" charset="0"/>
              </a:rPr>
              <a:t>1,4-Glycosidic Bond:</a:t>
            </a:r>
            <a:r>
              <a:rPr lang="en-US" sz="2000" dirty="0">
                <a:solidFill>
                  <a:srgbClr val="1E3063"/>
                </a:solidFill>
                <a:latin typeface="Times New Roman" panose="02020603050405020304" pitchFamily="18" charset="0"/>
                <a:ea typeface="Instrument Sans Medium" pitchFamily="34" charset="-122"/>
                <a:cs typeface="Times New Roman" panose="02020603050405020304" pitchFamily="18" charset="0"/>
              </a:rPr>
              <a:t> Linkage between C1 of one sugar and C4 of another.</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6784258" y="4801971"/>
            <a:ext cx="3875744" cy="831913"/>
          </a:xfrm>
          <a:prstGeom prst="rect">
            <a:avLst/>
          </a:prstGeom>
          <a:noFill/>
          <a:ln/>
        </p:spPr>
        <p:txBody>
          <a:bodyPr wrap="square" lIns="0" tIns="0" rIns="0" bIns="0" rtlCol="0" anchor="t"/>
          <a:lstStyle/>
          <a:p>
            <a:pPr marL="214304" indent="-214304">
              <a:lnSpc>
                <a:spcPts val="1782"/>
              </a:lnSpc>
              <a:buSzPct val="100000"/>
              <a:buChar char="•"/>
            </a:pPr>
            <a:r>
              <a:rPr lang="en-US" sz="2000" b="1" dirty="0">
                <a:solidFill>
                  <a:srgbClr val="1E3063"/>
                </a:solidFill>
                <a:latin typeface="Times New Roman" panose="02020603050405020304" pitchFamily="18" charset="0"/>
                <a:ea typeface="Instrument Sans Medium" pitchFamily="34" charset="-122"/>
                <a:cs typeface="Times New Roman" panose="02020603050405020304" pitchFamily="18" charset="0"/>
              </a:rPr>
              <a:t>1,6-Glycosidic Bond:</a:t>
            </a:r>
            <a:r>
              <a:rPr lang="en-US" sz="2000" dirty="0">
                <a:solidFill>
                  <a:srgbClr val="1E3063"/>
                </a:solidFill>
                <a:latin typeface="Times New Roman" panose="02020603050405020304" pitchFamily="18" charset="0"/>
                <a:ea typeface="Instrument Sans Medium" pitchFamily="34" charset="-122"/>
                <a:cs typeface="Times New Roman" panose="02020603050405020304" pitchFamily="18" charset="0"/>
              </a:rPr>
              <a:t> Linkage between C1 of one sugar and C6 of another, creating branches in polysaccharides.</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1393157" y="5892799"/>
            <a:ext cx="9361653" cy="589025"/>
          </a:xfrm>
          <a:prstGeom prst="rect">
            <a:avLst/>
          </a:prstGeom>
          <a:noFill/>
          <a:ln/>
        </p:spPr>
        <p:txBody>
          <a:bodyPr wrap="none" lIns="0" tIns="0" rIns="0" bIns="0" rtlCol="0" anchor="t"/>
          <a:lstStyle/>
          <a:p>
            <a:pPr algn="ctr">
              <a:lnSpc>
                <a:spcPts val="1782"/>
              </a:lnSpc>
            </a:pPr>
            <a:r>
              <a:rPr lang="en-US" sz="2000" dirty="0">
                <a:solidFill>
                  <a:srgbClr val="1E3063"/>
                </a:solidFill>
                <a:latin typeface="Times New Roman" panose="02020603050405020304" pitchFamily="18" charset="0"/>
                <a:ea typeface="Instrument Sans Medium" pitchFamily="34" charset="-122"/>
                <a:cs typeface="Times New Roman" panose="02020603050405020304" pitchFamily="18" charset="0"/>
              </a:rPr>
              <a:t>These bonds are critical in forming larger carbohydrate structures and determining their physical </a:t>
            </a:r>
          </a:p>
          <a:p>
            <a:pPr algn="ctr">
              <a:lnSpc>
                <a:spcPts val="1782"/>
              </a:lnSpc>
            </a:pPr>
            <a:r>
              <a:rPr lang="en-US" sz="2000" dirty="0">
                <a:solidFill>
                  <a:srgbClr val="1E3063"/>
                </a:solidFill>
                <a:latin typeface="Times New Roman" panose="02020603050405020304" pitchFamily="18" charset="0"/>
                <a:ea typeface="Instrument Sans Medium" pitchFamily="34" charset="-122"/>
                <a:cs typeface="Times New Roman" panose="02020603050405020304" pitchFamily="18" charset="0"/>
              </a:rPr>
              <a:t>and biological properties.</a:t>
            </a:r>
            <a:endParaRPr lang="en-US" sz="20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A73F8CA-BB7A-8B41-A6CD-2861A9173240}"/>
              </a:ext>
            </a:extLst>
          </p:cNvPr>
          <p:cNvSpPr txBox="1"/>
          <p:nvPr/>
        </p:nvSpPr>
        <p:spPr>
          <a:xfrm>
            <a:off x="2811230" y="3239709"/>
            <a:ext cx="6096000" cy="369332"/>
          </a:xfrm>
          <a:prstGeom prst="rect">
            <a:avLst/>
          </a:prstGeom>
          <a:noFill/>
        </p:spPr>
        <p:txBody>
          <a:bodyPr wrap="square">
            <a:spAutoFit/>
          </a:bodyPr>
          <a:lstStyle/>
          <a:p>
            <a:r>
              <a:rPr lang="en-IN" dirty="0">
                <a:highlight>
                  <a:srgbClr val="FFFF00"/>
                </a:highlight>
              </a:rPr>
              <a:t>💡 </a:t>
            </a:r>
            <a:r>
              <a:rPr lang="en-IN" b="1" dirty="0">
                <a:highlight>
                  <a:srgbClr val="FFFF00"/>
                </a:highlight>
              </a:rPr>
              <a:t>Analogy</a:t>
            </a:r>
            <a:r>
              <a:rPr lang="en-IN" dirty="0">
                <a:highlight>
                  <a:srgbClr val="FFFF00"/>
                </a:highlight>
              </a:rPr>
              <a:t>: Lego blocks — join to build larger carbs</a:t>
            </a:r>
          </a:p>
        </p:txBody>
      </p:sp>
      <p:sp>
        <p:nvSpPr>
          <p:cNvPr id="17" name="AutoShape 2" descr="Carbohydrates: Monosaccharides &amp; Disaccharides Revision notes | A-Level  Biology AQA | Cognito">
            <a:extLst>
              <a:ext uri="{FF2B5EF4-FFF2-40B4-BE49-F238E27FC236}">
                <a16:creationId xmlns:a16="http://schemas.microsoft.com/office/drawing/2014/main" id="{D6D9FDC7-D855-D521-968A-528686AA3E2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 name="Picture 18">
            <a:extLst>
              <a:ext uri="{FF2B5EF4-FFF2-40B4-BE49-F238E27FC236}">
                <a16:creationId xmlns:a16="http://schemas.microsoft.com/office/drawing/2014/main" id="{C8882B60-67DD-0038-664F-E9706F8B0141}"/>
              </a:ext>
            </a:extLst>
          </p:cNvPr>
          <p:cNvPicPr>
            <a:picLocks noChangeAspect="1"/>
          </p:cNvPicPr>
          <p:nvPr/>
        </p:nvPicPr>
        <p:blipFill>
          <a:blip r:embed="rId3"/>
          <a:stretch>
            <a:fillRect/>
          </a:stretch>
        </p:blipFill>
        <p:spPr>
          <a:xfrm>
            <a:off x="2215171" y="3744977"/>
            <a:ext cx="7399661" cy="23014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circle(in)">
                                      <p:cBhvr>
                                        <p:cTn id="7"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ECB3E-B8C3-B1B7-A77B-ABFF7F41F24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Disaccharides classification </a:t>
            </a:r>
            <a:endParaRPr lang="en-IN" dirty="0"/>
          </a:p>
        </p:txBody>
      </p:sp>
      <p:sp>
        <p:nvSpPr>
          <p:cNvPr id="3" name="Content Placeholder 2">
            <a:extLst>
              <a:ext uri="{FF2B5EF4-FFF2-40B4-BE49-F238E27FC236}">
                <a16:creationId xmlns:a16="http://schemas.microsoft.com/office/drawing/2014/main" id="{4AAD2CFF-F53E-6CC4-373B-22B493EDDAB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Disaccharides consist of two sugars </a:t>
            </a:r>
            <a:r>
              <a:rPr lang="en-US" b="1" dirty="0">
                <a:latin typeface="Times New Roman" panose="02020603050405020304" pitchFamily="18" charset="0"/>
                <a:cs typeface="Times New Roman" panose="02020603050405020304" pitchFamily="18" charset="0"/>
              </a:rPr>
              <a:t>joined by an O-glycosidic bond</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most abundant disaccharides are sucrose, lactose and maltose.</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disaccharides can be classified into: </a:t>
            </a:r>
          </a:p>
          <a:p>
            <a:pPr marL="514350" indent="-514350">
              <a:buAutoNum type="arabicPeriod"/>
            </a:pPr>
            <a:r>
              <a:rPr lang="en-US" b="1" dirty="0" err="1">
                <a:latin typeface="Times New Roman" panose="02020603050405020304" pitchFamily="18" charset="0"/>
                <a:cs typeface="Times New Roman" panose="02020603050405020304" pitchFamily="18" charset="0"/>
              </a:rPr>
              <a:t>Homodisaccharides</a:t>
            </a:r>
            <a:r>
              <a:rPr lang="en-US" dirty="0">
                <a:latin typeface="Times New Roman" panose="02020603050405020304" pitchFamily="18" charset="0"/>
                <a:cs typeface="Times New Roman" panose="02020603050405020304" pitchFamily="18" charset="0"/>
              </a:rPr>
              <a:t>: formed of 2 same monosaccharide units</a:t>
            </a:r>
          </a:p>
          <a:p>
            <a:pPr marL="0" indent="0">
              <a:buNone/>
            </a:pPr>
            <a:r>
              <a:rPr lang="en-US" dirty="0">
                <a:latin typeface="Times New Roman" panose="02020603050405020304" pitchFamily="18" charset="0"/>
                <a:cs typeface="Times New Roman" panose="02020603050405020304" pitchFamily="18" charset="0"/>
              </a:rPr>
              <a:t>Example – Maltose – 2 glucose units</a:t>
            </a:r>
          </a:p>
          <a:p>
            <a:pPr marL="514350" indent="-514350">
              <a:buAutoNum type="arabicPeriod"/>
            </a:pPr>
            <a:r>
              <a:rPr lang="en-US" b="1" dirty="0" err="1">
                <a:latin typeface="Times New Roman" panose="02020603050405020304" pitchFamily="18" charset="0"/>
                <a:cs typeface="Times New Roman" panose="02020603050405020304" pitchFamily="18" charset="0"/>
              </a:rPr>
              <a:t>Heterodisaccharides</a:t>
            </a:r>
            <a:r>
              <a:rPr lang="en-US" dirty="0">
                <a:latin typeface="Times New Roman" panose="02020603050405020304" pitchFamily="18" charset="0"/>
                <a:cs typeface="Times New Roman" panose="02020603050405020304" pitchFamily="18" charset="0"/>
              </a:rPr>
              <a:t>:  formed of 2 different monosaccharide units</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Example – Lactose – Glucose + Galactose</a:t>
            </a:r>
          </a:p>
        </p:txBody>
      </p:sp>
    </p:spTree>
    <p:extLst>
      <p:ext uri="{BB962C8B-B14F-4D97-AF65-F5344CB8AC3E}">
        <p14:creationId xmlns:p14="http://schemas.microsoft.com/office/powerpoint/2010/main" val="409267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3769" y="502554"/>
            <a:ext cx="11066617" cy="885974"/>
          </a:xfrm>
          <a:prstGeom prst="rect">
            <a:avLst/>
          </a:prstGeom>
          <a:noFill/>
          <a:ln/>
        </p:spPr>
        <p:txBody>
          <a:bodyPr wrap="square" lIns="0" tIns="0" rIns="0" bIns="0" rtlCol="0" anchor="t"/>
          <a:lstStyle/>
          <a:p>
            <a:pPr>
              <a:lnSpc>
                <a:spcPts val="3469"/>
              </a:lnSpc>
            </a:pPr>
            <a:r>
              <a:rPr lang="en-US" sz="4800" b="1" dirty="0">
                <a:solidFill>
                  <a:srgbClr val="091C53"/>
                </a:solidFill>
                <a:latin typeface="Times New Roman" panose="02020603050405020304" pitchFamily="18" charset="0"/>
                <a:ea typeface="Instrument Sans Semi Bold" pitchFamily="34" charset="-122"/>
                <a:cs typeface="Times New Roman" panose="02020603050405020304" pitchFamily="18" charset="0"/>
              </a:rPr>
              <a:t>Polysaccharides: Complex Carbohydrate Polymers</a:t>
            </a:r>
            <a:endParaRPr lang="en-US" sz="4800" b="1" dirty="0">
              <a:latin typeface="Times New Roman" panose="02020603050405020304" pitchFamily="18" charset="0"/>
              <a:cs typeface="Times New Roman" panose="02020603050405020304" pitchFamily="18" charset="0"/>
            </a:endParaRPr>
          </a:p>
        </p:txBody>
      </p:sp>
      <p:sp>
        <p:nvSpPr>
          <p:cNvPr id="3" name="Text 1"/>
          <p:cNvSpPr/>
          <p:nvPr/>
        </p:nvSpPr>
        <p:spPr>
          <a:xfrm>
            <a:off x="808515" y="1710338"/>
            <a:ext cx="10366257" cy="1897452"/>
          </a:xfrm>
          <a:prstGeom prst="rect">
            <a:avLst/>
          </a:prstGeom>
          <a:noFill/>
          <a:ln/>
        </p:spPr>
        <p:txBody>
          <a:bodyPr wrap="square" lIns="0" tIns="0" rIns="0" bIns="0" rtlCol="0" anchor="t"/>
          <a:lstStyle/>
          <a:p>
            <a:pPr marL="342900" indent="-342900" algn="just">
              <a:buFont typeface="Arial" panose="020B0604020202020204" pitchFamily="34" charset="0"/>
              <a:buChar char="•"/>
            </a:pPr>
            <a:r>
              <a:rPr lang="en-US" sz="2000" dirty="0">
                <a:solidFill>
                  <a:srgbClr val="1E3063"/>
                </a:solidFill>
                <a:latin typeface="Times New Roman" panose="02020603050405020304" pitchFamily="18" charset="0"/>
                <a:ea typeface="Instrument Sans Medium" pitchFamily="34" charset="-122"/>
                <a:cs typeface="Times New Roman" panose="02020603050405020304" pitchFamily="18" charset="0"/>
              </a:rPr>
              <a:t>Polysaccharides are high-molecular-weight polymers made of many (up to a million) monosaccharide units. They are typically tasteless and form colloids with water.</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Polysaccharides contain hundreds or thousands of carbohydrate units.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Polysaccharides are not reducing sugars, since the anomeric carbons are  </a:t>
            </a:r>
            <a:r>
              <a:rPr lang="en-IN" sz="2000" b="1" dirty="0">
                <a:latin typeface="Times New Roman" panose="02020603050405020304" pitchFamily="18" charset="0"/>
                <a:cs typeface="Times New Roman" panose="02020603050405020304" pitchFamily="18" charset="0"/>
              </a:rPr>
              <a:t>connected through glycosidic linkages</a:t>
            </a:r>
            <a:r>
              <a:rPr lang="en-IN" sz="20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5" name="Shape 3"/>
          <p:cNvSpPr/>
          <p:nvPr/>
        </p:nvSpPr>
        <p:spPr>
          <a:xfrm>
            <a:off x="1705488" y="3551795"/>
            <a:ext cx="4004965" cy="76200"/>
          </a:xfrm>
          <a:prstGeom prst="roundRect">
            <a:avLst>
              <a:gd name="adj" fmla="val 167442"/>
            </a:avLst>
          </a:prstGeom>
          <a:solidFill>
            <a:srgbClr val="84C1FA"/>
          </a:solidFill>
          <a:ln/>
        </p:spPr>
        <p:txBody>
          <a:bodyPr/>
          <a:lstStyle/>
          <a:p>
            <a:endParaRPr lang="en-IN" sz="1125">
              <a:latin typeface="Times New Roman" panose="02020603050405020304" pitchFamily="18" charset="0"/>
              <a:cs typeface="Times New Roman" panose="02020603050405020304" pitchFamily="18" charset="0"/>
            </a:endParaRPr>
          </a:p>
        </p:txBody>
      </p:sp>
      <p:sp>
        <p:nvSpPr>
          <p:cNvPr id="6" name="Shape 4"/>
          <p:cNvSpPr/>
          <p:nvPr/>
        </p:nvSpPr>
        <p:spPr>
          <a:xfrm>
            <a:off x="3495331" y="3358243"/>
            <a:ext cx="425277" cy="425277"/>
          </a:xfrm>
          <a:prstGeom prst="roundRect">
            <a:avLst>
              <a:gd name="adj" fmla="val 134383"/>
            </a:avLst>
          </a:prstGeom>
          <a:solidFill>
            <a:srgbClr val="84C1FA"/>
          </a:solidFill>
          <a:ln/>
        </p:spPr>
        <p:txBody>
          <a:bodyPr/>
          <a:lstStyle/>
          <a:p>
            <a:endParaRPr lang="en-IN" sz="1125">
              <a:latin typeface="Times New Roman" panose="02020603050405020304" pitchFamily="18" charset="0"/>
              <a:cs typeface="Times New Roman" panose="02020603050405020304" pitchFamily="18" charset="0"/>
            </a:endParaRPr>
          </a:p>
        </p:txBody>
      </p:sp>
      <p:pic>
        <p:nvPicPr>
          <p:cNvPr id="7" name="Image 0" descr="preencoded.png"/>
          <p:cNvPicPr>
            <a:picLocks noChangeAspect="1"/>
          </p:cNvPicPr>
          <p:nvPr/>
        </p:nvPicPr>
        <p:blipFill>
          <a:blip r:embed="rId3"/>
          <a:stretch>
            <a:fillRect/>
          </a:stretch>
        </p:blipFill>
        <p:spPr>
          <a:xfrm>
            <a:off x="3613047" y="3464582"/>
            <a:ext cx="170111" cy="212602"/>
          </a:xfrm>
          <a:prstGeom prst="rect">
            <a:avLst/>
          </a:prstGeom>
        </p:spPr>
      </p:pic>
      <p:sp>
        <p:nvSpPr>
          <p:cNvPr id="8" name="Text 5"/>
          <p:cNvSpPr/>
          <p:nvPr/>
        </p:nvSpPr>
        <p:spPr>
          <a:xfrm>
            <a:off x="2607325" y="3925204"/>
            <a:ext cx="1909242" cy="221457"/>
          </a:xfrm>
          <a:prstGeom prst="rect">
            <a:avLst/>
          </a:prstGeom>
          <a:noFill/>
          <a:ln/>
        </p:spPr>
        <p:txBody>
          <a:bodyPr wrap="none" lIns="0" tIns="0" rIns="0" bIns="0" rtlCol="0" anchor="t"/>
          <a:lstStyle/>
          <a:p>
            <a:pPr>
              <a:lnSpc>
                <a:spcPts val="1719"/>
              </a:lnSpc>
            </a:pPr>
            <a:r>
              <a:rPr lang="en-US" sz="2000" b="1" dirty="0">
                <a:solidFill>
                  <a:srgbClr val="1E3063"/>
                </a:solidFill>
                <a:latin typeface="Times New Roman" panose="02020603050405020304" pitchFamily="18" charset="0"/>
                <a:ea typeface="Instrument Sans Semi Bold" pitchFamily="34" charset="-122"/>
                <a:cs typeface="Times New Roman" panose="02020603050405020304" pitchFamily="18" charset="0"/>
              </a:rPr>
              <a:t>Homopolysaccharides:</a:t>
            </a:r>
            <a:endParaRPr lang="en-US" sz="2000" b="1" dirty="0">
              <a:latin typeface="Times New Roman" panose="02020603050405020304" pitchFamily="18" charset="0"/>
              <a:cs typeface="Times New Roman" panose="02020603050405020304" pitchFamily="18" charset="0"/>
            </a:endParaRPr>
          </a:p>
        </p:txBody>
      </p:sp>
      <p:sp>
        <p:nvSpPr>
          <p:cNvPr id="9" name="Text 6"/>
          <p:cNvSpPr/>
          <p:nvPr/>
        </p:nvSpPr>
        <p:spPr>
          <a:xfrm>
            <a:off x="1705488" y="4347463"/>
            <a:ext cx="4143172" cy="1564996"/>
          </a:xfrm>
          <a:prstGeom prst="rect">
            <a:avLst/>
          </a:prstGeom>
          <a:noFill/>
          <a:ln/>
        </p:spPr>
        <p:txBody>
          <a:bodyPr wrap="square" lIns="0" tIns="0" rIns="0" bIns="0" rtlCol="0" anchor="t"/>
          <a:lstStyle/>
          <a:p>
            <a:r>
              <a:rPr lang="en-US" dirty="0">
                <a:solidFill>
                  <a:srgbClr val="1E3063"/>
                </a:solidFill>
                <a:latin typeface="Times New Roman" panose="02020603050405020304" pitchFamily="18" charset="0"/>
                <a:ea typeface="Instrument Sans Medium" pitchFamily="34" charset="-122"/>
                <a:cs typeface="Times New Roman" panose="02020603050405020304" pitchFamily="18" charset="0"/>
              </a:rPr>
              <a:t>Composed of a single type of monosaccharide unit. </a:t>
            </a:r>
          </a:p>
          <a:p>
            <a:r>
              <a:rPr lang="en-US" dirty="0">
                <a:solidFill>
                  <a:srgbClr val="1E3063"/>
                </a:solidFill>
                <a:latin typeface="Times New Roman" panose="02020603050405020304" pitchFamily="18" charset="0"/>
                <a:ea typeface="Instrument Sans Medium" pitchFamily="34" charset="-122"/>
                <a:cs typeface="Times New Roman" panose="02020603050405020304" pitchFamily="18" charset="0"/>
              </a:rPr>
              <a:t>Key examples include Glycogen, Cellulose, and Starch.</a:t>
            </a:r>
            <a:endParaRPr lang="en-US" dirty="0">
              <a:latin typeface="Times New Roman" panose="02020603050405020304" pitchFamily="18" charset="0"/>
              <a:cs typeface="Times New Roman" panose="02020603050405020304" pitchFamily="18" charset="0"/>
            </a:endParaRPr>
          </a:p>
        </p:txBody>
      </p:sp>
      <p:sp>
        <p:nvSpPr>
          <p:cNvPr id="10" name="Shape 7"/>
          <p:cNvSpPr/>
          <p:nvPr/>
        </p:nvSpPr>
        <p:spPr>
          <a:xfrm>
            <a:off x="5852214" y="3570846"/>
            <a:ext cx="4005039" cy="1502123"/>
          </a:xfrm>
          <a:prstGeom prst="roundRect">
            <a:avLst>
              <a:gd name="adj" fmla="val 6087"/>
            </a:avLst>
          </a:prstGeom>
          <a:solidFill>
            <a:srgbClr val="FFFFFF"/>
          </a:solidFill>
          <a:ln/>
        </p:spPr>
        <p:txBody>
          <a:bodyPr/>
          <a:lstStyle/>
          <a:p>
            <a:endParaRPr lang="en-IN" sz="1125">
              <a:latin typeface="Times New Roman" panose="02020603050405020304" pitchFamily="18" charset="0"/>
              <a:cs typeface="Times New Roman" panose="02020603050405020304" pitchFamily="18" charset="0"/>
            </a:endParaRPr>
          </a:p>
        </p:txBody>
      </p:sp>
      <p:sp>
        <p:nvSpPr>
          <p:cNvPr id="11" name="Shape 8"/>
          <p:cNvSpPr/>
          <p:nvPr/>
        </p:nvSpPr>
        <p:spPr>
          <a:xfrm>
            <a:off x="5852214" y="3551795"/>
            <a:ext cx="4005039" cy="76200"/>
          </a:xfrm>
          <a:prstGeom prst="roundRect">
            <a:avLst>
              <a:gd name="adj" fmla="val 167442"/>
            </a:avLst>
          </a:prstGeom>
          <a:solidFill>
            <a:srgbClr val="84C1FA"/>
          </a:solidFill>
          <a:ln/>
        </p:spPr>
        <p:txBody>
          <a:bodyPr/>
          <a:lstStyle/>
          <a:p>
            <a:endParaRPr lang="en-IN" sz="1125">
              <a:latin typeface="Times New Roman" panose="02020603050405020304" pitchFamily="18" charset="0"/>
              <a:cs typeface="Times New Roman" panose="02020603050405020304" pitchFamily="18" charset="0"/>
            </a:endParaRPr>
          </a:p>
        </p:txBody>
      </p:sp>
      <p:sp>
        <p:nvSpPr>
          <p:cNvPr id="12" name="Shape 9"/>
          <p:cNvSpPr/>
          <p:nvPr/>
        </p:nvSpPr>
        <p:spPr>
          <a:xfrm>
            <a:off x="7720711" y="3358243"/>
            <a:ext cx="425277" cy="425277"/>
          </a:xfrm>
          <a:prstGeom prst="roundRect">
            <a:avLst>
              <a:gd name="adj" fmla="val 134383"/>
            </a:avLst>
          </a:prstGeom>
          <a:solidFill>
            <a:srgbClr val="84C1FA"/>
          </a:solidFill>
          <a:ln/>
        </p:spPr>
        <p:txBody>
          <a:bodyPr/>
          <a:lstStyle/>
          <a:p>
            <a:endParaRPr lang="en-IN" sz="1125">
              <a:latin typeface="Times New Roman" panose="02020603050405020304" pitchFamily="18" charset="0"/>
              <a:cs typeface="Times New Roman" panose="02020603050405020304" pitchFamily="18" charset="0"/>
            </a:endParaRPr>
          </a:p>
        </p:txBody>
      </p:sp>
      <p:pic>
        <p:nvPicPr>
          <p:cNvPr id="13" name="Image 1" descr="preencoded.png"/>
          <p:cNvPicPr>
            <a:picLocks noChangeAspect="1"/>
          </p:cNvPicPr>
          <p:nvPr/>
        </p:nvPicPr>
        <p:blipFill>
          <a:blip r:embed="rId4"/>
          <a:stretch>
            <a:fillRect/>
          </a:stretch>
        </p:blipFill>
        <p:spPr>
          <a:xfrm>
            <a:off x="7828595" y="3464582"/>
            <a:ext cx="170111" cy="212602"/>
          </a:xfrm>
          <a:prstGeom prst="rect">
            <a:avLst/>
          </a:prstGeom>
        </p:spPr>
      </p:pic>
      <p:sp>
        <p:nvSpPr>
          <p:cNvPr id="14" name="Text 10"/>
          <p:cNvSpPr/>
          <p:nvPr/>
        </p:nvSpPr>
        <p:spPr>
          <a:xfrm>
            <a:off x="6844034" y="3925204"/>
            <a:ext cx="1974428" cy="221457"/>
          </a:xfrm>
          <a:prstGeom prst="rect">
            <a:avLst/>
          </a:prstGeom>
          <a:noFill/>
          <a:ln/>
        </p:spPr>
        <p:txBody>
          <a:bodyPr wrap="none" lIns="0" tIns="0" rIns="0" bIns="0" rtlCol="0" anchor="t"/>
          <a:lstStyle/>
          <a:p>
            <a:pPr>
              <a:lnSpc>
                <a:spcPts val="1719"/>
              </a:lnSpc>
            </a:pPr>
            <a:r>
              <a:rPr lang="en-US" sz="2000" b="1" dirty="0">
                <a:solidFill>
                  <a:srgbClr val="1E3063"/>
                </a:solidFill>
                <a:latin typeface="Times New Roman" panose="02020603050405020304" pitchFamily="18" charset="0"/>
                <a:ea typeface="Instrument Sans Semi Bold" pitchFamily="34" charset="-122"/>
                <a:cs typeface="Times New Roman" panose="02020603050405020304" pitchFamily="18" charset="0"/>
              </a:rPr>
              <a:t>Heteropolysaccharides:</a:t>
            </a:r>
            <a:endParaRPr lang="en-US" sz="2000" b="1" dirty="0">
              <a:latin typeface="Times New Roman" panose="02020603050405020304" pitchFamily="18" charset="0"/>
              <a:cs typeface="Times New Roman" panose="02020603050405020304" pitchFamily="18" charset="0"/>
            </a:endParaRPr>
          </a:p>
        </p:txBody>
      </p:sp>
      <p:sp>
        <p:nvSpPr>
          <p:cNvPr id="15" name="Text 11"/>
          <p:cNvSpPr/>
          <p:nvPr/>
        </p:nvSpPr>
        <p:spPr>
          <a:xfrm>
            <a:off x="6248320" y="4288345"/>
            <a:ext cx="4005039" cy="1564996"/>
          </a:xfrm>
          <a:prstGeom prst="rect">
            <a:avLst/>
          </a:prstGeom>
          <a:noFill/>
          <a:ln/>
        </p:spPr>
        <p:txBody>
          <a:bodyPr wrap="square" lIns="0" tIns="0" rIns="0" bIns="0" rtlCol="0" anchor="t"/>
          <a:lstStyle/>
          <a:p>
            <a:pPr algn="just"/>
            <a:r>
              <a:rPr lang="en-US" dirty="0">
                <a:solidFill>
                  <a:srgbClr val="1E3063"/>
                </a:solidFill>
                <a:latin typeface="Times New Roman" panose="02020603050405020304" pitchFamily="18" charset="0"/>
                <a:ea typeface="Instrument Sans Medium" pitchFamily="34" charset="-122"/>
                <a:cs typeface="Times New Roman" panose="02020603050405020304" pitchFamily="18" charset="0"/>
              </a:rPr>
              <a:t>Composed of different types of monosaccharide units. </a:t>
            </a:r>
          </a:p>
          <a:p>
            <a:pPr algn="just"/>
            <a:r>
              <a:rPr lang="en-US" dirty="0">
                <a:solidFill>
                  <a:srgbClr val="1E3063"/>
                </a:solidFill>
                <a:latin typeface="Times New Roman" panose="02020603050405020304" pitchFamily="18" charset="0"/>
                <a:ea typeface="Instrument Sans Medium" pitchFamily="34" charset="-122"/>
                <a:cs typeface="Times New Roman" panose="02020603050405020304" pitchFamily="18" charset="0"/>
              </a:rPr>
              <a:t>Examples include Hyaluronic acid and Heparin, often found in connective tissues and as anticoagulants.</a:t>
            </a:r>
            <a:endParaRPr lang="en-US" dirty="0">
              <a:latin typeface="Times New Roman" panose="02020603050405020304" pitchFamily="18" charset="0"/>
              <a:cs typeface="Times New Roman" panose="02020603050405020304" pitchFamily="18" charset="0"/>
            </a:endParaRPr>
          </a:p>
        </p:txBody>
      </p:sp>
      <p:sp>
        <p:nvSpPr>
          <p:cNvPr id="16" name="Text 12"/>
          <p:cNvSpPr/>
          <p:nvPr/>
        </p:nvSpPr>
        <p:spPr>
          <a:xfrm>
            <a:off x="1215616" y="6020545"/>
            <a:ext cx="8151763" cy="226814"/>
          </a:xfrm>
          <a:prstGeom prst="rect">
            <a:avLst/>
          </a:prstGeom>
          <a:noFill/>
          <a:ln/>
        </p:spPr>
        <p:txBody>
          <a:bodyPr wrap="none" lIns="0" tIns="0" rIns="0" bIns="0" rtlCol="0" anchor="t"/>
          <a:lstStyle/>
          <a:p>
            <a:pPr>
              <a:lnSpc>
                <a:spcPts val="1782"/>
              </a:lnSpc>
            </a:pPr>
            <a:r>
              <a:rPr lang="en-US" sz="1667" dirty="0">
                <a:solidFill>
                  <a:srgbClr val="1E3063"/>
                </a:solidFill>
                <a:latin typeface="Times New Roman" panose="02020603050405020304" pitchFamily="18" charset="0"/>
                <a:ea typeface="Instrument Sans Medium" pitchFamily="34" charset="-122"/>
                <a:cs typeface="Times New Roman" panose="02020603050405020304" pitchFamily="18" charset="0"/>
              </a:rPr>
              <a:t>These complex carbohydrates serve diverse functions, from energy storage to structural support in living organisms.</a:t>
            </a:r>
            <a:endParaRPr lang="en-US" sz="1667"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C42ACB0F-C6B7-1FEF-00EA-6D9B0D8559E9}"/>
              </a:ext>
            </a:extLst>
          </p:cNvPr>
          <p:cNvSpPr txBox="1"/>
          <p:nvPr/>
        </p:nvSpPr>
        <p:spPr>
          <a:xfrm>
            <a:off x="2458065" y="6355446"/>
            <a:ext cx="6096000" cy="369332"/>
          </a:xfrm>
          <a:prstGeom prst="rect">
            <a:avLst/>
          </a:prstGeom>
          <a:noFill/>
        </p:spPr>
        <p:txBody>
          <a:bodyPr wrap="square">
            <a:spAutoFit/>
          </a:bodyPr>
          <a:lstStyle/>
          <a:p>
            <a:r>
              <a:rPr lang="en-IN" dirty="0">
                <a:highlight>
                  <a:srgbClr val="FFFF00"/>
                </a:highlight>
              </a:rPr>
              <a:t>🧠 Use in bioplastics, biomedical implants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8EB8A5-3DE9-D3E5-34C7-E5755537FD87}"/>
              </a:ext>
            </a:extLst>
          </p:cNvPr>
          <p:cNvPicPr>
            <a:picLocks noChangeAspect="1"/>
          </p:cNvPicPr>
          <p:nvPr/>
        </p:nvPicPr>
        <p:blipFill>
          <a:blip r:embed="rId2"/>
          <a:stretch>
            <a:fillRect/>
          </a:stretch>
        </p:blipFill>
        <p:spPr>
          <a:xfrm>
            <a:off x="1440101" y="249272"/>
            <a:ext cx="9081007" cy="6359455"/>
          </a:xfrm>
          <a:prstGeom prst="rect">
            <a:avLst/>
          </a:prstGeom>
        </p:spPr>
      </p:pic>
    </p:spTree>
    <p:extLst>
      <p:ext uri="{BB962C8B-B14F-4D97-AF65-F5344CB8AC3E}">
        <p14:creationId xmlns:p14="http://schemas.microsoft.com/office/powerpoint/2010/main" val="925306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088701-9C81-85BE-33FD-323673F47D69}"/>
              </a:ext>
            </a:extLst>
          </p:cNvPr>
          <p:cNvPicPr>
            <a:picLocks noChangeAspect="1"/>
          </p:cNvPicPr>
          <p:nvPr/>
        </p:nvPicPr>
        <p:blipFill>
          <a:blip r:embed="rId2"/>
          <a:stretch>
            <a:fillRect/>
          </a:stretch>
        </p:blipFill>
        <p:spPr>
          <a:xfrm>
            <a:off x="891524" y="437122"/>
            <a:ext cx="11050760" cy="6352710"/>
          </a:xfrm>
          <a:prstGeom prst="rect">
            <a:avLst/>
          </a:prstGeom>
        </p:spPr>
      </p:pic>
    </p:spTree>
    <p:extLst>
      <p:ext uri="{BB962C8B-B14F-4D97-AF65-F5344CB8AC3E}">
        <p14:creationId xmlns:p14="http://schemas.microsoft.com/office/powerpoint/2010/main" val="2075244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10A90A5-78DE-5132-2708-BFEEB8B49F41}"/>
              </a:ext>
            </a:extLst>
          </p:cNvPr>
          <p:cNvSpPr txBox="1"/>
          <p:nvPr/>
        </p:nvSpPr>
        <p:spPr>
          <a:xfrm>
            <a:off x="273584" y="1013552"/>
            <a:ext cx="11490593" cy="5632311"/>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Chief energy source</a:t>
            </a:r>
            <a:r>
              <a:rPr lang="en-US" sz="2000" dirty="0">
                <a:latin typeface="Times New Roman" panose="02020603050405020304" pitchFamily="18" charset="0"/>
                <a:cs typeface="Times New Roman" panose="02020603050405020304" pitchFamily="18" charset="0"/>
              </a:rPr>
              <a:t>: Carbohydrates act as the primary energy source for many animals, fueling cellular processes and activities essential for survival and growth.</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Energy storage</a:t>
            </a:r>
            <a:r>
              <a:rPr lang="en-US" sz="2000" dirty="0">
                <a:latin typeface="Times New Roman" panose="02020603050405020304" pitchFamily="18" charset="0"/>
                <a:cs typeface="Times New Roman" panose="02020603050405020304" pitchFamily="18" charset="0"/>
              </a:rPr>
              <a:t>: In animals, carbohydrates are stored as glycogen, while in plants, they are stored as starch, serving as a reserve to be utilized when energy is needed.</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Biosynthesis intermediates</a:t>
            </a:r>
            <a:r>
              <a:rPr lang="en-US" sz="2000" dirty="0">
                <a:latin typeface="Times New Roman" panose="02020603050405020304" pitchFamily="18" charset="0"/>
                <a:cs typeface="Times New Roman" panose="02020603050405020304" pitchFamily="18" charset="0"/>
              </a:rPr>
              <a:t>: Carbohydrates play a crucial role as intermediates in the biosynthesis of fats and proteins, aiding in the formation of essential biomolecules.</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Nerve tissue regulation</a:t>
            </a:r>
            <a:r>
              <a:rPr lang="en-US" sz="2000" dirty="0">
                <a:latin typeface="Times New Roman" panose="02020603050405020304" pitchFamily="18" charset="0"/>
                <a:cs typeface="Times New Roman" panose="02020603050405020304" pitchFamily="18" charset="0"/>
              </a:rPr>
              <a:t>: They help in the regulation of nerve tissue and serve as a vital energy source for the brain, crucial for cognitive functions and overall health.</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Structural components</a:t>
            </a:r>
            <a:r>
              <a:rPr lang="en-US" sz="2000" dirty="0">
                <a:latin typeface="Times New Roman" panose="02020603050405020304" pitchFamily="18" charset="0"/>
                <a:cs typeface="Times New Roman" panose="02020603050405020304" pitchFamily="18" charset="0"/>
              </a:rPr>
              <a:t>: In plants and microorganisms, carbohydrates serve as structural components in cell walls, providing rigidity and protection against external factors.</a:t>
            </a:r>
          </a:p>
          <a:p>
            <a:pPr marL="285750"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Biological transport</a:t>
            </a:r>
            <a:r>
              <a:rPr lang="en-US" sz="2000" dirty="0">
                <a:latin typeface="Times New Roman" panose="02020603050405020304" pitchFamily="18" charset="0"/>
                <a:cs typeface="Times New Roman" panose="02020603050405020304" pitchFamily="18" charset="0"/>
              </a:rPr>
              <a:t>: Carbohydrates are involved in biological transport and facilitate cell-cell communication, playing a vital role in the functioning of multicellular organisms.</a:t>
            </a:r>
          </a:p>
        </p:txBody>
      </p:sp>
      <p:sp>
        <p:nvSpPr>
          <p:cNvPr id="8" name="TextBox 7">
            <a:extLst>
              <a:ext uri="{FF2B5EF4-FFF2-40B4-BE49-F238E27FC236}">
                <a16:creationId xmlns:a16="http://schemas.microsoft.com/office/drawing/2014/main" id="{20721168-28AC-503C-0890-9DAAA340C250}"/>
              </a:ext>
            </a:extLst>
          </p:cNvPr>
          <p:cNvSpPr txBox="1"/>
          <p:nvPr/>
        </p:nvSpPr>
        <p:spPr>
          <a:xfrm>
            <a:off x="427822" y="367221"/>
            <a:ext cx="9473261" cy="769441"/>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Functions of Carbohydrates </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0051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D8790-181F-2F76-12F3-20EF5B7F9C95}"/>
              </a:ext>
            </a:extLst>
          </p:cNvPr>
          <p:cNvSpPr>
            <a:spLocks noGrp="1"/>
          </p:cNvSpPr>
          <p:nvPr>
            <p:ph type="title"/>
          </p:nvPr>
        </p:nvSpPr>
        <p:spPr>
          <a:xfrm>
            <a:off x="680884" y="1"/>
            <a:ext cx="5965722" cy="1238864"/>
          </a:xfrm>
        </p:spPr>
        <p:txBody>
          <a:bodyPr>
            <a:normAutofit/>
          </a:bodyPr>
          <a:lstStyle/>
          <a:p>
            <a:r>
              <a:rPr lang="en-IN" b="1"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E4385097-9DC6-C0AC-7BD4-8A00FE482422}"/>
              </a:ext>
            </a:extLst>
          </p:cNvPr>
          <p:cNvSpPr>
            <a:spLocks noGrp="1"/>
          </p:cNvSpPr>
          <p:nvPr>
            <p:ph idx="1"/>
          </p:nvPr>
        </p:nvSpPr>
        <p:spPr>
          <a:xfrm>
            <a:off x="550605" y="1238864"/>
            <a:ext cx="11149781" cy="5397909"/>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1. Glucose Biosensors in Healthcare</a:t>
            </a:r>
          </a:p>
          <a:p>
            <a:r>
              <a:rPr lang="en-IN" sz="2000" b="1" dirty="0">
                <a:latin typeface="Times New Roman" panose="02020603050405020304" pitchFamily="18" charset="0"/>
                <a:cs typeface="Times New Roman" panose="02020603050405020304" pitchFamily="18" charset="0"/>
              </a:rPr>
              <a:t>Application</a:t>
            </a:r>
            <a:r>
              <a:rPr lang="en-IN" sz="2000" dirty="0">
                <a:latin typeface="Times New Roman" panose="02020603050405020304" pitchFamily="18" charset="0"/>
                <a:cs typeface="Times New Roman" panose="02020603050405020304" pitchFamily="18" charset="0"/>
              </a:rPr>
              <a:t>: Used by diabetic patients to monitor blood sugar levels.</a:t>
            </a:r>
          </a:p>
          <a:p>
            <a:r>
              <a:rPr lang="en-IN" sz="2000" b="1" dirty="0">
                <a:latin typeface="Times New Roman" panose="02020603050405020304" pitchFamily="18" charset="0"/>
                <a:cs typeface="Times New Roman" panose="02020603050405020304" pitchFamily="18" charset="0"/>
              </a:rPr>
              <a:t>How it works</a:t>
            </a:r>
            <a:r>
              <a:rPr lang="en-IN" sz="2000" dirty="0">
                <a:latin typeface="Times New Roman" panose="02020603050405020304" pitchFamily="18" charset="0"/>
                <a:cs typeface="Times New Roman" panose="02020603050405020304" pitchFamily="18" charset="0"/>
              </a:rPr>
              <a:t>: Enzyme </a:t>
            </a:r>
            <a:r>
              <a:rPr lang="en-IN" sz="2000" b="1" dirty="0">
                <a:latin typeface="Times New Roman" panose="02020603050405020304" pitchFamily="18" charset="0"/>
                <a:cs typeface="Times New Roman" panose="02020603050405020304" pitchFamily="18" charset="0"/>
              </a:rPr>
              <a:t>glucose oxidase</a:t>
            </a:r>
            <a:r>
              <a:rPr lang="en-IN" sz="2000" dirty="0">
                <a:latin typeface="Times New Roman" panose="02020603050405020304" pitchFamily="18" charset="0"/>
                <a:cs typeface="Times New Roman" panose="02020603050405020304" pitchFamily="18" charset="0"/>
              </a:rPr>
              <a:t> reacts with glucose → produces an electrical signal proportional to glucose concentration.</a:t>
            </a:r>
          </a:p>
          <a:p>
            <a:r>
              <a:rPr lang="en-IN" sz="2000" b="1" dirty="0">
                <a:latin typeface="Times New Roman" panose="02020603050405020304" pitchFamily="18" charset="0"/>
                <a:cs typeface="Times New Roman" panose="02020603050405020304" pitchFamily="18" charset="0"/>
              </a:rPr>
              <a:t>Engineering angle</a:t>
            </a:r>
            <a:r>
              <a:rPr lang="en-IN" sz="2000" dirty="0">
                <a:latin typeface="Times New Roman" panose="02020603050405020304" pitchFamily="18" charset="0"/>
                <a:cs typeface="Times New Roman" panose="02020603050405020304" pitchFamily="18" charset="0"/>
              </a:rPr>
              <a:t>: Involves </a:t>
            </a:r>
            <a:r>
              <a:rPr lang="en-IN" sz="2000" b="1" dirty="0">
                <a:latin typeface="Times New Roman" panose="02020603050405020304" pitchFamily="18" charset="0"/>
                <a:cs typeface="Times New Roman" panose="02020603050405020304" pitchFamily="18" charset="0"/>
              </a:rPr>
              <a:t>biomedical sensors</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enzyme immobilization</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microelectronics</a:t>
            </a:r>
            <a:r>
              <a:rPr lang="en-IN" sz="2000" dirty="0">
                <a:latin typeface="Times New Roman" panose="02020603050405020304" pitchFamily="18" charset="0"/>
                <a:cs typeface="Times New Roman" panose="02020603050405020304" pitchFamily="18" charset="0"/>
              </a:rPr>
              <a:t>.</a:t>
            </a:r>
          </a:p>
          <a:p>
            <a:pPr marL="0" indent="0">
              <a:buNone/>
            </a:pPr>
            <a:r>
              <a:rPr lang="en-IN" sz="2000" b="1" dirty="0">
                <a:latin typeface="Times New Roman" panose="02020603050405020304" pitchFamily="18" charset="0"/>
                <a:cs typeface="Times New Roman" panose="02020603050405020304" pitchFamily="18" charset="0"/>
              </a:rPr>
              <a:t>2. Starch in Biodegradable Plastics</a:t>
            </a:r>
          </a:p>
          <a:p>
            <a:r>
              <a:rPr lang="en-IN" sz="2000" b="1" dirty="0">
                <a:latin typeface="Times New Roman" panose="02020603050405020304" pitchFamily="18" charset="0"/>
                <a:cs typeface="Times New Roman" panose="02020603050405020304" pitchFamily="18" charset="0"/>
              </a:rPr>
              <a:t>Application</a:t>
            </a:r>
            <a:r>
              <a:rPr lang="en-IN" sz="2000" dirty="0">
                <a:latin typeface="Times New Roman" panose="02020603050405020304" pitchFamily="18" charset="0"/>
                <a:cs typeface="Times New Roman" panose="02020603050405020304" pitchFamily="18" charset="0"/>
              </a:rPr>
              <a:t>: Starch-based bioplastics are used in packaging, disposable cutlery, and agricultural films.</a:t>
            </a:r>
          </a:p>
          <a:p>
            <a:r>
              <a:rPr lang="en-IN" sz="2000" b="1" dirty="0">
                <a:latin typeface="Times New Roman" panose="02020603050405020304" pitchFamily="18" charset="0"/>
                <a:cs typeface="Times New Roman" panose="02020603050405020304" pitchFamily="18" charset="0"/>
              </a:rPr>
              <a:t>Why starch?</a:t>
            </a:r>
            <a:r>
              <a:rPr lang="en-IN" sz="2000" dirty="0">
                <a:latin typeface="Times New Roman" panose="02020603050405020304" pitchFamily="18" charset="0"/>
                <a:cs typeface="Times New Roman" panose="02020603050405020304" pitchFamily="18" charset="0"/>
              </a:rPr>
              <a:t>: It’s cheap, abundant, and forms a film-like structure when processed.</a:t>
            </a:r>
          </a:p>
          <a:p>
            <a:r>
              <a:rPr lang="en-IN" sz="2000" b="1" dirty="0">
                <a:latin typeface="Times New Roman" panose="02020603050405020304" pitchFamily="18" charset="0"/>
                <a:cs typeface="Times New Roman" panose="02020603050405020304" pitchFamily="18" charset="0"/>
              </a:rPr>
              <a:t>Engineering angle</a:t>
            </a:r>
            <a:r>
              <a:rPr lang="en-IN" sz="2000" dirty="0">
                <a:latin typeface="Times New Roman" panose="02020603050405020304" pitchFamily="18" charset="0"/>
                <a:cs typeface="Times New Roman" panose="02020603050405020304" pitchFamily="18" charset="0"/>
              </a:rPr>
              <a:t>: Material science, </a:t>
            </a:r>
            <a:r>
              <a:rPr lang="en-IN" sz="2000" b="1" dirty="0">
                <a:latin typeface="Times New Roman" panose="02020603050405020304" pitchFamily="18" charset="0"/>
                <a:cs typeface="Times New Roman" panose="02020603050405020304" pitchFamily="18" charset="0"/>
              </a:rPr>
              <a:t>green alternatives to petroleum-based plastics</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compostable packaging</a:t>
            </a:r>
            <a:r>
              <a:rPr lang="en-IN" sz="2000" dirty="0">
                <a:latin typeface="Times New Roman" panose="02020603050405020304" pitchFamily="18" charset="0"/>
                <a:cs typeface="Times New Roman" panose="02020603050405020304" pitchFamily="18" charset="0"/>
              </a:rPr>
              <a:t>.</a:t>
            </a:r>
          </a:p>
          <a:p>
            <a:pPr marL="0" indent="0">
              <a:buNone/>
            </a:pPr>
            <a:r>
              <a:rPr lang="en-IN" sz="2000" b="1" dirty="0">
                <a:latin typeface="Times New Roman" panose="02020603050405020304" pitchFamily="18" charset="0"/>
                <a:cs typeface="Times New Roman" panose="02020603050405020304" pitchFamily="18" charset="0"/>
              </a:rPr>
              <a:t>3. Cellulose in Paper/Textiles</a:t>
            </a:r>
          </a:p>
          <a:p>
            <a:r>
              <a:rPr lang="en-IN" sz="2000" b="1" dirty="0">
                <a:latin typeface="Times New Roman" panose="02020603050405020304" pitchFamily="18" charset="0"/>
                <a:cs typeface="Times New Roman" panose="02020603050405020304" pitchFamily="18" charset="0"/>
              </a:rPr>
              <a:t>Application</a:t>
            </a:r>
            <a:r>
              <a:rPr lang="en-IN" sz="2000" dirty="0">
                <a:latin typeface="Times New Roman" panose="02020603050405020304" pitchFamily="18" charset="0"/>
                <a:cs typeface="Times New Roman" panose="02020603050405020304" pitchFamily="18" charset="0"/>
              </a:rPr>
              <a:t>: Major component in making </a:t>
            </a:r>
            <a:r>
              <a:rPr lang="en-IN" sz="2000" b="1" dirty="0">
                <a:latin typeface="Times New Roman" panose="02020603050405020304" pitchFamily="18" charset="0"/>
                <a:cs typeface="Times New Roman" panose="02020603050405020304" pitchFamily="18" charset="0"/>
              </a:rPr>
              <a:t>paper</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cotton</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viscose fabric</a:t>
            </a:r>
            <a:r>
              <a:rPr lang="en-IN" sz="2000" dirty="0">
                <a:latin typeface="Times New Roman" panose="02020603050405020304" pitchFamily="18" charset="0"/>
                <a:cs typeface="Times New Roman" panose="02020603050405020304" pitchFamily="18" charset="0"/>
              </a:rPr>
              <a:t>.</a:t>
            </a:r>
          </a:p>
          <a:p>
            <a:r>
              <a:rPr lang="en-IN" sz="2000" b="1" dirty="0">
                <a:latin typeface="Times New Roman" panose="02020603050405020304" pitchFamily="18" charset="0"/>
                <a:cs typeface="Times New Roman" panose="02020603050405020304" pitchFamily="18" charset="0"/>
              </a:rPr>
              <a:t>Structure</a:t>
            </a:r>
            <a:r>
              <a:rPr lang="en-IN" sz="2000" dirty="0">
                <a:latin typeface="Times New Roman" panose="02020603050405020304" pitchFamily="18" charset="0"/>
                <a:cs typeface="Times New Roman" panose="02020603050405020304" pitchFamily="18" charset="0"/>
              </a:rPr>
              <a:t>: Made of </a:t>
            </a:r>
            <a:r>
              <a:rPr lang="el-GR" sz="2000" dirty="0">
                <a:latin typeface="Times New Roman" panose="02020603050405020304" pitchFamily="18" charset="0"/>
                <a:cs typeface="Times New Roman" panose="02020603050405020304" pitchFamily="18" charset="0"/>
              </a:rPr>
              <a:t>β-</a:t>
            </a:r>
            <a:r>
              <a:rPr lang="en-IN" sz="2000" dirty="0">
                <a:latin typeface="Times New Roman" panose="02020603050405020304" pitchFamily="18" charset="0"/>
                <a:cs typeface="Times New Roman" panose="02020603050405020304" pitchFamily="18" charset="0"/>
              </a:rPr>
              <a:t>glucose chains → strong hydrogen bonds → high tensile strength.</a:t>
            </a:r>
          </a:p>
          <a:p>
            <a:r>
              <a:rPr lang="en-IN" sz="2000" b="1" dirty="0">
                <a:latin typeface="Times New Roman" panose="02020603050405020304" pitchFamily="18" charset="0"/>
                <a:cs typeface="Times New Roman" panose="02020603050405020304" pitchFamily="18" charset="0"/>
              </a:rPr>
              <a:t>Engineering angle</a:t>
            </a:r>
            <a:r>
              <a:rPr lang="en-IN" sz="2000" dirty="0">
                <a:latin typeface="Times New Roman" panose="02020603050405020304" pitchFamily="18" charset="0"/>
                <a:cs typeface="Times New Roman" panose="02020603050405020304" pitchFamily="18" charset="0"/>
              </a:rPr>
              <a:t>: Used in </a:t>
            </a:r>
            <a:r>
              <a:rPr lang="en-IN" sz="2000" b="1" dirty="0">
                <a:latin typeface="Times New Roman" panose="02020603050405020304" pitchFamily="18" charset="0"/>
                <a:cs typeface="Times New Roman" panose="02020603050405020304" pitchFamily="18" charset="0"/>
              </a:rPr>
              <a:t>textile engineering</a:t>
            </a:r>
            <a:r>
              <a:rPr lang="en-IN" sz="2000" dirty="0">
                <a:latin typeface="Times New Roman" panose="02020603050405020304" pitchFamily="18" charset="0"/>
                <a:cs typeface="Times New Roman" panose="02020603050405020304" pitchFamily="18" charset="0"/>
              </a:rPr>
              <a:t>, </a:t>
            </a:r>
            <a:r>
              <a:rPr lang="en-IN" sz="2000" b="1" dirty="0" err="1">
                <a:latin typeface="Times New Roman" panose="02020603050405020304" pitchFamily="18" charset="0"/>
                <a:cs typeface="Times New Roman" panose="02020603050405020304" pitchFamily="18" charset="0"/>
              </a:rPr>
              <a:t>biocomposites</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paper recycling technology</a:t>
            </a:r>
            <a:r>
              <a:rPr lang="en-IN" sz="2000" dirty="0">
                <a:latin typeface="Times New Roman" panose="02020603050405020304" pitchFamily="18" charset="0"/>
                <a:cs typeface="Times New Roman" panose="02020603050405020304" pitchFamily="18" charset="0"/>
              </a:rPr>
              <a:t>.</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8510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3BF35-2C5B-2D2F-18BE-FAF3471DAAB8}"/>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Amino acids and Proteins </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0E2BE5-0167-91BA-F1D1-8937A8770C0B}"/>
              </a:ext>
            </a:extLst>
          </p:cNvPr>
          <p:cNvSpPr>
            <a:spLocks noGrp="1"/>
          </p:cNvSpPr>
          <p:nvPr>
            <p:ph idx="1"/>
          </p:nvPr>
        </p:nvSpPr>
        <p:spPr>
          <a:xfrm>
            <a:off x="838200" y="1825625"/>
            <a:ext cx="7160046" cy="4351338"/>
          </a:xfrm>
        </p:spPr>
        <p:txBody>
          <a:bodyPr/>
          <a:lstStyle/>
          <a:p>
            <a:r>
              <a:rPr lang="en-US" dirty="0">
                <a:latin typeface="Times New Roman" panose="02020603050405020304" pitchFamily="18" charset="0"/>
                <a:cs typeface="Times New Roman" panose="02020603050405020304" pitchFamily="18" charset="0"/>
              </a:rPr>
              <a:t>Amino acids are the building blocks of proteins. </a:t>
            </a:r>
          </a:p>
          <a:p>
            <a:r>
              <a:rPr lang="en-US" dirty="0">
                <a:latin typeface="Times New Roman" panose="02020603050405020304" pitchFamily="18" charset="0"/>
                <a:cs typeface="Times New Roman" panose="02020603050405020304" pitchFamily="18" charset="0"/>
              </a:rPr>
              <a:t>It has both an amino group (-NH2) and an acid group (-COOH). </a:t>
            </a:r>
          </a:p>
          <a:p>
            <a:r>
              <a:rPr lang="en-US" dirty="0">
                <a:latin typeface="Times New Roman" panose="02020603050405020304" pitchFamily="18" charset="0"/>
                <a:cs typeface="Times New Roman" panose="02020603050405020304" pitchFamily="18" charset="0"/>
              </a:rPr>
              <a:t>The properties of each amino acid are determined by its specific side chain (R-groups). </a:t>
            </a:r>
          </a:p>
          <a:p>
            <a:r>
              <a:rPr lang="en-US" dirty="0">
                <a:latin typeface="Times New Roman" panose="02020603050405020304" pitchFamily="18" charset="0"/>
                <a:cs typeface="Times New Roman" panose="02020603050405020304" pitchFamily="18" charset="0"/>
              </a:rPr>
              <a:t>R- groups vary in structure, size, electric charge and solubility in water from one amino acid to other. </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19E7A4D-545D-E3E0-F8B4-D3CEE776E601}"/>
              </a:ext>
            </a:extLst>
          </p:cNvPr>
          <p:cNvPicPr>
            <a:picLocks noChangeAspect="1"/>
          </p:cNvPicPr>
          <p:nvPr/>
        </p:nvPicPr>
        <p:blipFill>
          <a:blip r:embed="rId3"/>
          <a:stretch>
            <a:fillRect/>
          </a:stretch>
        </p:blipFill>
        <p:spPr>
          <a:xfrm>
            <a:off x="8174515" y="1979370"/>
            <a:ext cx="3679634" cy="3655265"/>
          </a:xfrm>
          <a:prstGeom prst="rect">
            <a:avLst/>
          </a:prstGeom>
        </p:spPr>
      </p:pic>
    </p:spTree>
    <p:extLst>
      <p:ext uri="{BB962C8B-B14F-4D97-AF65-F5344CB8AC3E}">
        <p14:creationId xmlns:p14="http://schemas.microsoft.com/office/powerpoint/2010/main" val="3371935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E03CB-1BE3-124E-A625-31A7A5958FC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Classification of amino acids </a:t>
            </a:r>
          </a:p>
        </p:txBody>
      </p:sp>
      <p:sp>
        <p:nvSpPr>
          <p:cNvPr id="3" name="Content Placeholder 2">
            <a:extLst>
              <a:ext uri="{FF2B5EF4-FFF2-40B4-BE49-F238E27FC236}">
                <a16:creationId xmlns:a16="http://schemas.microsoft.com/office/drawing/2014/main" id="{F3E67053-942A-3CCB-0666-DDA4E2FAB4E4}"/>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1. Essential amino acids</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These amino acids cannot be formed (synthesized) in the body and so, it is essential to be included in the diet. </a:t>
            </a:r>
          </a:p>
          <a:p>
            <a:r>
              <a:rPr lang="en-US" dirty="0">
                <a:latin typeface="Times New Roman" panose="02020603050405020304" pitchFamily="18" charset="0"/>
                <a:cs typeface="Times New Roman" panose="02020603050405020304" pitchFamily="18" charset="0"/>
              </a:rPr>
              <a:t>Their deficiency in the body affects growth, health and protein synthesis</a:t>
            </a:r>
          </a:p>
          <a:p>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Valine, Methionine, Isoleucine, Lysine, Leucine, Tryptophan, Threonine, Phenyl alanine </a:t>
            </a:r>
          </a:p>
          <a:p>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7834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A4CA95-A717-2EA8-3CC1-F85A11F959A9}"/>
              </a:ext>
            </a:extLst>
          </p:cNvPr>
          <p:cNvSpPr>
            <a:spLocks noGrp="1"/>
          </p:cNvSpPr>
          <p:nvPr>
            <p:ph idx="1"/>
          </p:nvPr>
        </p:nvSpPr>
        <p:spPr>
          <a:xfrm>
            <a:off x="617863" y="1021393"/>
            <a:ext cx="10515600" cy="4351338"/>
          </a:xfrm>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2. Semi-essential amino acids  </a:t>
            </a:r>
          </a:p>
          <a:p>
            <a:r>
              <a:rPr lang="en-US" dirty="0">
                <a:latin typeface="Times New Roman" panose="02020603050405020304" pitchFamily="18" charset="0"/>
                <a:cs typeface="Times New Roman" panose="02020603050405020304" pitchFamily="18" charset="0"/>
              </a:rPr>
              <a:t>These amino acids are formed in the body but not in sufficient amount for body requirements especially in children. </a:t>
            </a:r>
          </a:p>
          <a:p>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Arginine, Histidine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3. Non-essential amino acids </a:t>
            </a:r>
          </a:p>
          <a:p>
            <a:r>
              <a:rPr lang="en-US" dirty="0">
                <a:latin typeface="Times New Roman" panose="02020603050405020304" pitchFamily="18" charset="0"/>
                <a:cs typeface="Times New Roman" panose="02020603050405020304" pitchFamily="18" charset="0"/>
              </a:rPr>
              <a:t>The amino acids that can be synthesized in the body by regular metabolism in enough amounts are called as non-essential amino acids. </a:t>
            </a:r>
          </a:p>
          <a:p>
            <a:r>
              <a:rPr lang="en-US" dirty="0">
                <a:latin typeface="Times New Roman" panose="02020603050405020304" pitchFamily="18" charset="0"/>
                <a:cs typeface="Times New Roman" panose="02020603050405020304" pitchFamily="18" charset="0"/>
              </a:rPr>
              <a:t>They need not be included in the diet. </a:t>
            </a:r>
          </a:p>
          <a:p>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Glycine, Alanine, Cysteine, Tyrosine, Proline, Serine, Asparagine, Glutamine, Aspartic acid, Glutamic acid.</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3729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7A33E-6915-AE52-90EE-DE1837F84A8F}"/>
              </a:ext>
            </a:extLst>
          </p:cNvPr>
          <p:cNvSpPr>
            <a:spLocks noGrp="1"/>
          </p:cNvSpPr>
          <p:nvPr>
            <p:ph type="title"/>
          </p:nvPr>
        </p:nvSpPr>
        <p:spPr/>
        <p:txBody>
          <a:bodyPr/>
          <a:lstStyle/>
          <a:p>
            <a:r>
              <a:rPr lang="en-IN" b="1" dirty="0">
                <a:solidFill>
                  <a:srgbClr val="C00000"/>
                </a:solidFill>
                <a:latin typeface="Times New Roman" panose="02020603050405020304" pitchFamily="18" charset="0"/>
                <a:cs typeface="Times New Roman" panose="02020603050405020304" pitchFamily="18" charset="0"/>
              </a:rPr>
              <a:t>Proteins </a:t>
            </a:r>
          </a:p>
        </p:txBody>
      </p:sp>
      <p:sp>
        <p:nvSpPr>
          <p:cNvPr id="3" name="Content Placeholder 2">
            <a:extLst>
              <a:ext uri="{FF2B5EF4-FFF2-40B4-BE49-F238E27FC236}">
                <a16:creationId xmlns:a16="http://schemas.microsoft.com/office/drawing/2014/main" id="{0231D0CC-0925-2B04-1478-BB25C63456F0}"/>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Peptides are short chains of amino acids</a:t>
            </a:r>
            <a:r>
              <a:rPr lang="en-US" dirty="0">
                <a:latin typeface="Times New Roman" panose="02020603050405020304" pitchFamily="18" charset="0"/>
                <a:cs typeface="Times New Roman" panose="02020603050405020304" pitchFamily="18" charset="0"/>
              </a:rPr>
              <a:t>, the building blocks of proteins. They are formed by linking amino acids together with peptide bonds. </a:t>
            </a:r>
          </a:p>
          <a:p>
            <a:pPr algn="just"/>
            <a:r>
              <a:rPr lang="en-US" b="1" dirty="0">
                <a:latin typeface="Times New Roman" panose="02020603050405020304" pitchFamily="18" charset="0"/>
                <a:cs typeface="Times New Roman" panose="02020603050405020304" pitchFamily="18" charset="0"/>
              </a:rPr>
              <a:t>Proteins are polypeptides</a:t>
            </a:r>
            <a:r>
              <a:rPr lang="en-US" dirty="0">
                <a:latin typeface="Times New Roman" panose="02020603050405020304" pitchFamily="18" charset="0"/>
                <a:cs typeface="Times New Roman" panose="02020603050405020304" pitchFamily="18" charset="0"/>
              </a:rPr>
              <a:t>, which are made up of many amino acids linked together as a linear chain.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5069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A2DFE-B5A0-2B5D-72D7-282D7544CB3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Structures of proteins</a:t>
            </a:r>
          </a:p>
        </p:txBody>
      </p:sp>
      <p:sp>
        <p:nvSpPr>
          <p:cNvPr id="3" name="Content Placeholder 2">
            <a:extLst>
              <a:ext uri="{FF2B5EF4-FFF2-40B4-BE49-F238E27FC236}">
                <a16:creationId xmlns:a16="http://schemas.microsoft.com/office/drawing/2014/main" id="{6E02B993-A857-7E06-D3C2-2C5F9E41670F}"/>
              </a:ext>
            </a:extLst>
          </p:cNvPr>
          <p:cNvSpPr>
            <a:spLocks noGrp="1"/>
          </p:cNvSpPr>
          <p:nvPr>
            <p:ph idx="1"/>
          </p:nvPr>
        </p:nvSpPr>
        <p:spPr>
          <a:xfrm>
            <a:off x="838200" y="1605287"/>
            <a:ext cx="10515600" cy="5059918"/>
          </a:xfrm>
        </p:spPr>
        <p:txBody>
          <a:bodyPr>
            <a:normAutofit fontScale="77500" lnSpcReduction="20000"/>
          </a:bodyPr>
          <a:lstStyle/>
          <a:p>
            <a:pPr marL="514350" indent="-514350" algn="just">
              <a:buAutoNum type="arabicPeriod"/>
            </a:pPr>
            <a:r>
              <a:rPr lang="en-IN" b="1" dirty="0">
                <a:latin typeface="Times New Roman" panose="02020603050405020304" pitchFamily="18" charset="0"/>
                <a:cs typeface="Times New Roman" panose="02020603050405020304" pitchFamily="18" charset="0"/>
              </a:rPr>
              <a:t>Primary structure </a:t>
            </a:r>
          </a:p>
          <a:p>
            <a:pPr marL="0" indent="0" algn="just">
              <a:buNone/>
            </a:pPr>
            <a:endParaRPr lang="en-IN"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linear sequence of amino acids</a:t>
            </a:r>
            <a:r>
              <a:rPr lang="en-US" dirty="0">
                <a:latin typeface="Times New Roman" panose="02020603050405020304" pitchFamily="18" charset="0"/>
                <a:cs typeface="Times New Roman" panose="02020603050405020304" pitchFamily="18" charset="0"/>
              </a:rPr>
              <a:t> forming the backbone of proteins (polypeptides)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To make a protein, amino acids are </a:t>
            </a:r>
            <a:r>
              <a:rPr lang="en-US" b="1" dirty="0">
                <a:latin typeface="Times New Roman" panose="02020603050405020304" pitchFamily="18" charset="0"/>
                <a:cs typeface="Times New Roman" panose="02020603050405020304" pitchFamily="18" charset="0"/>
              </a:rPr>
              <a:t>connected together </a:t>
            </a:r>
            <a:r>
              <a:rPr lang="en-US" dirty="0">
                <a:latin typeface="Times New Roman" panose="02020603050405020304" pitchFamily="18" charset="0"/>
                <a:cs typeface="Times New Roman" panose="02020603050405020304" pitchFamily="18" charset="0"/>
              </a:rPr>
              <a:t>by a type of amide bond called a “</a:t>
            </a:r>
            <a:r>
              <a:rPr lang="en-US" b="1" dirty="0">
                <a:latin typeface="Times New Roman" panose="02020603050405020304" pitchFamily="18" charset="0"/>
                <a:cs typeface="Times New Roman" panose="02020603050405020304" pitchFamily="18" charset="0"/>
              </a:rPr>
              <a:t>peptide bond</a:t>
            </a:r>
            <a:r>
              <a:rPr lang="en-US" dirty="0">
                <a:latin typeface="Times New Roman" panose="02020603050405020304" pitchFamily="18" charset="0"/>
                <a:cs typeface="Times New Roman" panose="02020603050405020304" pitchFamily="18" charset="0"/>
              </a:rPr>
              <a:t>”.</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When </a:t>
            </a:r>
            <a:r>
              <a:rPr lang="en-US" b="1" dirty="0">
                <a:latin typeface="Times New Roman" panose="02020603050405020304" pitchFamily="18" charset="0"/>
                <a:cs typeface="Times New Roman" panose="02020603050405020304" pitchFamily="18" charset="0"/>
              </a:rPr>
              <a:t>two amino acids </a:t>
            </a:r>
            <a:r>
              <a:rPr lang="en-US" dirty="0">
                <a:latin typeface="Times New Roman" panose="02020603050405020304" pitchFamily="18" charset="0"/>
                <a:cs typeface="Times New Roman" panose="02020603050405020304" pitchFamily="18" charset="0"/>
              </a:rPr>
              <a:t>join, the result is called a </a:t>
            </a:r>
            <a:r>
              <a:rPr lang="en-US" b="1" dirty="0">
                <a:latin typeface="Times New Roman" panose="02020603050405020304" pitchFamily="18" charset="0"/>
                <a:cs typeface="Times New Roman" panose="02020603050405020304" pitchFamily="18" charset="0"/>
              </a:rPr>
              <a:t>dipeptide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three gives a tripeptide</a:t>
            </a:r>
            <a:r>
              <a:rPr lang="en-US" dirty="0">
                <a:latin typeface="Times New Roman" panose="02020603050405020304" pitchFamily="18" charset="0"/>
                <a:cs typeface="Times New Roman" panose="02020603050405020304" pitchFamily="18" charset="0"/>
              </a:rPr>
              <a:t>, etc. </a:t>
            </a:r>
            <a:r>
              <a:rPr lang="en-US" b="1" dirty="0">
                <a:latin typeface="Times New Roman" panose="02020603050405020304" pitchFamily="18" charset="0"/>
                <a:cs typeface="Times New Roman" panose="02020603050405020304" pitchFamily="18" charset="0"/>
              </a:rPr>
              <a:t>Multiple amino acids </a:t>
            </a:r>
            <a:r>
              <a:rPr lang="en-US" dirty="0">
                <a:latin typeface="Times New Roman" panose="02020603050405020304" pitchFamily="18" charset="0"/>
                <a:cs typeface="Times New Roman" panose="02020603050405020304" pitchFamily="18" charset="0"/>
              </a:rPr>
              <a:t>result in a </a:t>
            </a:r>
            <a:r>
              <a:rPr lang="en-US" b="1" dirty="0">
                <a:latin typeface="Times New Roman" panose="02020603050405020304" pitchFamily="18" charset="0"/>
                <a:cs typeface="Times New Roman" panose="02020603050405020304" pitchFamily="18" charset="0"/>
              </a:rPr>
              <a:t>polypeptide</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minimum size of a protein </a:t>
            </a:r>
            <a:r>
              <a:rPr lang="en-US" dirty="0">
                <a:latin typeface="Times New Roman" panose="02020603050405020304" pitchFamily="18" charset="0"/>
                <a:cs typeface="Times New Roman" panose="02020603050405020304" pitchFamily="18" charset="0"/>
              </a:rPr>
              <a:t>is defined as about </a:t>
            </a:r>
            <a:r>
              <a:rPr lang="en-US" b="1" dirty="0">
                <a:latin typeface="Times New Roman" panose="02020603050405020304" pitchFamily="18" charset="0"/>
                <a:cs typeface="Times New Roman" panose="02020603050405020304" pitchFamily="18" charset="0"/>
              </a:rPr>
              <a:t>50 residues</a:t>
            </a:r>
            <a:r>
              <a:rPr lang="en-US" dirty="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Even such small proteins contain hundreds of atoms and have </a:t>
            </a:r>
            <a:r>
              <a:rPr lang="en-US" b="1" dirty="0">
                <a:latin typeface="Times New Roman" panose="02020603050405020304" pitchFamily="18" charset="0"/>
                <a:cs typeface="Times New Roman" panose="02020603050405020304" pitchFamily="18" charset="0"/>
              </a:rPr>
              <a:t>molecular weights of over 5000 Daltons </a:t>
            </a:r>
            <a:r>
              <a:rPr lang="en-US" dirty="0">
                <a:latin typeface="Times New Roman" panose="02020603050405020304" pitchFamily="18" charset="0"/>
                <a:cs typeface="Times New Roman" panose="02020603050405020304" pitchFamily="18" charset="0"/>
              </a:rPr>
              <a:t>(Da)</a:t>
            </a:r>
          </a:p>
        </p:txBody>
      </p:sp>
    </p:spTree>
    <p:extLst>
      <p:ext uri="{BB962C8B-B14F-4D97-AF65-F5344CB8AC3E}">
        <p14:creationId xmlns:p14="http://schemas.microsoft.com/office/powerpoint/2010/main" val="1420039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5E00CC-4034-7800-8F81-1C57CE79964A}"/>
              </a:ext>
            </a:extLst>
          </p:cNvPr>
          <p:cNvSpPr>
            <a:spLocks noGrp="1"/>
          </p:cNvSpPr>
          <p:nvPr>
            <p:ph idx="1"/>
          </p:nvPr>
        </p:nvSpPr>
        <p:spPr>
          <a:xfrm>
            <a:off x="419558" y="327330"/>
            <a:ext cx="11335439" cy="4398905"/>
          </a:xfrm>
        </p:spPr>
        <p:txBody>
          <a:bodyPr/>
          <a:lstStyle/>
          <a:p>
            <a:pPr marL="0" indent="0">
              <a:buNone/>
            </a:pPr>
            <a:r>
              <a:rPr lang="en-IN" b="1" dirty="0">
                <a:latin typeface="Times New Roman" panose="02020603050405020304" pitchFamily="18" charset="0"/>
                <a:cs typeface="Times New Roman" panose="02020603050405020304" pitchFamily="18" charset="0"/>
              </a:rPr>
              <a:t>2. Secondary structure </a:t>
            </a:r>
          </a:p>
          <a:p>
            <a:pPr marL="0" indent="0">
              <a:buNone/>
            </a:pP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spatial arrangement of protein by twisting of the polypeptide chain.</a:t>
            </a:r>
          </a:p>
          <a:p>
            <a:r>
              <a:rPr lang="en-US" dirty="0">
                <a:latin typeface="Times New Roman" panose="02020603050405020304" pitchFamily="18" charset="0"/>
                <a:cs typeface="Times New Roman" panose="02020603050405020304" pitchFamily="18" charset="0"/>
              </a:rPr>
              <a:t>2 types of secondary structure: Alpha Helix and Beta Pleated Sheet</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7578D1E3-8A16-1918-823A-6AB0E770FD73}"/>
              </a:ext>
            </a:extLst>
          </p:cNvPr>
          <p:cNvPicPr>
            <a:picLocks noChangeAspect="1"/>
          </p:cNvPicPr>
          <p:nvPr/>
        </p:nvPicPr>
        <p:blipFill>
          <a:blip r:embed="rId2"/>
          <a:stretch>
            <a:fillRect/>
          </a:stretch>
        </p:blipFill>
        <p:spPr>
          <a:xfrm>
            <a:off x="3813988" y="2704938"/>
            <a:ext cx="3203758" cy="3624251"/>
          </a:xfrm>
          <a:prstGeom prst="rect">
            <a:avLst/>
          </a:prstGeom>
        </p:spPr>
      </p:pic>
    </p:spTree>
    <p:extLst>
      <p:ext uri="{BB962C8B-B14F-4D97-AF65-F5344CB8AC3E}">
        <p14:creationId xmlns:p14="http://schemas.microsoft.com/office/powerpoint/2010/main" val="463331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4E00-E58F-AD92-8492-504AAFFFCA3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Alpha helix</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0826CA-598A-1EE3-DD59-C44DB5E6DA36}"/>
              </a:ext>
            </a:extLst>
          </p:cNvPr>
          <p:cNvSpPr>
            <a:spLocks noGrp="1"/>
          </p:cNvSpPr>
          <p:nvPr>
            <p:ph idx="1"/>
          </p:nvPr>
        </p:nvSpPr>
        <p:spPr>
          <a:xfrm>
            <a:off x="838200" y="1825625"/>
            <a:ext cx="5188974" cy="4351338"/>
          </a:xfrm>
        </p:spPr>
        <p:txBody>
          <a:bodyPr/>
          <a:lstStyle/>
          <a:p>
            <a:r>
              <a:rPr lang="en-US" b="1" dirty="0">
                <a:latin typeface="Times New Roman" panose="02020603050405020304" pitchFamily="18" charset="0"/>
                <a:cs typeface="Times New Roman" panose="02020603050405020304" pitchFamily="18" charset="0"/>
              </a:rPr>
              <a:t>Helical arrangement </a:t>
            </a:r>
            <a:r>
              <a:rPr lang="en-US" dirty="0">
                <a:latin typeface="Times New Roman" panose="02020603050405020304" pitchFamily="18" charset="0"/>
                <a:cs typeface="Times New Roman" panose="02020603050405020304" pitchFamily="18" charset="0"/>
              </a:rPr>
              <a:t>of a single polypeptide chain, like a coiled spring.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Each carbonyl is linked by a hydrogen bond to the N-H </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802ECEF-6AD8-2B0A-EE4B-9EE6BE2E0636}"/>
              </a:ext>
            </a:extLst>
          </p:cNvPr>
          <p:cNvPicPr>
            <a:picLocks noChangeAspect="1"/>
          </p:cNvPicPr>
          <p:nvPr/>
        </p:nvPicPr>
        <p:blipFill>
          <a:blip r:embed="rId2"/>
          <a:stretch>
            <a:fillRect/>
          </a:stretch>
        </p:blipFill>
        <p:spPr>
          <a:xfrm>
            <a:off x="6027174" y="1573161"/>
            <a:ext cx="5564364" cy="3854245"/>
          </a:xfrm>
          <a:prstGeom prst="rect">
            <a:avLst/>
          </a:prstGeom>
        </p:spPr>
      </p:pic>
    </p:spTree>
    <p:extLst>
      <p:ext uri="{BB962C8B-B14F-4D97-AF65-F5344CB8AC3E}">
        <p14:creationId xmlns:p14="http://schemas.microsoft.com/office/powerpoint/2010/main" val="2467177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E92E5-7FCD-0A33-1688-3A7369E4AB5A}"/>
              </a:ext>
            </a:extLst>
          </p:cNvPr>
          <p:cNvSpPr>
            <a:spLocks noGrp="1"/>
          </p:cNvSpPr>
          <p:nvPr>
            <p:ph type="title"/>
          </p:nvPr>
        </p:nvSpPr>
        <p:spPr>
          <a:xfrm>
            <a:off x="876693" y="741391"/>
            <a:ext cx="3455821" cy="1616203"/>
          </a:xfrm>
        </p:spPr>
        <p:txBody>
          <a:bodyPr anchor="b">
            <a:normAutofit/>
          </a:bodyPr>
          <a:lstStyle/>
          <a:p>
            <a:r>
              <a:rPr lang="en-US" sz="3200" b="1" dirty="0">
                <a:latin typeface="Times New Roman" panose="02020603050405020304" pitchFamily="18" charset="0"/>
                <a:cs typeface="Times New Roman" panose="02020603050405020304" pitchFamily="18" charset="0"/>
              </a:rPr>
              <a:t>Beta sheets </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CB9EFA-3FB7-3E54-98C5-DC831DF9FE30}"/>
              </a:ext>
            </a:extLst>
          </p:cNvPr>
          <p:cNvSpPr>
            <a:spLocks noGrp="1"/>
          </p:cNvSpPr>
          <p:nvPr>
            <p:ph idx="1"/>
          </p:nvPr>
        </p:nvSpPr>
        <p:spPr>
          <a:xfrm>
            <a:off x="711201" y="2533476"/>
            <a:ext cx="3621314" cy="3979084"/>
          </a:xfrm>
        </p:spPr>
        <p:txBody>
          <a:bodyPr anchor="t">
            <a:normAutofit/>
          </a:bodyPr>
          <a:lstStyle/>
          <a:p>
            <a:r>
              <a:rPr lang="en-US" sz="2400" dirty="0">
                <a:latin typeface="Times New Roman" panose="02020603050405020304" pitchFamily="18" charset="0"/>
                <a:cs typeface="Times New Roman" panose="02020603050405020304" pitchFamily="18" charset="0"/>
              </a:rPr>
              <a:t>Polypeptide chain folds back on itself so that polypeptide strands like side by side</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Hydrogen bonds are formed in between the neighboring N-H and C=O groups </a:t>
            </a:r>
            <a:r>
              <a:rPr lang="en-US" sz="2400" dirty="0">
                <a:highlight>
                  <a:srgbClr val="FFFF00"/>
                </a:highlight>
                <a:latin typeface="Times New Roman" panose="02020603050405020304" pitchFamily="18" charset="0"/>
                <a:cs typeface="Times New Roman" panose="02020603050405020304" pitchFamily="18" charset="0"/>
              </a:rPr>
              <a:t>of adjacent peptide chain</a:t>
            </a:r>
          </a:p>
        </p:txBody>
      </p:sp>
      <p:pic>
        <p:nvPicPr>
          <p:cNvPr id="1026" name="Picture 2" descr="Secondary Structure: β-Pleated Sheet - Chemistry LibreTexts">
            <a:extLst>
              <a:ext uri="{FF2B5EF4-FFF2-40B4-BE49-F238E27FC236}">
                <a16:creationId xmlns:a16="http://schemas.microsoft.com/office/drawing/2014/main" id="{7E94D008-5B9B-70A4-132B-B1057FB0861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87672" y="1370429"/>
            <a:ext cx="6389346" cy="4126452"/>
          </a:xfrm>
          <a:prstGeom prst="rect">
            <a:avLst/>
          </a:prstGeom>
          <a:noFill/>
          <a:extLst>
            <a:ext uri="{909E8E84-426E-40DD-AFC4-6F175D3DCCD1}">
              <a14:hiddenFill xmlns:a14="http://schemas.microsoft.com/office/drawing/2010/main">
                <a:solidFill>
                  <a:srgbClr val="FFFFFF"/>
                </a:solidFill>
              </a14:hiddenFill>
            </a:ext>
          </a:extLst>
        </p:spPr>
      </p:pic>
      <p:grpSp>
        <p:nvGrpSpPr>
          <p:cNvPr id="1031" name="Group 1030">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032" name="Rectangle 1031">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13018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96053-5A65-81B4-4D20-081F15EAC7E2}"/>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Times New Roman" panose="02020603050405020304" pitchFamily="18" charset="0"/>
                <a:cs typeface="Times New Roman" panose="02020603050405020304" pitchFamily="18" charset="0"/>
              </a:rPr>
              <a:t>Tertiary structure </a:t>
            </a: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6E8FB00-77B2-1070-C68E-418B7FC67C4D}"/>
              </a:ext>
            </a:extLst>
          </p:cNvPr>
          <p:cNvSpPr txBox="1"/>
          <p:nvPr/>
        </p:nvSpPr>
        <p:spPr>
          <a:xfrm>
            <a:off x="661012" y="1277957"/>
            <a:ext cx="11248222" cy="440120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Regions of secondary structure (alpha helices, beta sheets)  fold in the 3D arrangement of a polypeptide chain.</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Number of forces act to hold the polypeptide chain in this final configuration: </a:t>
            </a:r>
          </a:p>
          <a:p>
            <a:r>
              <a:rPr lang="en-IN" sz="2000" dirty="0">
                <a:latin typeface="Times New Roman" panose="02020603050405020304" pitchFamily="18" charset="0"/>
                <a:cs typeface="Times New Roman" panose="02020603050405020304" pitchFamily="18" charset="0"/>
              </a:rPr>
              <a:t>                - Polar/Nonpolar Interactions </a:t>
            </a:r>
          </a:p>
          <a:p>
            <a:r>
              <a:rPr lang="en-IN" sz="2000" dirty="0">
                <a:latin typeface="Times New Roman" panose="02020603050405020304" pitchFamily="18" charset="0"/>
                <a:cs typeface="Times New Roman" panose="02020603050405020304" pitchFamily="18" charset="0"/>
              </a:rPr>
              <a:t>                - Hydrogen Bonds </a:t>
            </a:r>
          </a:p>
          <a:p>
            <a:r>
              <a:rPr lang="en-IN" sz="2000" dirty="0">
                <a:latin typeface="Times New Roman" panose="02020603050405020304" pitchFamily="18" charset="0"/>
                <a:cs typeface="Times New Roman" panose="02020603050405020304" pitchFamily="18" charset="0"/>
              </a:rPr>
              <a:t>                - Van der Waals Forces </a:t>
            </a:r>
          </a:p>
          <a:p>
            <a:r>
              <a:rPr lang="en-IN" sz="2000" dirty="0">
                <a:latin typeface="Times New Roman" panose="02020603050405020304" pitchFamily="18" charset="0"/>
                <a:cs typeface="Times New Roman" panose="02020603050405020304" pitchFamily="18" charset="0"/>
              </a:rPr>
              <a:t>                - Ionic Interactions </a:t>
            </a:r>
          </a:p>
          <a:p>
            <a:r>
              <a:rPr lang="en-IN" sz="2000" dirty="0">
                <a:latin typeface="Times New Roman" panose="02020603050405020304" pitchFamily="18" charset="0"/>
                <a:cs typeface="Times New Roman" panose="02020603050405020304" pitchFamily="18" charset="0"/>
              </a:rPr>
              <a:t>                - Disulfide Bonds</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Polypeptide chains generally contain both hydrophobic and hydrophilic residues  </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Hydrophobic parts are buried and </a:t>
            </a:r>
            <a:r>
              <a:rPr lang="en-US" sz="2000" dirty="0">
                <a:latin typeface="Times New Roman" panose="02020603050405020304" pitchFamily="18" charset="0"/>
                <a:cs typeface="Times New Roman" panose="02020603050405020304" pitchFamily="18" charset="0"/>
              </a:rPr>
              <a:t>hydrophilic parts are on the surface, exposed to water.</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5558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EF05F2-8DC1-96ED-CCE6-51ADD048D165}"/>
              </a:ext>
            </a:extLst>
          </p:cNvPr>
          <p:cNvPicPr>
            <a:picLocks noChangeAspect="1"/>
          </p:cNvPicPr>
          <p:nvPr/>
        </p:nvPicPr>
        <p:blipFill>
          <a:blip r:embed="rId2"/>
          <a:stretch>
            <a:fillRect/>
          </a:stretch>
        </p:blipFill>
        <p:spPr>
          <a:xfrm>
            <a:off x="3310081" y="1293508"/>
            <a:ext cx="4809350" cy="3950959"/>
          </a:xfrm>
          <a:prstGeom prst="rect">
            <a:avLst/>
          </a:prstGeom>
        </p:spPr>
      </p:pic>
    </p:spTree>
    <p:extLst>
      <p:ext uri="{BB962C8B-B14F-4D97-AF65-F5344CB8AC3E}">
        <p14:creationId xmlns:p14="http://schemas.microsoft.com/office/powerpoint/2010/main" val="2282711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019B5-A254-CF46-20CD-CB99D0BC876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Quaternary structure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13FD090-5458-5163-75E4-C8776D915A94}"/>
              </a:ext>
            </a:extLst>
          </p:cNvPr>
          <p:cNvSpPr>
            <a:spLocks noGrp="1"/>
          </p:cNvSpPr>
          <p:nvPr>
            <p:ph idx="1"/>
          </p:nvPr>
        </p:nvSpPr>
        <p:spPr>
          <a:xfrm>
            <a:off x="838200" y="1594271"/>
            <a:ext cx="10515600" cy="4351338"/>
          </a:xfrm>
        </p:spPr>
        <p:txBody>
          <a:bodyPr>
            <a:normAutofit/>
          </a:bodyPr>
          <a:lstStyle/>
          <a:p>
            <a:r>
              <a:rPr lang="en-US" sz="2000" dirty="0">
                <a:latin typeface="Times New Roman" panose="02020603050405020304" pitchFamily="18" charset="0"/>
                <a:cs typeface="Times New Roman" panose="02020603050405020304" pitchFamily="18" charset="0"/>
              </a:rPr>
              <a:t>Some of the proteins are composed of </a:t>
            </a:r>
            <a:r>
              <a:rPr lang="en-US" sz="2000" b="1" dirty="0">
                <a:latin typeface="Times New Roman" panose="02020603050405020304" pitchFamily="18" charset="0"/>
                <a:cs typeface="Times New Roman" panose="02020603050405020304" pitchFamily="18" charset="0"/>
              </a:rPr>
              <a:t>two or more polypeptide chains referred to as subunits.</a:t>
            </a:r>
            <a:r>
              <a:rPr lang="en-US" sz="2000" dirty="0">
                <a:latin typeface="Times New Roman" panose="02020603050405020304" pitchFamily="18" charset="0"/>
                <a:cs typeface="Times New Roman" panose="02020603050405020304" pitchFamily="18" charset="0"/>
              </a:rPr>
              <a:t> The </a:t>
            </a:r>
            <a:r>
              <a:rPr lang="en-US" sz="2000" b="1" dirty="0">
                <a:latin typeface="Times New Roman" panose="02020603050405020304" pitchFamily="18" charset="0"/>
                <a:cs typeface="Times New Roman" panose="02020603050405020304" pitchFamily="18" charset="0"/>
              </a:rPr>
              <a:t>spatial arrangement of these subunits </a:t>
            </a:r>
            <a:r>
              <a:rPr lang="en-US" sz="2000" dirty="0">
                <a:latin typeface="Times New Roman" panose="02020603050405020304" pitchFamily="18" charset="0"/>
                <a:cs typeface="Times New Roman" panose="02020603050405020304" pitchFamily="18" charset="0"/>
              </a:rPr>
              <a:t>is known as quaternary structure. </a:t>
            </a:r>
          </a:p>
          <a:p>
            <a:r>
              <a:rPr lang="en-US" sz="2000" dirty="0">
                <a:latin typeface="Times New Roman" panose="02020603050405020304" pitchFamily="18" charset="0"/>
                <a:cs typeface="Times New Roman" panose="02020603050405020304" pitchFamily="18" charset="0"/>
              </a:rPr>
              <a:t>Each polypeptide is referred to as a subunit of the protein.</a:t>
            </a:r>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1F37007-C095-B958-EFA6-FD637E4F4159}"/>
              </a:ext>
            </a:extLst>
          </p:cNvPr>
          <p:cNvPicPr>
            <a:picLocks noChangeAspect="1"/>
          </p:cNvPicPr>
          <p:nvPr/>
        </p:nvPicPr>
        <p:blipFill>
          <a:blip r:embed="rId2"/>
          <a:stretch>
            <a:fillRect/>
          </a:stretch>
        </p:blipFill>
        <p:spPr>
          <a:xfrm>
            <a:off x="2721223" y="2754661"/>
            <a:ext cx="6749553" cy="3738214"/>
          </a:xfrm>
          <a:prstGeom prst="rect">
            <a:avLst/>
          </a:prstGeom>
        </p:spPr>
      </p:pic>
    </p:spTree>
    <p:extLst>
      <p:ext uri="{BB962C8B-B14F-4D97-AF65-F5344CB8AC3E}">
        <p14:creationId xmlns:p14="http://schemas.microsoft.com/office/powerpoint/2010/main" val="1979649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0A080-C997-8A0A-C8AE-E1013A4E131C}"/>
              </a:ext>
            </a:extLst>
          </p:cNvPr>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Types of proteins – </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Classification based on shape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4DB7B2-248D-F314-ECB2-78B9A5175701}"/>
              </a:ext>
            </a:extLst>
          </p:cNvPr>
          <p:cNvSpPr>
            <a:spLocks noGrp="1"/>
          </p:cNvSpPr>
          <p:nvPr>
            <p:ph idx="1"/>
          </p:nvPr>
        </p:nvSpPr>
        <p:spPr>
          <a:xfrm>
            <a:off x="1025487" y="1902743"/>
            <a:ext cx="10515600" cy="4351338"/>
          </a:xfrm>
        </p:spPr>
        <p:txBody>
          <a:bodyPr>
            <a:normAutofit fontScale="85000" lnSpcReduction="20000"/>
          </a:bodyPr>
          <a:lstStyle/>
          <a:p>
            <a:pPr marL="0" indent="0">
              <a:buNone/>
            </a:pPr>
            <a:endParaRPr lang="en-US" b="1" dirty="0">
              <a:latin typeface="Times New Roman" panose="02020603050405020304" pitchFamily="18" charset="0"/>
              <a:cs typeface="Times New Roman" panose="02020603050405020304" pitchFamily="18" charset="0"/>
            </a:endParaRPr>
          </a:p>
          <a:p>
            <a:pPr marL="514350" indent="-514350">
              <a:buAutoNum type="arabicPeriod"/>
            </a:pPr>
            <a:r>
              <a:rPr lang="en-IN" b="1" dirty="0">
                <a:latin typeface="Times New Roman" panose="02020603050405020304" pitchFamily="18" charset="0"/>
                <a:cs typeface="Times New Roman" panose="02020603050405020304" pitchFamily="18" charset="0"/>
              </a:rPr>
              <a:t>Fibrous proteins</a:t>
            </a:r>
          </a:p>
          <a:p>
            <a:pPr marL="0" indent="0">
              <a:buNone/>
            </a:pPr>
            <a:endParaRPr lang="en-IN"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They resemble </a:t>
            </a:r>
            <a:r>
              <a:rPr lang="en-US" b="1" dirty="0">
                <a:latin typeface="Times New Roman" panose="02020603050405020304" pitchFamily="18" charset="0"/>
                <a:cs typeface="Times New Roman" panose="02020603050405020304" pitchFamily="18" charset="0"/>
              </a:rPr>
              <a:t>long ribbons or </a:t>
            </a:r>
            <a:r>
              <a:rPr lang="en-US" b="1" dirty="0" err="1">
                <a:latin typeface="Times New Roman" panose="02020603050405020304" pitchFamily="18" charset="0"/>
                <a:cs typeface="Times New Roman" panose="02020603050405020304" pitchFamily="18" charset="0"/>
              </a:rPr>
              <a:t>fibres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shape.</a:t>
            </a:r>
          </a:p>
          <a:p>
            <a:pPr marL="0" indent="0">
              <a:buNone/>
            </a:pP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They are mostly found in animals, and are </a:t>
            </a:r>
            <a:r>
              <a:rPr lang="en-US" b="1" dirty="0">
                <a:latin typeface="Times New Roman" panose="02020603050405020304" pitchFamily="18" charset="0"/>
                <a:cs typeface="Times New Roman" panose="02020603050405020304" pitchFamily="18" charset="0"/>
              </a:rPr>
              <a:t>not soluble in water </a:t>
            </a:r>
            <a:r>
              <a:rPr lang="en-US" dirty="0">
                <a:latin typeface="Times New Roman" panose="02020603050405020304" pitchFamily="18" charset="0"/>
                <a:cs typeface="Times New Roman" panose="02020603050405020304" pitchFamily="18" charset="0"/>
              </a:rPr>
              <a:t>or in solution of dilute acids.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Fibrous proteins </a:t>
            </a:r>
            <a:r>
              <a:rPr lang="en-US" b="1" dirty="0">
                <a:latin typeface="Times New Roman" panose="02020603050405020304" pitchFamily="18" charset="0"/>
                <a:cs typeface="Times New Roman" panose="02020603050405020304" pitchFamily="18" charset="0"/>
              </a:rPr>
              <a:t>aid in protection and structural support</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Example: Collagen, Keratin, </a:t>
            </a:r>
            <a:r>
              <a:rPr lang="en-US" dirty="0" err="1">
                <a:latin typeface="Times New Roman" panose="02020603050405020304" pitchFamily="18" charset="0"/>
                <a:cs typeface="Times New Roman" panose="02020603050405020304" pitchFamily="18" charset="0"/>
              </a:rPr>
              <a:t>Elastins</a:t>
            </a:r>
            <a:r>
              <a:rPr lang="en-US" dirty="0">
                <a:latin typeface="Times New Roman" panose="02020603050405020304" pitchFamily="18" charset="0"/>
                <a:cs typeface="Times New Roman" panose="02020603050405020304" pitchFamily="18" charset="0"/>
              </a:rPr>
              <a:t>, Fibroin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1512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FAE142-AC7D-06AD-ACB4-E73302A88F61}"/>
              </a:ext>
            </a:extLst>
          </p:cNvPr>
          <p:cNvSpPr>
            <a:spLocks noGrp="1"/>
          </p:cNvSpPr>
          <p:nvPr>
            <p:ph idx="1"/>
          </p:nvPr>
        </p:nvSpPr>
        <p:spPr>
          <a:xfrm>
            <a:off x="661930" y="481568"/>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2. Globular protein </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They are compactly folded and coiled and possess a relatively </a:t>
            </a:r>
            <a:r>
              <a:rPr lang="en-US" b="1" dirty="0">
                <a:latin typeface="Times New Roman" panose="02020603050405020304" pitchFamily="18" charset="0"/>
                <a:cs typeface="Times New Roman" panose="02020603050405020304" pitchFamily="18" charset="0"/>
              </a:rPr>
              <a:t>spherical or ovoid shape</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They are </a:t>
            </a:r>
            <a:r>
              <a:rPr lang="en-US" b="1" dirty="0">
                <a:latin typeface="Times New Roman" panose="02020603050405020304" pitchFamily="18" charset="0"/>
                <a:cs typeface="Times New Roman" panose="02020603050405020304" pitchFamily="18" charset="0"/>
              </a:rPr>
              <a:t>usually </a:t>
            </a:r>
            <a:r>
              <a:rPr lang="en-US" b="1" dirty="0">
                <a:highlight>
                  <a:srgbClr val="FFFF00"/>
                </a:highlight>
                <a:latin typeface="Times New Roman" panose="02020603050405020304" pitchFamily="18" charset="0"/>
                <a:cs typeface="Times New Roman" panose="02020603050405020304" pitchFamily="18" charset="0"/>
              </a:rPr>
              <a:t>soluble</a:t>
            </a:r>
            <a:r>
              <a:rPr lang="en-US" b="1" dirty="0">
                <a:latin typeface="Times New Roman" panose="02020603050405020304" pitchFamily="18" charset="0"/>
                <a:cs typeface="Times New Roman" panose="02020603050405020304" pitchFamily="18" charset="0"/>
              </a:rPr>
              <a:t> in water and in aqueous media</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Example: Insulin, plasma albumin, globulin enzymes.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929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DF958-447D-07AE-8E7E-A99B4300A71F}"/>
              </a:ext>
            </a:extLst>
          </p:cNvPr>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Types of proteins – Classification based on Composition and Solubility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517F7C-DFB6-3E20-6507-A4C463F0F800}"/>
              </a:ext>
            </a:extLst>
          </p:cNvPr>
          <p:cNvSpPr>
            <a:spLocks noGrp="1"/>
          </p:cNvSpPr>
          <p:nvPr>
            <p:ph idx="1"/>
          </p:nvPr>
        </p:nvSpPr>
        <p:spPr>
          <a:xfrm>
            <a:off x="838200" y="2592541"/>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1. Simple proteins / </a:t>
            </a:r>
            <a:r>
              <a:rPr lang="en-IN" b="1" dirty="0">
                <a:latin typeface="Times New Roman" panose="02020603050405020304" pitchFamily="18" charset="0"/>
                <a:cs typeface="Times New Roman" panose="02020603050405020304" pitchFamily="18" charset="0"/>
              </a:rPr>
              <a:t>Holoproteins</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Made of </a:t>
            </a:r>
            <a:r>
              <a:rPr lang="en-US" b="1" dirty="0">
                <a:latin typeface="Times New Roman" panose="02020603050405020304" pitchFamily="18" charset="0"/>
                <a:cs typeface="Times New Roman" panose="02020603050405020304" pitchFamily="18" charset="0"/>
              </a:rPr>
              <a:t>only amino acids</a:t>
            </a:r>
          </a:p>
          <a:p>
            <a:pPr marL="0" indent="0">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Mostly globular</a:t>
            </a:r>
            <a:r>
              <a:rPr lang="en-US" dirty="0">
                <a:latin typeface="Times New Roman" panose="02020603050405020304" pitchFamily="18" charset="0"/>
                <a:cs typeface="Times New Roman" panose="02020603050405020304" pitchFamily="18" charset="0"/>
              </a:rPr>
              <a:t>, except scleroproteins (fibrous)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72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6B053-111B-C658-A758-7EACFA655D0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Types of Simple amino acids </a:t>
            </a:r>
            <a:endParaRPr lang="en-IN"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0E1F841-F7A3-9FD7-3170-C676A9E23832}"/>
              </a:ext>
            </a:extLst>
          </p:cNvPr>
          <p:cNvGraphicFramePr>
            <a:graphicFrameLocks noGrp="1"/>
          </p:cNvGraphicFramePr>
          <p:nvPr>
            <p:extLst>
              <p:ext uri="{D42A27DB-BD31-4B8C-83A1-F6EECF244321}">
                <p14:modId xmlns:p14="http://schemas.microsoft.com/office/powerpoint/2010/main" val="4261958141"/>
              </p:ext>
            </p:extLst>
          </p:nvPr>
        </p:nvGraphicFramePr>
        <p:xfrm>
          <a:off x="838200" y="1944445"/>
          <a:ext cx="10515600" cy="4419600"/>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4237836584"/>
                    </a:ext>
                  </a:extLst>
                </a:gridCol>
                <a:gridCol w="3505200">
                  <a:extLst>
                    <a:ext uri="{9D8B030D-6E8A-4147-A177-3AD203B41FA5}">
                      <a16:colId xmlns:a16="http://schemas.microsoft.com/office/drawing/2014/main" val="2995405524"/>
                    </a:ext>
                  </a:extLst>
                </a:gridCol>
                <a:gridCol w="3505200">
                  <a:extLst>
                    <a:ext uri="{9D8B030D-6E8A-4147-A177-3AD203B41FA5}">
                      <a16:colId xmlns:a16="http://schemas.microsoft.com/office/drawing/2014/main" val="1835921887"/>
                    </a:ext>
                  </a:extLst>
                </a:gridCol>
              </a:tblGrid>
              <a:tr h="0">
                <a:tc>
                  <a:txBody>
                    <a:bodyPr/>
                    <a:lstStyle/>
                    <a:p>
                      <a:r>
                        <a:rPr lang="en-IN" sz="2000" b="1">
                          <a:latin typeface="Times New Roman" panose="02020603050405020304" pitchFamily="18" charset="0"/>
                          <a:cs typeface="Times New Roman" panose="02020603050405020304" pitchFamily="18" charset="0"/>
                        </a:rPr>
                        <a:t>Type</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b="1">
                          <a:latin typeface="Times New Roman" panose="02020603050405020304" pitchFamily="18" charset="0"/>
                          <a:cs typeface="Times New Roman" panose="02020603050405020304" pitchFamily="18" charset="0"/>
                        </a:rPr>
                        <a:t>Properties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b="1">
                          <a:latin typeface="Times New Roman" panose="02020603050405020304" pitchFamily="18" charset="0"/>
                          <a:cs typeface="Times New Roman" panose="02020603050405020304" pitchFamily="18" charset="0"/>
                        </a:rPr>
                        <a:t>Examples</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81957248"/>
                  </a:ext>
                </a:extLst>
              </a:tr>
              <a:tr h="0">
                <a:tc>
                  <a:txBody>
                    <a:bodyPr/>
                    <a:lstStyle/>
                    <a:p>
                      <a:r>
                        <a:rPr lang="en-IN" sz="2000" b="1">
                          <a:latin typeface="Times New Roman" panose="02020603050405020304" pitchFamily="18" charset="0"/>
                          <a:cs typeface="Times New Roman" panose="02020603050405020304" pitchFamily="18" charset="0"/>
                        </a:rPr>
                        <a:t>Protamines &amp; Histones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US" sz="2000">
                          <a:latin typeface="Times New Roman" panose="02020603050405020304" pitchFamily="18" charset="0"/>
                          <a:cs typeface="Times New Roman" panose="02020603050405020304" pitchFamily="18" charset="0"/>
                        </a:rPr>
                        <a:t>Basic, small, water-soluble, not heat-coagulable</a:t>
                      </a:r>
                    </a:p>
                  </a:txBody>
                  <a:tcPr anchor="ctr"/>
                </a:tc>
                <a:tc>
                  <a:txBody>
                    <a:bodyPr/>
                    <a:lstStyle/>
                    <a:p>
                      <a:r>
                        <a:rPr lang="en-IN" sz="2000">
                          <a:latin typeface="Times New Roman" panose="02020603050405020304" pitchFamily="18" charset="0"/>
                          <a:cs typeface="Times New Roman" panose="02020603050405020304" pitchFamily="18" charset="0"/>
                        </a:rPr>
                        <a:t>Protamines: salmine, clupineHistones: nucleohistones, globin</a:t>
                      </a:r>
                    </a:p>
                  </a:txBody>
                  <a:tcPr anchor="ctr"/>
                </a:tc>
                <a:extLst>
                  <a:ext uri="{0D108BD9-81ED-4DB2-BD59-A6C34878D82A}">
                    <a16:rowId xmlns:a16="http://schemas.microsoft.com/office/drawing/2014/main" val="3834018839"/>
                  </a:ext>
                </a:extLst>
              </a:tr>
              <a:tr h="0">
                <a:tc>
                  <a:txBody>
                    <a:bodyPr/>
                    <a:lstStyle/>
                    <a:p>
                      <a:r>
                        <a:rPr lang="en-IN" sz="2000" b="1" dirty="0">
                          <a:latin typeface="Times New Roman" panose="02020603050405020304" pitchFamily="18" charset="0"/>
                          <a:cs typeface="Times New Roman" panose="02020603050405020304" pitchFamily="18" charset="0"/>
                        </a:rPr>
                        <a:t>Albumins</a:t>
                      </a:r>
                      <a:endParaRPr lang="en-IN" sz="2000" dirty="0">
                        <a:latin typeface="Times New Roman" panose="02020603050405020304" pitchFamily="18" charset="0"/>
                        <a:cs typeface="Times New Roman" panose="02020603050405020304" pitchFamily="18" charset="0"/>
                      </a:endParaRPr>
                    </a:p>
                  </a:txBody>
                  <a:tcPr anchor="ctr"/>
                </a:tc>
                <a:tc>
                  <a:txBody>
                    <a:bodyPr/>
                    <a:lstStyle/>
                    <a:p>
                      <a:r>
                        <a:rPr lang="en-US" sz="2000">
                          <a:latin typeface="Times New Roman" panose="02020603050405020304" pitchFamily="18" charset="0"/>
                          <a:cs typeface="Times New Roman" panose="02020603050405020304" pitchFamily="18" charset="0"/>
                        </a:rPr>
                        <a:t>Soluble in water and dilute acids/bases</a:t>
                      </a:r>
                    </a:p>
                  </a:txBody>
                  <a:tcPr anchor="ctr"/>
                </a:tc>
                <a:tc>
                  <a:txBody>
                    <a:bodyPr/>
                    <a:lstStyle/>
                    <a:p>
                      <a:r>
                        <a:rPr lang="en-IN" sz="2000">
                          <a:latin typeface="Times New Roman" panose="02020603050405020304" pitchFamily="18" charset="0"/>
                          <a:cs typeface="Times New Roman" panose="02020603050405020304" pitchFamily="18" charset="0"/>
                        </a:rPr>
                        <a:t>Leucosine, legumeline, serum albumin</a:t>
                      </a:r>
                    </a:p>
                  </a:txBody>
                  <a:tcPr anchor="ctr"/>
                </a:tc>
                <a:extLst>
                  <a:ext uri="{0D108BD9-81ED-4DB2-BD59-A6C34878D82A}">
                    <a16:rowId xmlns:a16="http://schemas.microsoft.com/office/drawing/2014/main" val="1154716264"/>
                  </a:ext>
                </a:extLst>
              </a:tr>
              <a:tr h="0">
                <a:tc>
                  <a:txBody>
                    <a:bodyPr/>
                    <a:lstStyle/>
                    <a:p>
                      <a:r>
                        <a:rPr lang="en-IN" sz="2000" b="1">
                          <a:latin typeface="Times New Roman" panose="02020603050405020304" pitchFamily="18" charset="0"/>
                          <a:cs typeface="Times New Roman" panose="02020603050405020304" pitchFamily="18" charset="0"/>
                        </a:rPr>
                        <a:t>Globulins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US" sz="2000" dirty="0">
                          <a:latin typeface="Times New Roman" panose="02020603050405020304" pitchFamily="18" charset="0"/>
                          <a:cs typeface="Times New Roman" panose="02020603050405020304" pitchFamily="18" charset="0"/>
                        </a:rPr>
                        <a:t>Two types: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Pseudoglobulins</a:t>
                      </a:r>
                      <a:r>
                        <a:rPr lang="en-US" sz="2000" dirty="0">
                          <a:latin typeface="Times New Roman" panose="02020603050405020304" pitchFamily="18" charset="0"/>
                          <a:cs typeface="Times New Roman" panose="02020603050405020304" pitchFamily="18" charset="0"/>
                        </a:rPr>
                        <a:t> - water soluble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Euglobulins</a:t>
                      </a:r>
                      <a:r>
                        <a:rPr lang="en-US" sz="2000" dirty="0">
                          <a:latin typeface="Times New Roman" panose="02020603050405020304" pitchFamily="18" charset="0"/>
                          <a:cs typeface="Times New Roman" panose="02020603050405020304" pitchFamily="18" charset="0"/>
                        </a:rPr>
                        <a:t> - water insoluble Coagulated by heat</a:t>
                      </a:r>
                    </a:p>
                  </a:txBody>
                  <a:tcPr anchor="ctr"/>
                </a:tc>
                <a:tc>
                  <a:txBody>
                    <a:bodyPr/>
                    <a:lstStyle/>
                    <a:p>
                      <a:r>
                        <a:rPr lang="en-IN" sz="2000">
                          <a:latin typeface="Times New Roman" panose="02020603050405020304" pitchFamily="18" charset="0"/>
                          <a:cs typeface="Times New Roman" panose="02020603050405020304" pitchFamily="18" charset="0"/>
                        </a:rPr>
                        <a:t>Serum globulin, glycinine</a:t>
                      </a:r>
                    </a:p>
                  </a:txBody>
                  <a:tcPr anchor="ctr"/>
                </a:tc>
                <a:extLst>
                  <a:ext uri="{0D108BD9-81ED-4DB2-BD59-A6C34878D82A}">
                    <a16:rowId xmlns:a16="http://schemas.microsoft.com/office/drawing/2014/main" val="3157696720"/>
                  </a:ext>
                </a:extLst>
              </a:tr>
              <a:tr h="0">
                <a:tc>
                  <a:txBody>
                    <a:bodyPr/>
                    <a:lstStyle/>
                    <a:p>
                      <a:r>
                        <a:rPr lang="en-IN" sz="2000" b="1">
                          <a:latin typeface="Times New Roman" panose="02020603050405020304" pitchFamily="18" charset="0"/>
                          <a:cs typeface="Times New Roman" panose="02020603050405020304" pitchFamily="18" charset="0"/>
                        </a:rPr>
                        <a:t>Scleroproteins (Albuminoids)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US" sz="2000">
                          <a:latin typeface="Times New Roman" panose="02020603050405020304" pitchFamily="18" charset="0"/>
                          <a:cs typeface="Times New Roman" panose="02020603050405020304" pitchFamily="18" charset="0"/>
                        </a:rPr>
                        <a:t>Fibrous, insoluble in water/acids/bases/salts</a:t>
                      </a:r>
                    </a:p>
                  </a:txBody>
                  <a:tcPr anchor="ctr"/>
                </a:tc>
                <a:tc>
                  <a:txBody>
                    <a:bodyPr/>
                    <a:lstStyle/>
                    <a:p>
                      <a:r>
                        <a:rPr lang="en-IN" sz="2000" dirty="0">
                          <a:latin typeface="Times New Roman" panose="02020603050405020304" pitchFamily="18" charset="0"/>
                          <a:cs typeface="Times New Roman" panose="02020603050405020304" pitchFamily="18" charset="0"/>
                        </a:rPr>
                        <a:t>Collagen, keratin</a:t>
                      </a:r>
                    </a:p>
                  </a:txBody>
                  <a:tcPr anchor="ctr"/>
                </a:tc>
                <a:extLst>
                  <a:ext uri="{0D108BD9-81ED-4DB2-BD59-A6C34878D82A}">
                    <a16:rowId xmlns:a16="http://schemas.microsoft.com/office/drawing/2014/main" val="191194429"/>
                  </a:ext>
                </a:extLst>
              </a:tr>
            </a:tbl>
          </a:graphicData>
        </a:graphic>
      </p:graphicFrame>
    </p:spTree>
    <p:extLst>
      <p:ext uri="{BB962C8B-B14F-4D97-AF65-F5344CB8AC3E}">
        <p14:creationId xmlns:p14="http://schemas.microsoft.com/office/powerpoint/2010/main" val="213572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346FCD-53BB-082F-E73F-7D0948E25691}"/>
              </a:ext>
            </a:extLst>
          </p:cNvPr>
          <p:cNvSpPr>
            <a:spLocks noGrp="1"/>
          </p:cNvSpPr>
          <p:nvPr>
            <p:ph idx="1"/>
          </p:nvPr>
        </p:nvSpPr>
        <p:spPr>
          <a:xfrm>
            <a:off x="386508" y="404449"/>
            <a:ext cx="11368490" cy="6084486"/>
          </a:xfrm>
        </p:spPr>
        <p:txBody>
          <a:bodyPr/>
          <a:lstStyle/>
          <a:p>
            <a:pPr marL="0" indent="0">
              <a:buNone/>
            </a:pPr>
            <a:r>
              <a:rPr lang="en-US" b="1" dirty="0">
                <a:latin typeface="Times New Roman" panose="02020603050405020304" pitchFamily="18" charset="0"/>
                <a:cs typeface="Times New Roman" panose="02020603050405020304" pitchFamily="18" charset="0"/>
              </a:rPr>
              <a:t>2</a:t>
            </a:r>
            <a:r>
              <a:rPr lang="en-US" b="1" dirty="0"/>
              <a:t>. </a:t>
            </a:r>
            <a:r>
              <a:rPr lang="en-US" b="1" dirty="0">
                <a:latin typeface="Times New Roman" panose="02020603050405020304" pitchFamily="18" charset="0"/>
                <a:cs typeface="Times New Roman" panose="02020603050405020304" pitchFamily="18" charset="0"/>
              </a:rPr>
              <a:t>Conjugated Proteins (</a:t>
            </a:r>
            <a:r>
              <a:rPr lang="en-US" b="1" dirty="0" err="1">
                <a:latin typeface="Times New Roman" panose="02020603050405020304" pitchFamily="18" charset="0"/>
                <a:cs typeface="Times New Roman" panose="02020603050405020304" pitchFamily="18" charset="0"/>
              </a:rPr>
              <a:t>Heteroproteins</a:t>
            </a:r>
            <a:r>
              <a:rPr lang="en-US" b="1"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Made of </a:t>
            </a:r>
            <a:r>
              <a:rPr lang="en-US" sz="2000" b="1" dirty="0">
                <a:latin typeface="Times New Roman" panose="02020603050405020304" pitchFamily="18" charset="0"/>
                <a:cs typeface="Times New Roman" panose="02020603050405020304" pitchFamily="18" charset="0"/>
              </a:rPr>
              <a:t>amino acids + prosthetic group</a:t>
            </a:r>
            <a:r>
              <a:rPr lang="en-US" sz="2000" dirty="0">
                <a:latin typeface="Times New Roman" panose="02020603050405020304" pitchFamily="18" charset="0"/>
                <a:cs typeface="Times New Roman" panose="02020603050405020304" pitchFamily="18" charset="0"/>
              </a:rPr>
              <a:t> (non-protein part)</a:t>
            </a:r>
          </a:p>
          <a:p>
            <a:r>
              <a:rPr lang="en-US" sz="2000" dirty="0">
                <a:latin typeface="Times New Roman" panose="02020603050405020304" pitchFamily="18" charset="0"/>
                <a:cs typeface="Times New Roman" panose="02020603050405020304" pitchFamily="18" charset="0"/>
              </a:rPr>
              <a:t>Classified by </a:t>
            </a:r>
            <a:r>
              <a:rPr lang="en-US" sz="2000" b="1" dirty="0">
                <a:latin typeface="Times New Roman" panose="02020603050405020304" pitchFamily="18" charset="0"/>
                <a:cs typeface="Times New Roman" panose="02020603050405020304" pitchFamily="18" charset="0"/>
              </a:rPr>
              <a:t>type of prosthetic group</a:t>
            </a:r>
            <a:endParaRPr lang="en-US" sz="2000" dirty="0">
              <a:latin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4" name="Table 3">
            <a:extLst>
              <a:ext uri="{FF2B5EF4-FFF2-40B4-BE49-F238E27FC236}">
                <a16:creationId xmlns:a16="http://schemas.microsoft.com/office/drawing/2014/main" id="{89D9EE8A-6C0A-DD99-61E6-F189B1AA7EBF}"/>
              </a:ext>
            </a:extLst>
          </p:cNvPr>
          <p:cNvGraphicFramePr>
            <a:graphicFrameLocks noGrp="1"/>
          </p:cNvGraphicFramePr>
          <p:nvPr>
            <p:extLst>
              <p:ext uri="{D42A27DB-BD31-4B8C-83A1-F6EECF244321}">
                <p14:modId xmlns:p14="http://schemas.microsoft.com/office/powerpoint/2010/main" val="2406627823"/>
              </p:ext>
            </p:extLst>
          </p:nvPr>
        </p:nvGraphicFramePr>
        <p:xfrm>
          <a:off x="838200" y="2583974"/>
          <a:ext cx="10515600" cy="3383280"/>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1658411998"/>
                    </a:ext>
                  </a:extLst>
                </a:gridCol>
                <a:gridCol w="3505200">
                  <a:extLst>
                    <a:ext uri="{9D8B030D-6E8A-4147-A177-3AD203B41FA5}">
                      <a16:colId xmlns:a16="http://schemas.microsoft.com/office/drawing/2014/main" val="713448873"/>
                    </a:ext>
                  </a:extLst>
                </a:gridCol>
                <a:gridCol w="3505200">
                  <a:extLst>
                    <a:ext uri="{9D8B030D-6E8A-4147-A177-3AD203B41FA5}">
                      <a16:colId xmlns:a16="http://schemas.microsoft.com/office/drawing/2014/main" val="2454504215"/>
                    </a:ext>
                  </a:extLst>
                </a:gridCol>
              </a:tblGrid>
              <a:tr h="0">
                <a:tc>
                  <a:txBody>
                    <a:bodyPr/>
                    <a:lstStyle/>
                    <a:p>
                      <a:r>
                        <a:rPr lang="en-IN" sz="2000" b="1">
                          <a:latin typeface="Times New Roman" panose="02020603050405020304" pitchFamily="18" charset="0"/>
                          <a:cs typeface="Times New Roman" panose="02020603050405020304" pitchFamily="18" charset="0"/>
                        </a:rPr>
                        <a:t>Type</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b="1">
                          <a:latin typeface="Times New Roman" panose="02020603050405020304" pitchFamily="18" charset="0"/>
                          <a:cs typeface="Times New Roman" panose="02020603050405020304" pitchFamily="18" charset="0"/>
                        </a:rPr>
                        <a:t>Prosthetic Group</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b="1">
                          <a:latin typeface="Times New Roman" panose="02020603050405020304" pitchFamily="18" charset="0"/>
                          <a:cs typeface="Times New Roman" panose="02020603050405020304" pitchFamily="18" charset="0"/>
                        </a:rPr>
                        <a:t>Examples</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42987032"/>
                  </a:ext>
                </a:extLst>
              </a:tr>
              <a:tr h="0">
                <a:tc>
                  <a:txBody>
                    <a:bodyPr/>
                    <a:lstStyle/>
                    <a:p>
                      <a:r>
                        <a:rPr lang="en-IN" sz="2000" b="1">
                          <a:latin typeface="Times New Roman" panose="02020603050405020304" pitchFamily="18" charset="0"/>
                          <a:cs typeface="Times New Roman" panose="02020603050405020304" pitchFamily="18" charset="0"/>
                        </a:rPr>
                        <a:t>Metalloproteins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latin typeface="Times New Roman" panose="02020603050405020304" pitchFamily="18" charset="0"/>
                          <a:cs typeface="Times New Roman" panose="02020603050405020304" pitchFamily="18" charset="0"/>
                        </a:rPr>
                        <a:t>Metal ions</a:t>
                      </a:r>
                    </a:p>
                  </a:txBody>
                  <a:tcPr anchor="ctr"/>
                </a:tc>
                <a:tc>
                  <a:txBody>
                    <a:bodyPr/>
                    <a:lstStyle/>
                    <a:p>
                      <a:r>
                        <a:rPr lang="en-IN" sz="2000">
                          <a:latin typeface="Times New Roman" panose="02020603050405020304" pitchFamily="18" charset="0"/>
                          <a:cs typeface="Times New Roman" panose="02020603050405020304" pitchFamily="18" charset="0"/>
                        </a:rPr>
                        <a:t>Casein, collagen, ceruloplasmin</a:t>
                      </a:r>
                    </a:p>
                  </a:txBody>
                  <a:tcPr anchor="ctr"/>
                </a:tc>
                <a:extLst>
                  <a:ext uri="{0D108BD9-81ED-4DB2-BD59-A6C34878D82A}">
                    <a16:rowId xmlns:a16="http://schemas.microsoft.com/office/drawing/2014/main" val="936787986"/>
                  </a:ext>
                </a:extLst>
              </a:tr>
              <a:tr h="0">
                <a:tc>
                  <a:txBody>
                    <a:bodyPr/>
                    <a:lstStyle/>
                    <a:p>
                      <a:r>
                        <a:rPr lang="en-IN" sz="2000" b="1">
                          <a:latin typeface="Times New Roman" panose="02020603050405020304" pitchFamily="18" charset="0"/>
                          <a:cs typeface="Times New Roman" panose="02020603050405020304" pitchFamily="18" charset="0"/>
                        </a:rPr>
                        <a:t>Chromoproteins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latin typeface="Times New Roman" panose="02020603050405020304" pitchFamily="18" charset="0"/>
                          <a:cs typeface="Times New Roman" panose="02020603050405020304" pitchFamily="18" charset="0"/>
                        </a:rPr>
                        <a:t>Colored pigments</a:t>
                      </a:r>
                    </a:p>
                  </a:txBody>
                  <a:tcPr anchor="ctr"/>
                </a:tc>
                <a:tc>
                  <a:txBody>
                    <a:bodyPr/>
                    <a:lstStyle/>
                    <a:p>
                      <a:r>
                        <a:rPr lang="en-IN" sz="2000">
                          <a:latin typeface="Times New Roman" panose="02020603050405020304" pitchFamily="18" charset="0"/>
                          <a:cs typeface="Times New Roman" panose="02020603050405020304" pitchFamily="18" charset="0"/>
                        </a:rPr>
                        <a:t>Myoglobin, hemocyanin, cytochromes</a:t>
                      </a:r>
                    </a:p>
                  </a:txBody>
                  <a:tcPr anchor="ctr"/>
                </a:tc>
                <a:extLst>
                  <a:ext uri="{0D108BD9-81ED-4DB2-BD59-A6C34878D82A}">
                    <a16:rowId xmlns:a16="http://schemas.microsoft.com/office/drawing/2014/main" val="2607456092"/>
                  </a:ext>
                </a:extLst>
              </a:tr>
              <a:tr h="0">
                <a:tc>
                  <a:txBody>
                    <a:bodyPr/>
                    <a:lstStyle/>
                    <a:p>
                      <a:r>
                        <a:rPr lang="en-IN" sz="2000" b="1">
                          <a:latin typeface="Times New Roman" panose="02020603050405020304" pitchFamily="18" charset="0"/>
                          <a:cs typeface="Times New Roman" panose="02020603050405020304" pitchFamily="18" charset="0"/>
                        </a:rPr>
                        <a:t>Glycoproteins / Mucoproteins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latin typeface="Times New Roman" panose="02020603050405020304" pitchFamily="18" charset="0"/>
                          <a:cs typeface="Times New Roman" panose="02020603050405020304" pitchFamily="18" charset="0"/>
                        </a:rPr>
                        <a:t>Carbohydrates</a:t>
                      </a:r>
                    </a:p>
                  </a:txBody>
                  <a:tcPr anchor="ctr"/>
                </a:tc>
                <a:tc>
                  <a:txBody>
                    <a:bodyPr/>
                    <a:lstStyle/>
                    <a:p>
                      <a:r>
                        <a:rPr lang="en-IN" sz="2000">
                          <a:latin typeface="Times New Roman" panose="02020603050405020304" pitchFamily="18" charset="0"/>
                          <a:cs typeface="Times New Roman" panose="02020603050405020304" pitchFamily="18" charset="0"/>
                        </a:rPr>
                        <a:t>Egg albumin, mucin, ovomucoid</a:t>
                      </a:r>
                    </a:p>
                  </a:txBody>
                  <a:tcPr anchor="ctr"/>
                </a:tc>
                <a:extLst>
                  <a:ext uri="{0D108BD9-81ED-4DB2-BD59-A6C34878D82A}">
                    <a16:rowId xmlns:a16="http://schemas.microsoft.com/office/drawing/2014/main" val="3209027673"/>
                  </a:ext>
                </a:extLst>
              </a:tr>
              <a:tr h="0">
                <a:tc>
                  <a:txBody>
                    <a:bodyPr/>
                    <a:lstStyle/>
                    <a:p>
                      <a:r>
                        <a:rPr lang="en-IN" sz="2000" b="1">
                          <a:latin typeface="Times New Roman" panose="02020603050405020304" pitchFamily="18" charset="0"/>
                          <a:cs typeface="Times New Roman" panose="02020603050405020304" pitchFamily="18" charset="0"/>
                        </a:rPr>
                        <a:t>Phosphoproteins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latin typeface="Times New Roman" panose="02020603050405020304" pitchFamily="18" charset="0"/>
                          <a:cs typeface="Times New Roman" panose="02020603050405020304" pitchFamily="18" charset="0"/>
                        </a:rPr>
                        <a:t>Phosphoric acid</a:t>
                      </a:r>
                    </a:p>
                  </a:txBody>
                  <a:tcPr anchor="ctr"/>
                </a:tc>
                <a:tc>
                  <a:txBody>
                    <a:bodyPr/>
                    <a:lstStyle/>
                    <a:p>
                      <a:r>
                        <a:rPr lang="en-IN" sz="2000">
                          <a:latin typeface="Times New Roman" panose="02020603050405020304" pitchFamily="18" charset="0"/>
                          <a:cs typeface="Times New Roman" panose="02020603050405020304" pitchFamily="18" charset="0"/>
                        </a:rPr>
                        <a:t>Casein</a:t>
                      </a:r>
                    </a:p>
                  </a:txBody>
                  <a:tcPr anchor="ctr"/>
                </a:tc>
                <a:extLst>
                  <a:ext uri="{0D108BD9-81ED-4DB2-BD59-A6C34878D82A}">
                    <a16:rowId xmlns:a16="http://schemas.microsoft.com/office/drawing/2014/main" val="1326101795"/>
                  </a:ext>
                </a:extLst>
              </a:tr>
              <a:tr h="0">
                <a:tc>
                  <a:txBody>
                    <a:bodyPr/>
                    <a:lstStyle/>
                    <a:p>
                      <a:r>
                        <a:rPr lang="en-IN" sz="2000" b="1">
                          <a:latin typeface="Times New Roman" panose="02020603050405020304" pitchFamily="18" charset="0"/>
                          <a:cs typeface="Times New Roman" panose="02020603050405020304" pitchFamily="18" charset="0"/>
                        </a:rPr>
                        <a:t>Lipoproteins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latin typeface="Times New Roman" panose="02020603050405020304" pitchFamily="18" charset="0"/>
                          <a:cs typeface="Times New Roman" panose="02020603050405020304" pitchFamily="18" charset="0"/>
                        </a:rPr>
                        <a:t>Lipids</a:t>
                      </a:r>
                    </a:p>
                  </a:txBody>
                  <a:tcPr anchor="ctr"/>
                </a:tc>
                <a:tc>
                  <a:txBody>
                    <a:bodyPr/>
                    <a:lstStyle/>
                    <a:p>
                      <a:r>
                        <a:rPr lang="en-IN" sz="2000">
                          <a:latin typeface="Times New Roman" panose="02020603050405020304" pitchFamily="18" charset="0"/>
                          <a:cs typeface="Times New Roman" panose="02020603050405020304" pitchFamily="18" charset="0"/>
                        </a:rPr>
                        <a:t>Lipovitellin, blood lipoproteins</a:t>
                      </a:r>
                    </a:p>
                  </a:txBody>
                  <a:tcPr anchor="ctr"/>
                </a:tc>
                <a:extLst>
                  <a:ext uri="{0D108BD9-81ED-4DB2-BD59-A6C34878D82A}">
                    <a16:rowId xmlns:a16="http://schemas.microsoft.com/office/drawing/2014/main" val="3934686745"/>
                  </a:ext>
                </a:extLst>
              </a:tr>
              <a:tr h="0">
                <a:tc>
                  <a:txBody>
                    <a:bodyPr/>
                    <a:lstStyle/>
                    <a:p>
                      <a:r>
                        <a:rPr lang="en-IN" sz="2000" b="1">
                          <a:latin typeface="Times New Roman" panose="02020603050405020304" pitchFamily="18" charset="0"/>
                          <a:cs typeface="Times New Roman" panose="02020603050405020304" pitchFamily="18" charset="0"/>
                        </a:rPr>
                        <a:t>Nucleoproteins</a:t>
                      </a:r>
                      <a:endParaRPr lang="en-IN" sz="2000">
                        <a:latin typeface="Times New Roman" panose="02020603050405020304" pitchFamily="18" charset="0"/>
                        <a:cs typeface="Times New Roman" panose="02020603050405020304" pitchFamily="18" charset="0"/>
                      </a:endParaRPr>
                    </a:p>
                  </a:txBody>
                  <a:tcPr anchor="ctr"/>
                </a:tc>
                <a:tc>
                  <a:txBody>
                    <a:bodyPr/>
                    <a:lstStyle/>
                    <a:p>
                      <a:r>
                        <a:rPr lang="en-IN" sz="2000">
                          <a:latin typeface="Times New Roman" panose="02020603050405020304" pitchFamily="18" charset="0"/>
                          <a:cs typeface="Times New Roman" panose="02020603050405020304" pitchFamily="18" charset="0"/>
                        </a:rPr>
                        <a:t>Nucleic acids</a:t>
                      </a:r>
                    </a:p>
                  </a:txBody>
                  <a:tcPr anchor="ctr"/>
                </a:tc>
                <a:tc>
                  <a:txBody>
                    <a:bodyPr/>
                    <a:lstStyle/>
                    <a:p>
                      <a:r>
                        <a:rPr lang="en-IN" sz="2000" dirty="0" err="1">
                          <a:latin typeface="Times New Roman" panose="02020603050405020304" pitchFamily="18" charset="0"/>
                          <a:cs typeface="Times New Roman" panose="02020603050405020304" pitchFamily="18" charset="0"/>
                        </a:rPr>
                        <a:t>Nucleohistones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nuclein</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55443155"/>
                  </a:ext>
                </a:extLst>
              </a:tr>
            </a:tbl>
          </a:graphicData>
        </a:graphic>
      </p:graphicFrame>
    </p:spTree>
    <p:extLst>
      <p:ext uri="{BB962C8B-B14F-4D97-AF65-F5344CB8AC3E}">
        <p14:creationId xmlns:p14="http://schemas.microsoft.com/office/powerpoint/2010/main" val="2825924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482991-21FE-B41E-E0B8-638C789B2A48}"/>
              </a:ext>
            </a:extLst>
          </p:cNvPr>
          <p:cNvSpPr txBox="1"/>
          <p:nvPr/>
        </p:nvSpPr>
        <p:spPr>
          <a:xfrm>
            <a:off x="459954" y="316601"/>
            <a:ext cx="6097836"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Function of Proteins</a:t>
            </a:r>
          </a:p>
        </p:txBody>
      </p:sp>
      <p:pic>
        <p:nvPicPr>
          <p:cNvPr id="5" name="Picture 4">
            <a:extLst>
              <a:ext uri="{FF2B5EF4-FFF2-40B4-BE49-F238E27FC236}">
                <a16:creationId xmlns:a16="http://schemas.microsoft.com/office/drawing/2014/main" id="{C8988DED-D55F-B2F8-9E70-C018A9E11217}"/>
              </a:ext>
            </a:extLst>
          </p:cNvPr>
          <p:cNvPicPr>
            <a:picLocks noChangeAspect="1"/>
          </p:cNvPicPr>
          <p:nvPr/>
        </p:nvPicPr>
        <p:blipFill>
          <a:blip r:embed="rId2"/>
          <a:stretch>
            <a:fillRect/>
          </a:stretch>
        </p:blipFill>
        <p:spPr>
          <a:xfrm>
            <a:off x="2615381" y="1141597"/>
            <a:ext cx="7244715" cy="5553614"/>
          </a:xfrm>
          <a:prstGeom prst="rect">
            <a:avLst/>
          </a:prstGeom>
        </p:spPr>
      </p:pic>
    </p:spTree>
    <p:extLst>
      <p:ext uri="{BB962C8B-B14F-4D97-AF65-F5344CB8AC3E}">
        <p14:creationId xmlns:p14="http://schemas.microsoft.com/office/powerpoint/2010/main" val="2137174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EADBC-F0F2-D5B2-DFC7-D08ED32C8506}"/>
              </a:ext>
            </a:extLst>
          </p:cNvPr>
          <p:cNvSpPr>
            <a:spLocks noGrp="1"/>
          </p:cNvSpPr>
          <p:nvPr>
            <p:ph type="title"/>
          </p:nvPr>
        </p:nvSpPr>
        <p:spPr>
          <a:xfrm>
            <a:off x="838200" y="158647"/>
            <a:ext cx="10515600" cy="1325563"/>
          </a:xfrm>
        </p:spPr>
        <p:txBody>
          <a:bodyPr/>
          <a:lstStyle/>
          <a:p>
            <a:r>
              <a:rPr lang="en-IN" b="1" dirty="0">
                <a:latin typeface="Times New Roman" panose="02020603050405020304" pitchFamily="18" charset="0"/>
                <a:cs typeface="Times New Roman" panose="02020603050405020304" pitchFamily="18" charset="0"/>
              </a:rPr>
              <a:t>Applications </a:t>
            </a:r>
          </a:p>
        </p:txBody>
      </p:sp>
      <p:sp>
        <p:nvSpPr>
          <p:cNvPr id="3" name="Content Placeholder 2">
            <a:extLst>
              <a:ext uri="{FF2B5EF4-FFF2-40B4-BE49-F238E27FC236}">
                <a16:creationId xmlns:a16="http://schemas.microsoft.com/office/drawing/2014/main" id="{C4BCB35B-7017-F292-C549-E8356E8B799D}"/>
              </a:ext>
            </a:extLst>
          </p:cNvPr>
          <p:cNvSpPr>
            <a:spLocks noGrp="1"/>
          </p:cNvSpPr>
          <p:nvPr>
            <p:ph idx="1"/>
          </p:nvPr>
        </p:nvSpPr>
        <p:spPr>
          <a:xfrm>
            <a:off x="471948" y="1622323"/>
            <a:ext cx="10881852" cy="5077030"/>
          </a:xfrm>
        </p:spPr>
        <p:txBody>
          <a:bodyPr>
            <a:normAutofit fontScale="92500" lnSpcReduction="20000"/>
          </a:bodyPr>
          <a:lstStyle/>
          <a:p>
            <a:pPr marL="0" indent="0">
              <a:buNone/>
            </a:pPr>
            <a:r>
              <a:rPr lang="en-IN" b="1" dirty="0">
                <a:latin typeface="Times New Roman" panose="02020603050405020304" pitchFamily="18" charset="0"/>
                <a:cs typeface="Times New Roman" panose="02020603050405020304" pitchFamily="18" charset="0"/>
              </a:rPr>
              <a:t>1. Enzymes (Biocatalysts)</a:t>
            </a:r>
          </a:p>
          <a:p>
            <a:r>
              <a:rPr lang="en-IN" dirty="0">
                <a:latin typeface="Times New Roman" panose="02020603050405020304" pitchFamily="18" charset="0"/>
                <a:cs typeface="Times New Roman" panose="02020603050405020304" pitchFamily="18" charset="0"/>
              </a:rPr>
              <a:t>Speed up biochemical reactions</a:t>
            </a:r>
          </a:p>
          <a:p>
            <a:r>
              <a:rPr lang="en-IN" dirty="0">
                <a:latin typeface="Times New Roman" panose="02020603050405020304" pitchFamily="18" charset="0"/>
                <a:cs typeface="Times New Roman" panose="02020603050405020304" pitchFamily="18" charset="0"/>
              </a:rPr>
              <a:t>Industrial use: detergents, brewing, biotech</a:t>
            </a:r>
          </a:p>
          <a:p>
            <a:pPr marL="0" indent="0">
              <a:buNone/>
            </a:pPr>
            <a:r>
              <a:rPr lang="en-IN" b="1" dirty="0">
                <a:latin typeface="Times New Roman" panose="02020603050405020304" pitchFamily="18" charset="0"/>
                <a:cs typeface="Times New Roman" panose="02020603050405020304" pitchFamily="18" charset="0"/>
              </a:rPr>
              <a:t>2. Structural Proteins</a:t>
            </a:r>
          </a:p>
          <a:p>
            <a:r>
              <a:rPr lang="en-IN" dirty="0">
                <a:latin typeface="Times New Roman" panose="02020603050405020304" pitchFamily="18" charset="0"/>
                <a:cs typeface="Times New Roman" panose="02020603050405020304" pitchFamily="18" charset="0"/>
              </a:rPr>
              <a:t>e.g., </a:t>
            </a:r>
            <a:r>
              <a:rPr lang="en-IN" b="1" dirty="0">
                <a:latin typeface="Times New Roman" panose="02020603050405020304" pitchFamily="18" charset="0"/>
                <a:cs typeface="Times New Roman" panose="02020603050405020304" pitchFamily="18" charset="0"/>
              </a:rPr>
              <a:t>Collagen</a:t>
            </a:r>
            <a:r>
              <a:rPr lang="en-IN" dirty="0">
                <a:latin typeface="Times New Roman" panose="02020603050405020304" pitchFamily="18" charset="0"/>
                <a:cs typeface="Times New Roman" panose="02020603050405020304" pitchFamily="18" charset="0"/>
              </a:rPr>
              <a:t> (skin, bones), </a:t>
            </a:r>
            <a:r>
              <a:rPr lang="en-IN" b="1" dirty="0">
                <a:latin typeface="Times New Roman" panose="02020603050405020304" pitchFamily="18" charset="0"/>
                <a:cs typeface="Times New Roman" panose="02020603050405020304" pitchFamily="18" charset="0"/>
              </a:rPr>
              <a:t>Keratin</a:t>
            </a:r>
            <a:r>
              <a:rPr lang="en-IN" dirty="0">
                <a:latin typeface="Times New Roman" panose="02020603050405020304" pitchFamily="18" charset="0"/>
                <a:cs typeface="Times New Roman" panose="02020603050405020304" pitchFamily="18" charset="0"/>
              </a:rPr>
              <a:t> (hair, nails)</a:t>
            </a:r>
          </a:p>
          <a:p>
            <a:r>
              <a:rPr lang="en-IN" dirty="0">
                <a:latin typeface="Times New Roman" panose="02020603050405020304" pitchFamily="18" charset="0"/>
                <a:cs typeface="Times New Roman" panose="02020603050405020304" pitchFamily="18" charset="0"/>
              </a:rPr>
              <a:t>Used in </a:t>
            </a:r>
            <a:r>
              <a:rPr lang="en-IN" b="1" dirty="0">
                <a:latin typeface="Times New Roman" panose="02020603050405020304" pitchFamily="18" charset="0"/>
                <a:cs typeface="Times New Roman" panose="02020603050405020304" pitchFamily="18" charset="0"/>
              </a:rPr>
              <a:t>biomaterials, wound healing</a:t>
            </a:r>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3. Therapeutic Proteins</a:t>
            </a:r>
          </a:p>
          <a:p>
            <a:r>
              <a:rPr lang="en-IN" dirty="0">
                <a:latin typeface="Times New Roman" panose="02020603050405020304" pitchFamily="18" charset="0"/>
                <a:cs typeface="Times New Roman" panose="02020603050405020304" pitchFamily="18" charset="0"/>
              </a:rPr>
              <a:t>e.g., </a:t>
            </a:r>
            <a:r>
              <a:rPr lang="en-IN" b="1" dirty="0">
                <a:latin typeface="Times New Roman" panose="02020603050405020304" pitchFamily="18" charset="0"/>
                <a:cs typeface="Times New Roman" panose="02020603050405020304" pitchFamily="18" charset="0"/>
              </a:rPr>
              <a:t>Insulin</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Monoclonal antibodies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Used in </a:t>
            </a:r>
            <a:r>
              <a:rPr lang="en-IN" b="1" dirty="0">
                <a:latin typeface="Times New Roman" panose="02020603050405020304" pitchFamily="18" charset="0"/>
                <a:cs typeface="Times New Roman" panose="02020603050405020304" pitchFamily="18" charset="0"/>
              </a:rPr>
              <a:t>diabetes, cancer therapy</a:t>
            </a:r>
            <a:endParaRPr lang="en-IN"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 Engineering Insight:</a:t>
            </a:r>
          </a:p>
          <a:p>
            <a:r>
              <a:rPr lang="en-IN" dirty="0">
                <a:latin typeface="Times New Roman" panose="02020603050405020304" pitchFamily="18" charset="0"/>
                <a:cs typeface="Times New Roman" panose="02020603050405020304" pitchFamily="18" charset="0"/>
              </a:rPr>
              <a:t>Protein design in </a:t>
            </a:r>
            <a:r>
              <a:rPr lang="en-IN" b="1" dirty="0">
                <a:latin typeface="Times New Roman" panose="02020603050405020304" pitchFamily="18" charset="0"/>
                <a:cs typeface="Times New Roman" panose="02020603050405020304" pitchFamily="18" charset="0"/>
              </a:rPr>
              <a:t>biomedical implants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221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B068-4912-0E30-715C-E18460134BF6}"/>
              </a:ext>
            </a:extLst>
          </p:cNvPr>
          <p:cNvSpPr>
            <a:spLocks noGrp="1"/>
          </p:cNvSpPr>
          <p:nvPr>
            <p:ph type="title"/>
          </p:nvPr>
        </p:nvSpPr>
        <p:spPr/>
        <p:txBody>
          <a:bodyPr/>
          <a:lstStyle/>
          <a:p>
            <a:r>
              <a:rPr lang="en-US" b="1" dirty="0">
                <a:solidFill>
                  <a:srgbClr val="C00000"/>
                </a:solidFill>
                <a:latin typeface="Times New Roman" panose="02020603050405020304" pitchFamily="18" charset="0"/>
                <a:cs typeface="Times New Roman" panose="02020603050405020304" pitchFamily="18" charset="0"/>
              </a:rPr>
              <a:t>Lipids </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05CC1F-0230-B7FC-A095-0509401E50B7}"/>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Lipids are organic compounds formed mainly from </a:t>
            </a:r>
            <a:r>
              <a:rPr lang="en-US" sz="2400" b="1" dirty="0">
                <a:latin typeface="Times New Roman" panose="02020603050405020304" pitchFamily="18" charset="0"/>
                <a:cs typeface="Times New Roman" panose="02020603050405020304" pitchFamily="18" charset="0"/>
              </a:rPr>
              <a:t>alcohol and fatty acids combined together by </a:t>
            </a:r>
            <a:r>
              <a:rPr lang="en-US" sz="2400" b="1" dirty="0">
                <a:highlight>
                  <a:srgbClr val="FFFF00"/>
                </a:highlight>
                <a:latin typeface="Times New Roman" panose="02020603050405020304" pitchFamily="18" charset="0"/>
                <a:cs typeface="Times New Roman" panose="02020603050405020304" pitchFamily="18" charset="0"/>
              </a:rPr>
              <a:t>ester linkage (-COO-).</a:t>
            </a:r>
          </a:p>
          <a:p>
            <a:endParaRPr lang="en-US" sz="2400" dirty="0">
              <a:highlight>
                <a:srgbClr val="FFFF00"/>
              </a:highlight>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Lipids are </a:t>
            </a:r>
            <a:r>
              <a:rPr lang="en-US" sz="2400" b="1" dirty="0">
                <a:latin typeface="Times New Roman" panose="02020603050405020304" pitchFamily="18" charset="0"/>
                <a:cs typeface="Times New Roman" panose="02020603050405020304" pitchFamily="18" charset="0"/>
              </a:rPr>
              <a:t>insoluble in water</a:t>
            </a:r>
            <a:r>
              <a:rPr lang="en-US" sz="2400" dirty="0">
                <a:latin typeface="Times New Roman" panose="02020603050405020304" pitchFamily="18" charset="0"/>
                <a:cs typeface="Times New Roman" panose="02020603050405020304" pitchFamily="18" charset="0"/>
              </a:rPr>
              <a:t>, but soluble in fat or organic solvents (ether, chloroform, benzene, acetone).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Lipids include </a:t>
            </a:r>
            <a:r>
              <a:rPr lang="en-US" sz="2400" b="1" dirty="0">
                <a:latin typeface="Times New Roman" panose="02020603050405020304" pitchFamily="18" charset="0"/>
                <a:cs typeface="Times New Roman" panose="02020603050405020304" pitchFamily="18" charset="0"/>
              </a:rPr>
              <a:t>fats, oils, waxes and related compounds</a:t>
            </a: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They are widely distributed in nature both in plants and in animals.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694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C0AC1-2136-A308-8D55-732DCF29884F}"/>
              </a:ext>
            </a:extLst>
          </p:cNvPr>
          <p:cNvSpPr>
            <a:spLocks noGrp="1"/>
          </p:cNvSpPr>
          <p:nvPr>
            <p:ph type="title"/>
          </p:nvPr>
        </p:nvSpPr>
        <p:spPr>
          <a:xfrm>
            <a:off x="573794" y="-269913"/>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Biological importance of lipids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CAF1AA-5FBB-9842-1CF0-C6D3928540CF}"/>
              </a:ext>
            </a:extLst>
          </p:cNvPr>
          <p:cNvSpPr>
            <a:spLocks noGrp="1"/>
          </p:cNvSpPr>
          <p:nvPr>
            <p:ph idx="1"/>
          </p:nvPr>
        </p:nvSpPr>
        <p:spPr>
          <a:xfrm>
            <a:off x="439297" y="912431"/>
            <a:ext cx="11489675" cy="5455319"/>
          </a:xfrm>
        </p:spPr>
        <p:txBody>
          <a:bodyPr>
            <a:noAutofit/>
          </a:bodyPr>
          <a:lstStyle/>
          <a:p>
            <a:r>
              <a:rPr lang="en-US" sz="1600" b="1" dirty="0">
                <a:latin typeface="Times New Roman" panose="02020603050405020304" pitchFamily="18" charset="0"/>
                <a:cs typeface="Times New Roman" panose="02020603050405020304" pitchFamily="18" charset="0"/>
              </a:rPr>
              <a:t>Food material</a:t>
            </a:r>
            <a:r>
              <a:rPr lang="en-US" sz="1600" dirty="0">
                <a:latin typeface="Times New Roman" panose="02020603050405020304" pitchFamily="18" charset="0"/>
                <a:cs typeface="Times New Roman" panose="02020603050405020304" pitchFamily="18" charset="0"/>
              </a:rPr>
              <a:t>: Lipids provide food, highly </a:t>
            </a:r>
            <a:r>
              <a:rPr lang="en-US" sz="1600" b="1" dirty="0">
                <a:latin typeface="Times New Roman" panose="02020603050405020304" pitchFamily="18" charset="0"/>
                <a:cs typeface="Times New Roman" panose="02020603050405020304" pitchFamily="18" charset="0"/>
              </a:rPr>
              <a:t>rich in calorific value</a:t>
            </a:r>
            <a:r>
              <a:rPr lang="en-US" sz="1600" dirty="0">
                <a:latin typeface="Times New Roman" panose="02020603050405020304" pitchFamily="18" charset="0"/>
                <a:cs typeface="Times New Roman" panose="02020603050405020304" pitchFamily="18" charset="0"/>
              </a:rPr>
              <a:t>. One gram lipid produces 9.3 kilocalories of heat.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Food reserve</a:t>
            </a:r>
            <a:r>
              <a:rPr lang="en-US" sz="1600" dirty="0">
                <a:latin typeface="Times New Roman" panose="02020603050405020304" pitchFamily="18" charset="0"/>
                <a:cs typeface="Times New Roman" panose="02020603050405020304" pitchFamily="18" charset="0"/>
              </a:rPr>
              <a:t>: Lipids provide are insoluble in aqueous solutions and hence can be </a:t>
            </a:r>
            <a:r>
              <a:rPr lang="en-US" sz="1600" b="1" dirty="0">
                <a:latin typeface="Times New Roman" panose="02020603050405020304" pitchFamily="18" charset="0"/>
                <a:cs typeface="Times New Roman" panose="02020603050405020304" pitchFamily="18" charset="0"/>
              </a:rPr>
              <a:t>stored readily in the body </a:t>
            </a:r>
            <a:r>
              <a:rPr lang="en-US" sz="1600" dirty="0">
                <a:latin typeface="Times New Roman" panose="02020603050405020304" pitchFamily="18" charset="0"/>
                <a:cs typeface="Times New Roman" panose="02020603050405020304" pitchFamily="18" charset="0"/>
              </a:rPr>
              <a:t>as a food reserve.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Structural component</a:t>
            </a:r>
            <a:r>
              <a:rPr lang="en-US" sz="1600" dirty="0">
                <a:latin typeface="Times New Roman" panose="02020603050405020304" pitchFamily="18" charset="0"/>
                <a:cs typeface="Times New Roman" panose="02020603050405020304" pitchFamily="18" charset="0"/>
              </a:rPr>
              <a:t>: Lipids are an important constituent of the </a:t>
            </a:r>
            <a:r>
              <a:rPr lang="en-US" sz="1600" b="1" dirty="0">
                <a:latin typeface="Times New Roman" panose="02020603050405020304" pitchFamily="18" charset="0"/>
                <a:cs typeface="Times New Roman" panose="02020603050405020304" pitchFamily="18" charset="0"/>
              </a:rPr>
              <a:t>cell membrane</a:t>
            </a:r>
            <a:r>
              <a:rPr lang="en-US" sz="1600" dirty="0">
                <a:latin typeface="Times New Roman" panose="02020603050405020304" pitchFamily="18" charset="0"/>
                <a:cs typeface="Times New Roman" panose="02020603050405020304" pitchFamily="18" charset="0"/>
              </a:rPr>
              <a:t>.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Heat insulation</a:t>
            </a:r>
            <a:r>
              <a:rPr lang="en-US" sz="1600" dirty="0">
                <a:latin typeface="Times New Roman" panose="02020603050405020304" pitchFamily="18" charset="0"/>
                <a:cs typeface="Times New Roman" panose="02020603050405020304" pitchFamily="18" charset="0"/>
              </a:rPr>
              <a:t>: The fats are characterized for their high insulating capacity. Great quantities of fat are deposited in the subcutaneous layers in aquatic mammals such as whale and in animals living in cold climates.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Fatty acid absorption</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Phospholipids </a:t>
            </a:r>
            <a:r>
              <a:rPr lang="en-US" sz="1600" dirty="0">
                <a:latin typeface="Times New Roman" panose="02020603050405020304" pitchFamily="18" charset="0"/>
                <a:cs typeface="Times New Roman" panose="02020603050405020304" pitchFamily="18" charset="0"/>
              </a:rPr>
              <a:t>play an important role in the absorption and transportation of fatty acids.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Hormone synthesis</a:t>
            </a:r>
            <a:r>
              <a:rPr lang="en-US" sz="1600" dirty="0">
                <a:latin typeface="Times New Roman" panose="02020603050405020304" pitchFamily="18" charset="0"/>
                <a:cs typeface="Times New Roman" panose="02020603050405020304" pitchFamily="18" charset="0"/>
              </a:rPr>
              <a:t>: The sex hormones, adrenocorticoids, cholic acids and also vitamin D are all synthesized from </a:t>
            </a:r>
            <a:r>
              <a:rPr lang="en-US" sz="1600" b="1" dirty="0">
                <a:latin typeface="Times New Roman" panose="02020603050405020304" pitchFamily="18" charset="0"/>
                <a:cs typeface="Times New Roman" panose="02020603050405020304" pitchFamily="18" charset="0"/>
              </a:rPr>
              <a:t>cholestero</a:t>
            </a:r>
            <a:r>
              <a:rPr lang="en-US" sz="1600" dirty="0">
                <a:latin typeface="Times New Roman" panose="02020603050405020304" pitchFamily="18" charset="0"/>
                <a:cs typeface="Times New Roman" panose="02020603050405020304" pitchFamily="18" charset="0"/>
              </a:rPr>
              <a:t>l, a steroidal lipid.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Vitamin carriers</a:t>
            </a:r>
            <a:r>
              <a:rPr lang="en-US" sz="1600" dirty="0">
                <a:latin typeface="Times New Roman" panose="02020603050405020304" pitchFamily="18" charset="0"/>
                <a:cs typeface="Times New Roman" panose="02020603050405020304" pitchFamily="18" charset="0"/>
              </a:rPr>
              <a:t>: Lipids act as carriers of natural fat-soluble vitamins such as vitamin A, D and E.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Antibiotic agent</a:t>
            </a:r>
            <a:r>
              <a:rPr lang="en-US" sz="1600"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Squalamine</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 steroid from the blood of sharks, has been shown to be an antibiotic and antifungal agent of intense activity. This seems to explain why sharks rarely contract infections.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4448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28E16-27FF-8A7B-9C92-74B23C320A4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Classification of lipids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32546A-E550-CADD-16FD-3B1072F50927}"/>
              </a:ext>
            </a:extLst>
          </p:cNvPr>
          <p:cNvSpPr>
            <a:spLocks noGrp="1"/>
          </p:cNvSpPr>
          <p:nvPr>
            <p:ph idx="1"/>
          </p:nvPr>
        </p:nvSpPr>
        <p:spPr/>
        <p:txBody>
          <a:bodyPr>
            <a:normAutofit lnSpcReduction="10000"/>
          </a:bodyPr>
          <a:lstStyle/>
          <a:p>
            <a:pPr marL="0" indent="0">
              <a:buNone/>
            </a:pPr>
            <a:r>
              <a:rPr lang="en-IN" b="1" dirty="0">
                <a:latin typeface="Times New Roman" panose="02020603050405020304" pitchFamily="18" charset="0"/>
                <a:cs typeface="Times New Roman" panose="02020603050405020304" pitchFamily="18" charset="0"/>
              </a:rPr>
              <a:t>1. Simple Lipids (</a:t>
            </a:r>
            <a:r>
              <a:rPr lang="en-IN" b="1" dirty="0" err="1">
                <a:latin typeface="Times New Roman" panose="02020603050405020304" pitchFamily="18" charset="0"/>
                <a:cs typeface="Times New Roman" panose="02020603050405020304" pitchFamily="18" charset="0"/>
              </a:rPr>
              <a:t>Homolipids</a:t>
            </a:r>
            <a:r>
              <a:rPr lang="en-IN" b="1"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These are </a:t>
            </a:r>
            <a:r>
              <a:rPr lang="en-IN" b="1" dirty="0">
                <a:latin typeface="Times New Roman" panose="02020603050405020304" pitchFamily="18" charset="0"/>
                <a:cs typeface="Times New Roman" panose="02020603050405020304" pitchFamily="18" charset="0"/>
              </a:rPr>
              <a:t>esters of fatty acids</a:t>
            </a:r>
            <a:r>
              <a:rPr lang="en-IN" dirty="0">
                <a:latin typeface="Times New Roman" panose="02020603050405020304" pitchFamily="18" charset="0"/>
                <a:cs typeface="Times New Roman" panose="02020603050405020304" pitchFamily="18" charset="0"/>
              </a:rPr>
              <a:t> with various alcohols.</a:t>
            </a:r>
          </a:p>
          <a:p>
            <a:pPr marL="0" indent="0">
              <a:buNone/>
            </a:pPr>
            <a:r>
              <a:rPr lang="en-IN" b="1" dirty="0">
                <a:latin typeface="Times New Roman" panose="02020603050405020304" pitchFamily="18" charset="0"/>
                <a:cs typeface="Times New Roman" panose="02020603050405020304" pitchFamily="18" charset="0"/>
              </a:rPr>
              <a:t>➤ Types:</a:t>
            </a:r>
          </a:p>
          <a:p>
            <a:r>
              <a:rPr lang="en-IN" b="1" dirty="0">
                <a:latin typeface="Times New Roman" panose="02020603050405020304" pitchFamily="18" charset="0"/>
                <a:cs typeface="Times New Roman" panose="02020603050405020304" pitchFamily="18" charset="0"/>
              </a:rPr>
              <a:t>Fats and Oils (Triglycerides / Triacylglycerols):</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Esters of fatty acids with </a:t>
            </a:r>
            <a:r>
              <a:rPr lang="en-IN" b="1" dirty="0">
                <a:latin typeface="Times New Roman" panose="02020603050405020304" pitchFamily="18" charset="0"/>
                <a:cs typeface="Times New Roman" panose="02020603050405020304" pitchFamily="18" charset="0"/>
              </a:rPr>
              <a:t>glycerol</a:t>
            </a:r>
            <a:r>
              <a:rPr lang="en-IN" dirty="0">
                <a:latin typeface="Times New Roman" panose="02020603050405020304" pitchFamily="18" charset="0"/>
                <a:cs typeface="Times New Roman" panose="02020603050405020304" pitchFamily="18" charset="0"/>
              </a:rPr>
              <a:t> (a trihydroxy alcohol)</a:t>
            </a:r>
          </a:p>
          <a:p>
            <a:pPr lvl="1"/>
            <a:r>
              <a:rPr lang="en-IN" b="1" dirty="0">
                <a:latin typeface="Times New Roman" panose="02020603050405020304" pitchFamily="18" charset="0"/>
                <a:cs typeface="Times New Roman" panose="02020603050405020304" pitchFamily="18" charset="0"/>
              </a:rPr>
              <a:t>Fats</a:t>
            </a:r>
            <a:r>
              <a:rPr lang="en-IN" dirty="0">
                <a:latin typeface="Times New Roman" panose="02020603050405020304" pitchFamily="18" charset="0"/>
                <a:cs typeface="Times New Roman" panose="02020603050405020304" pitchFamily="18" charset="0"/>
              </a:rPr>
              <a:t>: Solid at room temperature</a:t>
            </a:r>
          </a:p>
          <a:p>
            <a:pPr lvl="1"/>
            <a:r>
              <a:rPr lang="en-IN" b="1" dirty="0">
                <a:latin typeface="Times New Roman" panose="02020603050405020304" pitchFamily="18" charset="0"/>
                <a:cs typeface="Times New Roman" panose="02020603050405020304" pitchFamily="18" charset="0"/>
              </a:rPr>
              <a:t>Oils</a:t>
            </a:r>
            <a:r>
              <a:rPr lang="en-IN" dirty="0">
                <a:latin typeface="Times New Roman" panose="02020603050405020304" pitchFamily="18" charset="0"/>
                <a:cs typeface="Times New Roman" panose="02020603050405020304" pitchFamily="18" charset="0"/>
              </a:rPr>
              <a:t>: Liquid at room temperature</a:t>
            </a:r>
          </a:p>
          <a:p>
            <a:r>
              <a:rPr lang="en-IN" b="1" dirty="0">
                <a:latin typeface="Times New Roman" panose="02020603050405020304" pitchFamily="18" charset="0"/>
                <a:cs typeface="Times New Roman" panose="02020603050405020304" pitchFamily="18" charset="0"/>
              </a:rPr>
              <a:t>Waxes:</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Esters of fatty acids with </a:t>
            </a:r>
            <a:r>
              <a:rPr lang="en-IN" b="1" dirty="0">
                <a:latin typeface="Times New Roman" panose="02020603050405020304" pitchFamily="18" charset="0"/>
                <a:cs typeface="Times New Roman" panose="02020603050405020304" pitchFamily="18" charset="0"/>
              </a:rPr>
              <a:t>high molecular weight monohydroxy alcohols</a:t>
            </a:r>
            <a:endParaRPr lang="en-IN"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Typically </a:t>
            </a:r>
            <a:r>
              <a:rPr lang="en-IN" b="1" dirty="0">
                <a:latin typeface="Times New Roman" panose="02020603050405020304" pitchFamily="18" charset="0"/>
                <a:cs typeface="Times New Roman" panose="02020603050405020304" pitchFamily="18" charset="0"/>
              </a:rPr>
              <a:t>insoluble</a:t>
            </a:r>
            <a:r>
              <a:rPr lang="en-IN" dirty="0">
                <a:latin typeface="Times New Roman" panose="02020603050405020304" pitchFamily="18" charset="0"/>
                <a:cs typeface="Times New Roman" panose="02020603050405020304" pitchFamily="18" charset="0"/>
              </a:rPr>
              <a:t> and water-repellent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7550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1"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05B539B-41DD-1258-7E00-E11EE8198DA1}"/>
              </a:ext>
            </a:extLst>
          </p:cNvPr>
          <p:cNvSpPr>
            <a:spLocks noGrp="1"/>
          </p:cNvSpPr>
          <p:nvPr>
            <p:ph idx="1"/>
          </p:nvPr>
        </p:nvSpPr>
        <p:spPr>
          <a:xfrm>
            <a:off x="5541263" y="457200"/>
            <a:ext cx="6007608" cy="1929384"/>
          </a:xfrm>
        </p:spPr>
        <p:txBody>
          <a:bodyPr anchor="ctr">
            <a:normAutofit/>
          </a:bodyPr>
          <a:lstStyle/>
          <a:p>
            <a:pPr marL="0" indent="0">
              <a:buNone/>
            </a:pPr>
            <a:r>
              <a:rPr lang="en-US" sz="2200" b="1">
                <a:latin typeface="Times New Roman" panose="02020603050405020304" pitchFamily="18" charset="0"/>
                <a:cs typeface="Times New Roman" panose="02020603050405020304" pitchFamily="18" charset="0"/>
              </a:rPr>
              <a:t>2. Compound (Conjugated) Lipids</a:t>
            </a:r>
          </a:p>
          <a:p>
            <a:r>
              <a:rPr lang="en-US" sz="2200">
                <a:latin typeface="Times New Roman" panose="02020603050405020304" pitchFamily="18" charset="0"/>
                <a:cs typeface="Times New Roman" panose="02020603050405020304" pitchFamily="18" charset="0"/>
              </a:rPr>
              <a:t>These are </a:t>
            </a:r>
            <a:r>
              <a:rPr lang="en-US" sz="2200" b="1">
                <a:latin typeface="Times New Roman" panose="02020603050405020304" pitchFamily="18" charset="0"/>
                <a:cs typeface="Times New Roman" panose="02020603050405020304" pitchFamily="18" charset="0"/>
              </a:rPr>
              <a:t>esters of fatty acids + alcohol</a:t>
            </a:r>
            <a:r>
              <a:rPr lang="en-US" sz="2200">
                <a:latin typeface="Times New Roman" panose="02020603050405020304" pitchFamily="18" charset="0"/>
                <a:cs typeface="Times New Roman" panose="02020603050405020304" pitchFamily="18" charset="0"/>
              </a:rPr>
              <a:t> with </a:t>
            </a:r>
            <a:r>
              <a:rPr lang="en-US" sz="2200" b="1">
                <a:latin typeface="Times New Roman" panose="02020603050405020304" pitchFamily="18" charset="0"/>
                <a:cs typeface="Times New Roman" panose="02020603050405020304" pitchFamily="18" charset="0"/>
              </a:rPr>
              <a:t>additional groups</a:t>
            </a:r>
            <a:r>
              <a:rPr lang="en-US" sz="2200">
                <a:latin typeface="Times New Roman" panose="02020603050405020304" pitchFamily="18" charset="0"/>
                <a:cs typeface="Times New Roman" panose="02020603050405020304" pitchFamily="18" charset="0"/>
              </a:rPr>
              <a:t> like sulfur, phosphorus, amino groups, carbohydrates, or proteins.</a:t>
            </a:r>
          </a:p>
          <a:p>
            <a:pPr marL="0" indent="0">
              <a:buNone/>
            </a:pPr>
            <a:endParaRPr lang="en-IN" sz="2200"/>
          </a:p>
        </p:txBody>
      </p:sp>
      <p:pic>
        <p:nvPicPr>
          <p:cNvPr id="3074" name="Picture 2" descr="image">
            <a:extLst>
              <a:ext uri="{FF2B5EF4-FFF2-40B4-BE49-F238E27FC236}">
                <a16:creationId xmlns:a16="http://schemas.microsoft.com/office/drawing/2014/main" id="{297B1585-08DF-CB67-0ED6-61225CB9FCA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5262" y="2569464"/>
            <a:ext cx="5450275" cy="367893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FF218065-C9F4-3586-3647-F5B82A8939A5}"/>
              </a:ext>
            </a:extLst>
          </p:cNvPr>
          <p:cNvGraphicFramePr>
            <a:graphicFrameLocks noGrp="1"/>
          </p:cNvGraphicFramePr>
          <p:nvPr>
            <p:extLst>
              <p:ext uri="{D42A27DB-BD31-4B8C-83A1-F6EECF244321}">
                <p14:modId xmlns:p14="http://schemas.microsoft.com/office/powerpoint/2010/main" val="987013626"/>
              </p:ext>
            </p:extLst>
          </p:nvPr>
        </p:nvGraphicFramePr>
        <p:xfrm>
          <a:off x="6254496" y="2728240"/>
          <a:ext cx="5468113" cy="3361384"/>
        </p:xfrm>
        <a:graphic>
          <a:graphicData uri="http://schemas.openxmlformats.org/drawingml/2006/table">
            <a:tbl>
              <a:tblPr>
                <a:tableStyleId>{BC89EF96-8CEA-46FF-86C4-4CE0E7609802}</a:tableStyleId>
              </a:tblPr>
              <a:tblGrid>
                <a:gridCol w="1491919">
                  <a:extLst>
                    <a:ext uri="{9D8B030D-6E8A-4147-A177-3AD203B41FA5}">
                      <a16:colId xmlns:a16="http://schemas.microsoft.com/office/drawing/2014/main" val="1524414239"/>
                    </a:ext>
                  </a:extLst>
                </a:gridCol>
                <a:gridCol w="1903521">
                  <a:extLst>
                    <a:ext uri="{9D8B030D-6E8A-4147-A177-3AD203B41FA5}">
                      <a16:colId xmlns:a16="http://schemas.microsoft.com/office/drawing/2014/main" val="3517399512"/>
                    </a:ext>
                  </a:extLst>
                </a:gridCol>
                <a:gridCol w="2072673">
                  <a:extLst>
                    <a:ext uri="{9D8B030D-6E8A-4147-A177-3AD203B41FA5}">
                      <a16:colId xmlns:a16="http://schemas.microsoft.com/office/drawing/2014/main" val="1676070425"/>
                    </a:ext>
                  </a:extLst>
                </a:gridCol>
              </a:tblGrid>
              <a:tr h="600827">
                <a:tc>
                  <a:txBody>
                    <a:bodyPr/>
                    <a:lstStyle/>
                    <a:p>
                      <a:r>
                        <a:rPr lang="en-IN" sz="1600" b="1">
                          <a:latin typeface="Times New Roman" panose="02020603050405020304" pitchFamily="18" charset="0"/>
                          <a:cs typeface="Times New Roman" panose="02020603050405020304" pitchFamily="18" charset="0"/>
                        </a:rPr>
                        <a:t>Type</a:t>
                      </a:r>
                      <a:endParaRPr lang="en-IN" sz="1600">
                        <a:latin typeface="Times New Roman" panose="02020603050405020304" pitchFamily="18" charset="0"/>
                        <a:cs typeface="Times New Roman" panose="02020603050405020304" pitchFamily="18" charset="0"/>
                      </a:endParaRPr>
                    </a:p>
                  </a:txBody>
                  <a:tcPr marL="81193" marR="81193" marT="40596" marB="40596" anchor="ctr"/>
                </a:tc>
                <a:tc>
                  <a:txBody>
                    <a:bodyPr/>
                    <a:lstStyle/>
                    <a:p>
                      <a:r>
                        <a:rPr lang="en-IN" sz="1600" b="1">
                          <a:latin typeface="Times New Roman" panose="02020603050405020304" pitchFamily="18" charset="0"/>
                          <a:cs typeface="Times New Roman" panose="02020603050405020304" pitchFamily="18" charset="0"/>
                        </a:rPr>
                        <a:t>Additional Group</a:t>
                      </a:r>
                      <a:endParaRPr lang="en-IN" sz="1600">
                        <a:latin typeface="Times New Roman" panose="02020603050405020304" pitchFamily="18" charset="0"/>
                        <a:cs typeface="Times New Roman" panose="02020603050405020304" pitchFamily="18" charset="0"/>
                      </a:endParaRPr>
                    </a:p>
                  </a:txBody>
                  <a:tcPr marL="81193" marR="81193" marT="40596" marB="40596" anchor="ctr"/>
                </a:tc>
                <a:tc>
                  <a:txBody>
                    <a:bodyPr/>
                    <a:lstStyle/>
                    <a:p>
                      <a:r>
                        <a:rPr lang="en-IN" sz="1600" b="1">
                          <a:latin typeface="Times New Roman" panose="02020603050405020304" pitchFamily="18" charset="0"/>
                          <a:cs typeface="Times New Roman" panose="02020603050405020304" pitchFamily="18" charset="0"/>
                        </a:rPr>
                        <a:t>Examples / Description</a:t>
                      </a:r>
                      <a:endParaRPr lang="en-IN" sz="1600">
                        <a:latin typeface="Times New Roman" panose="02020603050405020304" pitchFamily="18" charset="0"/>
                        <a:cs typeface="Times New Roman" panose="02020603050405020304" pitchFamily="18" charset="0"/>
                      </a:endParaRPr>
                    </a:p>
                  </a:txBody>
                  <a:tcPr marL="81193" marR="81193" marT="40596" marB="40596" anchor="ctr"/>
                </a:tc>
                <a:extLst>
                  <a:ext uri="{0D108BD9-81ED-4DB2-BD59-A6C34878D82A}">
                    <a16:rowId xmlns:a16="http://schemas.microsoft.com/office/drawing/2014/main" val="826501744"/>
                  </a:ext>
                </a:extLst>
              </a:tr>
              <a:tr h="600827">
                <a:tc>
                  <a:txBody>
                    <a:bodyPr/>
                    <a:lstStyle/>
                    <a:p>
                      <a:r>
                        <a:rPr lang="en-IN" sz="1600" b="1">
                          <a:latin typeface="Times New Roman" panose="02020603050405020304" pitchFamily="18" charset="0"/>
                          <a:cs typeface="Times New Roman" panose="02020603050405020304" pitchFamily="18" charset="0"/>
                        </a:rPr>
                        <a:t>Phospholipids</a:t>
                      </a:r>
                      <a:endParaRPr lang="en-IN" sz="1600">
                        <a:latin typeface="Times New Roman" panose="02020603050405020304" pitchFamily="18" charset="0"/>
                        <a:cs typeface="Times New Roman" panose="02020603050405020304" pitchFamily="18" charset="0"/>
                      </a:endParaRPr>
                    </a:p>
                  </a:txBody>
                  <a:tcPr marL="81193" marR="81193" marT="40596" marB="40596" anchor="ctr"/>
                </a:tc>
                <a:tc>
                  <a:txBody>
                    <a:bodyPr/>
                    <a:lstStyle/>
                    <a:p>
                      <a:r>
                        <a:rPr lang="en-IN" sz="1600">
                          <a:latin typeface="Times New Roman" panose="02020603050405020304" pitchFamily="18" charset="0"/>
                          <a:cs typeface="Times New Roman" panose="02020603050405020304" pitchFamily="18" charset="0"/>
                        </a:rPr>
                        <a:t>Phosphate group</a:t>
                      </a:r>
                    </a:p>
                  </a:txBody>
                  <a:tcPr marL="81193" marR="81193" marT="40596" marB="40596" anchor="ctr"/>
                </a:tc>
                <a:tc>
                  <a:txBody>
                    <a:bodyPr/>
                    <a:lstStyle/>
                    <a:p>
                      <a:r>
                        <a:rPr lang="en-US" sz="1600">
                          <a:latin typeface="Times New Roman" panose="02020603050405020304" pitchFamily="18" charset="0"/>
                          <a:cs typeface="Times New Roman" panose="02020603050405020304" pitchFamily="18" charset="0"/>
                        </a:rPr>
                        <a:t>Major components of cell membranes</a:t>
                      </a:r>
                    </a:p>
                  </a:txBody>
                  <a:tcPr marL="81193" marR="81193" marT="40596" marB="40596" anchor="ctr"/>
                </a:tc>
                <a:extLst>
                  <a:ext uri="{0D108BD9-81ED-4DB2-BD59-A6C34878D82A}">
                    <a16:rowId xmlns:a16="http://schemas.microsoft.com/office/drawing/2014/main" val="1908975143"/>
                  </a:ext>
                </a:extLst>
              </a:tr>
              <a:tr h="600827">
                <a:tc>
                  <a:txBody>
                    <a:bodyPr/>
                    <a:lstStyle/>
                    <a:p>
                      <a:r>
                        <a:rPr lang="en-IN" sz="1600" b="1">
                          <a:latin typeface="Times New Roman" panose="02020603050405020304" pitchFamily="18" charset="0"/>
                          <a:cs typeface="Times New Roman" panose="02020603050405020304" pitchFamily="18" charset="0"/>
                        </a:rPr>
                        <a:t>Glycolipids</a:t>
                      </a:r>
                      <a:endParaRPr lang="en-IN" sz="1600">
                        <a:latin typeface="Times New Roman" panose="02020603050405020304" pitchFamily="18" charset="0"/>
                        <a:cs typeface="Times New Roman" panose="02020603050405020304" pitchFamily="18" charset="0"/>
                      </a:endParaRPr>
                    </a:p>
                  </a:txBody>
                  <a:tcPr marL="81193" marR="81193" marT="40596" marB="40596" anchor="ctr"/>
                </a:tc>
                <a:tc>
                  <a:txBody>
                    <a:bodyPr/>
                    <a:lstStyle/>
                    <a:p>
                      <a:r>
                        <a:rPr lang="en-IN" sz="1600">
                          <a:latin typeface="Times New Roman" panose="02020603050405020304" pitchFamily="18" charset="0"/>
                          <a:cs typeface="Times New Roman" panose="02020603050405020304" pitchFamily="18" charset="0"/>
                        </a:rPr>
                        <a:t>Carbohydrate group</a:t>
                      </a:r>
                    </a:p>
                  </a:txBody>
                  <a:tcPr marL="81193" marR="81193" marT="40596" marB="40596" anchor="ctr"/>
                </a:tc>
                <a:tc>
                  <a:txBody>
                    <a:bodyPr/>
                    <a:lstStyle/>
                    <a:p>
                      <a:r>
                        <a:rPr lang="en-US" sz="1600">
                          <a:latin typeface="Times New Roman" panose="02020603050405020304" pitchFamily="18" charset="0"/>
                          <a:cs typeface="Times New Roman" panose="02020603050405020304" pitchFamily="18" charset="0"/>
                        </a:rPr>
                        <a:t>Found in nerve and brain tissues</a:t>
                      </a:r>
                    </a:p>
                  </a:txBody>
                  <a:tcPr marL="81193" marR="81193" marT="40596" marB="40596" anchor="ctr"/>
                </a:tc>
                <a:extLst>
                  <a:ext uri="{0D108BD9-81ED-4DB2-BD59-A6C34878D82A}">
                    <a16:rowId xmlns:a16="http://schemas.microsoft.com/office/drawing/2014/main" val="2927634822"/>
                  </a:ext>
                </a:extLst>
              </a:tr>
              <a:tr h="600827">
                <a:tc>
                  <a:txBody>
                    <a:bodyPr/>
                    <a:lstStyle/>
                    <a:p>
                      <a:r>
                        <a:rPr lang="en-IN" sz="1600" b="1">
                          <a:latin typeface="Times New Roman" panose="02020603050405020304" pitchFamily="18" charset="0"/>
                          <a:cs typeface="Times New Roman" panose="02020603050405020304" pitchFamily="18" charset="0"/>
                        </a:rPr>
                        <a:t>Lipoproteins</a:t>
                      </a:r>
                      <a:endParaRPr lang="en-IN" sz="1600">
                        <a:latin typeface="Times New Roman" panose="02020603050405020304" pitchFamily="18" charset="0"/>
                        <a:cs typeface="Times New Roman" panose="02020603050405020304" pitchFamily="18" charset="0"/>
                      </a:endParaRPr>
                    </a:p>
                  </a:txBody>
                  <a:tcPr marL="81193" marR="81193" marT="40596" marB="40596" anchor="ctr"/>
                </a:tc>
                <a:tc>
                  <a:txBody>
                    <a:bodyPr/>
                    <a:lstStyle/>
                    <a:p>
                      <a:r>
                        <a:rPr lang="en-IN" sz="1600">
                          <a:latin typeface="Times New Roman" panose="02020603050405020304" pitchFamily="18" charset="0"/>
                          <a:cs typeface="Times New Roman" panose="02020603050405020304" pitchFamily="18" charset="0"/>
                        </a:rPr>
                        <a:t>Protein group</a:t>
                      </a:r>
                    </a:p>
                  </a:txBody>
                  <a:tcPr marL="81193" marR="81193" marT="40596" marB="40596" anchor="ctr"/>
                </a:tc>
                <a:tc>
                  <a:txBody>
                    <a:bodyPr/>
                    <a:lstStyle/>
                    <a:p>
                      <a:r>
                        <a:rPr lang="en-US" sz="1600">
                          <a:latin typeface="Times New Roman" panose="02020603050405020304" pitchFamily="18" charset="0"/>
                          <a:cs typeface="Times New Roman" panose="02020603050405020304" pitchFamily="18" charset="0"/>
                        </a:rPr>
                        <a:t>Transport lipids in the blood</a:t>
                      </a:r>
                    </a:p>
                  </a:txBody>
                  <a:tcPr marL="81193" marR="81193" marT="40596" marB="40596" anchor="ctr"/>
                </a:tc>
                <a:extLst>
                  <a:ext uri="{0D108BD9-81ED-4DB2-BD59-A6C34878D82A}">
                    <a16:rowId xmlns:a16="http://schemas.microsoft.com/office/drawing/2014/main" val="2150234604"/>
                  </a:ext>
                </a:extLst>
              </a:tr>
              <a:tr h="357249">
                <a:tc>
                  <a:txBody>
                    <a:bodyPr/>
                    <a:lstStyle/>
                    <a:p>
                      <a:r>
                        <a:rPr lang="en-IN" sz="1600" b="1">
                          <a:latin typeface="Times New Roman" panose="02020603050405020304" pitchFamily="18" charset="0"/>
                          <a:cs typeface="Times New Roman" panose="02020603050405020304" pitchFamily="18" charset="0"/>
                        </a:rPr>
                        <a:t>Sulfolipids</a:t>
                      </a:r>
                      <a:endParaRPr lang="en-IN" sz="1600">
                        <a:latin typeface="Times New Roman" panose="02020603050405020304" pitchFamily="18" charset="0"/>
                        <a:cs typeface="Times New Roman" panose="02020603050405020304" pitchFamily="18" charset="0"/>
                      </a:endParaRPr>
                    </a:p>
                  </a:txBody>
                  <a:tcPr marL="81193" marR="81193" marT="40596" marB="40596" anchor="ctr"/>
                </a:tc>
                <a:tc>
                  <a:txBody>
                    <a:bodyPr/>
                    <a:lstStyle/>
                    <a:p>
                      <a:r>
                        <a:rPr lang="en-IN" sz="1600">
                          <a:latin typeface="Times New Roman" panose="02020603050405020304" pitchFamily="18" charset="0"/>
                          <a:cs typeface="Times New Roman" panose="02020603050405020304" pitchFamily="18" charset="0"/>
                        </a:rPr>
                        <a:t>Sulfur group</a:t>
                      </a:r>
                    </a:p>
                  </a:txBody>
                  <a:tcPr marL="81193" marR="81193" marT="40596" marB="40596" anchor="ctr"/>
                </a:tc>
                <a:tc>
                  <a:txBody>
                    <a:bodyPr/>
                    <a:lstStyle/>
                    <a:p>
                      <a:r>
                        <a:rPr lang="en-IN" sz="1600">
                          <a:latin typeface="Times New Roman" panose="02020603050405020304" pitchFamily="18" charset="0"/>
                          <a:cs typeface="Times New Roman" panose="02020603050405020304" pitchFamily="18" charset="0"/>
                        </a:rPr>
                        <a:t>Found in plant tissues</a:t>
                      </a:r>
                    </a:p>
                  </a:txBody>
                  <a:tcPr marL="81193" marR="81193" marT="40596" marB="40596" anchor="ctr"/>
                </a:tc>
                <a:extLst>
                  <a:ext uri="{0D108BD9-81ED-4DB2-BD59-A6C34878D82A}">
                    <a16:rowId xmlns:a16="http://schemas.microsoft.com/office/drawing/2014/main" val="2714452389"/>
                  </a:ext>
                </a:extLst>
              </a:tr>
              <a:tr h="600827">
                <a:tc>
                  <a:txBody>
                    <a:bodyPr/>
                    <a:lstStyle/>
                    <a:p>
                      <a:r>
                        <a:rPr lang="en-IN" sz="1600" b="1">
                          <a:latin typeface="Times New Roman" panose="02020603050405020304" pitchFamily="18" charset="0"/>
                          <a:cs typeface="Times New Roman" panose="02020603050405020304" pitchFamily="18" charset="0"/>
                        </a:rPr>
                        <a:t>Aminolipids</a:t>
                      </a:r>
                      <a:endParaRPr lang="en-IN" sz="1600">
                        <a:latin typeface="Times New Roman" panose="02020603050405020304" pitchFamily="18" charset="0"/>
                        <a:cs typeface="Times New Roman" panose="02020603050405020304" pitchFamily="18" charset="0"/>
                      </a:endParaRPr>
                    </a:p>
                  </a:txBody>
                  <a:tcPr marL="81193" marR="81193" marT="40596" marB="40596" anchor="ctr"/>
                </a:tc>
                <a:tc>
                  <a:txBody>
                    <a:bodyPr/>
                    <a:lstStyle/>
                    <a:p>
                      <a:r>
                        <a:rPr lang="en-IN" sz="1600">
                          <a:latin typeface="Times New Roman" panose="02020603050405020304" pitchFamily="18" charset="0"/>
                          <a:cs typeface="Times New Roman" panose="02020603050405020304" pitchFamily="18" charset="0"/>
                        </a:rPr>
                        <a:t>Amino group</a:t>
                      </a:r>
                    </a:p>
                  </a:txBody>
                  <a:tcPr marL="81193" marR="81193" marT="40596" marB="40596" anchor="ctr"/>
                </a:tc>
                <a:tc>
                  <a:txBody>
                    <a:bodyPr/>
                    <a:lstStyle/>
                    <a:p>
                      <a:r>
                        <a:rPr lang="en-IN" sz="1600">
                          <a:latin typeface="Times New Roman" panose="02020603050405020304" pitchFamily="18" charset="0"/>
                          <a:cs typeface="Times New Roman" panose="02020603050405020304" pitchFamily="18" charset="0"/>
                        </a:rPr>
                        <a:t>Found in bacterial membranes</a:t>
                      </a:r>
                    </a:p>
                  </a:txBody>
                  <a:tcPr marL="81193" marR="81193" marT="40596" marB="40596" anchor="ctr"/>
                </a:tc>
                <a:extLst>
                  <a:ext uri="{0D108BD9-81ED-4DB2-BD59-A6C34878D82A}">
                    <a16:rowId xmlns:a16="http://schemas.microsoft.com/office/drawing/2014/main" val="133722786"/>
                  </a:ext>
                </a:extLst>
              </a:tr>
            </a:tbl>
          </a:graphicData>
        </a:graphic>
      </p:graphicFrame>
    </p:spTree>
    <p:extLst>
      <p:ext uri="{BB962C8B-B14F-4D97-AF65-F5344CB8AC3E}">
        <p14:creationId xmlns:p14="http://schemas.microsoft.com/office/powerpoint/2010/main" val="18575054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2D4D7-5CAA-7AF2-F80E-812E362F90EB}"/>
              </a:ext>
            </a:extLst>
          </p:cNvPr>
          <p:cNvSpPr>
            <a:spLocks noGrp="1"/>
          </p:cNvSpPr>
          <p:nvPr>
            <p:ph idx="1"/>
          </p:nvPr>
        </p:nvSpPr>
        <p:spPr>
          <a:xfrm>
            <a:off x="838200" y="514617"/>
            <a:ext cx="10515600" cy="4351338"/>
          </a:xfrm>
        </p:spPr>
        <p:txBody>
          <a:bodyPr>
            <a:normAutofit fontScale="92500" lnSpcReduction="20000"/>
          </a:bodyPr>
          <a:lstStyle/>
          <a:p>
            <a:pPr marL="0" indent="0">
              <a:buNone/>
            </a:pPr>
            <a:r>
              <a:rPr lang="en-IN" b="1" dirty="0">
                <a:latin typeface="Times New Roman" panose="02020603050405020304" pitchFamily="18" charset="0"/>
                <a:cs typeface="Times New Roman" panose="02020603050405020304" pitchFamily="18" charset="0"/>
              </a:rPr>
              <a:t>3. Derived Lipids</a:t>
            </a:r>
          </a:p>
          <a:p>
            <a:r>
              <a:rPr lang="en-IN" dirty="0">
                <a:latin typeface="Times New Roman" panose="02020603050405020304" pitchFamily="18" charset="0"/>
                <a:cs typeface="Times New Roman" panose="02020603050405020304" pitchFamily="18" charset="0"/>
              </a:rPr>
              <a:t>These are </a:t>
            </a:r>
            <a:r>
              <a:rPr lang="en-IN" b="1" dirty="0">
                <a:latin typeface="Times New Roman" panose="02020603050405020304" pitchFamily="18" charset="0"/>
                <a:cs typeface="Times New Roman" panose="02020603050405020304" pitchFamily="18" charset="0"/>
              </a:rPr>
              <a:t>hydrolysis products</a:t>
            </a:r>
            <a:r>
              <a:rPr lang="en-IN" dirty="0">
                <a:latin typeface="Times New Roman" panose="02020603050405020304" pitchFamily="18" charset="0"/>
                <a:cs typeface="Times New Roman" panose="02020603050405020304" pitchFamily="18" charset="0"/>
              </a:rPr>
              <a:t> of simple and compound lipids.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Includes:</a:t>
            </a:r>
          </a:p>
          <a:p>
            <a:r>
              <a:rPr lang="en-IN" dirty="0">
                <a:latin typeface="Times New Roman" panose="02020603050405020304" pitchFamily="18" charset="0"/>
                <a:cs typeface="Times New Roman" panose="02020603050405020304" pitchFamily="18" charset="0"/>
              </a:rPr>
              <a:t>Fatty acids</a:t>
            </a:r>
          </a:p>
          <a:p>
            <a:r>
              <a:rPr lang="en-IN" dirty="0">
                <a:latin typeface="Times New Roman" panose="02020603050405020304" pitchFamily="18" charset="0"/>
                <a:cs typeface="Times New Roman" panose="02020603050405020304" pitchFamily="18" charset="0"/>
              </a:rPr>
              <a:t>Alcohols</a:t>
            </a:r>
          </a:p>
          <a:p>
            <a:r>
              <a:rPr lang="en-IN" dirty="0">
                <a:latin typeface="Times New Roman" panose="02020603050405020304" pitchFamily="18" charset="0"/>
                <a:cs typeface="Times New Roman" panose="02020603050405020304" pitchFamily="18" charset="0"/>
              </a:rPr>
              <a:t>Mono- and diglycerides</a:t>
            </a:r>
          </a:p>
          <a:p>
            <a:r>
              <a:rPr lang="en-IN" dirty="0">
                <a:latin typeface="Times New Roman" panose="02020603050405020304" pitchFamily="18" charset="0"/>
                <a:cs typeface="Times New Roman" panose="02020603050405020304" pitchFamily="18" charset="0"/>
              </a:rPr>
              <a:t>Steroids</a:t>
            </a:r>
          </a:p>
          <a:p>
            <a:r>
              <a:rPr lang="en-IN" dirty="0">
                <a:latin typeface="Times New Roman" panose="02020603050405020304" pitchFamily="18" charset="0"/>
                <a:cs typeface="Times New Roman" panose="02020603050405020304" pitchFamily="18" charset="0"/>
              </a:rPr>
              <a:t>Terpenes</a:t>
            </a:r>
          </a:p>
          <a:p>
            <a:r>
              <a:rPr lang="en-IN" dirty="0">
                <a:latin typeface="Times New Roman" panose="02020603050405020304" pitchFamily="18" charset="0"/>
                <a:cs typeface="Times New Roman" panose="02020603050405020304" pitchFamily="18" charset="0"/>
              </a:rPr>
              <a:t>Carotenoids</a:t>
            </a:r>
          </a:p>
          <a:p>
            <a:pPr marL="0" indent="0">
              <a:buNone/>
            </a:pPr>
            <a:endParaRPr lang="en-IN" dirty="0"/>
          </a:p>
        </p:txBody>
      </p:sp>
    </p:spTree>
    <p:extLst>
      <p:ext uri="{BB962C8B-B14F-4D97-AF65-F5344CB8AC3E}">
        <p14:creationId xmlns:p14="http://schemas.microsoft.com/office/powerpoint/2010/main" val="2780807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5791-818A-279F-6B73-D60A9CA41FB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Saturated vs unsaturated</a:t>
            </a:r>
          </a:p>
        </p:txBody>
      </p:sp>
      <p:sp>
        <p:nvSpPr>
          <p:cNvPr id="4" name="Content Placeholder 3">
            <a:extLst>
              <a:ext uri="{FF2B5EF4-FFF2-40B4-BE49-F238E27FC236}">
                <a16:creationId xmlns:a16="http://schemas.microsoft.com/office/drawing/2014/main" id="{2CB5B2B8-4109-AADE-C097-76CB5E8596AA}"/>
              </a:ext>
            </a:extLst>
          </p:cNvPr>
          <p:cNvSpPr>
            <a:spLocks noGrp="1"/>
          </p:cNvSpPr>
          <p:nvPr>
            <p:ph sz="half" idx="1"/>
          </p:nvPr>
        </p:nvSpPr>
        <p:spPr/>
        <p:txBody>
          <a:bodyPr>
            <a:normAutofit fontScale="92500"/>
          </a:bodyPr>
          <a:lstStyle/>
          <a:p>
            <a:r>
              <a:rPr lang="en-US" b="1" dirty="0">
                <a:latin typeface="Times New Roman" panose="02020603050405020304" pitchFamily="18" charset="0"/>
                <a:cs typeface="Times New Roman" panose="02020603050405020304" pitchFamily="18" charset="0"/>
              </a:rPr>
              <a:t>Saturated Fats</a:t>
            </a:r>
          </a:p>
          <a:p>
            <a:r>
              <a:rPr lang="en-US" b="1" dirty="0">
                <a:latin typeface="Times New Roman" panose="02020603050405020304" pitchFamily="18" charset="0"/>
                <a:cs typeface="Times New Roman" panose="02020603050405020304" pitchFamily="18" charset="0"/>
              </a:rPr>
              <a:t>Structure</a:t>
            </a:r>
            <a:r>
              <a:rPr lang="en-US" dirty="0">
                <a:latin typeface="Times New Roman" panose="02020603050405020304" pitchFamily="18" charset="0"/>
                <a:cs typeface="Times New Roman" panose="02020603050405020304" pitchFamily="18" charset="0"/>
              </a:rPr>
              <a:t>: No double bonds between carbon atoms</a:t>
            </a:r>
          </a:p>
          <a:p>
            <a:r>
              <a:rPr lang="en-US" b="1" dirty="0">
                <a:latin typeface="Times New Roman" panose="02020603050405020304" pitchFamily="18" charset="0"/>
                <a:cs typeface="Times New Roman" panose="02020603050405020304" pitchFamily="18" charset="0"/>
              </a:rPr>
              <a:t>Shape</a:t>
            </a:r>
            <a:r>
              <a:rPr lang="en-US" dirty="0">
                <a:latin typeface="Times New Roman" panose="02020603050405020304" pitchFamily="18" charset="0"/>
                <a:cs typeface="Times New Roman" panose="02020603050405020304" pitchFamily="18" charset="0"/>
              </a:rPr>
              <a:t>: Straight chains → pack tightly</a:t>
            </a:r>
          </a:p>
          <a:p>
            <a:r>
              <a:rPr lang="en-US" b="1" dirty="0">
                <a:latin typeface="Times New Roman" panose="02020603050405020304" pitchFamily="18" charset="0"/>
                <a:cs typeface="Times New Roman" panose="02020603050405020304" pitchFamily="18" charset="0"/>
              </a:rPr>
              <a:t>State</a:t>
            </a:r>
            <a:r>
              <a:rPr lang="en-US" dirty="0">
                <a:latin typeface="Times New Roman" panose="02020603050405020304" pitchFamily="18" charset="0"/>
                <a:cs typeface="Times New Roman" panose="02020603050405020304" pitchFamily="18" charset="0"/>
              </a:rPr>
              <a:t>: Solid at room temperature</a:t>
            </a:r>
          </a:p>
          <a:p>
            <a:r>
              <a:rPr lang="en-US" b="1" dirty="0">
                <a:latin typeface="Times New Roman" panose="02020603050405020304" pitchFamily="18" charset="0"/>
                <a:cs typeface="Times New Roman" panose="02020603050405020304" pitchFamily="18" charset="0"/>
              </a:rPr>
              <a:t>Examples</a:t>
            </a:r>
            <a:r>
              <a:rPr lang="en-US" dirty="0">
                <a:latin typeface="Times New Roman" panose="02020603050405020304" pitchFamily="18" charset="0"/>
                <a:cs typeface="Times New Roman" panose="02020603050405020304" pitchFamily="18" charset="0"/>
              </a:rPr>
              <a:t>: Butter, coconut oil</a:t>
            </a:r>
          </a:p>
          <a:p>
            <a:r>
              <a:rPr lang="en-US" b="1" dirty="0">
                <a:latin typeface="Times New Roman" panose="02020603050405020304" pitchFamily="18" charset="0"/>
                <a:cs typeface="Times New Roman" panose="02020603050405020304" pitchFamily="18" charset="0"/>
              </a:rPr>
              <a:t>Health Note</a:t>
            </a:r>
            <a:r>
              <a:rPr lang="en-US" dirty="0">
                <a:latin typeface="Times New Roman" panose="02020603050405020304" pitchFamily="18" charset="0"/>
                <a:cs typeface="Times New Roman" panose="02020603050405020304" pitchFamily="18" charset="0"/>
              </a:rPr>
              <a:t>: High intake linked to cardiovascular risks</a:t>
            </a:r>
          </a:p>
          <a:p>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4872E72-C92E-51B0-B99A-6046A02D7F6A}"/>
              </a:ext>
            </a:extLst>
          </p:cNvPr>
          <p:cNvSpPr>
            <a:spLocks noGrp="1"/>
          </p:cNvSpPr>
          <p:nvPr>
            <p:ph sz="half" idx="2"/>
          </p:nvPr>
        </p:nvSpPr>
        <p:spPr/>
        <p:txBody>
          <a:bodyPr>
            <a:normAutofit fontScale="92500"/>
          </a:bodyPr>
          <a:lstStyle/>
          <a:p>
            <a:r>
              <a:rPr lang="en-US" b="1" dirty="0">
                <a:latin typeface="Times New Roman" panose="02020603050405020304" pitchFamily="18" charset="0"/>
                <a:cs typeface="Times New Roman" panose="02020603050405020304" pitchFamily="18" charset="0"/>
              </a:rPr>
              <a:t>Unsaturated Fats</a:t>
            </a:r>
          </a:p>
          <a:p>
            <a:r>
              <a:rPr lang="en-US" b="1" dirty="0">
                <a:latin typeface="Times New Roman" panose="02020603050405020304" pitchFamily="18" charset="0"/>
                <a:cs typeface="Times New Roman" panose="02020603050405020304" pitchFamily="18" charset="0"/>
              </a:rPr>
              <a:t>Structure</a:t>
            </a:r>
            <a:r>
              <a:rPr lang="en-US" dirty="0">
                <a:latin typeface="Times New Roman" panose="02020603050405020304" pitchFamily="18" charset="0"/>
                <a:cs typeface="Times New Roman" panose="02020603050405020304" pitchFamily="18" charset="0"/>
              </a:rPr>
              <a:t>: One or more double bonds</a:t>
            </a:r>
          </a:p>
          <a:p>
            <a:r>
              <a:rPr lang="en-US" b="1" dirty="0">
                <a:latin typeface="Times New Roman" panose="02020603050405020304" pitchFamily="18" charset="0"/>
                <a:cs typeface="Times New Roman" panose="02020603050405020304" pitchFamily="18" charset="0"/>
              </a:rPr>
              <a:t>Shape</a:t>
            </a:r>
            <a:r>
              <a:rPr lang="en-US" dirty="0">
                <a:latin typeface="Times New Roman" panose="02020603050405020304" pitchFamily="18" charset="0"/>
                <a:cs typeface="Times New Roman" panose="02020603050405020304" pitchFamily="18" charset="0"/>
              </a:rPr>
              <a:t>: Bent chains → less dense packing</a:t>
            </a:r>
          </a:p>
          <a:p>
            <a:r>
              <a:rPr lang="en-US" b="1" dirty="0">
                <a:latin typeface="Times New Roman" panose="02020603050405020304" pitchFamily="18" charset="0"/>
                <a:cs typeface="Times New Roman" panose="02020603050405020304" pitchFamily="18" charset="0"/>
              </a:rPr>
              <a:t>State</a:t>
            </a:r>
            <a:r>
              <a:rPr lang="en-US" dirty="0">
                <a:latin typeface="Times New Roman" panose="02020603050405020304" pitchFamily="18" charset="0"/>
                <a:cs typeface="Times New Roman" panose="02020603050405020304" pitchFamily="18" charset="0"/>
              </a:rPr>
              <a:t>: Liquid at room temperature</a:t>
            </a:r>
          </a:p>
          <a:p>
            <a:r>
              <a:rPr lang="en-US" b="1" dirty="0">
                <a:latin typeface="Times New Roman" panose="02020603050405020304" pitchFamily="18" charset="0"/>
                <a:cs typeface="Times New Roman" panose="02020603050405020304" pitchFamily="18" charset="0"/>
              </a:rPr>
              <a:t>Examples</a:t>
            </a:r>
            <a:r>
              <a:rPr lang="en-US" dirty="0">
                <a:latin typeface="Times New Roman" panose="02020603050405020304" pitchFamily="18" charset="0"/>
                <a:cs typeface="Times New Roman" panose="02020603050405020304" pitchFamily="18" charset="0"/>
              </a:rPr>
              <a:t>: Olive oil, sunflower oil</a:t>
            </a:r>
          </a:p>
          <a:p>
            <a:r>
              <a:rPr lang="en-US" b="1" dirty="0">
                <a:latin typeface="Times New Roman" panose="02020603050405020304" pitchFamily="18" charset="0"/>
                <a:cs typeface="Times New Roman" panose="02020603050405020304" pitchFamily="18" charset="0"/>
              </a:rPr>
              <a:t>Health Note</a:t>
            </a:r>
            <a:r>
              <a:rPr lang="en-US" dirty="0">
                <a:latin typeface="Times New Roman" panose="02020603050405020304" pitchFamily="18" charset="0"/>
                <a:cs typeface="Times New Roman" panose="02020603050405020304" pitchFamily="18" charset="0"/>
              </a:rPr>
              <a:t>: Considered heart-healthy fats</a:t>
            </a:r>
          </a:p>
        </p:txBody>
      </p:sp>
    </p:spTree>
    <p:extLst>
      <p:ext uri="{BB962C8B-B14F-4D97-AF65-F5344CB8AC3E}">
        <p14:creationId xmlns:p14="http://schemas.microsoft.com/office/powerpoint/2010/main" val="3119830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FB167-4463-42F2-8240-DAED9AA5689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Applications</a:t>
            </a:r>
          </a:p>
        </p:txBody>
      </p:sp>
      <p:sp>
        <p:nvSpPr>
          <p:cNvPr id="5" name="Content Placeholder 4">
            <a:extLst>
              <a:ext uri="{FF2B5EF4-FFF2-40B4-BE49-F238E27FC236}">
                <a16:creationId xmlns:a16="http://schemas.microsoft.com/office/drawing/2014/main" id="{0D4C472C-C84C-05D3-8BD1-6F0E49AC2A00}"/>
              </a:ext>
            </a:extLst>
          </p:cNvPr>
          <p:cNvSpPr>
            <a:spLocks noGrp="1"/>
          </p:cNvSpPr>
          <p:nvPr>
            <p:ph idx="1"/>
          </p:nvPr>
        </p:nvSpPr>
        <p:spPr>
          <a:xfrm>
            <a:off x="609600" y="1582993"/>
            <a:ext cx="10744200" cy="4593969"/>
          </a:xfrm>
        </p:spPr>
        <p:txBody>
          <a:bodyPr>
            <a:normAutofit fontScale="85000" lnSpcReduction="20000"/>
          </a:bodyPr>
          <a:lstStyle/>
          <a:p>
            <a:pPr marL="0" indent="0">
              <a:buNone/>
            </a:pPr>
            <a:r>
              <a:rPr lang="en-IN" b="1" dirty="0">
                <a:latin typeface="Times New Roman" panose="02020603050405020304" pitchFamily="18" charset="0"/>
                <a:cs typeface="Times New Roman" panose="02020603050405020304" pitchFamily="18" charset="0"/>
              </a:rPr>
              <a:t>1. Biodiesel Production</a:t>
            </a:r>
          </a:p>
          <a:p>
            <a:r>
              <a:rPr lang="en-IN" b="1" dirty="0">
                <a:latin typeface="Times New Roman" panose="02020603050405020304" pitchFamily="18" charset="0"/>
                <a:cs typeface="Times New Roman" panose="02020603050405020304" pitchFamily="18" charset="0"/>
              </a:rPr>
              <a:t>Feedstock</a:t>
            </a:r>
            <a:r>
              <a:rPr lang="en-IN" dirty="0">
                <a:latin typeface="Times New Roman" panose="02020603050405020304" pitchFamily="18" charset="0"/>
                <a:cs typeface="Times New Roman" panose="02020603050405020304" pitchFamily="18" charset="0"/>
              </a:rPr>
              <a:t>: Triglycerides from vegetable oils or animal fats</a:t>
            </a:r>
          </a:p>
          <a:p>
            <a:r>
              <a:rPr lang="en-IN" b="1" dirty="0">
                <a:latin typeface="Times New Roman" panose="02020603050405020304" pitchFamily="18" charset="0"/>
                <a:cs typeface="Times New Roman" panose="02020603050405020304" pitchFamily="18" charset="0"/>
              </a:rPr>
              <a:t>Process</a:t>
            </a:r>
            <a:r>
              <a:rPr lang="en-IN" dirty="0">
                <a:latin typeface="Times New Roman" panose="02020603050405020304" pitchFamily="18" charset="0"/>
                <a:cs typeface="Times New Roman" panose="02020603050405020304" pitchFamily="18" charset="0"/>
              </a:rPr>
              <a:t>: Transesterification → Methyl esters (biodiesel)</a:t>
            </a:r>
          </a:p>
          <a:p>
            <a:r>
              <a:rPr lang="en-IN" b="1" dirty="0">
                <a:latin typeface="Times New Roman" panose="02020603050405020304" pitchFamily="18" charset="0"/>
                <a:cs typeface="Times New Roman" panose="02020603050405020304" pitchFamily="18" charset="0"/>
              </a:rPr>
              <a:t>Engineering Role</a:t>
            </a:r>
            <a:r>
              <a:rPr lang="en-IN" dirty="0">
                <a:latin typeface="Times New Roman" panose="02020603050405020304" pitchFamily="18" charset="0"/>
                <a:cs typeface="Times New Roman" panose="02020603050405020304" pitchFamily="18" charset="0"/>
              </a:rPr>
              <a:t>: Chemical engineering, green energy</a:t>
            </a:r>
          </a:p>
          <a:p>
            <a:pPr marL="0" indent="0">
              <a:buNone/>
            </a:pPr>
            <a:r>
              <a:rPr lang="en-IN" b="1" dirty="0">
                <a:latin typeface="Times New Roman" panose="02020603050405020304" pitchFamily="18" charset="0"/>
                <a:cs typeface="Times New Roman" panose="02020603050405020304" pitchFamily="18" charset="0"/>
              </a:rPr>
              <a:t>2. Liposomes in Drug Delivery</a:t>
            </a:r>
          </a:p>
          <a:p>
            <a:r>
              <a:rPr lang="en-IN" b="1" dirty="0">
                <a:latin typeface="Times New Roman" panose="02020603050405020304" pitchFamily="18" charset="0"/>
                <a:cs typeface="Times New Roman" panose="02020603050405020304" pitchFamily="18" charset="0"/>
              </a:rPr>
              <a:t>Definition</a:t>
            </a:r>
            <a:r>
              <a:rPr lang="en-IN" dirty="0">
                <a:latin typeface="Times New Roman" panose="02020603050405020304" pitchFamily="18" charset="0"/>
                <a:cs typeface="Times New Roman" panose="02020603050405020304" pitchFamily="18" charset="0"/>
              </a:rPr>
              <a:t>: Small vesicles with phospholipid bilayers</a:t>
            </a:r>
          </a:p>
          <a:p>
            <a:r>
              <a:rPr lang="en-IN" b="1" dirty="0">
                <a:latin typeface="Times New Roman" panose="02020603050405020304" pitchFamily="18" charset="0"/>
                <a:cs typeface="Times New Roman" panose="02020603050405020304" pitchFamily="18" charset="0"/>
              </a:rPr>
              <a:t>Application</a:t>
            </a:r>
            <a:r>
              <a:rPr lang="en-IN" dirty="0">
                <a:latin typeface="Times New Roman" panose="02020603050405020304" pitchFamily="18" charset="0"/>
                <a:cs typeface="Times New Roman" panose="02020603050405020304" pitchFamily="18" charset="0"/>
              </a:rPr>
              <a:t>: Encapsulate and deliver drugs to specific cells</a:t>
            </a:r>
          </a:p>
          <a:p>
            <a:r>
              <a:rPr lang="en-IN" b="1" dirty="0">
                <a:latin typeface="Times New Roman" panose="02020603050405020304" pitchFamily="18" charset="0"/>
                <a:cs typeface="Times New Roman" panose="02020603050405020304" pitchFamily="18" charset="0"/>
              </a:rPr>
              <a:t>Engineering Role</a:t>
            </a:r>
            <a:r>
              <a:rPr lang="en-IN" dirty="0">
                <a:latin typeface="Times New Roman" panose="02020603050405020304" pitchFamily="18" charset="0"/>
                <a:cs typeface="Times New Roman" panose="02020603050405020304" pitchFamily="18" charset="0"/>
              </a:rPr>
              <a:t>: Nanotech, biomedical engineering</a:t>
            </a:r>
          </a:p>
          <a:p>
            <a:pPr marL="0" indent="0">
              <a:buNone/>
            </a:pPr>
            <a:r>
              <a:rPr lang="en-IN" b="1" dirty="0">
                <a:latin typeface="Times New Roman" panose="02020603050405020304" pitchFamily="18" charset="0"/>
                <a:cs typeface="Times New Roman" panose="02020603050405020304" pitchFamily="18" charset="0"/>
              </a:rPr>
              <a:t>3. Steroid Hormones in Medicine</a:t>
            </a:r>
          </a:p>
          <a:p>
            <a:r>
              <a:rPr lang="en-IN" b="1" dirty="0">
                <a:latin typeface="Times New Roman" panose="02020603050405020304" pitchFamily="18" charset="0"/>
                <a:cs typeface="Times New Roman" panose="02020603050405020304" pitchFamily="18" charset="0"/>
              </a:rPr>
              <a:t>Examples</a:t>
            </a:r>
            <a:r>
              <a:rPr lang="en-IN" dirty="0">
                <a:latin typeface="Times New Roman" panose="02020603050405020304" pitchFamily="18" charset="0"/>
                <a:cs typeface="Times New Roman" panose="02020603050405020304" pitchFamily="18" charset="0"/>
              </a:rPr>
              <a:t>: Cortisone, </a:t>
            </a:r>
            <a:r>
              <a:rPr lang="en-IN" dirty="0" err="1">
                <a:latin typeface="Times New Roman" panose="02020603050405020304" pitchFamily="18" charset="0"/>
                <a:cs typeface="Times New Roman" panose="02020603050405020304" pitchFamily="18" charset="0"/>
              </a:rPr>
              <a:t>estrogen</a:t>
            </a:r>
            <a:r>
              <a:rPr lang="en-IN" dirty="0">
                <a:latin typeface="Times New Roman" panose="02020603050405020304" pitchFamily="18" charset="0"/>
                <a:cs typeface="Times New Roman" panose="02020603050405020304" pitchFamily="18" charset="0"/>
              </a:rPr>
              <a:t>, testosterone</a:t>
            </a:r>
          </a:p>
          <a:p>
            <a:r>
              <a:rPr lang="en-IN" b="1" dirty="0">
                <a:latin typeface="Times New Roman" panose="02020603050405020304" pitchFamily="18" charset="0"/>
                <a:cs typeface="Times New Roman" panose="02020603050405020304" pitchFamily="18" charset="0"/>
              </a:rPr>
              <a:t>Used for</a:t>
            </a:r>
            <a:r>
              <a:rPr lang="en-IN" dirty="0">
                <a:latin typeface="Times New Roman" panose="02020603050405020304" pitchFamily="18" charset="0"/>
                <a:cs typeface="Times New Roman" panose="02020603050405020304" pitchFamily="18" charset="0"/>
              </a:rPr>
              <a:t>: Anti-inflammatory drugs, hormone therapy</a:t>
            </a:r>
          </a:p>
          <a:p>
            <a:r>
              <a:rPr lang="en-IN" b="1" dirty="0">
                <a:latin typeface="Times New Roman" panose="02020603050405020304" pitchFamily="18" charset="0"/>
                <a:cs typeface="Times New Roman" panose="02020603050405020304" pitchFamily="18" charset="0"/>
              </a:rPr>
              <a:t>Engineering Role</a:t>
            </a:r>
            <a:r>
              <a:rPr lang="en-IN" dirty="0">
                <a:latin typeface="Times New Roman" panose="02020603050405020304" pitchFamily="18" charset="0"/>
                <a:cs typeface="Times New Roman" panose="02020603050405020304" pitchFamily="18" charset="0"/>
              </a:rPr>
              <a:t>: Pharmaceutical synthesis, metabolic engineering</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857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7D5CF-90FD-798A-FB8E-DAAAE2DC15A5}"/>
              </a:ext>
            </a:extLst>
          </p:cNvPr>
          <p:cNvSpPr>
            <a:spLocks noGrp="1"/>
          </p:cNvSpPr>
          <p:nvPr>
            <p:ph type="title"/>
          </p:nvPr>
        </p:nvSpPr>
        <p:spPr>
          <a:xfrm>
            <a:off x="2436188" y="54481"/>
            <a:ext cx="6705206" cy="1616203"/>
          </a:xfrm>
        </p:spPr>
        <p:txBody>
          <a:bodyPr anchor="ctr">
            <a:normAutofit/>
          </a:bodyPr>
          <a:lstStyle/>
          <a:p>
            <a:pPr algn="ctr"/>
            <a:r>
              <a:rPr lang="en-IN" b="1" dirty="0">
                <a:latin typeface="Times New Roman" panose="02020603050405020304" pitchFamily="18" charset="0"/>
                <a:cs typeface="Times New Roman" panose="02020603050405020304" pitchFamily="18" charset="0"/>
              </a:rPr>
              <a:t>Comparison</a:t>
            </a:r>
            <a:endParaRPr lang="en-IN" sz="3200" b="1" dirty="0">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117ED9EE-380C-224B-8619-61C6C01B1B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0" name="Rectangle 9">
              <a:extLst>
                <a:ext uri="{FF2B5EF4-FFF2-40B4-BE49-F238E27FC236}">
                  <a16:creationId xmlns:a16="http://schemas.microsoft.com/office/drawing/2014/main" id="{CBEA0657-2676-EBD0-330D-2DE1D716D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ABD4BE5-70D5-796C-F818-10F0570E7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 name="Content Placeholder 3">
            <a:extLst>
              <a:ext uri="{FF2B5EF4-FFF2-40B4-BE49-F238E27FC236}">
                <a16:creationId xmlns:a16="http://schemas.microsoft.com/office/drawing/2014/main" id="{EBA831DA-1D11-F5C3-5F32-3DC7FA962998}"/>
              </a:ext>
            </a:extLst>
          </p:cNvPr>
          <p:cNvGraphicFramePr>
            <a:graphicFrameLocks noGrp="1"/>
          </p:cNvGraphicFramePr>
          <p:nvPr>
            <p:ph idx="1"/>
            <p:extLst>
              <p:ext uri="{D42A27DB-BD31-4B8C-83A1-F6EECF244321}">
                <p14:modId xmlns:p14="http://schemas.microsoft.com/office/powerpoint/2010/main" val="621935987"/>
              </p:ext>
            </p:extLst>
          </p:nvPr>
        </p:nvGraphicFramePr>
        <p:xfrm>
          <a:off x="946355" y="1773885"/>
          <a:ext cx="10477502" cy="4413408"/>
        </p:xfrm>
        <a:graphic>
          <a:graphicData uri="http://schemas.openxmlformats.org/drawingml/2006/table">
            <a:tbl>
              <a:tblPr>
                <a:tableStyleId>{BC89EF96-8CEA-46FF-86C4-4CE0E7609802}</a:tableStyleId>
              </a:tblPr>
              <a:tblGrid>
                <a:gridCol w="2416235">
                  <a:extLst>
                    <a:ext uri="{9D8B030D-6E8A-4147-A177-3AD203B41FA5}">
                      <a16:colId xmlns:a16="http://schemas.microsoft.com/office/drawing/2014/main" val="2708579914"/>
                    </a:ext>
                  </a:extLst>
                </a:gridCol>
                <a:gridCol w="2687089">
                  <a:extLst>
                    <a:ext uri="{9D8B030D-6E8A-4147-A177-3AD203B41FA5}">
                      <a16:colId xmlns:a16="http://schemas.microsoft.com/office/drawing/2014/main" val="235549091"/>
                    </a:ext>
                  </a:extLst>
                </a:gridCol>
                <a:gridCol w="2687089">
                  <a:extLst>
                    <a:ext uri="{9D8B030D-6E8A-4147-A177-3AD203B41FA5}">
                      <a16:colId xmlns:a16="http://schemas.microsoft.com/office/drawing/2014/main" val="1898055266"/>
                    </a:ext>
                  </a:extLst>
                </a:gridCol>
                <a:gridCol w="2687089">
                  <a:extLst>
                    <a:ext uri="{9D8B030D-6E8A-4147-A177-3AD203B41FA5}">
                      <a16:colId xmlns:a16="http://schemas.microsoft.com/office/drawing/2014/main" val="1470752162"/>
                    </a:ext>
                  </a:extLst>
                </a:gridCol>
              </a:tblGrid>
              <a:tr h="457974">
                <a:tc>
                  <a:txBody>
                    <a:bodyPr/>
                    <a:lstStyle/>
                    <a:p>
                      <a:r>
                        <a:rPr lang="en-IN" sz="2400" b="1" dirty="0">
                          <a:solidFill>
                            <a:schemeClr val="tx1">
                              <a:lumMod val="75000"/>
                              <a:lumOff val="25000"/>
                            </a:schemeClr>
                          </a:solidFill>
                          <a:latin typeface="Times New Roman" panose="02020603050405020304" pitchFamily="18" charset="0"/>
                          <a:cs typeface="Times New Roman" panose="02020603050405020304" pitchFamily="18" charset="0"/>
                        </a:rPr>
                        <a:t>Feature</a:t>
                      </a:r>
                    </a:p>
                  </a:txBody>
                  <a:tcPr marL="186928" marR="93464" marT="93464" marB="93464" anchor="ctr"/>
                </a:tc>
                <a:tc>
                  <a:txBody>
                    <a:bodyPr/>
                    <a:lstStyle/>
                    <a:p>
                      <a:r>
                        <a:rPr lang="en-IN" sz="2400" b="1" dirty="0">
                          <a:solidFill>
                            <a:schemeClr val="tx1">
                              <a:lumMod val="75000"/>
                              <a:lumOff val="25000"/>
                            </a:schemeClr>
                          </a:solidFill>
                          <a:latin typeface="Times New Roman" panose="02020603050405020304" pitchFamily="18" charset="0"/>
                          <a:cs typeface="Times New Roman" panose="02020603050405020304" pitchFamily="18" charset="0"/>
                        </a:rPr>
                        <a:t>Carbohydrates</a:t>
                      </a:r>
                    </a:p>
                  </a:txBody>
                  <a:tcPr marL="186928" marR="93464" marT="93464" marB="93464" anchor="ctr"/>
                </a:tc>
                <a:tc>
                  <a:txBody>
                    <a:bodyPr/>
                    <a:lstStyle/>
                    <a:p>
                      <a:r>
                        <a:rPr lang="en-IN" sz="2400" b="1">
                          <a:solidFill>
                            <a:schemeClr val="tx1">
                              <a:lumMod val="75000"/>
                              <a:lumOff val="25000"/>
                            </a:schemeClr>
                          </a:solidFill>
                          <a:latin typeface="Times New Roman" panose="02020603050405020304" pitchFamily="18" charset="0"/>
                          <a:cs typeface="Times New Roman" panose="02020603050405020304" pitchFamily="18" charset="0"/>
                        </a:rPr>
                        <a:t>Lipids</a:t>
                      </a:r>
                    </a:p>
                  </a:txBody>
                  <a:tcPr marL="186928" marR="93464" marT="93464" marB="93464" anchor="ctr"/>
                </a:tc>
                <a:tc>
                  <a:txBody>
                    <a:bodyPr/>
                    <a:lstStyle/>
                    <a:p>
                      <a:r>
                        <a:rPr lang="en-IN" sz="2400" b="1" dirty="0">
                          <a:solidFill>
                            <a:schemeClr val="tx1">
                              <a:lumMod val="75000"/>
                              <a:lumOff val="25000"/>
                            </a:schemeClr>
                          </a:solidFill>
                          <a:latin typeface="Times New Roman" panose="02020603050405020304" pitchFamily="18" charset="0"/>
                          <a:cs typeface="Times New Roman" panose="02020603050405020304" pitchFamily="18" charset="0"/>
                        </a:rPr>
                        <a:t>Proteins</a:t>
                      </a:r>
                    </a:p>
                  </a:txBody>
                  <a:tcPr marL="186928" marR="93464" marT="93464" marB="93464" anchor="ctr"/>
                </a:tc>
                <a:extLst>
                  <a:ext uri="{0D108BD9-81ED-4DB2-BD59-A6C34878D82A}">
                    <a16:rowId xmlns:a16="http://schemas.microsoft.com/office/drawing/2014/main" val="380726361"/>
                  </a:ext>
                </a:extLst>
              </a:tr>
              <a:tr h="457974">
                <a:tc>
                  <a:txBody>
                    <a:bodyPr/>
                    <a:lstStyle/>
                    <a:p>
                      <a:r>
                        <a:rPr lang="en-IN" sz="2400" b="1">
                          <a:solidFill>
                            <a:schemeClr val="tx1">
                              <a:lumMod val="75000"/>
                              <a:lumOff val="25000"/>
                            </a:schemeClr>
                          </a:solidFill>
                          <a:latin typeface="Times New Roman" panose="02020603050405020304" pitchFamily="18" charset="0"/>
                          <a:cs typeface="Times New Roman" panose="02020603050405020304" pitchFamily="18" charset="0"/>
                        </a:rPr>
                        <a:t>Elements</a:t>
                      </a:r>
                      <a:endParaRPr lang="en-IN" sz="2400">
                        <a:solidFill>
                          <a:schemeClr val="tx1">
                            <a:lumMod val="75000"/>
                            <a:lumOff val="25000"/>
                          </a:schemeClr>
                        </a:solidFill>
                        <a:latin typeface="Times New Roman" panose="02020603050405020304" pitchFamily="18" charset="0"/>
                        <a:cs typeface="Times New Roman" panose="02020603050405020304" pitchFamily="18" charset="0"/>
                      </a:endParaRPr>
                    </a:p>
                  </a:txBody>
                  <a:tcPr marL="186928" marR="93464" marT="93464" marB="93464" anchor="ctr"/>
                </a:tc>
                <a:tc>
                  <a:txBody>
                    <a:bodyPr/>
                    <a:lstStyle/>
                    <a:p>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C, H, O (1:2:1)</a:t>
                      </a:r>
                    </a:p>
                  </a:txBody>
                  <a:tcPr marL="186928" marR="93464" marT="93464" marB="93464" anchor="ctr"/>
                </a:tc>
                <a:tc>
                  <a:txBody>
                    <a:bodyPr/>
                    <a:lstStyle/>
                    <a:p>
                      <a:r>
                        <a:rPr lang="pt-BR" sz="2400">
                          <a:solidFill>
                            <a:schemeClr val="tx1">
                              <a:lumMod val="75000"/>
                              <a:lumOff val="25000"/>
                            </a:schemeClr>
                          </a:solidFill>
                          <a:latin typeface="Times New Roman" panose="02020603050405020304" pitchFamily="18" charset="0"/>
                          <a:cs typeface="Times New Roman" panose="02020603050405020304" pitchFamily="18" charset="0"/>
                        </a:rPr>
                        <a:t>C, H, O (less O)</a:t>
                      </a:r>
                    </a:p>
                  </a:txBody>
                  <a:tcPr marL="186928" marR="93464" marT="93464" marB="93464" anchor="ctr"/>
                </a:tc>
                <a:tc>
                  <a:txBody>
                    <a:bodyPr/>
                    <a:lstStyle/>
                    <a:p>
                      <a:r>
                        <a:rPr lang="pt-BR" sz="2400">
                          <a:solidFill>
                            <a:schemeClr val="tx1">
                              <a:lumMod val="75000"/>
                              <a:lumOff val="25000"/>
                            </a:schemeClr>
                          </a:solidFill>
                          <a:latin typeface="Times New Roman" panose="02020603050405020304" pitchFamily="18" charset="0"/>
                          <a:cs typeface="Times New Roman" panose="02020603050405020304" pitchFamily="18" charset="0"/>
                        </a:rPr>
                        <a:t>C, H, O, N (S sometimes)</a:t>
                      </a:r>
                    </a:p>
                  </a:txBody>
                  <a:tcPr marL="186928" marR="93464" marT="93464" marB="93464" anchor="ctr"/>
                </a:tc>
                <a:extLst>
                  <a:ext uri="{0D108BD9-81ED-4DB2-BD59-A6C34878D82A}">
                    <a16:rowId xmlns:a16="http://schemas.microsoft.com/office/drawing/2014/main" val="2288299147"/>
                  </a:ext>
                </a:extLst>
              </a:tr>
              <a:tr h="457974">
                <a:tc>
                  <a:txBody>
                    <a:bodyPr/>
                    <a:lstStyle/>
                    <a:p>
                      <a:r>
                        <a:rPr lang="en-IN" sz="2400" b="1">
                          <a:solidFill>
                            <a:schemeClr val="tx1">
                              <a:lumMod val="75000"/>
                              <a:lumOff val="25000"/>
                            </a:schemeClr>
                          </a:solidFill>
                          <a:latin typeface="Times New Roman" panose="02020603050405020304" pitchFamily="18" charset="0"/>
                          <a:cs typeface="Times New Roman" panose="02020603050405020304" pitchFamily="18" charset="0"/>
                        </a:rPr>
                        <a:t>Basic Unit</a:t>
                      </a:r>
                      <a:endParaRPr lang="en-IN" sz="2400">
                        <a:solidFill>
                          <a:schemeClr val="tx1">
                            <a:lumMod val="75000"/>
                            <a:lumOff val="25000"/>
                          </a:schemeClr>
                        </a:solidFill>
                        <a:latin typeface="Times New Roman" panose="02020603050405020304" pitchFamily="18" charset="0"/>
                        <a:cs typeface="Times New Roman" panose="02020603050405020304" pitchFamily="18" charset="0"/>
                      </a:endParaRP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Monosaccharides</a:t>
                      </a: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Fatty acids + Glycerol</a:t>
                      </a: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Amino Acids</a:t>
                      </a:r>
                    </a:p>
                  </a:txBody>
                  <a:tcPr marL="186928" marR="93464" marT="93464" marB="93464" anchor="ctr"/>
                </a:tc>
                <a:extLst>
                  <a:ext uri="{0D108BD9-81ED-4DB2-BD59-A6C34878D82A}">
                    <a16:rowId xmlns:a16="http://schemas.microsoft.com/office/drawing/2014/main" val="3834091640"/>
                  </a:ext>
                </a:extLst>
              </a:tr>
              <a:tr h="691634">
                <a:tc>
                  <a:txBody>
                    <a:bodyPr/>
                    <a:lstStyle/>
                    <a:p>
                      <a:r>
                        <a:rPr lang="en-IN" sz="2400" b="1">
                          <a:solidFill>
                            <a:schemeClr val="tx1">
                              <a:lumMod val="75000"/>
                              <a:lumOff val="25000"/>
                            </a:schemeClr>
                          </a:solidFill>
                          <a:latin typeface="Times New Roman" panose="02020603050405020304" pitchFamily="18" charset="0"/>
                          <a:cs typeface="Times New Roman" panose="02020603050405020304" pitchFamily="18" charset="0"/>
                        </a:rPr>
                        <a:t>Function</a:t>
                      </a:r>
                      <a:endParaRPr lang="en-IN" sz="2400">
                        <a:solidFill>
                          <a:schemeClr val="tx1">
                            <a:lumMod val="75000"/>
                            <a:lumOff val="25000"/>
                          </a:schemeClr>
                        </a:solidFill>
                        <a:latin typeface="Times New Roman" panose="02020603050405020304" pitchFamily="18" charset="0"/>
                        <a:cs typeface="Times New Roman" panose="02020603050405020304" pitchFamily="18" charset="0"/>
                      </a:endParaRP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Quick energy, storage</a:t>
                      </a:r>
                    </a:p>
                  </a:txBody>
                  <a:tcPr marL="186928" marR="93464" marT="93464" marB="93464" anchor="ctr"/>
                </a:tc>
                <a:tc>
                  <a:txBody>
                    <a:bodyPr/>
                    <a:lstStyle/>
                    <a:p>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Long-term energy, membranes</a:t>
                      </a: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Enzymes, structure, signaling</a:t>
                      </a:r>
                    </a:p>
                  </a:txBody>
                  <a:tcPr marL="186928" marR="93464" marT="93464" marB="93464" anchor="ctr"/>
                </a:tc>
                <a:extLst>
                  <a:ext uri="{0D108BD9-81ED-4DB2-BD59-A6C34878D82A}">
                    <a16:rowId xmlns:a16="http://schemas.microsoft.com/office/drawing/2014/main" val="1447529467"/>
                  </a:ext>
                </a:extLst>
              </a:tr>
              <a:tr h="457974">
                <a:tc>
                  <a:txBody>
                    <a:bodyPr/>
                    <a:lstStyle/>
                    <a:p>
                      <a:r>
                        <a:rPr lang="en-IN" sz="2400" b="1">
                          <a:solidFill>
                            <a:schemeClr val="tx1">
                              <a:lumMod val="75000"/>
                              <a:lumOff val="25000"/>
                            </a:schemeClr>
                          </a:solidFill>
                          <a:latin typeface="Times New Roman" panose="02020603050405020304" pitchFamily="18" charset="0"/>
                          <a:cs typeface="Times New Roman" panose="02020603050405020304" pitchFamily="18" charset="0"/>
                        </a:rPr>
                        <a:t>Solubility</a:t>
                      </a:r>
                      <a:endParaRPr lang="en-IN" sz="2400">
                        <a:solidFill>
                          <a:schemeClr val="tx1">
                            <a:lumMod val="75000"/>
                            <a:lumOff val="25000"/>
                          </a:schemeClr>
                        </a:solidFill>
                        <a:latin typeface="Times New Roman" panose="02020603050405020304" pitchFamily="18" charset="0"/>
                        <a:cs typeface="Times New Roman" panose="02020603050405020304" pitchFamily="18" charset="0"/>
                      </a:endParaRP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Water-soluble</a:t>
                      </a: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Insoluble in water</a:t>
                      </a:r>
                    </a:p>
                  </a:txBody>
                  <a:tcPr marL="186928" marR="93464" marT="93464" marB="93464" anchor="ctr"/>
                </a:tc>
                <a:tc>
                  <a:txBody>
                    <a:bodyPr/>
                    <a:lstStyle/>
                    <a:p>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Varies</a:t>
                      </a:r>
                    </a:p>
                  </a:txBody>
                  <a:tcPr marL="186928" marR="93464" marT="93464" marB="93464" anchor="ctr"/>
                </a:tc>
                <a:extLst>
                  <a:ext uri="{0D108BD9-81ED-4DB2-BD59-A6C34878D82A}">
                    <a16:rowId xmlns:a16="http://schemas.microsoft.com/office/drawing/2014/main" val="158928918"/>
                  </a:ext>
                </a:extLst>
              </a:tr>
              <a:tr h="457974">
                <a:tc>
                  <a:txBody>
                    <a:bodyPr/>
                    <a:lstStyle/>
                    <a:p>
                      <a:r>
                        <a:rPr lang="en-IN" sz="2400" b="1">
                          <a:solidFill>
                            <a:schemeClr val="tx1">
                              <a:lumMod val="75000"/>
                              <a:lumOff val="25000"/>
                            </a:schemeClr>
                          </a:solidFill>
                          <a:latin typeface="Times New Roman" panose="02020603050405020304" pitchFamily="18" charset="0"/>
                          <a:cs typeface="Times New Roman" panose="02020603050405020304" pitchFamily="18" charset="0"/>
                        </a:rPr>
                        <a:t>Polymer Type</a:t>
                      </a:r>
                      <a:endParaRPr lang="en-IN" sz="2400">
                        <a:solidFill>
                          <a:schemeClr val="tx1">
                            <a:lumMod val="75000"/>
                            <a:lumOff val="25000"/>
                          </a:schemeClr>
                        </a:solidFill>
                        <a:latin typeface="Times New Roman" panose="02020603050405020304" pitchFamily="18" charset="0"/>
                        <a:cs typeface="Times New Roman" panose="02020603050405020304" pitchFamily="18" charset="0"/>
                      </a:endParaRP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True polymer</a:t>
                      </a:r>
                    </a:p>
                  </a:txBody>
                  <a:tcPr marL="186928" marR="93464" marT="93464" marB="93464" anchor="ctr"/>
                </a:tc>
                <a:tc>
                  <a:txBody>
                    <a:bodyPr/>
                    <a:lstStyle/>
                    <a:p>
                      <a:r>
                        <a:rPr lang="en-IN" sz="2400">
                          <a:solidFill>
                            <a:schemeClr val="tx1">
                              <a:lumMod val="75000"/>
                              <a:lumOff val="25000"/>
                            </a:schemeClr>
                          </a:solidFill>
                          <a:latin typeface="Times New Roman" panose="02020603050405020304" pitchFamily="18" charset="0"/>
                          <a:cs typeface="Times New Roman" panose="02020603050405020304" pitchFamily="18" charset="0"/>
                        </a:rPr>
                        <a:t>Not true polymer</a:t>
                      </a:r>
                    </a:p>
                  </a:txBody>
                  <a:tcPr marL="186928" marR="93464" marT="93464" marB="93464" anchor="ctr"/>
                </a:tc>
                <a:tc>
                  <a:txBody>
                    <a:bodyPr/>
                    <a:lstStyle/>
                    <a:p>
                      <a:r>
                        <a:rPr lang="en-IN" sz="2400" dirty="0">
                          <a:solidFill>
                            <a:schemeClr val="tx1">
                              <a:lumMod val="75000"/>
                              <a:lumOff val="25000"/>
                            </a:schemeClr>
                          </a:solidFill>
                          <a:latin typeface="Times New Roman" panose="02020603050405020304" pitchFamily="18" charset="0"/>
                          <a:cs typeface="Times New Roman" panose="02020603050405020304" pitchFamily="18" charset="0"/>
                        </a:rPr>
                        <a:t>True polymer</a:t>
                      </a:r>
                    </a:p>
                  </a:txBody>
                  <a:tcPr marL="186928" marR="93464" marT="93464" marB="93464" anchor="ctr"/>
                </a:tc>
                <a:extLst>
                  <a:ext uri="{0D108BD9-81ED-4DB2-BD59-A6C34878D82A}">
                    <a16:rowId xmlns:a16="http://schemas.microsoft.com/office/drawing/2014/main" val="1302366937"/>
                  </a:ext>
                </a:extLst>
              </a:tr>
            </a:tbl>
          </a:graphicData>
        </a:graphic>
      </p:graphicFrame>
    </p:spTree>
    <p:extLst>
      <p:ext uri="{BB962C8B-B14F-4D97-AF65-F5344CB8AC3E}">
        <p14:creationId xmlns:p14="http://schemas.microsoft.com/office/powerpoint/2010/main" val="26541315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877</TotalTime>
  <Words>2623</Words>
  <Application>Microsoft Office PowerPoint</Application>
  <PresentationFormat>Widescreen</PresentationFormat>
  <Paragraphs>366</Paragraphs>
  <Slides>37</Slides>
  <Notes>11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Arial</vt:lpstr>
      <vt:lpstr>Arial Rounded MT Bold</vt:lpstr>
      <vt:lpstr>Calibri</vt:lpstr>
      <vt:lpstr>Calibri Light</vt:lpstr>
      <vt:lpstr>Times New Roman</vt:lpstr>
      <vt:lpstr>Office Theme</vt:lpstr>
      <vt:lpstr>Unit 1:  Biomolecules and Enzymes</vt:lpstr>
      <vt:lpstr>Biomolecules </vt:lpstr>
      <vt:lpstr>Carbohydrates </vt:lpstr>
      <vt:lpstr>PowerPoint Presentation</vt:lpstr>
      <vt:lpstr>PowerPoint Presentation</vt:lpstr>
      <vt:lpstr>Disaccharides classification </vt:lpstr>
      <vt:lpstr>PowerPoint Presentation</vt:lpstr>
      <vt:lpstr>PowerPoint Presentation</vt:lpstr>
      <vt:lpstr>PowerPoint Presentation</vt:lpstr>
      <vt:lpstr>PowerPoint Presentation</vt:lpstr>
      <vt:lpstr>Applications</vt:lpstr>
      <vt:lpstr>Amino acids and Proteins </vt:lpstr>
      <vt:lpstr>Classification of amino acids </vt:lpstr>
      <vt:lpstr>PowerPoint Presentation</vt:lpstr>
      <vt:lpstr>Proteins </vt:lpstr>
      <vt:lpstr>Structures of proteins</vt:lpstr>
      <vt:lpstr>PowerPoint Presentation</vt:lpstr>
      <vt:lpstr>Alpha helix</vt:lpstr>
      <vt:lpstr>Beta sheets </vt:lpstr>
      <vt:lpstr>PowerPoint Presentation</vt:lpstr>
      <vt:lpstr>PowerPoint Presentation</vt:lpstr>
      <vt:lpstr>Quaternary structure </vt:lpstr>
      <vt:lpstr>Types of proteins –  Classification based on shape </vt:lpstr>
      <vt:lpstr>PowerPoint Presentation</vt:lpstr>
      <vt:lpstr>Types of proteins – Classification based on Composition and Solubility</vt:lpstr>
      <vt:lpstr>Types of Simple amino acids </vt:lpstr>
      <vt:lpstr>PowerPoint Presentation</vt:lpstr>
      <vt:lpstr>PowerPoint Presentation</vt:lpstr>
      <vt:lpstr>Applications </vt:lpstr>
      <vt:lpstr>Lipids </vt:lpstr>
      <vt:lpstr>Biological importance of lipids </vt:lpstr>
      <vt:lpstr>Classification of lipids</vt:lpstr>
      <vt:lpstr>PowerPoint Presentation</vt:lpstr>
      <vt:lpstr>PowerPoint Presentation</vt:lpstr>
      <vt:lpstr>Saturated vs unsaturated</vt:lpstr>
      <vt:lpstr>Applications</vt:lpstr>
      <vt:lpstr>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vaishnavishedge97@gmail.com</dc:creator>
  <cp:lastModifiedBy>vaishnavishedge97@gmail.com</cp:lastModifiedBy>
  <cp:revision>40</cp:revision>
  <dcterms:created xsi:type="dcterms:W3CDTF">2025-08-02T08:14:32Z</dcterms:created>
  <dcterms:modified xsi:type="dcterms:W3CDTF">2025-08-05T00:35:14Z</dcterms:modified>
</cp:coreProperties>
</file>