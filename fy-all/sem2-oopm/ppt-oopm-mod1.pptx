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Fira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g8A8hXL0sy9UqSZ0BmdnpQEOu9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FiraSans-italic.fntdata"/><Relationship Id="rId10" Type="http://schemas.openxmlformats.org/officeDocument/2006/relationships/slide" Target="slides/slide5.xml"/><Relationship Id="rId32" Type="http://schemas.openxmlformats.org/officeDocument/2006/relationships/font" Target="fonts/FiraSans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Fira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8ec6f5c25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8ec6f5c2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439189" y="1122364"/>
            <a:ext cx="922881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b="0" i="0" sz="59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1" y="3602041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985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0" i="0" sz="2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0" i="0" sz="1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0" i="0" sz="17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1" type="ftr"/>
          </p:nvPr>
        </p:nvSpPr>
        <p:spPr>
          <a:xfrm>
            <a:off x="3996193" y="635949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5"/>
          <p:cNvSpPr txBox="1"/>
          <p:nvPr>
            <p:ph idx="12" type="sldNum"/>
          </p:nvPr>
        </p:nvSpPr>
        <p:spPr>
          <a:xfrm>
            <a:off x="10175791" y="6361509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3549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1" y="6268503"/>
            <a:ext cx="274320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5511" y="6338574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8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8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8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8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8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8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8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8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38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838201" y="866275"/>
            <a:ext cx="1051560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838201" y="1825627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985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7"/>
          <p:cNvSpPr txBox="1"/>
          <p:nvPr>
            <p:ph idx="2" type="body"/>
          </p:nvPr>
        </p:nvSpPr>
        <p:spPr>
          <a:xfrm>
            <a:off x="6172200" y="1825627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985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7"/>
          <p:cNvSpPr txBox="1"/>
          <p:nvPr>
            <p:ph idx="10" type="dt"/>
          </p:nvPr>
        </p:nvSpPr>
        <p:spPr>
          <a:xfrm>
            <a:off x="838201" y="5843200"/>
            <a:ext cx="274320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1" type="ftr"/>
          </p:nvPr>
        </p:nvSpPr>
        <p:spPr>
          <a:xfrm>
            <a:off x="4038600" y="5843198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10169609" y="5862999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839789" y="866777"/>
            <a:ext cx="10515601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985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1" i="0" sz="2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1" i="0" sz="1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7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985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9"/>
          <p:cNvSpPr txBox="1"/>
          <p:nvPr>
            <p:ph idx="3" type="body"/>
          </p:nvPr>
        </p:nvSpPr>
        <p:spPr>
          <a:xfrm>
            <a:off x="6172202" y="1681164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985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1" i="0" sz="23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1" i="0" sz="19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7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9"/>
          <p:cNvSpPr txBox="1"/>
          <p:nvPr>
            <p:ph idx="4" type="body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985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10" type="dt"/>
          </p:nvPr>
        </p:nvSpPr>
        <p:spPr>
          <a:xfrm>
            <a:off x="838201" y="5843200"/>
            <a:ext cx="274320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1" type="ftr"/>
          </p:nvPr>
        </p:nvSpPr>
        <p:spPr>
          <a:xfrm>
            <a:off x="4038600" y="5843198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10169609" y="5862999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/>
          <p:nvPr>
            <p:ph type="title"/>
          </p:nvPr>
        </p:nvSpPr>
        <p:spPr>
          <a:xfrm>
            <a:off x="838201" y="866275"/>
            <a:ext cx="1051560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1" type="body"/>
          </p:nvPr>
        </p:nvSpPr>
        <p:spPr>
          <a:xfrm rot="5400000">
            <a:off x="3920332" y="-1256506"/>
            <a:ext cx="4351339" cy="10515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985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492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838201" y="5843200"/>
            <a:ext cx="274320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4038600" y="5843198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10169609" y="5862999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183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/>
          <p:nvPr/>
        </p:nvSpPr>
        <p:spPr>
          <a:xfrm>
            <a:off x="0" y="6080764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050" lIns="90125" spcFirstLastPara="1" rIns="90125" wrap="square" tIns="45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75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4"/>
          <p:cNvSpPr/>
          <p:nvPr/>
        </p:nvSpPr>
        <p:spPr>
          <a:xfrm>
            <a:off x="10169611" y="6356350"/>
            <a:ext cx="2022392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anchorCtr="0" anchor="ctr" bIns="45050" lIns="90125" spcFirstLastPara="1" rIns="90125" wrap="square" tIns="45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75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4"/>
          <p:cNvSpPr/>
          <p:nvPr/>
        </p:nvSpPr>
        <p:spPr>
          <a:xfrm>
            <a:off x="838201" y="6356355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050" lIns="90125" spcFirstLastPara="1" rIns="90125" wrap="square" tIns="45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75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Graphical user interface, text, application&#10;&#10;Description automatically generated" id="9" name="Google Shape;9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18520" y="387808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0" name="Google Shape;1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3569" y="364395"/>
            <a:ext cx="2004844" cy="58643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 txBox="1"/>
          <p:nvPr>
            <p:ph type="ctrTitle"/>
          </p:nvPr>
        </p:nvSpPr>
        <p:spPr>
          <a:xfrm>
            <a:off x="2445000" y="16869"/>
            <a:ext cx="8479411" cy="1148677"/>
          </a:xfrm>
          <a:prstGeom prst="rect">
            <a:avLst/>
          </a:prstGeom>
          <a:noFill/>
          <a:ln>
            <a:noFill/>
          </a:ln>
        </p:spPr>
        <p:txBody>
          <a:bodyPr anchorCtr="0" anchor="b" bIns="45050" lIns="90125" spcFirstLastPara="1" rIns="90125" wrap="square" tIns="450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b="1" lang="en-US" sz="3549">
                <a:latin typeface="Times New Roman"/>
                <a:ea typeface="Times New Roman"/>
                <a:cs typeface="Times New Roman"/>
                <a:sym typeface="Times New Roman"/>
              </a:rPr>
              <a:t>Object Oriented Programming</a:t>
            </a:r>
            <a:endParaRPr b="1" sz="354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0" y="1105519"/>
            <a:ext cx="12192000" cy="486029"/>
          </a:xfrm>
          <a:prstGeom prst="rect">
            <a:avLst/>
          </a:prstGeom>
          <a:noFill/>
          <a:ln>
            <a:noFill/>
          </a:ln>
        </p:spPr>
        <p:txBody>
          <a:bodyPr anchorCtr="0" anchor="t" bIns="45050" lIns="90125" spcFirstLastPara="1" rIns="90125" wrap="square" tIns="45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60"/>
              <a:buFont typeface="Arial"/>
              <a:buNone/>
            </a:pPr>
            <a:r>
              <a:rPr b="0" i="0" lang="en-US" sz="276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</a:t>
            </a:r>
            <a:endParaRPr/>
          </a:p>
        </p:txBody>
      </p:sp>
      <p:pic>
        <p:nvPicPr>
          <p:cNvPr descr="A building with stairs leading to the entrance&#10;&#10;AI-generated content may be incorrect.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075" y="2259114"/>
            <a:ext cx="5220331" cy="3480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oup of people outside of a building&#10;&#10;AI-generated content may be incorrect." id="50" name="Google Shape;50;p2"/>
          <p:cNvPicPr preferRelativeResize="0"/>
          <p:nvPr/>
        </p:nvPicPr>
        <p:blipFill rotWithShape="1">
          <a:blip r:embed="rId4">
            <a:alphaModFix/>
          </a:blip>
          <a:srcRect b="0" l="0" r="6259" t="0"/>
          <a:stretch/>
        </p:blipFill>
        <p:spPr>
          <a:xfrm>
            <a:off x="6133678" y="2255633"/>
            <a:ext cx="5598247" cy="348370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 txBox="1"/>
          <p:nvPr>
            <p:ph idx="12" type="sldNum"/>
          </p:nvPr>
        </p:nvSpPr>
        <p:spPr>
          <a:xfrm>
            <a:off x="10175791" y="6361509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86695" y="297444"/>
            <a:ext cx="12018613" cy="71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050" lIns="90125" spcFirstLastPara="1" rIns="90125" wrap="square" tIns="450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US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40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985157" y="1299486"/>
            <a:ext cx="10860544" cy="2647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50" lIns="90125" spcFirstLastPara="1" rIns="90125" wrap="square" tIns="45050">
            <a:noAutofit/>
          </a:bodyPr>
          <a:lstStyle/>
          <a:p>
            <a:pPr indent="-450677" lvl="0" marL="450677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76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indent="-450677" lvl="0" marL="450677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760">
                <a:latin typeface="Times New Roman"/>
                <a:ea typeface="Times New Roman"/>
                <a:cs typeface="Times New Roman"/>
                <a:sym typeface="Times New Roman"/>
              </a:rPr>
              <a:t>Basic program construction</a:t>
            </a:r>
            <a:endParaRPr/>
          </a:p>
          <a:p>
            <a:pPr indent="-450677" lvl="0" marL="450677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760">
                <a:latin typeface="Times New Roman"/>
                <a:ea typeface="Times New Roman"/>
                <a:cs typeface="Times New Roman"/>
                <a:sym typeface="Times New Roman"/>
              </a:rPr>
              <a:t>Procedural Programming Approach</a:t>
            </a:r>
            <a:endParaRPr/>
          </a:p>
          <a:p>
            <a:pPr indent="-450677" lvl="0" marL="450677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760">
                <a:latin typeface="Times New Roman"/>
                <a:ea typeface="Times New Roman"/>
                <a:cs typeface="Times New Roman"/>
                <a:sym typeface="Times New Roman"/>
              </a:rPr>
              <a:t>Structured Programming Approach</a:t>
            </a:r>
            <a:endParaRPr/>
          </a:p>
          <a:p>
            <a:pPr indent="-450677" lvl="0" marL="450677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760">
                <a:latin typeface="Times New Roman"/>
                <a:ea typeface="Times New Roman"/>
                <a:cs typeface="Times New Roman"/>
                <a:sym typeface="Times New Roman"/>
              </a:rPr>
              <a:t>Modular Programming Approach</a:t>
            </a:r>
            <a:endParaRPr/>
          </a:p>
          <a:p>
            <a:pPr indent="-450677" lvl="0" marL="450677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760">
                <a:latin typeface="Times New Roman"/>
                <a:ea typeface="Times New Roman"/>
                <a:cs typeface="Times New Roman"/>
                <a:sym typeface="Times New Roman"/>
              </a:rPr>
              <a:t>OOP Approach</a:t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5598355" y="2546384"/>
            <a:ext cx="995291" cy="1765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050" lIns="90125" spcFirstLastPara="1" rIns="90125" wrap="square" tIns="45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10175791" y="6361509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ctrTitle"/>
          </p:nvPr>
        </p:nvSpPr>
        <p:spPr>
          <a:xfrm>
            <a:off x="86695" y="297444"/>
            <a:ext cx="12018613" cy="71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050" lIns="90125" spcFirstLastPara="1" rIns="90125" wrap="square" tIns="450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</a:pPr>
            <a:r>
              <a:rPr lang="en-US" sz="4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Move from C to JAVA</a:t>
            </a:r>
            <a:endParaRPr sz="40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5598355" y="2546384"/>
            <a:ext cx="995291" cy="1765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050" lIns="90125" spcFirstLastPara="1" rIns="90125" wrap="square" tIns="45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10175791" y="6361509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0" y="1283196"/>
            <a:ext cx="1219200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Growth of Software Systems</a:t>
            </a:r>
            <a:endParaRPr/>
          </a:p>
          <a:p>
            <a:pPr indent="0" lvl="0" marL="808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🧩 Software evolved from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programs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large, complex, distributed systems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Limitations of C</a:t>
            </a:r>
            <a:endParaRPr/>
          </a:p>
          <a:p>
            <a:pPr indent="0" lvl="0" marL="8937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⚙️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Procedure-centric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logic scattered across functions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🧠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memory management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errors, leaks, crashes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🔓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data security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no access control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📉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scalability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large teams and long-term projects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Why Java?</a:t>
            </a:r>
            <a:endParaRPr/>
          </a:p>
          <a:p>
            <a:pPr indent="0" lvl="0" marL="8937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🧱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Object-Oriented (OOP)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real-world modelling using objects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🗑️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memory management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(Garbage Collection)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🌍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 independent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(Write Once, Run Anywhere)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🔐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and robust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Programming Approaches</a:t>
            </a:r>
            <a:endParaRPr/>
          </a:p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7"/>
          <p:cNvSpPr txBox="1"/>
          <p:nvPr/>
        </p:nvSpPr>
        <p:spPr>
          <a:xfrm>
            <a:off x="-1" y="1279499"/>
            <a:ext cx="538007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Procedural Programming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⚙️ Function-centric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➡ Focus on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tasks are performed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Example: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Structured Programming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🔁 Sequence • Selection • Iteration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🚫 Avoids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goto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📖 Improves readability</a:t>
            </a:r>
            <a:endParaRPr/>
          </a:p>
        </p:txBody>
      </p:sp>
      <p:sp>
        <p:nvSpPr>
          <p:cNvPr id="75" name="Google Shape;75;p17"/>
          <p:cNvSpPr txBox="1"/>
          <p:nvPr/>
        </p:nvSpPr>
        <p:spPr>
          <a:xfrm>
            <a:off x="6040205" y="1261826"/>
            <a:ext cx="614561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Modular Programming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🧩 Program split into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🔄 Reusable &amp; maintainable code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🛠 Each module → one responsibility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Object-Oriented Programming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🧱 Objects = Data + Methods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🌍 Models real-world entities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Example: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346014" y="4888927"/>
            <a:ext cx="11493795" cy="461665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evolved to manage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increasing software complexity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Introduction</a:t>
            </a:r>
            <a:endParaRPr/>
          </a:p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8"/>
          <p:cNvSpPr txBox="1"/>
          <p:nvPr/>
        </p:nvSpPr>
        <p:spPr>
          <a:xfrm>
            <a:off x="21260" y="1358500"/>
            <a:ext cx="121920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Object-Oriented Programming (OOP)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programming paradigm that organizes software design around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represent real-world entities.</a:t>
            </a:r>
            <a:endParaRPr/>
          </a:p>
          <a:p>
            <a:pPr indent="-180975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combines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(attributes)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 (methods)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0975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 interact with each other to perform tasks</a:t>
            </a:r>
            <a:endParaRPr/>
          </a:p>
          <a:p>
            <a:pPr indent="-180975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OOP helps manage software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reusability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maintainability</a:t>
            </a:r>
            <a:endParaRPr/>
          </a:p>
          <a:p>
            <a:pPr indent="-180975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  C++, JAVA, Python</a:t>
            </a:r>
            <a:endParaRPr/>
          </a:p>
        </p:txBody>
      </p:sp>
      <p:sp>
        <p:nvSpPr>
          <p:cNvPr id="84" name="Google Shape;84;p18"/>
          <p:cNvSpPr txBox="1"/>
          <p:nvPr/>
        </p:nvSpPr>
        <p:spPr>
          <a:xfrm>
            <a:off x="340242" y="4274288"/>
            <a:ext cx="11493795" cy="461665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Idea: Model the real-world using objects that encapsulate state and behavior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340241" y="5112584"/>
            <a:ext cx="11493795" cy="461665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OOP emphasizes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modularity, abstraction, and reusability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software development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Basic Program Structure</a:t>
            </a:r>
            <a:endParaRPr/>
          </a:p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9"/>
          <p:cNvSpPr txBox="1"/>
          <p:nvPr/>
        </p:nvSpPr>
        <p:spPr>
          <a:xfrm>
            <a:off x="899615" y="1477370"/>
            <a:ext cx="4165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Java Application consists of a collection of classes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class is a template containing methods and variables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1063" y="1477370"/>
            <a:ext cx="3998913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First Java Program</a:t>
            </a:r>
            <a:endParaRPr/>
          </a:p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20"/>
          <p:cNvSpPr txBox="1"/>
          <p:nvPr/>
        </p:nvSpPr>
        <p:spPr>
          <a:xfrm>
            <a:off x="-1" y="1646238"/>
            <a:ext cx="12185821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/* Call this file “Example.java”.*/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class Example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//your program starts execution with a call to //main()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public static void main(String args[ ]){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System.out.println(“This is a simple Java program”);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b="0" i="0" sz="2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Procedural Programming Approach</a:t>
            </a:r>
            <a:endParaRPr/>
          </a:p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1"/>
          <p:cNvSpPr txBox="1"/>
          <p:nvPr/>
        </p:nvSpPr>
        <p:spPr>
          <a:xfrm>
            <a:off x="0" y="1136374"/>
            <a:ext cx="12185821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Specifying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program must take to reach the desired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upon the concept of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procedure call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Procedures:</a:t>
            </a:r>
            <a:endParaRPr/>
          </a:p>
          <a:p>
            <a:pPr indent="-3810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Routines, subroutines, methods, or functions that contain a series of computational steps to be carried out</a:t>
            </a:r>
            <a:endParaRPr/>
          </a:p>
          <a:p>
            <a:pPr indent="-4064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given procedure might be called at any point during a program's execution, including by other procedures or itself</a:t>
            </a:r>
            <a:endParaRPr/>
          </a:p>
          <a:p>
            <a:pPr indent="-4064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 procedural language, the programmer specifies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statements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perform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of algorithmic steps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Procedural Programming Approach</a:t>
            </a:r>
            <a:endParaRPr/>
          </a:p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22"/>
          <p:cNvSpPr txBox="1"/>
          <p:nvPr/>
        </p:nvSpPr>
        <p:spPr>
          <a:xfrm>
            <a:off x="0" y="893974"/>
            <a:ext cx="5348176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Complexity increases as the length of a program increases . </a:t>
            </a:r>
            <a:endParaRPr/>
          </a:p>
          <a:p>
            <a: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 a large program into different functions or modules</a:t>
            </a:r>
            <a:endParaRPr/>
          </a:p>
          <a:p>
            <a: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with Procedural languages</a:t>
            </a:r>
            <a:endParaRPr/>
          </a:p>
          <a:p>
            <a: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have unrestricted access to global data</a:t>
            </a:r>
            <a:endParaRPr/>
          </a:p>
          <a:p>
            <a: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they provide poor mapping to real world</a:t>
            </a:r>
            <a:endParaRPr/>
          </a:p>
          <a:p>
            <a: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Procedural languages are not extensible</a:t>
            </a:r>
            <a:endParaRPr/>
          </a:p>
          <a:p>
            <a: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Fortran, C, Pascal</a:t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5663" y="1136374"/>
            <a:ext cx="6442673" cy="43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Structured Programming Approach</a:t>
            </a:r>
            <a:endParaRPr/>
          </a:p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3"/>
          <p:cNvSpPr txBox="1"/>
          <p:nvPr/>
        </p:nvSpPr>
        <p:spPr>
          <a:xfrm>
            <a:off x="1" y="1136374"/>
            <a:ext cx="5124892" cy="4360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technique for organizing and coding programs in which hierarchy of modules is used</a:t>
            </a:r>
            <a:endParaRPr/>
          </a:p>
          <a:p>
            <a: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module has a single entry and single exit point</a:t>
            </a:r>
            <a:endParaRPr/>
          </a:p>
          <a:p>
            <a: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is passed downward through the structure without unconditional branches to higher levels</a:t>
            </a:r>
            <a:endParaRPr/>
          </a:p>
          <a:p>
            <a: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types of control flow: Sequential, Test or Selection, Iteration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1219" y="1497196"/>
            <a:ext cx="6863907" cy="3860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Structured Programming Approach</a:t>
            </a:r>
            <a:endParaRPr/>
          </a:p>
        </p:txBody>
      </p:sp>
      <p:sp>
        <p:nvSpPr>
          <p:cNvPr id="129" name="Google Shape;129;p24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24"/>
          <p:cNvSpPr txBox="1"/>
          <p:nvPr/>
        </p:nvSpPr>
        <p:spPr>
          <a:xfrm>
            <a:off x="-6177" y="2369751"/>
            <a:ext cx="12191999" cy="2882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// Sequence of statements in C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x = 5;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y = 10;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sum = x + y;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printf("The sum is: %d\n", sum);</a:t>
            </a:r>
            <a:endParaRPr/>
          </a:p>
        </p:txBody>
      </p:sp>
      <p:sp>
        <p:nvSpPr>
          <p:cNvPr id="131" name="Google Shape;131;p24"/>
          <p:cNvSpPr txBox="1"/>
          <p:nvPr/>
        </p:nvSpPr>
        <p:spPr>
          <a:xfrm>
            <a:off x="-6177" y="994573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Structured Programming Approach</a:t>
            </a:r>
            <a:endParaRPr/>
          </a:p>
        </p:txBody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-6177" y="994573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</a:t>
            </a:r>
            <a:endParaRPr/>
          </a:p>
        </p:txBody>
      </p:sp>
      <p:sp>
        <p:nvSpPr>
          <p:cNvPr id="139" name="Google Shape;139;p25"/>
          <p:cNvSpPr txBox="1"/>
          <p:nvPr/>
        </p:nvSpPr>
        <p:spPr>
          <a:xfrm>
            <a:off x="-6177" y="2369751"/>
            <a:ext cx="12191999" cy="2882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// Sequence of statements in JAVA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x = 5;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y = 10;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sum = x + y;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System.out.println("The sum is: " + sum);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Structured Programming Approach</a:t>
            </a:r>
            <a:endParaRPr/>
          </a:p>
        </p:txBody>
      </p:sp>
      <p:sp>
        <p:nvSpPr>
          <p:cNvPr id="145" name="Google Shape;145;p26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6177" y="1818986"/>
            <a:ext cx="12185823" cy="356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// if-else statement in C: Selection (Condition)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number = 10;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(number &gt; 0) 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{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		printf("The number is positive.\n");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 else {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		printf("The number is negative or zero.\n");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</p:txBody>
      </p:sp>
      <p:sp>
        <p:nvSpPr>
          <p:cNvPr id="147" name="Google Shape;147;p26"/>
          <p:cNvSpPr txBox="1"/>
          <p:nvPr/>
        </p:nvSpPr>
        <p:spPr>
          <a:xfrm>
            <a:off x="-6177" y="994573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Structured Programming Approach</a:t>
            </a:r>
            <a:endParaRPr/>
          </a:p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27"/>
          <p:cNvSpPr txBox="1"/>
          <p:nvPr/>
        </p:nvSpPr>
        <p:spPr>
          <a:xfrm>
            <a:off x="6177" y="1818986"/>
            <a:ext cx="12185823" cy="356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// if-else statement in JAVA: Selection (Condition)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number = 10;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(number &gt; 0) 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{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		 System.out.println("The number is positive.\n");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 else {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		 System.out.println("The number is negative or zero.\n");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612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</p:txBody>
      </p:sp>
      <p:sp>
        <p:nvSpPr>
          <p:cNvPr id="155" name="Google Shape;155;p27"/>
          <p:cNvSpPr txBox="1"/>
          <p:nvPr/>
        </p:nvSpPr>
        <p:spPr>
          <a:xfrm>
            <a:off x="-6177" y="994573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Structured Programming Approach</a:t>
            </a:r>
            <a:endParaRPr/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8"/>
          <p:cNvSpPr txBox="1"/>
          <p:nvPr/>
        </p:nvSpPr>
        <p:spPr>
          <a:xfrm>
            <a:off x="-6177" y="1665086"/>
            <a:ext cx="12185823" cy="356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for loop in C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for (int i = 0; i &lt; 5; i++) {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printf("Iteration: %d\n", i);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while loop in C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count = 0;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(count &lt; 5) {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printf("Count: %d\n", count);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count++;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do-while loop in C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num = 0;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 {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printf("Number: %d\n", num);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num++;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while (num &lt; 5);</a:t>
            </a:r>
            <a:endParaRPr/>
          </a:p>
        </p:txBody>
      </p:sp>
      <p:sp>
        <p:nvSpPr>
          <p:cNvPr id="163" name="Google Shape;163;p28"/>
          <p:cNvSpPr txBox="1"/>
          <p:nvPr/>
        </p:nvSpPr>
        <p:spPr>
          <a:xfrm>
            <a:off x="-6177" y="994573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Structured Programming Approach</a:t>
            </a:r>
            <a:endParaRPr/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29"/>
          <p:cNvSpPr txBox="1"/>
          <p:nvPr/>
        </p:nvSpPr>
        <p:spPr>
          <a:xfrm>
            <a:off x="6177" y="1818986"/>
            <a:ext cx="12185823" cy="356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for loop in JAVA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(int i = 0; i &lt; 5; i++) {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System.out.println("Iteration: " + i);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while loop in JAVA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count = 0;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(count &lt; 5) {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System.out.println("Count: " + count);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count++;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do-while loop in JAVA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num = 0;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 {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System.out.println("Number: " + num);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num++;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while (num &lt; 5);</a:t>
            </a:r>
            <a:endParaRPr/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-6177" y="994573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Modular Programming Approach</a:t>
            </a:r>
            <a:endParaRPr/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30"/>
          <p:cNvSpPr txBox="1"/>
          <p:nvPr/>
        </p:nvSpPr>
        <p:spPr>
          <a:xfrm>
            <a:off x="1" y="1136374"/>
            <a:ext cx="60960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technique for separating functionality into independent, interchangeable modules</a:t>
            </a:r>
            <a:endParaRPr/>
          </a:p>
          <a:p>
            <a:pPr indent="-4064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module contains everything necessary to execute only one aspect</a:t>
            </a:r>
            <a:endParaRPr/>
          </a:p>
          <a:p>
            <a:pPr indent="-4064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Sub-programs or functions</a:t>
            </a:r>
            <a:endParaRPr/>
          </a:p>
        </p:txBody>
      </p:sp>
      <p:pic>
        <p:nvPicPr>
          <p:cNvPr descr="what is a modularization?** - HackMD" id="179" name="Google Shape;17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2407" y="1743518"/>
            <a:ext cx="4821618" cy="31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Modular Programming Approach</a:t>
            </a:r>
            <a:endParaRPr/>
          </a:p>
        </p:txBody>
      </p:sp>
      <p:sp>
        <p:nvSpPr>
          <p:cNvPr id="185" name="Google Shape;185;p31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31"/>
          <p:cNvSpPr txBox="1"/>
          <p:nvPr/>
        </p:nvSpPr>
        <p:spPr>
          <a:xfrm>
            <a:off x="1033669" y="1136374"/>
            <a:ext cx="10866781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Main.java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(Main Module)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Main {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void main(String[] args) {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Call the method from another module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result = Calculator.add(5, 10);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System.out.println("The sum is: " + result);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Calculator.java (Calculator Module)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Calculator {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int add(int a, int b) {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a + b;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6666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Structure of Complex Systems</a:t>
            </a:r>
            <a:endParaRPr/>
          </a:p>
        </p:txBody>
      </p:sp>
      <p:sp>
        <p:nvSpPr>
          <p:cNvPr id="192" name="Google Shape;192;p32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32"/>
          <p:cNvSpPr txBox="1"/>
          <p:nvPr/>
        </p:nvSpPr>
        <p:spPr>
          <a:xfrm>
            <a:off x="0" y="1136374"/>
            <a:ext cx="12185823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of a Personal Computer: Complexity - Moderate</a:t>
            </a:r>
            <a:endParaRPr/>
          </a:p>
          <a:p>
            <a:pPr indent="-4572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Composed of: a central processing unit (CPU), a monitor, a keyboard, and secondary storage device</a:t>
            </a:r>
            <a:endParaRPr/>
          </a:p>
          <a:p>
            <a:pPr indent="-4572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typically encompasses primary memory, an arithmetic/logic unit (ALU), and a bus to which peripheral devices are attached </a:t>
            </a:r>
            <a:endParaRPr/>
          </a:p>
          <a:p>
            <a:pPr indent="-4572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ALU may be divided into registers and random control logic, which themselves are constructed from even more primitive elements, such as NAND gates, inverters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Structure of Complex Systems</a:t>
            </a:r>
            <a:endParaRPr/>
          </a:p>
        </p:txBody>
      </p:sp>
      <p:sp>
        <p:nvSpPr>
          <p:cNvPr id="199" name="Google Shape;199;p33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33"/>
          <p:cNvSpPr txBox="1"/>
          <p:nvPr/>
        </p:nvSpPr>
        <p:spPr>
          <a:xfrm>
            <a:off x="0" y="1136374"/>
            <a:ext cx="121920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/>
          </a:p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of a Plants and Animals</a:t>
            </a:r>
            <a:endParaRPr/>
          </a:p>
          <a:p>
            <a:pPr indent="-4572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Plants consist of three major structures (roots, stems, and leaves), and each of these has its own structure.</a:t>
            </a:r>
            <a:endParaRPr/>
          </a:p>
          <a:p>
            <a:pPr indent="-4572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Animals exhibit a hierarchical structure : collections of cells form tissues, tissues work together as organs, clusters of organs define systems (such as the digestive system)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Inherent Complexity of Software</a:t>
            </a:r>
            <a:endParaRPr/>
          </a:p>
        </p:txBody>
      </p:sp>
      <p:sp>
        <p:nvSpPr>
          <p:cNvPr id="206" name="Google Shape;206;p34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34"/>
          <p:cNvSpPr txBox="1"/>
          <p:nvPr/>
        </p:nvSpPr>
        <p:spPr>
          <a:xfrm>
            <a:off x="0" y="1136374"/>
            <a:ext cx="12185823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inherent complexity derives from four elements. They are </a:t>
            </a:r>
            <a:endParaRPr/>
          </a:p>
          <a:p>
            <a:pPr indent="-4572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complexity of the problem domain.</a:t>
            </a:r>
            <a:endParaRPr/>
          </a:p>
          <a:p>
            <a:pPr indent="-4572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managing the developmental process.</a:t>
            </a:r>
            <a:endParaRPr/>
          </a:p>
          <a:p>
            <a:pPr indent="-4572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flexibility possible through software</a:t>
            </a:r>
            <a:endParaRPr/>
          </a:p>
          <a:p>
            <a:pPr indent="-4572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problems of characterizing the behavior of discrete systems.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Attributes of Complex Systems</a:t>
            </a:r>
            <a:endParaRPr/>
          </a:p>
        </p:txBody>
      </p:sp>
      <p:sp>
        <p:nvSpPr>
          <p:cNvPr id="213" name="Google Shape;213;p35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35"/>
          <p:cNvSpPr txBox="1"/>
          <p:nvPr/>
        </p:nvSpPr>
        <p:spPr>
          <a:xfrm>
            <a:off x="0" y="1136374"/>
            <a:ext cx="12185823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Structure</a:t>
            </a:r>
            <a:endParaRPr/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systems are organized into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levels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level is composed of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subsystems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themselves may contain smaller subsystems.</a:t>
            </a:r>
            <a:endParaRPr/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levels abstract the details of lower levels.</a:t>
            </a:r>
            <a:endParaRPr/>
          </a:p>
          <a:p>
            <a:pPr indent="-342900" lvl="1" marL="704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Software → Modules → Classes → Functions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Modularity</a:t>
            </a:r>
            <a:endParaRPr/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is divided into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well-defined modules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module performs a specific function.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understandability, maintainability, and reuse.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704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Authentication, database, UI as separate modules.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Attributes of Complex Systems</a:t>
            </a:r>
            <a:endParaRPr/>
          </a:p>
        </p:txBody>
      </p:sp>
      <p:sp>
        <p:nvSpPr>
          <p:cNvPr id="220" name="Google Shape;220;p36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36"/>
          <p:cNvSpPr txBox="1"/>
          <p:nvPr/>
        </p:nvSpPr>
        <p:spPr>
          <a:xfrm>
            <a:off x="0" y="1136374"/>
            <a:ext cx="12185823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Interdependency</a:t>
            </a:r>
            <a:endParaRPr/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the system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 on one another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change in one component can affect others.</a:t>
            </a:r>
            <a:endParaRPr/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dependencies is a major challenge in complex systems.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704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Changing a database schema affects business logic and UI.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Emergent Behavior</a:t>
            </a:r>
            <a:endParaRPr/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overall system behavior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be predicted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examining individual components alone.</a:t>
            </a:r>
            <a:endParaRPr/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 emerges due to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interactions among components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1" marL="704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 performance issues arising only under real-world load.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2" y="261978"/>
            <a:ext cx="12185821" cy="82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</a:pPr>
            <a:r>
              <a:rPr lang="en-US" sz="4000"/>
              <a:t>Attributes of Complex Systems</a:t>
            </a:r>
            <a:endParaRPr/>
          </a:p>
        </p:txBody>
      </p:sp>
      <p:sp>
        <p:nvSpPr>
          <p:cNvPr id="227" name="Google Shape;227;p37"/>
          <p:cNvSpPr txBox="1"/>
          <p:nvPr>
            <p:ph idx="12" type="sldNum"/>
          </p:nvPr>
        </p:nvSpPr>
        <p:spPr>
          <a:xfrm>
            <a:off x="10175791" y="6361511"/>
            <a:ext cx="2016211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37"/>
          <p:cNvSpPr txBox="1"/>
          <p:nvPr/>
        </p:nvSpPr>
        <p:spPr>
          <a:xfrm>
            <a:off x="0" y="1136374"/>
            <a:ext cx="12185823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Evolution over time</a:t>
            </a:r>
            <a:endParaRPr/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systems are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never static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evolve due to new requirements, fixes, and environmental changes.</a:t>
            </a:r>
            <a:endParaRPr/>
          </a:p>
          <a:p>
            <a:pPr indent="-180975" lvl="1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change increases complexity.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704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Software updates, feature additions, scalability requirements.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8ec6f5c25_1_0"/>
          <p:cNvSpPr txBox="1"/>
          <p:nvPr>
            <p:ph type="title"/>
          </p:nvPr>
        </p:nvSpPr>
        <p:spPr>
          <a:xfrm>
            <a:off x="3152" y="2947053"/>
            <a:ext cx="12185700" cy="824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234" name="Google Shape;234;g3b8ec6f5c25_1_0"/>
          <p:cNvSpPr txBox="1"/>
          <p:nvPr>
            <p:ph idx="12" type="sldNum"/>
          </p:nvPr>
        </p:nvSpPr>
        <p:spPr>
          <a:xfrm>
            <a:off x="10175791" y="6361511"/>
            <a:ext cx="2016300" cy="496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2022-02-21T05:08:08Z</dcterms:created>
  <dc:creator>PRG</dc:creator>
</cp:coreProperties>
</file>