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1"/>
  </p:notesMasterIdLst>
  <p:sldIdLst>
    <p:sldId id="261" r:id="rId2"/>
    <p:sldId id="263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8" r:id="rId15"/>
    <p:sldId id="274" r:id="rId16"/>
    <p:sldId id="275" r:id="rId17"/>
    <p:sldId id="276" r:id="rId18"/>
    <p:sldId id="277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</p:sldIdLst>
  <p:sldSz cx="12192000" cy="6858000"/>
  <p:notesSz cx="6858000" cy="9144000"/>
  <p:embeddedFontLst>
    <p:embeddedFont>
      <p:font typeface="Calibri" panose="020F0502020204030204" pitchFamily="34" charset="0"/>
      <p:regular r:id="rId72"/>
      <p:bold r:id="rId73"/>
      <p:italic r:id="rId74"/>
      <p:boldItalic r:id="rId75"/>
    </p:embeddedFont>
    <p:embeddedFont>
      <p:font typeface="Fira Sans" panose="020B0604020202020204" charset="0"/>
      <p:regular r:id="rId76"/>
    </p:embeddedFont>
    <p:embeddedFont>
      <p:font typeface="Marcellus" panose="020B0604020202020204" charset="0"/>
      <p:regular r:id="rId7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8" roundtripDataSignature="AMtx7mgbWDH9BgynZPotlxacZXWgy2wV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-884" y="-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font" Target="fonts/font5.fntdata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3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2.fntdata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5948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25fdc80c2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" name="Google Shape;24;g25fdc80c2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http://www.mathsteacher.com.au/year8/ch17_stat/03_freq/freq.htm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CB5642D7-3724-4CC5-AC82-392B8E164F0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66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bar graph plot of class data, with the bars placed adjacent to each other, is called a 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histogram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CB5642D7-3724-4CC5-AC82-392B8E164F0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98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CB5642D7-3724-4CC5-AC82-392B8E164F0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32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5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5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" name="Google Shape;15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Exploratory Data Analysis</a:t>
            </a:r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ldNum" idx="12"/>
          </p:nvPr>
        </p:nvSpPr>
        <p:spPr>
          <a:xfrm>
            <a:off x="10169610" y="6356350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5" descr="Graphical user interface, text, applicati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81800" y="146274"/>
            <a:ext cx="972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="" xmlns:a16="http://schemas.microsoft.com/office/drawing/2014/main" id="{168F6D20-302F-FB0C-3F38-D728CAE048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030" y="146274"/>
            <a:ext cx="2454684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6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Exploratory Data Analysis</a:t>
            </a:r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0169610" y="6356350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" name="Google Shape;32;p6" descr="Graphical user interface, text, applicati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81800" y="146274"/>
            <a:ext cx="972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black and red text&#10;&#10;Description automatically generated">
            <a:extLst>
              <a:ext uri="{FF2B5EF4-FFF2-40B4-BE49-F238E27FC236}">
                <a16:creationId xmlns="" xmlns:a16="http://schemas.microsoft.com/office/drawing/2014/main" id="{DD2BCE6E-8508-997F-D8D7-11B11F167A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030" y="146274"/>
            <a:ext cx="2454684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Exploratory Data Analysis</a:t>
            </a:r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ldNum" idx="12"/>
          </p:nvPr>
        </p:nvSpPr>
        <p:spPr>
          <a:xfrm>
            <a:off x="10169610" y="6356350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 descr="Graphical user interface, text, applicati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81800" y="146274"/>
            <a:ext cx="972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" name="Picture 1" descr="A black and red text&#10;&#10;Description automatically generated">
            <a:extLst>
              <a:ext uri="{FF2B5EF4-FFF2-40B4-BE49-F238E27FC236}">
                <a16:creationId xmlns="" xmlns:a16="http://schemas.microsoft.com/office/drawing/2014/main" id="{46CF0085-AE78-4435-BB59-CA24176A2D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030" y="146274"/>
            <a:ext cx="2454684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" name="Google Shape;73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Exploratory Data Analysis</a:t>
            </a:r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sldNum" idx="12"/>
          </p:nvPr>
        </p:nvSpPr>
        <p:spPr>
          <a:xfrm>
            <a:off x="10169610" y="6356350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9" name="Google Shape;79;p8" descr="Graphical user interface, text, applicati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81800" y="146274"/>
            <a:ext cx="972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black and red text&#10;&#10;Description automatically generated">
            <a:extLst>
              <a:ext uri="{FF2B5EF4-FFF2-40B4-BE49-F238E27FC236}">
                <a16:creationId xmlns="" xmlns:a16="http://schemas.microsoft.com/office/drawing/2014/main" id="{2B782C74-53FB-60FF-A05E-C63805F11B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030" y="146274"/>
            <a:ext cx="2454684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Exploratory Data Analysis</a:t>
            </a:r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sldNum" idx="12"/>
          </p:nvPr>
        </p:nvSpPr>
        <p:spPr>
          <a:xfrm>
            <a:off x="10169610" y="6356350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9" descr="Graphical user interface, text, applicati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81800" y="146274"/>
            <a:ext cx="972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black and red text&#10;&#10;Description automatically generated">
            <a:extLst>
              <a:ext uri="{FF2B5EF4-FFF2-40B4-BE49-F238E27FC236}">
                <a16:creationId xmlns="" xmlns:a16="http://schemas.microsoft.com/office/drawing/2014/main" id="{6FE73A3C-3A80-7A92-8C84-263950AD97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030" y="146274"/>
            <a:ext cx="2454684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8" name="Google Shape;10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Exploratory Data Analysis</a:t>
            </a:r>
            <a:endParaRPr/>
          </a:p>
        </p:txBody>
      </p:sp>
      <p:sp>
        <p:nvSpPr>
          <p:cNvPr id="110" name="Google Shape;110;p11"/>
          <p:cNvSpPr txBox="1">
            <a:spLocks noGrp="1"/>
          </p:cNvSpPr>
          <p:nvPr>
            <p:ph type="sldNum" idx="12"/>
          </p:nvPr>
        </p:nvSpPr>
        <p:spPr>
          <a:xfrm>
            <a:off x="10169610" y="6356350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" name="Google Shape;112;p11" descr="Graphical user interface, text, applicati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81800" y="146274"/>
            <a:ext cx="972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black and red text&#10;&#10;Description automatically generated">
            <a:extLst>
              <a:ext uri="{FF2B5EF4-FFF2-40B4-BE49-F238E27FC236}">
                <a16:creationId xmlns="" xmlns:a16="http://schemas.microsoft.com/office/drawing/2014/main" id="{62F6DD17-99E7-21E1-D29A-FD6E9C76A2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030" y="146274"/>
            <a:ext cx="2454684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" name="Google Shape;117;p14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 smtClean="0"/>
              <a:t>Exploratory Data Analysis</a:t>
            </a:r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sldNum" idx="12"/>
          </p:nvPr>
        </p:nvSpPr>
        <p:spPr>
          <a:xfrm>
            <a:off x="10169610" y="6356350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3" name="Google Shape;123;p14" descr="Graphical user interface, text, applicati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81800" y="146274"/>
            <a:ext cx="972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black and red text&#10;&#10;Description automatically generated">
            <a:extLst>
              <a:ext uri="{FF2B5EF4-FFF2-40B4-BE49-F238E27FC236}">
                <a16:creationId xmlns="" xmlns:a16="http://schemas.microsoft.com/office/drawing/2014/main" id="{F1D4565B-62ED-8B82-5174-DEC201160B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030" y="146274"/>
            <a:ext cx="2454684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600"/>
              <a:buFont typeface="Marcellus"/>
              <a:buNone/>
              <a:defRPr sz="3600" b="0" i="0" u="none" strike="noStrike" cap="none">
                <a:solidFill>
                  <a:srgbClr val="A42530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smtClean="0"/>
              <a:t>Exploratory Data Analysis</a:t>
            </a:r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10169610" y="6356350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7" r:id="rId6"/>
    <p:sldLayoutId id="2147483658" r:id="rId7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gi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>
            <a:spLocks noGrp="1"/>
          </p:cNvSpPr>
          <p:nvPr>
            <p:ph type="ctrTitle"/>
          </p:nvPr>
        </p:nvSpPr>
        <p:spPr>
          <a:xfrm>
            <a:off x="1784497" y="2707089"/>
            <a:ext cx="9144000" cy="578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sz="4800" dirty="0"/>
              <a:t>Introduction to Exploratory Data Analysis </a:t>
            </a:r>
            <a:endParaRPr dirty="0"/>
          </a:p>
        </p:txBody>
      </p:sp>
      <p:sp>
        <p:nvSpPr>
          <p:cNvPr id="21" name="Google Shape;21;p1"/>
          <p:cNvSpPr txBox="1">
            <a:spLocks noGrp="1"/>
          </p:cNvSpPr>
          <p:nvPr>
            <p:ph type="subTitle" idx="1"/>
          </p:nvPr>
        </p:nvSpPr>
        <p:spPr>
          <a:xfrm>
            <a:off x="0" y="3835532"/>
            <a:ext cx="12109155" cy="72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dirty="0" smtClean="0">
                <a:solidFill>
                  <a:schemeClr val="dk1"/>
                </a:solidFill>
              </a:rPr>
              <a:t>Sharvari Deshmane</a:t>
            </a:r>
            <a:endParaRPr lang="en-US" dirty="0"/>
          </a:p>
          <a:p>
            <a:pPr marL="0" lvl="0" indent="0">
              <a:lnSpc>
                <a:spcPct val="100000"/>
              </a:lnSpc>
              <a:buClr>
                <a:schemeClr val="dk1"/>
              </a:buClr>
              <a:buSzPts val="2800"/>
            </a:pPr>
            <a:r>
              <a:rPr lang="en-US" dirty="0" smtClean="0">
                <a:solidFill>
                  <a:schemeClr val="dk1"/>
                </a:solidFill>
              </a:rPr>
              <a:t>K J Somaiya School of Engineering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6" name="Date Placeholder 1"/>
          <p:cNvSpPr txBox="1">
            <a:spLocks/>
          </p:cNvSpPr>
          <p:nvPr/>
        </p:nvSpPr>
        <p:spPr>
          <a:xfrm>
            <a:off x="412897" y="6492875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4377E67-DBEE-4ACA-B983-7D5BC25A6B95}" type="datetime1">
              <a:rPr lang="en-IN" sz="1200" smtClean="0">
                <a:solidFill>
                  <a:schemeClr val="bg1"/>
                </a:solidFill>
                <a:latin typeface="Fira Sans" charset="0"/>
              </a:rPr>
              <a:pPr/>
              <a:t>08-01-2026</a:t>
            </a:fld>
            <a:endParaRPr lang="en-IN" sz="1200" dirty="0">
              <a:solidFill>
                <a:schemeClr val="bg1"/>
              </a:solidFill>
              <a:latin typeface="Fira Sans" charset="0"/>
            </a:endParaRPr>
          </a:p>
        </p:txBody>
      </p:sp>
      <p:sp>
        <p:nvSpPr>
          <p:cNvPr id="7" name="Footer Placeholder 2"/>
          <p:cNvSpPr txBox="1">
            <a:spLocks/>
          </p:cNvSpPr>
          <p:nvPr/>
        </p:nvSpPr>
        <p:spPr>
          <a:xfrm>
            <a:off x="3775361" y="6492875"/>
            <a:ext cx="4786423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</a:rPr>
              <a:t>Exploratory Data Analysis</a:t>
            </a:r>
            <a:endParaRPr lang="en-IN" sz="1200" dirty="0">
              <a:solidFill>
                <a:schemeClr val="bg1"/>
              </a:solidFill>
              <a:latin typeface="Fira Sans" charset="0"/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8759455" y="6447612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z="1200" smtClean="0">
                <a:solidFill>
                  <a:schemeClr val="bg1"/>
                </a:solidFill>
                <a:latin typeface="Fira Sans" charset="0"/>
              </a:rPr>
              <a:pPr algn="r"/>
              <a:t>1</a:t>
            </a:fld>
            <a:endParaRPr lang="en-US" sz="1200" dirty="0">
              <a:solidFill>
                <a:schemeClr val="bg1"/>
              </a:solidFill>
              <a:latin typeface="Fira Sans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53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/>
          <p:cNvSpPr txBox="1">
            <a:spLocks/>
          </p:cNvSpPr>
          <p:nvPr/>
        </p:nvSpPr>
        <p:spPr>
          <a:xfrm>
            <a:off x="412897" y="6492875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4377E67-DBEE-4ACA-B983-7D5BC25A6B95}" type="datetime1">
              <a:rPr lang="en-IN" sz="1200" smtClean="0">
                <a:solidFill>
                  <a:schemeClr val="bg1"/>
                </a:solidFill>
                <a:latin typeface="Fira Sans" charset="0"/>
              </a:rPr>
              <a:pPr/>
              <a:t>08-01-2026</a:t>
            </a:fld>
            <a:endParaRPr lang="en-IN" sz="1200" dirty="0">
              <a:solidFill>
                <a:schemeClr val="bg1"/>
              </a:solidFill>
              <a:latin typeface="Fira Sans" charset="0"/>
            </a:endParaRPr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8759455" y="6447612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z="1200" smtClean="0">
                <a:solidFill>
                  <a:schemeClr val="bg1"/>
                </a:solidFill>
                <a:latin typeface="Fira Sans" charset="0"/>
              </a:rPr>
              <a:pPr algn="r"/>
              <a:t>2</a:t>
            </a:fld>
            <a:endParaRPr lang="en-US" sz="1200" dirty="0">
              <a:solidFill>
                <a:schemeClr val="bg1"/>
              </a:solidFill>
              <a:latin typeface="Fira Sans" charset="0"/>
            </a:endParaRPr>
          </a:p>
        </p:txBody>
      </p:sp>
      <p:sp>
        <p:nvSpPr>
          <p:cNvPr id="8" name="Google Shape;334;p3"/>
          <p:cNvSpPr txBox="1">
            <a:spLocks/>
          </p:cNvSpPr>
          <p:nvPr/>
        </p:nvSpPr>
        <p:spPr>
          <a:xfrm>
            <a:off x="328245" y="2678730"/>
            <a:ext cx="11174410" cy="576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rgbClr val="C00000"/>
              </a:buClr>
              <a:buSzPts val="4000"/>
            </a:pPr>
            <a:r>
              <a:rPr lang="en-US" sz="4000" dirty="0" smtClean="0">
                <a:solidFill>
                  <a:srgbClr val="C00000"/>
                </a:solidFill>
              </a:rPr>
              <a:t>   </a:t>
            </a:r>
            <a:r>
              <a:rPr lang="en-US" sz="4000" dirty="0">
                <a:solidFill>
                  <a:srgbClr val="C00000"/>
                </a:solidFill>
                <a:latin typeface="Marcellus"/>
                <a:ea typeface="Marcellus"/>
                <a:cs typeface="Marcellus"/>
              </a:rPr>
              <a:t>Introduction to Exploratory Data Analysis (EDA)</a:t>
            </a:r>
            <a:endParaRPr lang="en-US" sz="4000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4121804" y="6372724"/>
            <a:ext cx="4114800" cy="514900"/>
          </a:xfrm>
        </p:spPr>
        <p:txBody>
          <a:bodyPr/>
          <a:lstStyle/>
          <a:p>
            <a:r>
              <a:rPr lang="en-IN" dirty="0" smtClean="0"/>
              <a:t>Exploratory Data Analysis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9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>
            <a:spLocks noGrp="1"/>
          </p:cNvSpPr>
          <p:nvPr>
            <p:ph type="ctrTitle"/>
          </p:nvPr>
        </p:nvSpPr>
        <p:spPr>
          <a:xfrm>
            <a:off x="1784497" y="1319064"/>
            <a:ext cx="9144000" cy="722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sz="3600" dirty="0"/>
              <a:t>Introduction to Exploratory Data Analysis (EDA)</a:t>
            </a:r>
            <a:endParaRPr sz="3600" dirty="0"/>
          </a:p>
        </p:txBody>
      </p:sp>
      <p:sp>
        <p:nvSpPr>
          <p:cNvPr id="5" name="Date Placeholder 1"/>
          <p:cNvSpPr txBox="1">
            <a:spLocks/>
          </p:cNvSpPr>
          <p:nvPr/>
        </p:nvSpPr>
        <p:spPr>
          <a:xfrm>
            <a:off x="412897" y="6492875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4377E67-DBEE-4ACA-B983-7D5BC25A6B95}" type="datetime1">
              <a:rPr lang="en-IN" sz="1200" smtClean="0">
                <a:solidFill>
                  <a:schemeClr val="bg1"/>
                </a:solidFill>
                <a:latin typeface="Fira Sans" charset="0"/>
              </a:rPr>
              <a:pPr/>
              <a:t>08-01-2026</a:t>
            </a:fld>
            <a:endParaRPr lang="en-IN" sz="1200" dirty="0">
              <a:solidFill>
                <a:schemeClr val="bg1"/>
              </a:solidFill>
              <a:latin typeface="Fira Sans" charset="0"/>
            </a:endParaRPr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8759455" y="6447612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z="1200" smtClean="0">
                <a:solidFill>
                  <a:schemeClr val="bg1"/>
                </a:solidFill>
                <a:latin typeface="Fira Sans" charset="0"/>
              </a:rPr>
              <a:pPr algn="r"/>
              <a:t>3</a:t>
            </a:fld>
            <a:endParaRPr lang="en-US" sz="1200" dirty="0">
              <a:solidFill>
                <a:schemeClr val="bg1"/>
              </a:solidFill>
              <a:latin typeface="Fira Sans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276" y="1983904"/>
            <a:ext cx="8890591" cy="4314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4346945" y="6372724"/>
            <a:ext cx="4114800" cy="514900"/>
          </a:xfrm>
        </p:spPr>
        <p:txBody>
          <a:bodyPr/>
          <a:lstStyle/>
          <a:p>
            <a:r>
              <a:rPr lang="en-IN" dirty="0" smtClean="0"/>
              <a:t>Exploratory Data Analysis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51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Exploratory Data Analysis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094" y="815383"/>
            <a:ext cx="7735408" cy="550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965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Exploratory Data Analysis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222" y="988718"/>
            <a:ext cx="8050029" cy="5384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092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Exploratory Data Analysis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172" y="1173126"/>
            <a:ext cx="10815053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986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Exploratory Data Analysis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51" y="1302269"/>
            <a:ext cx="10939177" cy="447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073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Exploratory Data Analysis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594" y="932011"/>
            <a:ext cx="10999842" cy="5288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460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Exploratory Data Analysis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02" y="1445031"/>
            <a:ext cx="11593969" cy="3254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669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Exploratory Data Analysis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204" y="1079759"/>
            <a:ext cx="10396206" cy="5227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7561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Exploratory Data Analysis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643" y="999904"/>
            <a:ext cx="10511169" cy="5254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611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Exploratory Data Analysis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326" y="1284436"/>
            <a:ext cx="10366632" cy="4311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73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Exploratory Data Analysis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042" y="1604408"/>
            <a:ext cx="10621437" cy="3839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066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3615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Types of variables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50" y="1768806"/>
            <a:ext cx="11101699" cy="378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1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Exploratory Data Analysis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592" y="1063920"/>
            <a:ext cx="10662794" cy="5144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02" y="4755630"/>
            <a:ext cx="1732295" cy="503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333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Exploratory Data Analysis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512" y="985616"/>
            <a:ext cx="7367218" cy="5375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157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Exploratory Data Analysis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749" y="1226178"/>
            <a:ext cx="10853185" cy="4721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0084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Exploratory Data Analysis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833" y="884385"/>
            <a:ext cx="10134045" cy="5253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063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40" y="0"/>
            <a:ext cx="9893249" cy="631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688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057" y="1027907"/>
            <a:ext cx="8788946" cy="478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07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19966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Time </a:t>
            </a:r>
            <a:r>
              <a:rPr lang="en-IN" b="1" dirty="0" smtClean="0">
                <a:solidFill>
                  <a:srgbClr val="C00000"/>
                </a:solidFill>
              </a:rPr>
              <a:t>series Vs </a:t>
            </a:r>
            <a:r>
              <a:rPr lang="en-IN" b="1" dirty="0">
                <a:solidFill>
                  <a:srgbClr val="C00000"/>
                </a:solidFill>
              </a:rPr>
              <a:t>Cross-Sectional </a:t>
            </a:r>
            <a:r>
              <a:rPr lang="en-IN" b="1" dirty="0" smtClean="0">
                <a:solidFill>
                  <a:srgbClr val="C00000"/>
                </a:solidFill>
              </a:rPr>
              <a:t>data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0607" y="1617129"/>
            <a:ext cx="7677292" cy="24051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607" y="4022256"/>
            <a:ext cx="8098063" cy="244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19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74485" y="762001"/>
            <a:ext cx="10515600" cy="1325563"/>
          </a:xfrm>
        </p:spPr>
        <p:txBody>
          <a:bodyPr/>
          <a:lstStyle/>
          <a:p>
            <a:r>
              <a:rPr lang="en-US" dirty="0"/>
              <a:t>DESCRIBING DATA SETS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Frequency Tables and </a:t>
            </a:r>
            <a:r>
              <a:rPr lang="en-US" b="1" dirty="0" smtClean="0"/>
              <a:t>Graphs</a:t>
            </a:r>
          </a:p>
          <a:p>
            <a:r>
              <a:rPr lang="en-US" b="1" dirty="0"/>
              <a:t>Relative Frequency Tables and </a:t>
            </a:r>
            <a:r>
              <a:rPr lang="en-US" b="1" dirty="0" smtClean="0"/>
              <a:t>Graphs</a:t>
            </a:r>
          </a:p>
          <a:p>
            <a:r>
              <a:rPr lang="en-US" b="1" dirty="0"/>
              <a:t>Grouped </a:t>
            </a:r>
            <a:r>
              <a:rPr lang="en-US" b="1" dirty="0" smtClean="0"/>
              <a:t>Data</a:t>
            </a:r>
          </a:p>
          <a:p>
            <a:r>
              <a:rPr lang="en-US" b="1" dirty="0" smtClean="0"/>
              <a:t> Histograms</a:t>
            </a:r>
          </a:p>
          <a:p>
            <a:r>
              <a:rPr lang="en-US" b="1" dirty="0" smtClean="0"/>
              <a:t> </a:t>
            </a:r>
            <a:r>
              <a:rPr lang="en-US" b="1" dirty="0" err="1" smtClean="0"/>
              <a:t>Ogives</a:t>
            </a:r>
            <a:endParaRPr lang="en-US" b="1" dirty="0" smtClean="0"/>
          </a:p>
          <a:p>
            <a:r>
              <a:rPr lang="en-US" b="1" dirty="0" smtClean="0"/>
              <a:t> Stem </a:t>
            </a:r>
            <a:r>
              <a:rPr lang="en-US" b="1" dirty="0"/>
              <a:t>and Leaf Plots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28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81743" y="838201"/>
            <a:ext cx="10515600" cy="1325563"/>
          </a:xfrm>
        </p:spPr>
        <p:txBody>
          <a:bodyPr/>
          <a:lstStyle/>
          <a:p>
            <a:r>
              <a:rPr lang="en-US" dirty="0"/>
              <a:t>Frequency Tables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marks awarded for an assignment set for a </a:t>
            </a:r>
            <a:r>
              <a:rPr lang="en-IN" dirty="0" smtClean="0"/>
              <a:t>class </a:t>
            </a:r>
            <a:r>
              <a:rPr lang="en-IN" dirty="0"/>
              <a:t>of 20 students were as follows:</a:t>
            </a:r>
            <a:br>
              <a:rPr lang="en-IN" dirty="0"/>
            </a:br>
            <a:r>
              <a:rPr lang="en-IN" dirty="0"/>
              <a:t>     6     7     5     7     7     8     7     6     9     7</a:t>
            </a:r>
            <a:br>
              <a:rPr lang="en-IN" dirty="0"/>
            </a:br>
            <a:r>
              <a:rPr lang="en-IN" dirty="0"/>
              <a:t>     4     10   6     8     8     9     5     6     4     8</a:t>
            </a:r>
          </a:p>
          <a:p>
            <a:pPr marL="109728" indent="0">
              <a:buNone/>
            </a:pPr>
            <a:r>
              <a:rPr lang="en-IN" dirty="0"/>
              <a:t>Present this information in a frequency table.</a:t>
            </a:r>
          </a:p>
          <a:p>
            <a:pPr marL="109728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27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199" y="594518"/>
            <a:ext cx="10515600" cy="1325563"/>
          </a:xfrm>
        </p:spPr>
        <p:txBody>
          <a:bodyPr/>
          <a:lstStyle/>
          <a:p>
            <a:r>
              <a:rPr lang="en-US" b="0" i="1" dirty="0" smtClean="0"/>
              <a:t>Line </a:t>
            </a:r>
            <a:r>
              <a:rPr lang="en-US" b="0" i="1" dirty="0"/>
              <a:t>graph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30601" y="1320801"/>
            <a:ext cx="8597900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63712"/>
            <a:ext cx="30226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820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12800" y="762001"/>
            <a:ext cx="10515600" cy="1325563"/>
          </a:xfrm>
        </p:spPr>
        <p:txBody>
          <a:bodyPr/>
          <a:lstStyle/>
          <a:p>
            <a:r>
              <a:rPr lang="en-US" b="0" i="1" dirty="0"/>
              <a:t>B</a:t>
            </a:r>
            <a:r>
              <a:rPr lang="en-US" b="0" i="1" dirty="0" smtClean="0"/>
              <a:t>ar </a:t>
            </a:r>
            <a:r>
              <a:rPr lang="en-US" b="0" i="1" dirty="0"/>
              <a:t>graph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04238" y="1524000"/>
            <a:ext cx="8501748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9" y="1831068"/>
            <a:ext cx="30226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091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52727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Relative Frequency Tables and </a:t>
            </a:r>
            <a:r>
              <a:rPr lang="en-US" dirty="0" smtClean="0"/>
              <a:t>Graphs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351338"/>
          </a:xfrm>
        </p:spPr>
        <p:txBody>
          <a:bodyPr/>
          <a:lstStyle/>
          <a:p>
            <a:r>
              <a:rPr lang="en-US" dirty="0"/>
              <a:t>Consider a data set consisting of </a:t>
            </a:r>
            <a:r>
              <a:rPr lang="en-US" i="1" dirty="0"/>
              <a:t>n </a:t>
            </a:r>
            <a:r>
              <a:rPr lang="en-US" dirty="0"/>
              <a:t>values. If </a:t>
            </a:r>
            <a:r>
              <a:rPr lang="en-US" i="1" dirty="0"/>
              <a:t>f </a:t>
            </a:r>
            <a:r>
              <a:rPr lang="en-US" dirty="0"/>
              <a:t>is the frequency of a particular value, </a:t>
            </a:r>
            <a:r>
              <a:rPr lang="en-US" dirty="0" smtClean="0"/>
              <a:t>then the </a:t>
            </a:r>
            <a:r>
              <a:rPr lang="en-US" dirty="0"/>
              <a:t>ratio </a:t>
            </a:r>
            <a:r>
              <a:rPr lang="en-US" i="1" dirty="0"/>
              <a:t>f </a:t>
            </a:r>
            <a:r>
              <a:rPr lang="en-US" dirty="0"/>
              <a:t>/</a:t>
            </a:r>
            <a:r>
              <a:rPr lang="en-US" i="1" dirty="0"/>
              <a:t>n </a:t>
            </a:r>
            <a:r>
              <a:rPr lang="en-US" dirty="0"/>
              <a:t>is called its </a:t>
            </a:r>
            <a:r>
              <a:rPr lang="en-US" i="1" dirty="0"/>
              <a:t>relative frequency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2286000"/>
            <a:ext cx="4775200" cy="414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215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12800" y="731837"/>
            <a:ext cx="10515600" cy="1325563"/>
          </a:xfrm>
        </p:spPr>
        <p:txBody>
          <a:bodyPr/>
          <a:lstStyle/>
          <a:p>
            <a:r>
              <a:rPr lang="en-US" dirty="0" smtClean="0"/>
              <a:t>Pie Chart</a:t>
            </a:r>
            <a:endParaRPr lang="en-US" dirty="0"/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0" y="131345"/>
            <a:ext cx="7277100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2057400"/>
            <a:ext cx="6908800" cy="463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289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16428" y="762001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Grouped Data, Histograms, </a:t>
            </a:r>
            <a:r>
              <a:rPr lang="en-US" dirty="0" err="1"/>
              <a:t>Ogives</a:t>
            </a:r>
            <a:r>
              <a:rPr lang="en-US" dirty="0"/>
              <a:t>, </a:t>
            </a:r>
            <a:r>
              <a:rPr lang="en-US" dirty="0" smtClean="0"/>
              <a:t>and Stem </a:t>
            </a:r>
            <a:r>
              <a:rPr lang="en-US" dirty="0"/>
              <a:t>and Leaf Plots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Divide </a:t>
            </a:r>
            <a:r>
              <a:rPr lang="en-US" dirty="0"/>
              <a:t>the values into groupings, or </a:t>
            </a:r>
            <a:r>
              <a:rPr lang="en-US" i="1" dirty="0"/>
              <a:t>class intervals</a:t>
            </a:r>
            <a:r>
              <a:rPr lang="en-US" dirty="0"/>
              <a:t>, and then plot the number of data </a:t>
            </a:r>
            <a:r>
              <a:rPr lang="en-US" dirty="0" smtClean="0"/>
              <a:t>values falling </a:t>
            </a:r>
            <a:r>
              <a:rPr lang="en-US" dirty="0"/>
              <a:t>in each class </a:t>
            </a:r>
            <a:r>
              <a:rPr lang="en-US" dirty="0" smtClean="0"/>
              <a:t>interval</a:t>
            </a:r>
          </a:p>
          <a:p>
            <a:r>
              <a:rPr lang="en-US" dirty="0"/>
              <a:t>The endpoints of a class interval are called the </a:t>
            </a:r>
            <a:r>
              <a:rPr lang="en-US" i="1" dirty="0"/>
              <a:t>class </a:t>
            </a:r>
            <a:r>
              <a:rPr lang="en-US" i="1" dirty="0" smtClean="0"/>
              <a:t>boundaries</a:t>
            </a:r>
          </a:p>
          <a:p>
            <a:r>
              <a:rPr lang="en-US" dirty="0"/>
              <a:t>We will adopt the </a:t>
            </a:r>
            <a:r>
              <a:rPr lang="en-US" i="1" dirty="0" err="1" smtClean="0"/>
              <a:t>leftend</a:t>
            </a:r>
            <a:r>
              <a:rPr lang="en-US" i="1" dirty="0"/>
              <a:t> </a:t>
            </a:r>
            <a:r>
              <a:rPr lang="en-US" i="1" dirty="0" smtClean="0"/>
              <a:t>inclusion </a:t>
            </a:r>
            <a:r>
              <a:rPr lang="en-US" i="1" dirty="0"/>
              <a:t>convention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61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762001"/>
            <a:ext cx="10515600" cy="1325563"/>
          </a:xfrm>
        </p:spPr>
        <p:txBody>
          <a:bodyPr/>
          <a:lstStyle/>
          <a:p>
            <a:r>
              <a:rPr lang="en-US" dirty="0"/>
              <a:t>Grouped Data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number of calls from motorists per day for roadside service was recorded for the month of December 2003.  The results were as follows: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US" sz="6000" dirty="0">
              <a:latin typeface="Arial" pitchFamily="34" charset="0"/>
              <a:cs typeface="Arial" pitchFamily="34" charset="0"/>
            </a:endParaRPr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Set up a frequency table for this set of data values</a:t>
            </a:r>
            <a:endParaRPr lang="en-IN" dirty="0"/>
          </a:p>
        </p:txBody>
      </p:sp>
      <p:pic>
        <p:nvPicPr>
          <p:cNvPr id="2050" name="Picture 2" descr="http://www.mathsteacher.com.au/year8/ch17_stat/03_freq/Image1165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76600"/>
            <a:ext cx="10720157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377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45457" y="685801"/>
            <a:ext cx="10515600" cy="1325563"/>
          </a:xfrm>
        </p:spPr>
        <p:txBody>
          <a:bodyPr/>
          <a:lstStyle/>
          <a:p>
            <a:r>
              <a:rPr lang="en-US" dirty="0"/>
              <a:t>Grouped Data</a:t>
            </a:r>
            <a:endParaRPr lang="en-IN" dirty="0"/>
          </a:p>
        </p:txBody>
      </p:sp>
      <p:pic>
        <p:nvPicPr>
          <p:cNvPr id="3074" name="Picture 2" descr="http://www.mathsteacher.com.au/year8/ch17_stat/03_freq/Image11656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457" y="1679803"/>
            <a:ext cx="11084288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90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1" y="261048"/>
            <a:ext cx="10566399" cy="63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481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Histogram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1524001"/>
            <a:ext cx="5486400" cy="338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1" y="1828801"/>
            <a:ext cx="6083300" cy="34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48000" y="5144869"/>
            <a:ext cx="619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requency histogram</a:t>
            </a:r>
          </a:p>
        </p:txBody>
      </p:sp>
    </p:spTree>
    <p:extLst>
      <p:ext uri="{BB962C8B-B14F-4D97-AF65-F5344CB8AC3E}">
        <p14:creationId xmlns:p14="http://schemas.microsoft.com/office/powerpoint/2010/main" val="9032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efficient way of organizing a small- to moderate-sized data set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1" dirty="0" smtClean="0"/>
              <a:t>Stem and </a:t>
            </a:r>
            <a:r>
              <a:rPr lang="en-US" b="0" i="1" dirty="0"/>
              <a:t>leaf </a:t>
            </a:r>
            <a:r>
              <a:rPr lang="en-US" b="0" i="1" dirty="0" smtClean="0"/>
              <a:t>plot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98697" y="2785201"/>
            <a:ext cx="10464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Thus,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for instance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the value 62 is expressed as</a:t>
            </a:r>
          </a:p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Stem  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Leaf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 6      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and the two data values 62 and 67 can be represented as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Stem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  Leaf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 6         2,7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13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1" y="1"/>
            <a:ext cx="955674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8767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dirty="0"/>
              <a:t>Stem and leaf plot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1828800"/>
            <a:ext cx="11155017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949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Sample Mean, Sample Median, and Sample </a:t>
            </a:r>
            <a:r>
              <a:rPr lang="en-US" b="1" dirty="0" smtClean="0"/>
              <a:t>Mode</a:t>
            </a:r>
          </a:p>
          <a:p>
            <a:r>
              <a:rPr lang="en-US" b="1" dirty="0"/>
              <a:t>Sample Variance and Sample Standard </a:t>
            </a:r>
            <a:r>
              <a:rPr lang="en-US" b="1" dirty="0" smtClean="0"/>
              <a:t>Deviation</a:t>
            </a:r>
          </a:p>
          <a:p>
            <a:r>
              <a:rPr lang="en-US" b="1" dirty="0"/>
              <a:t>Sample Percentiles and Box Plots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SUMMARIZING DATA SETS</a:t>
            </a:r>
          </a:p>
        </p:txBody>
      </p:sp>
    </p:spTree>
    <p:extLst>
      <p:ext uri="{BB962C8B-B14F-4D97-AF65-F5344CB8AC3E}">
        <p14:creationId xmlns:p14="http://schemas.microsoft.com/office/powerpoint/2010/main" val="78590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Suppose </a:t>
            </a:r>
            <a:r>
              <a:rPr lang="en-US" dirty="0"/>
              <a:t>that we have a data set consisting of the </a:t>
            </a:r>
            <a:r>
              <a:rPr lang="en-US" i="1" dirty="0"/>
              <a:t>n </a:t>
            </a:r>
            <a:r>
              <a:rPr lang="en-US" dirty="0"/>
              <a:t>numerical </a:t>
            </a:r>
            <a:r>
              <a:rPr lang="en-US" dirty="0" smtClean="0"/>
              <a:t>values </a:t>
            </a:r>
            <a:r>
              <a:rPr lang="en-US" i="1" dirty="0" smtClean="0"/>
              <a:t>x</a:t>
            </a:r>
            <a:r>
              <a:rPr lang="en-US" dirty="0" smtClean="0"/>
              <a:t>1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dirty="0"/>
              <a:t>2, </a:t>
            </a:r>
            <a:r>
              <a:rPr lang="en-US" i="1" dirty="0"/>
              <a:t>. . . </a:t>
            </a:r>
            <a:r>
              <a:rPr lang="en-US" dirty="0"/>
              <a:t>, </a:t>
            </a:r>
            <a:r>
              <a:rPr lang="en-US" i="1" dirty="0" err="1" smtClean="0"/>
              <a:t>xn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The sample mean is the arithmetic average of these values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Mean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557" y="3352800"/>
            <a:ext cx="10604887" cy="847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399" y="4343400"/>
            <a:ext cx="37592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693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263442"/>
            <a:ext cx="10985680" cy="3245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82" y="3810000"/>
            <a:ext cx="11017956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654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</a:t>
            </a:r>
            <a:r>
              <a:rPr lang="en-US" dirty="0"/>
              <a:t>is the middle value when the data set is arranged in increasing </a:t>
            </a:r>
            <a:r>
              <a:rPr lang="en-US" dirty="0" smtClean="0"/>
              <a:t>order</a:t>
            </a:r>
          </a:p>
          <a:p>
            <a:r>
              <a:rPr lang="en-US" dirty="0" smtClean="0"/>
              <a:t>Procedure </a:t>
            </a:r>
            <a:r>
              <a:rPr lang="en-US" smtClean="0"/>
              <a:t>to find </a:t>
            </a:r>
            <a:r>
              <a:rPr lang="en-US" dirty="0" smtClean="0"/>
              <a:t>median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Order the values of a data set of size </a:t>
            </a:r>
            <a:r>
              <a:rPr lang="en-US" i="1" dirty="0"/>
              <a:t>n </a:t>
            </a:r>
            <a:r>
              <a:rPr lang="en-US" dirty="0"/>
              <a:t>from smallest to </a:t>
            </a:r>
            <a:r>
              <a:rPr lang="en-US" dirty="0" smtClean="0"/>
              <a:t>largest</a:t>
            </a:r>
          </a:p>
          <a:p>
            <a:pPr lvl="1"/>
            <a:r>
              <a:rPr lang="en-US" sz="2400" dirty="0"/>
              <a:t>if </a:t>
            </a:r>
            <a:r>
              <a:rPr lang="en-US" sz="2400" i="1" dirty="0"/>
              <a:t>n </a:t>
            </a:r>
            <a:r>
              <a:rPr lang="en-US" sz="2400" dirty="0"/>
              <a:t>is even, it is the average of the values </a:t>
            </a:r>
            <a:r>
              <a:rPr lang="en-US" sz="2400" dirty="0" smtClean="0"/>
              <a:t>in positions </a:t>
            </a:r>
            <a:r>
              <a:rPr lang="en-US" sz="2400" i="1" dirty="0"/>
              <a:t>n</a:t>
            </a:r>
            <a:r>
              <a:rPr lang="en-US" sz="2400" dirty="0"/>
              <a:t>/2 and </a:t>
            </a:r>
            <a:r>
              <a:rPr lang="en-US" sz="2400" i="1" dirty="0"/>
              <a:t>n</a:t>
            </a:r>
            <a:r>
              <a:rPr lang="en-US" sz="2400" dirty="0"/>
              <a:t>/2+1</a:t>
            </a:r>
            <a:endParaRPr lang="en-US" dirty="0" smtClean="0"/>
          </a:p>
          <a:p>
            <a:pPr lvl="1"/>
            <a:r>
              <a:rPr lang="en-US" sz="2400" dirty="0"/>
              <a:t>If </a:t>
            </a:r>
            <a:r>
              <a:rPr lang="en-US" sz="2400" i="1" dirty="0"/>
              <a:t>n </a:t>
            </a:r>
            <a:r>
              <a:rPr lang="en-US" sz="2400" dirty="0"/>
              <a:t>is odd, the </a:t>
            </a:r>
            <a:r>
              <a:rPr lang="en-US" sz="2400" i="1" dirty="0" smtClean="0"/>
              <a:t>sample median </a:t>
            </a:r>
            <a:r>
              <a:rPr lang="en-US" sz="2400" dirty="0"/>
              <a:t>is the value in position </a:t>
            </a:r>
            <a:r>
              <a:rPr lang="en-US" sz="2400" i="1" dirty="0"/>
              <a:t>(n</a:t>
            </a:r>
            <a:r>
              <a:rPr lang="en-US" sz="2400" dirty="0"/>
              <a:t>+1</a:t>
            </a:r>
            <a:r>
              <a:rPr lang="en-US" sz="2400" i="1" dirty="0"/>
              <a:t>)</a:t>
            </a:r>
            <a:r>
              <a:rPr lang="en-US" sz="2400" dirty="0"/>
              <a:t>/2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Median</a:t>
            </a:r>
          </a:p>
        </p:txBody>
      </p:sp>
    </p:spTree>
    <p:extLst>
      <p:ext uri="{BB962C8B-B14F-4D97-AF65-F5344CB8AC3E}">
        <p14:creationId xmlns:p14="http://schemas.microsoft.com/office/powerpoint/2010/main" val="72747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1" y="228600"/>
            <a:ext cx="11304337" cy="573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514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Germ-Free Mice </a:t>
            </a:r>
            <a:r>
              <a:rPr lang="en-US" dirty="0" smtClean="0"/>
              <a:t>sample </a:t>
            </a:r>
            <a:r>
              <a:rPr lang="en-US" dirty="0"/>
              <a:t>mean </a:t>
            </a:r>
            <a:r>
              <a:rPr lang="en-US" dirty="0" smtClean="0"/>
              <a:t>= </a:t>
            </a:r>
            <a:r>
              <a:rPr lang="en-US" dirty="0"/>
              <a:t>344.07,</a:t>
            </a:r>
          </a:p>
          <a:p>
            <a:r>
              <a:rPr lang="en-US" dirty="0"/>
              <a:t>Conventional Mice sample mean </a:t>
            </a:r>
            <a:r>
              <a:rPr lang="en-US" dirty="0" smtClean="0"/>
              <a:t>= 292.32</a:t>
            </a:r>
          </a:p>
          <a:p>
            <a:r>
              <a:rPr lang="en-US" dirty="0" smtClean="0"/>
              <a:t>The </a:t>
            </a:r>
            <a:r>
              <a:rPr lang="en-US" dirty="0"/>
              <a:t>Germ-Free Mice</a:t>
            </a:r>
            <a:r>
              <a:rPr lang="en-US" dirty="0" smtClean="0"/>
              <a:t> </a:t>
            </a:r>
            <a:r>
              <a:rPr lang="en-US" dirty="0"/>
              <a:t>sample median is the 15th largest data value, namely, </a:t>
            </a:r>
            <a:r>
              <a:rPr lang="en-US" dirty="0" smtClean="0"/>
              <a:t>259</a:t>
            </a:r>
          </a:p>
          <a:p>
            <a:r>
              <a:rPr lang="en-US" dirty="0" smtClean="0"/>
              <a:t>Sample </a:t>
            </a:r>
            <a:r>
              <a:rPr lang="en-US" dirty="0"/>
              <a:t>median for the Conventional Mice </a:t>
            </a:r>
            <a:r>
              <a:rPr lang="en-US" dirty="0" smtClean="0"/>
              <a:t>is </a:t>
            </a:r>
            <a:r>
              <a:rPr lang="en-US" dirty="0"/>
              <a:t>the 10th largest data value, namely, 265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12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Defined </a:t>
            </a:r>
            <a:r>
              <a:rPr lang="en-US" dirty="0"/>
              <a:t>to be the value that occurs with the greatest frequency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dirty="0"/>
              <a:t>S</a:t>
            </a:r>
            <a:r>
              <a:rPr lang="en-US" b="0" i="1" dirty="0" smtClean="0"/>
              <a:t>ample </a:t>
            </a:r>
            <a:r>
              <a:rPr lang="en-US" b="0" i="1" dirty="0"/>
              <a:t>mode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000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1524000"/>
            <a:ext cx="11331575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328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1524000"/>
            <a:ext cx="863752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3280735"/>
            <a:ext cx="9840651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729288"/>
            <a:ext cx="1828800" cy="413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4764505"/>
            <a:ext cx="1059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653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US" dirty="0" smtClean="0"/>
              <a:t>escribe </a:t>
            </a:r>
            <a:r>
              <a:rPr lang="en-US" dirty="0"/>
              <a:t>the spread or variability of the data </a:t>
            </a:r>
            <a:r>
              <a:rPr lang="en-US" dirty="0" smtClean="0"/>
              <a:t>values</a:t>
            </a:r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Variance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494547"/>
            <a:ext cx="11074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985" y="3429000"/>
            <a:ext cx="5121631" cy="1169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595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757989"/>
            <a:ext cx="11472092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98" y="2438400"/>
            <a:ext cx="11018495" cy="1252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97" y="3962401"/>
            <a:ext cx="10136403" cy="1032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55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1263568"/>
            <a:ext cx="11124041" cy="2241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19201" y="4114800"/>
            <a:ext cx="30652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err="1" smtClean="0"/>
              <a:t>Ans</a:t>
            </a:r>
            <a:r>
              <a:rPr lang="en-IN" sz="4000" dirty="0" smtClean="0"/>
              <a:t> :   34.75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52217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Standard </a:t>
            </a:r>
            <a:r>
              <a:rPr lang="en-US" dirty="0" smtClean="0"/>
              <a:t>Deviation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99" y="2069432"/>
            <a:ext cx="10998791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746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i="1" dirty="0"/>
              <a:t>sample 100</a:t>
            </a:r>
            <a:r>
              <a:rPr lang="en-US" dirty="0"/>
              <a:t>p </a:t>
            </a:r>
            <a:r>
              <a:rPr lang="en-US" i="1" dirty="0"/>
              <a:t>percentile </a:t>
            </a:r>
            <a:r>
              <a:rPr lang="en-US" dirty="0"/>
              <a:t>is that data value such that 100</a:t>
            </a:r>
            <a:r>
              <a:rPr lang="en-US" i="1" dirty="0"/>
              <a:t>p </a:t>
            </a:r>
            <a:r>
              <a:rPr lang="en-US" dirty="0"/>
              <a:t>percent of the data are </a:t>
            </a:r>
            <a:r>
              <a:rPr lang="en-US" dirty="0" smtClean="0"/>
              <a:t>less than </a:t>
            </a:r>
            <a:r>
              <a:rPr lang="en-US" dirty="0"/>
              <a:t>or equal to it and 100(1−</a:t>
            </a:r>
            <a:r>
              <a:rPr lang="en-US" i="1" dirty="0"/>
              <a:t>p</a:t>
            </a:r>
            <a:r>
              <a:rPr lang="en-US" dirty="0"/>
              <a:t>) percent are greater than or equal to it</a:t>
            </a:r>
            <a:r>
              <a:rPr lang="en-US" dirty="0" smtClean="0"/>
              <a:t>.</a:t>
            </a:r>
          </a:p>
          <a:p>
            <a:r>
              <a:rPr lang="en-US" dirty="0"/>
              <a:t>The sample 25 percentile is called the </a:t>
            </a:r>
            <a:r>
              <a:rPr lang="en-US" i="1" dirty="0"/>
              <a:t>first </a:t>
            </a:r>
            <a:r>
              <a:rPr lang="en-US" i="1" dirty="0" smtClean="0"/>
              <a:t>quartile</a:t>
            </a:r>
          </a:p>
          <a:p>
            <a:r>
              <a:rPr lang="en-US" dirty="0" smtClean="0"/>
              <a:t>The </a:t>
            </a:r>
            <a:r>
              <a:rPr lang="en-US" dirty="0"/>
              <a:t>sample 50 percentile is </a:t>
            </a:r>
            <a:r>
              <a:rPr lang="en-US" dirty="0" smtClean="0"/>
              <a:t>called the </a:t>
            </a:r>
            <a:r>
              <a:rPr lang="en-US" dirty="0"/>
              <a:t>sample median or the </a:t>
            </a:r>
            <a:r>
              <a:rPr lang="en-US" i="1" dirty="0"/>
              <a:t>second </a:t>
            </a:r>
            <a:r>
              <a:rPr lang="en-US" i="1" dirty="0" smtClean="0"/>
              <a:t>quartile</a:t>
            </a:r>
          </a:p>
          <a:p>
            <a:r>
              <a:rPr lang="en-US" dirty="0" smtClean="0"/>
              <a:t>The </a:t>
            </a:r>
            <a:r>
              <a:rPr lang="en-US" dirty="0"/>
              <a:t>sample 75 percentile is called the </a:t>
            </a:r>
            <a:r>
              <a:rPr lang="en-US" i="1" dirty="0"/>
              <a:t>third</a:t>
            </a:r>
          </a:p>
          <a:p>
            <a:r>
              <a:rPr lang="en-US" i="1" dirty="0"/>
              <a:t>quartile</a:t>
            </a:r>
            <a:r>
              <a:rPr lang="en-US" dirty="0"/>
              <a:t>.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</a:t>
            </a:r>
            <a:r>
              <a:rPr lang="en-US" dirty="0" smtClean="0"/>
              <a:t>Percentiles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14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accomplish this:</a:t>
            </a:r>
          </a:p>
          <a:p>
            <a:pPr lvl="1"/>
            <a:r>
              <a:rPr lang="en-US" dirty="0"/>
              <a:t>First arrange the data in increasing order</a:t>
            </a:r>
          </a:p>
          <a:p>
            <a:pPr lvl="1"/>
            <a:r>
              <a:rPr lang="en-US" dirty="0"/>
              <a:t>If n is number of samples and p is the percentile to be calculated, </a:t>
            </a:r>
            <a:r>
              <a:rPr lang="en-US" dirty="0" smtClean="0"/>
              <a:t>then</a:t>
            </a:r>
          </a:p>
          <a:p>
            <a:pPr lvl="1"/>
            <a:r>
              <a:rPr lang="en-US" sz="2400" dirty="0"/>
              <a:t>if </a:t>
            </a:r>
            <a:r>
              <a:rPr lang="en-US" sz="2400" i="1" dirty="0" err="1"/>
              <a:t>np</a:t>
            </a:r>
            <a:r>
              <a:rPr lang="en-US" sz="2400" i="1" dirty="0"/>
              <a:t> </a:t>
            </a:r>
            <a:r>
              <a:rPr lang="en-US" sz="2400" dirty="0"/>
              <a:t>is </a:t>
            </a:r>
            <a:r>
              <a:rPr lang="en-US" sz="2400" dirty="0" smtClean="0"/>
              <a:t>not an </a:t>
            </a:r>
            <a:r>
              <a:rPr lang="en-US" sz="2400" dirty="0"/>
              <a:t>integer</a:t>
            </a:r>
            <a:r>
              <a:rPr lang="en-US" sz="2400" dirty="0" smtClean="0"/>
              <a:t>,</a:t>
            </a:r>
            <a:r>
              <a:rPr lang="en-US" dirty="0"/>
              <a:t> </a:t>
            </a:r>
            <a:r>
              <a:rPr lang="en-US" dirty="0" smtClean="0"/>
              <a:t>then sample percentile is the smallest </a:t>
            </a:r>
            <a:r>
              <a:rPr lang="en-US" dirty="0"/>
              <a:t>integer </a:t>
            </a:r>
            <a:r>
              <a:rPr lang="en-US" dirty="0" smtClean="0"/>
              <a:t>exceeding </a:t>
            </a:r>
            <a:r>
              <a:rPr lang="en-US" i="1" dirty="0" err="1" smtClean="0"/>
              <a:t>np</a:t>
            </a:r>
            <a:endParaRPr lang="en-US" dirty="0" smtClean="0"/>
          </a:p>
          <a:p>
            <a:pPr lvl="1"/>
            <a:r>
              <a:rPr lang="en-US" dirty="0"/>
              <a:t>if </a:t>
            </a:r>
            <a:r>
              <a:rPr lang="en-US" i="1" dirty="0" err="1"/>
              <a:t>np</a:t>
            </a:r>
            <a:r>
              <a:rPr lang="en-US" i="1" dirty="0"/>
              <a:t> </a:t>
            </a:r>
            <a:r>
              <a:rPr lang="en-US" dirty="0"/>
              <a:t>is an integer, then </a:t>
            </a:r>
            <a:r>
              <a:rPr lang="en-US" dirty="0" smtClean="0"/>
              <a:t>both the values </a:t>
            </a:r>
            <a:r>
              <a:rPr lang="en-US" dirty="0"/>
              <a:t>in positions </a:t>
            </a:r>
            <a:r>
              <a:rPr lang="en-US" i="1" dirty="0" err="1"/>
              <a:t>np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np</a:t>
            </a:r>
            <a:r>
              <a:rPr lang="en-US" dirty="0"/>
              <a:t>+1 satisfy the preceding conditions, and so the sample </a:t>
            </a:r>
            <a:r>
              <a:rPr lang="en-US" dirty="0" smtClean="0"/>
              <a:t>100</a:t>
            </a:r>
            <a:r>
              <a:rPr lang="en-US" i="1" dirty="0" smtClean="0"/>
              <a:t>p </a:t>
            </a:r>
            <a:r>
              <a:rPr lang="en-US" dirty="0" smtClean="0"/>
              <a:t>percentile </a:t>
            </a:r>
            <a:r>
              <a:rPr lang="en-US" dirty="0"/>
              <a:t>is the average of these values.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Percentiles</a:t>
            </a:r>
          </a:p>
        </p:txBody>
      </p:sp>
    </p:spTree>
    <p:extLst>
      <p:ext uri="{BB962C8B-B14F-4D97-AF65-F5344CB8AC3E}">
        <p14:creationId xmlns:p14="http://schemas.microsoft.com/office/powerpoint/2010/main" val="112055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Find sample 10 percentile</a:t>
            </a:r>
          </a:p>
          <a:p>
            <a:r>
              <a:rPr lang="en-US" dirty="0" smtClean="0"/>
              <a:t>34*0.1=3.4, so 4</a:t>
            </a:r>
            <a:r>
              <a:rPr lang="en-US" baseline="30000" dirty="0" smtClean="0"/>
              <a:t>th</a:t>
            </a:r>
            <a:r>
              <a:rPr lang="en-US" dirty="0" smtClean="0"/>
              <a:t> smallest value – 34.1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Avg. Temperature of cities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1" y="1524000"/>
            <a:ext cx="11155017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963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Solution: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905000"/>
            <a:ext cx="11569917" cy="672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00401"/>
            <a:ext cx="11887200" cy="1557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238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09600"/>
            <a:ext cx="12064444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717" y="2743200"/>
            <a:ext cx="8082844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916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109728" indent="0"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First quartile: 36*.25=9, </a:t>
            </a:r>
            <a:r>
              <a:rPr lang="en-US" dirty="0" err="1" smtClean="0"/>
              <a:t>avg</a:t>
            </a:r>
            <a:r>
              <a:rPr lang="en-US" dirty="0" smtClean="0"/>
              <a:t> of 9</a:t>
            </a:r>
            <a:r>
              <a:rPr lang="en-US" baseline="30000" dirty="0" smtClean="0"/>
              <a:t>th</a:t>
            </a:r>
            <a:r>
              <a:rPr lang="en-US" dirty="0" smtClean="0"/>
              <a:t> and 10</a:t>
            </a:r>
            <a:r>
              <a:rPr lang="en-US" baseline="30000" dirty="0" smtClean="0"/>
              <a:t>th</a:t>
            </a:r>
            <a:r>
              <a:rPr lang="en-US" dirty="0" smtClean="0"/>
              <a:t> smallest value=76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Second quartile: 36*.5=18, </a:t>
            </a:r>
            <a:r>
              <a:rPr lang="en-US" dirty="0" err="1" smtClean="0"/>
              <a:t>avg</a:t>
            </a:r>
            <a:r>
              <a:rPr lang="en-US" dirty="0" smtClean="0"/>
              <a:t> of 18</a:t>
            </a:r>
            <a:r>
              <a:rPr lang="en-US" baseline="30000" dirty="0" smtClean="0"/>
              <a:t>th</a:t>
            </a:r>
            <a:r>
              <a:rPr lang="en-US" dirty="0" smtClean="0"/>
              <a:t> and 19</a:t>
            </a:r>
            <a:r>
              <a:rPr lang="en-US" baseline="30000" dirty="0" smtClean="0"/>
              <a:t>th</a:t>
            </a:r>
            <a:r>
              <a:rPr lang="en-US" dirty="0" smtClean="0"/>
              <a:t> smallest value=89.5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Third quartile: 36*.75=27, </a:t>
            </a:r>
            <a:r>
              <a:rPr lang="en-US" dirty="0" err="1" smtClean="0"/>
              <a:t>avg</a:t>
            </a:r>
            <a:r>
              <a:rPr lang="en-US" dirty="0" smtClean="0"/>
              <a:t> of 27</a:t>
            </a:r>
            <a:r>
              <a:rPr lang="en-US" baseline="30000" dirty="0" smtClean="0"/>
              <a:t>th</a:t>
            </a:r>
            <a:r>
              <a:rPr lang="en-US" dirty="0" smtClean="0"/>
              <a:t> and 28</a:t>
            </a:r>
            <a:r>
              <a:rPr lang="en-US" baseline="30000" dirty="0" smtClean="0"/>
              <a:t>th</a:t>
            </a:r>
            <a:r>
              <a:rPr lang="en-US" dirty="0" smtClean="0"/>
              <a:t> smallest value=104.5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01" y="304800"/>
            <a:ext cx="8082844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852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</a:t>
            </a:r>
            <a:r>
              <a:rPr lang="en-IN" dirty="0" smtClean="0"/>
              <a:t>ummarizing </a:t>
            </a:r>
            <a:r>
              <a:rPr lang="en-IN" dirty="0"/>
              <a:t>statistics of a data </a:t>
            </a:r>
            <a:r>
              <a:rPr lang="en-IN" dirty="0" smtClean="0"/>
              <a:t>set</a:t>
            </a:r>
          </a:p>
          <a:p>
            <a:r>
              <a:rPr lang="en-IN" dirty="0"/>
              <a:t>A </a:t>
            </a:r>
            <a:r>
              <a:rPr lang="en-IN" dirty="0" smtClean="0"/>
              <a:t>straight line </a:t>
            </a:r>
            <a:r>
              <a:rPr lang="en-IN" dirty="0"/>
              <a:t>segment </a:t>
            </a:r>
            <a:r>
              <a:rPr lang="en-IN" dirty="0" smtClean="0"/>
              <a:t>from </a:t>
            </a:r>
            <a:r>
              <a:rPr lang="en-IN" dirty="0"/>
              <a:t>the smallest to the largest data value is drawn on a </a:t>
            </a:r>
            <a:r>
              <a:rPr lang="en-IN" dirty="0" smtClean="0"/>
              <a:t>horizontal axis</a:t>
            </a:r>
          </a:p>
          <a:p>
            <a:r>
              <a:rPr lang="en-IN" dirty="0" smtClean="0"/>
              <a:t>Imposed </a:t>
            </a:r>
            <a:r>
              <a:rPr lang="en-IN" dirty="0"/>
              <a:t>on the line is a “box,” which starts at the first and continues to the </a:t>
            </a:r>
            <a:r>
              <a:rPr lang="en-IN" dirty="0" smtClean="0"/>
              <a:t>third quartile</a:t>
            </a:r>
            <a:r>
              <a:rPr lang="en-IN" dirty="0"/>
              <a:t>, with the value of the second quartile indicated by a vertical line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1" dirty="0"/>
              <a:t>B</a:t>
            </a:r>
            <a:r>
              <a:rPr lang="en-IN" b="0" i="1" dirty="0" smtClean="0"/>
              <a:t>ox </a:t>
            </a:r>
            <a:r>
              <a:rPr lang="en-IN" b="0" i="1" dirty="0"/>
              <a:t>plot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5029200"/>
            <a:ext cx="10229851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661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1" dirty="0"/>
              <a:t>Box plot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157" y="533400"/>
            <a:ext cx="8082844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1219200" y="4953000"/>
            <a:ext cx="9753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149600" y="4648200"/>
            <a:ext cx="5384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cxnSp>
        <p:nvCxnSpPr>
          <p:cNvPr id="9" name="Straight Connector 8"/>
          <p:cNvCxnSpPr>
            <a:stCxn id="7" idx="0"/>
          </p:cNvCxnSpPr>
          <p:nvPr/>
        </p:nvCxnSpPr>
        <p:spPr>
          <a:xfrm>
            <a:off x="5842000" y="4648200"/>
            <a:ext cx="0" cy="609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2253" y="5009148"/>
            <a:ext cx="585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smtClean="0"/>
              <a:t>60</a:t>
            </a:r>
            <a:endParaRPr lang="en-I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557943" y="5060921"/>
            <a:ext cx="785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smtClean="0"/>
              <a:t>125</a:t>
            </a:r>
            <a:endParaRPr lang="en-IN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2767872" y="5291936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76</a:t>
            </a:r>
            <a:endParaRPr lang="en-IN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265774" y="5291936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89.5</a:t>
            </a:r>
            <a:endParaRPr lang="en-IN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7770043" y="5312261"/>
            <a:ext cx="955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104.5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6536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Sets </a:t>
            </a:r>
            <a:r>
              <a:rPr lang="en-IN" dirty="0"/>
              <a:t>that consist of pairs of values that have </a:t>
            </a:r>
            <a:r>
              <a:rPr lang="en-IN" dirty="0" smtClean="0"/>
              <a:t>some relationship </a:t>
            </a:r>
            <a:r>
              <a:rPr lang="en-IN" dirty="0"/>
              <a:t>to each </a:t>
            </a:r>
            <a:r>
              <a:rPr lang="en-IN" dirty="0" smtClean="0"/>
              <a:t>other</a:t>
            </a:r>
          </a:p>
          <a:p>
            <a:r>
              <a:rPr lang="en-IN" dirty="0" smtClean="0"/>
              <a:t>Data </a:t>
            </a:r>
            <a:r>
              <a:rPr lang="en-IN" dirty="0"/>
              <a:t>set of paired values is to plot the data on a </a:t>
            </a:r>
            <a:r>
              <a:rPr lang="en-IN" dirty="0" smtClean="0"/>
              <a:t>two dimensional</a:t>
            </a:r>
            <a:r>
              <a:rPr lang="en-IN" dirty="0"/>
              <a:t> </a:t>
            </a:r>
            <a:r>
              <a:rPr lang="en-IN" dirty="0" smtClean="0"/>
              <a:t>graph,</a:t>
            </a:r>
          </a:p>
          <a:p>
            <a:r>
              <a:rPr lang="en-IN" dirty="0" smtClean="0"/>
              <a:t>The </a:t>
            </a:r>
            <a:r>
              <a:rPr lang="en-IN" i="1" dirty="0"/>
              <a:t>x</a:t>
            </a:r>
            <a:r>
              <a:rPr lang="en-IN" dirty="0"/>
              <a:t>-axis representing the </a:t>
            </a:r>
            <a:r>
              <a:rPr lang="en-IN" i="1" dirty="0"/>
              <a:t>x </a:t>
            </a:r>
            <a:r>
              <a:rPr lang="en-IN" dirty="0"/>
              <a:t>value of the data </a:t>
            </a:r>
            <a:endParaRPr lang="en-IN" dirty="0" smtClean="0"/>
          </a:p>
          <a:p>
            <a:r>
              <a:rPr lang="en-IN" dirty="0" smtClean="0"/>
              <a:t>The </a:t>
            </a:r>
            <a:r>
              <a:rPr lang="en-IN" i="1" dirty="0" smtClean="0"/>
              <a:t>y</a:t>
            </a:r>
            <a:r>
              <a:rPr lang="en-IN" dirty="0" smtClean="0"/>
              <a:t>-axis representing </a:t>
            </a:r>
            <a:r>
              <a:rPr lang="en-IN" dirty="0"/>
              <a:t>the </a:t>
            </a:r>
            <a:r>
              <a:rPr lang="en-IN" i="1" dirty="0"/>
              <a:t>y </a:t>
            </a:r>
            <a:r>
              <a:rPr lang="en-IN" dirty="0"/>
              <a:t>value. Such a plot is called a </a:t>
            </a:r>
            <a:r>
              <a:rPr lang="en-IN" i="1" dirty="0"/>
              <a:t>scatter diagram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PAIRED DATA </a:t>
            </a:r>
            <a:r>
              <a:rPr lang="en-IN" sz="4000" dirty="0" smtClean="0"/>
              <a:t>SETS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9759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240632"/>
            <a:ext cx="5588000" cy="6360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726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Scatter Diagram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600" y="1447801"/>
            <a:ext cx="7213600" cy="4834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2444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When </a:t>
            </a:r>
            <a:r>
              <a:rPr lang="en-IN" i="1" dirty="0"/>
              <a:t>r &gt;</a:t>
            </a:r>
            <a:r>
              <a:rPr lang="en-IN" dirty="0"/>
              <a:t>0 we say that the sample data pairs are </a:t>
            </a:r>
            <a:r>
              <a:rPr lang="en-IN" i="1" dirty="0"/>
              <a:t>positively correlated</a:t>
            </a:r>
            <a:r>
              <a:rPr lang="en-IN" dirty="0"/>
              <a:t>, and when </a:t>
            </a:r>
            <a:r>
              <a:rPr lang="en-IN" i="1" dirty="0"/>
              <a:t>r &lt;</a:t>
            </a:r>
            <a:r>
              <a:rPr lang="en-IN" dirty="0"/>
              <a:t>0 we</a:t>
            </a:r>
          </a:p>
          <a:p>
            <a:r>
              <a:rPr lang="en-IN" dirty="0"/>
              <a:t>say that they are </a:t>
            </a:r>
            <a:r>
              <a:rPr lang="en-IN" i="1" dirty="0"/>
              <a:t>negatively correlated.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1" dirty="0"/>
              <a:t>S</a:t>
            </a:r>
            <a:r>
              <a:rPr lang="en-IN" b="0" i="1" dirty="0" smtClean="0"/>
              <a:t>ample </a:t>
            </a:r>
            <a:r>
              <a:rPr lang="en-IN" b="0" i="1" dirty="0"/>
              <a:t>correlation coefficient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00" y="1447800"/>
            <a:ext cx="1148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914400" y="5257801"/>
            <a:ext cx="10921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When </a:t>
            </a:r>
            <a:r>
              <a:rPr lang="en-IN" i="1" dirty="0"/>
              <a:t>r &gt;</a:t>
            </a:r>
            <a:r>
              <a:rPr lang="en-IN" dirty="0"/>
              <a:t>0 we say that the sample data pairs are </a:t>
            </a:r>
            <a:r>
              <a:rPr lang="en-IN" i="1" dirty="0"/>
              <a:t>positively correlated</a:t>
            </a:r>
            <a:r>
              <a:rPr lang="en-IN" dirty="0"/>
              <a:t>, and when </a:t>
            </a:r>
            <a:r>
              <a:rPr lang="en-IN" i="1" dirty="0"/>
              <a:t>r &lt;</a:t>
            </a:r>
            <a:r>
              <a:rPr lang="en-IN" dirty="0"/>
              <a:t>0 </a:t>
            </a:r>
            <a:r>
              <a:rPr lang="en-IN" dirty="0" smtClean="0"/>
              <a:t>we say </a:t>
            </a:r>
            <a:r>
              <a:rPr lang="en-IN" dirty="0"/>
              <a:t>that they are </a:t>
            </a:r>
            <a:r>
              <a:rPr lang="en-IN" i="1" dirty="0"/>
              <a:t>negatively correlated.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70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757989"/>
            <a:ext cx="11472092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98" y="2438400"/>
            <a:ext cx="11018495" cy="1252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97" y="3962401"/>
            <a:ext cx="10136403" cy="1032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987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457200"/>
            <a:ext cx="11460976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672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absolute value of the sample correlation coefficient </a:t>
            </a:r>
            <a:r>
              <a:rPr lang="en-IN" i="1" dirty="0"/>
              <a:t>r </a:t>
            </a:r>
            <a:r>
              <a:rPr lang="en-IN" dirty="0"/>
              <a:t>(that is, |</a:t>
            </a:r>
            <a:r>
              <a:rPr lang="en-IN" i="1" dirty="0"/>
              <a:t>r</a:t>
            </a:r>
            <a:r>
              <a:rPr lang="en-IN" dirty="0"/>
              <a:t>|, its value </a:t>
            </a:r>
            <a:r>
              <a:rPr lang="en-IN" dirty="0" smtClean="0"/>
              <a:t>without regard </a:t>
            </a:r>
            <a:r>
              <a:rPr lang="en-IN" dirty="0"/>
              <a:t>to its sign) is a measure of the strength of the linear relationship between the </a:t>
            </a:r>
            <a:r>
              <a:rPr lang="en-IN" i="1" dirty="0"/>
              <a:t>x </a:t>
            </a:r>
            <a:r>
              <a:rPr lang="en-IN" dirty="0" smtClean="0"/>
              <a:t>and the </a:t>
            </a:r>
            <a:r>
              <a:rPr lang="en-IN" i="1" dirty="0"/>
              <a:t>y </a:t>
            </a:r>
            <a:r>
              <a:rPr lang="en-IN" dirty="0"/>
              <a:t>values of a data </a:t>
            </a:r>
            <a:r>
              <a:rPr lang="en-IN" dirty="0" smtClean="0"/>
              <a:t>pair</a:t>
            </a:r>
          </a:p>
          <a:p>
            <a:r>
              <a:rPr lang="en-IN" dirty="0"/>
              <a:t>A value of |</a:t>
            </a:r>
            <a:r>
              <a:rPr lang="en-IN" i="1" dirty="0"/>
              <a:t>r</a:t>
            </a:r>
            <a:r>
              <a:rPr lang="en-IN" dirty="0"/>
              <a:t>| equal to 1 means that there is a perfect </a:t>
            </a:r>
            <a:r>
              <a:rPr lang="en-IN" dirty="0" smtClean="0"/>
              <a:t>linear relation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1" dirty="0"/>
              <a:t>Sample correlation coefficient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976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sign of </a:t>
            </a:r>
            <a:r>
              <a:rPr lang="en-IN" i="1" dirty="0"/>
              <a:t>r </a:t>
            </a:r>
            <a:r>
              <a:rPr lang="en-IN" dirty="0"/>
              <a:t>gives the direction of the </a:t>
            </a:r>
            <a:r>
              <a:rPr lang="en-IN" dirty="0" smtClean="0"/>
              <a:t>relation</a:t>
            </a:r>
          </a:p>
          <a:p>
            <a:r>
              <a:rPr lang="en-IN" dirty="0"/>
              <a:t>r</a:t>
            </a:r>
            <a:r>
              <a:rPr lang="en-IN" dirty="0" smtClean="0"/>
              <a:t> </a:t>
            </a:r>
            <a:r>
              <a:rPr lang="en-IN" dirty="0"/>
              <a:t>is positive when the linear relation </a:t>
            </a:r>
            <a:r>
              <a:rPr lang="en-IN" dirty="0" smtClean="0"/>
              <a:t>is such </a:t>
            </a:r>
            <a:r>
              <a:rPr lang="en-IN" dirty="0"/>
              <a:t>that smaller </a:t>
            </a:r>
            <a:r>
              <a:rPr lang="en-IN" i="1" dirty="0"/>
              <a:t>y </a:t>
            </a:r>
            <a:r>
              <a:rPr lang="en-IN" dirty="0"/>
              <a:t>values tend to go with smaller </a:t>
            </a:r>
            <a:r>
              <a:rPr lang="en-IN" i="1" dirty="0"/>
              <a:t>x </a:t>
            </a:r>
            <a:r>
              <a:rPr lang="en-IN" dirty="0"/>
              <a:t>values and larger </a:t>
            </a:r>
            <a:r>
              <a:rPr lang="en-IN" i="1" dirty="0"/>
              <a:t>y </a:t>
            </a:r>
            <a:r>
              <a:rPr lang="en-IN" dirty="0"/>
              <a:t>values with larger </a:t>
            </a:r>
            <a:r>
              <a:rPr lang="en-IN" i="1" dirty="0" smtClean="0"/>
              <a:t>x </a:t>
            </a:r>
            <a:r>
              <a:rPr lang="en-IN" dirty="0" smtClean="0"/>
              <a:t>values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1" dirty="0"/>
              <a:t>Sample correlation coefficient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3677653"/>
            <a:ext cx="4064000" cy="293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578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</a:t>
            </a:r>
            <a:r>
              <a:rPr lang="en-IN" dirty="0" smtClean="0"/>
              <a:t> </a:t>
            </a:r>
            <a:r>
              <a:rPr lang="en-IN" dirty="0"/>
              <a:t>is negative when </a:t>
            </a:r>
            <a:r>
              <a:rPr lang="en-IN" dirty="0" smtClean="0"/>
              <a:t>larger </a:t>
            </a:r>
            <a:r>
              <a:rPr lang="en-IN" i="1" dirty="0" smtClean="0"/>
              <a:t>y </a:t>
            </a:r>
            <a:r>
              <a:rPr lang="en-IN" dirty="0"/>
              <a:t>values tend to go with smaller </a:t>
            </a:r>
            <a:r>
              <a:rPr lang="en-IN" i="1" dirty="0"/>
              <a:t>x </a:t>
            </a:r>
            <a:r>
              <a:rPr lang="en-IN" dirty="0"/>
              <a:t>values and smaller </a:t>
            </a:r>
            <a:r>
              <a:rPr lang="en-IN" i="1" dirty="0"/>
              <a:t>y </a:t>
            </a:r>
            <a:r>
              <a:rPr lang="en-IN" dirty="0"/>
              <a:t>values with larger </a:t>
            </a:r>
            <a:r>
              <a:rPr lang="en-IN" i="1" dirty="0"/>
              <a:t>x </a:t>
            </a:r>
            <a:r>
              <a:rPr lang="en-IN" dirty="0" smtClean="0"/>
              <a:t>values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1" dirty="0"/>
              <a:t>Sample correlation coefficient</a:t>
            </a: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732" y="2743201"/>
            <a:ext cx="5700963" cy="355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491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194241"/>
            <a:ext cx="8128000" cy="6639697"/>
          </a:xfrm>
        </p:spPr>
      </p:pic>
    </p:spTree>
    <p:extLst>
      <p:ext uri="{BB962C8B-B14F-4D97-AF65-F5344CB8AC3E}">
        <p14:creationId xmlns:p14="http://schemas.microsoft.com/office/powerpoint/2010/main" val="147117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/>
              <a:t>r </a:t>
            </a:r>
            <a:r>
              <a:rPr lang="en-IN" dirty="0"/>
              <a:t>=.4189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061" y="0"/>
            <a:ext cx="5970339" cy="6584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051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following data give the resting pulse rates (in beats per minute) </a:t>
            </a:r>
            <a:r>
              <a:rPr lang="en-IN" dirty="0" smtClean="0"/>
              <a:t>and the </a:t>
            </a:r>
            <a:r>
              <a:rPr lang="en-IN" dirty="0"/>
              <a:t>years of schooling of 10 individuals.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39214"/>
            <a:ext cx="11144251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642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-24768"/>
            <a:ext cx="9855200" cy="686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100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3148</TotalTime>
  <Words>1105</Words>
  <Application>Microsoft Office PowerPoint</Application>
  <PresentationFormat>Custom</PresentationFormat>
  <Paragraphs>184</Paragraphs>
  <Slides>69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6" baseType="lpstr">
      <vt:lpstr>Arial</vt:lpstr>
      <vt:lpstr>Calibri</vt:lpstr>
      <vt:lpstr>Fira Sans</vt:lpstr>
      <vt:lpstr>Wingdings</vt:lpstr>
      <vt:lpstr>Marcellus</vt:lpstr>
      <vt:lpstr>Times New Roman</vt:lpstr>
      <vt:lpstr>Office Theme</vt:lpstr>
      <vt:lpstr>Introduction to Exploratory Data Analysis </vt:lpstr>
      <vt:lpstr>PowerPoint Presentation</vt:lpstr>
      <vt:lpstr>Introduction to Exploratory Data Analysis (EDA)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 series Vs Cross-Sectional data</vt:lpstr>
      <vt:lpstr>DESCRIBING DATA SETS</vt:lpstr>
      <vt:lpstr>Frequency Tables</vt:lpstr>
      <vt:lpstr>Line graph</vt:lpstr>
      <vt:lpstr>Bar graph</vt:lpstr>
      <vt:lpstr>Relative Frequency Tables and Graphs</vt:lpstr>
      <vt:lpstr>Pie Chart</vt:lpstr>
      <vt:lpstr>Grouped Data, Histograms, Ogives, and Stem and Leaf Plots</vt:lpstr>
      <vt:lpstr>Grouped Data</vt:lpstr>
      <vt:lpstr>Grouped Data</vt:lpstr>
      <vt:lpstr>PowerPoint Presentation</vt:lpstr>
      <vt:lpstr>Histogram</vt:lpstr>
      <vt:lpstr>Stem and leaf plot</vt:lpstr>
      <vt:lpstr>PowerPoint Presentation</vt:lpstr>
      <vt:lpstr>Stem and leaf plot</vt:lpstr>
      <vt:lpstr>SUMMARIZING DATA SETS</vt:lpstr>
      <vt:lpstr>Sample Mean</vt:lpstr>
      <vt:lpstr>PowerPoint Presentation</vt:lpstr>
      <vt:lpstr>Sample Median</vt:lpstr>
      <vt:lpstr>PowerPoint Presentation</vt:lpstr>
      <vt:lpstr>Solution</vt:lpstr>
      <vt:lpstr>Sample mode</vt:lpstr>
      <vt:lpstr>PowerPoint Presentation</vt:lpstr>
      <vt:lpstr>Solution</vt:lpstr>
      <vt:lpstr>Sample Variance</vt:lpstr>
      <vt:lpstr>PowerPoint Presentation</vt:lpstr>
      <vt:lpstr>            </vt:lpstr>
      <vt:lpstr>Sample Standard Deviation</vt:lpstr>
      <vt:lpstr>Sample Percentiles</vt:lpstr>
      <vt:lpstr>Sample Percentiles</vt:lpstr>
      <vt:lpstr>Avg. Temperature of cities</vt:lpstr>
      <vt:lpstr>Solution:</vt:lpstr>
      <vt:lpstr>PowerPoint Presentation</vt:lpstr>
      <vt:lpstr>PowerPoint Presentation</vt:lpstr>
      <vt:lpstr>Box plot</vt:lpstr>
      <vt:lpstr>Box plot</vt:lpstr>
      <vt:lpstr>PAIRED DATA SETS</vt:lpstr>
      <vt:lpstr>PowerPoint Presentation</vt:lpstr>
      <vt:lpstr>Scatter Diagram</vt:lpstr>
      <vt:lpstr>Sample correlation coefficient</vt:lpstr>
      <vt:lpstr>PowerPoint Presentation</vt:lpstr>
      <vt:lpstr>PowerPoint Presentation</vt:lpstr>
      <vt:lpstr>Sample correlation coefficient</vt:lpstr>
      <vt:lpstr>Sample correlation coefficient</vt:lpstr>
      <vt:lpstr>Sample correlation coefficient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Pushpendra Kumar Dhansoia</dc:creator>
  <cp:lastModifiedBy>Sharvari</cp:lastModifiedBy>
  <cp:revision>24</cp:revision>
  <dcterms:created xsi:type="dcterms:W3CDTF">2022-02-21T05:08:08Z</dcterms:created>
  <dcterms:modified xsi:type="dcterms:W3CDTF">2026-01-09T03:34:41Z</dcterms:modified>
</cp:coreProperties>
</file>