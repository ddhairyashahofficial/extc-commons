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59" r:id="rId5"/>
    <p:sldId id="260" r:id="rId6"/>
    <p:sldId id="261" r:id="rId7"/>
    <p:sldId id="262" r:id="rId8"/>
    <p:sldId id="263" r:id="rId9"/>
    <p:sldId id="266" r:id="rId10"/>
    <p:sldId id="267" r:id="rId11"/>
    <p:sldId id="268"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8E94314-4AF6-4DD6-BF53-A9DA14B3DE07}"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2586385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8E94314-4AF6-4DD6-BF53-A9DA14B3DE07}"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171770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E94314-4AF6-4DD6-BF53-A9DA14B3DE07}"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286928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8E94314-4AF6-4DD6-BF53-A9DA14B3DE07}"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545046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8E94314-4AF6-4DD6-BF53-A9DA14B3DE07}" type="datetimeFigureOut">
              <a:rPr lang="en-IN" smtClean="0"/>
              <a:t>28-11-2024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3211136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8E94314-4AF6-4DD6-BF53-A9DA14B3DE07}" type="datetimeFigureOut">
              <a:rPr lang="en-IN" smtClean="0"/>
              <a:t>28-11-2024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3892245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E94314-4AF6-4DD6-BF53-A9DA14B3DE07}" type="datetimeFigureOut">
              <a:rPr lang="en-IN" smtClean="0"/>
              <a:t>28-11-2024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1184308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E94314-4AF6-4DD6-BF53-A9DA14B3DE07}"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1595896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E94314-4AF6-4DD6-BF53-A9DA14B3DE07}" type="datetimeFigureOut">
              <a:rPr lang="en-IN" smtClean="0"/>
              <a:t>28-11-2024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2101254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8E94314-4AF6-4DD6-BF53-A9DA14B3DE07}"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100422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8E94314-4AF6-4DD6-BF53-A9DA14B3DE07}" type="datetimeFigureOut">
              <a:rPr lang="en-IN" smtClean="0"/>
              <a:t>28-11-2024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8F6505-8217-4E1E-84B7-4B0665CBA5C3}" type="slidenum">
              <a:rPr lang="en-IN" smtClean="0"/>
              <a:t>‹#›</a:t>
            </a:fld>
            <a:endParaRPr lang="en-IN"/>
          </a:p>
        </p:txBody>
      </p:sp>
    </p:spTree>
    <p:extLst>
      <p:ext uri="{BB962C8B-B14F-4D97-AF65-F5344CB8AC3E}">
        <p14:creationId xmlns:p14="http://schemas.microsoft.com/office/powerpoint/2010/main" val="3838087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E94314-4AF6-4DD6-BF53-A9DA14B3DE07}" type="datetimeFigureOut">
              <a:rPr lang="en-IN" smtClean="0"/>
              <a:t>28-11-2024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8F6505-8217-4E1E-84B7-4B0665CBA5C3}" type="slidenum">
              <a:rPr lang="en-IN" smtClean="0"/>
              <a:t>‹#›</a:t>
            </a:fld>
            <a:endParaRPr lang="en-IN"/>
          </a:p>
        </p:txBody>
      </p:sp>
    </p:spTree>
    <p:extLst>
      <p:ext uri="{BB962C8B-B14F-4D97-AF65-F5344CB8AC3E}">
        <p14:creationId xmlns:p14="http://schemas.microsoft.com/office/powerpoint/2010/main" val="2163237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Approaches in Cheminformatics and Bioinformatics</a:t>
            </a:r>
            <a:endParaRPr lang="en-IN" dirty="0"/>
          </a:p>
        </p:txBody>
      </p:sp>
      <p:sp>
        <p:nvSpPr>
          <p:cNvPr id="3" name="Subtitle 2"/>
          <p:cNvSpPr>
            <a:spLocks noGrp="1"/>
          </p:cNvSpPr>
          <p:nvPr>
            <p:ph type="subTitle" idx="1"/>
          </p:nvPr>
        </p:nvSpPr>
        <p:spPr/>
        <p:txBody>
          <a:bodyPr/>
          <a:lstStyle/>
          <a:p>
            <a:r>
              <a:rPr lang="en-US" dirty="0" smtClean="0"/>
              <a:t>Dr. </a:t>
            </a:r>
            <a:r>
              <a:rPr lang="en-US" dirty="0" err="1" smtClean="0"/>
              <a:t>Deepali</a:t>
            </a:r>
            <a:r>
              <a:rPr lang="en-US" dirty="0" smtClean="0"/>
              <a:t> </a:t>
            </a:r>
            <a:r>
              <a:rPr lang="en-US" smtClean="0"/>
              <a:t>Kanekar</a:t>
            </a:r>
            <a:endParaRPr lang="en-IN"/>
          </a:p>
        </p:txBody>
      </p:sp>
    </p:spTree>
    <p:extLst>
      <p:ext uri="{BB962C8B-B14F-4D97-AF65-F5344CB8AC3E}">
        <p14:creationId xmlns:p14="http://schemas.microsoft.com/office/powerpoint/2010/main" val="84075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0323" y="886155"/>
            <a:ext cx="7897495" cy="4293235"/>
          </a:xfrm>
          <a:prstGeom prst="rect">
            <a:avLst/>
          </a:prstGeom>
        </p:spPr>
        <p:txBody>
          <a:bodyPr vert="horz" wrap="square" lIns="0" tIns="12065" rIns="0" bIns="0" rtlCol="0">
            <a:spAutoFit/>
          </a:bodyPr>
          <a:lstStyle/>
          <a:p>
            <a:pPr marL="3175" algn="ctr">
              <a:lnSpc>
                <a:spcPct val="100000"/>
              </a:lnSpc>
              <a:spcBef>
                <a:spcPts val="95"/>
              </a:spcBef>
            </a:pPr>
            <a:r>
              <a:rPr sz="4000" spc="-20" dirty="0">
                <a:latin typeface="Calibri"/>
                <a:cs typeface="Calibri"/>
              </a:rPr>
              <a:t>Cheminformatics</a:t>
            </a:r>
            <a:r>
              <a:rPr sz="4000" spc="-80" dirty="0">
                <a:latin typeface="Calibri"/>
                <a:cs typeface="Calibri"/>
              </a:rPr>
              <a:t> </a:t>
            </a:r>
            <a:r>
              <a:rPr sz="4000" dirty="0">
                <a:latin typeface="Calibri"/>
                <a:cs typeface="Calibri"/>
              </a:rPr>
              <a:t>vs</a:t>
            </a:r>
            <a:r>
              <a:rPr sz="4000" spc="-80" dirty="0">
                <a:latin typeface="Calibri"/>
                <a:cs typeface="Calibri"/>
              </a:rPr>
              <a:t> </a:t>
            </a:r>
            <a:r>
              <a:rPr sz="4000" spc="-10" dirty="0">
                <a:latin typeface="Calibri"/>
                <a:cs typeface="Calibri"/>
              </a:rPr>
              <a:t>bioinformatics:</a:t>
            </a:r>
            <a:endParaRPr sz="4000">
              <a:latin typeface="Calibri"/>
              <a:cs typeface="Calibri"/>
            </a:endParaRPr>
          </a:p>
          <a:p>
            <a:pPr marL="542925" marR="417830" algn="ctr">
              <a:lnSpc>
                <a:spcPct val="100000"/>
              </a:lnSpc>
              <a:spcBef>
                <a:spcPts val="4800"/>
              </a:spcBef>
            </a:pPr>
            <a:r>
              <a:rPr sz="4000" dirty="0">
                <a:latin typeface="Calibri"/>
                <a:cs typeface="Calibri"/>
              </a:rPr>
              <a:t>Both</a:t>
            </a:r>
            <a:r>
              <a:rPr sz="4000" spc="-75" dirty="0">
                <a:latin typeface="Calibri"/>
                <a:cs typeface="Calibri"/>
              </a:rPr>
              <a:t> </a:t>
            </a:r>
            <a:r>
              <a:rPr sz="4000" dirty="0">
                <a:latin typeface="Calibri"/>
                <a:cs typeface="Calibri"/>
              </a:rPr>
              <a:t>fields</a:t>
            </a:r>
            <a:r>
              <a:rPr sz="4000" spc="-85" dirty="0">
                <a:latin typeface="Calibri"/>
                <a:cs typeface="Calibri"/>
              </a:rPr>
              <a:t> </a:t>
            </a:r>
            <a:r>
              <a:rPr sz="4000" dirty="0">
                <a:latin typeface="Calibri"/>
                <a:cs typeface="Calibri"/>
              </a:rPr>
              <a:t>make</a:t>
            </a:r>
            <a:r>
              <a:rPr sz="4000" spc="-65" dirty="0">
                <a:latin typeface="Calibri"/>
                <a:cs typeface="Calibri"/>
              </a:rPr>
              <a:t> </a:t>
            </a:r>
            <a:r>
              <a:rPr sz="4000" dirty="0">
                <a:latin typeface="Calibri"/>
                <a:cs typeface="Calibri"/>
              </a:rPr>
              <a:t>use</a:t>
            </a:r>
            <a:r>
              <a:rPr sz="4000" spc="-70" dirty="0">
                <a:latin typeface="Calibri"/>
                <a:cs typeface="Calibri"/>
              </a:rPr>
              <a:t> </a:t>
            </a:r>
            <a:r>
              <a:rPr sz="4000" dirty="0">
                <a:latin typeface="Calibri"/>
                <a:cs typeface="Calibri"/>
              </a:rPr>
              <a:t>of</a:t>
            </a:r>
            <a:r>
              <a:rPr sz="4000" spc="-75" dirty="0">
                <a:latin typeface="Calibri"/>
                <a:cs typeface="Calibri"/>
              </a:rPr>
              <a:t> </a:t>
            </a:r>
            <a:r>
              <a:rPr sz="4000" spc="-10" dirty="0">
                <a:latin typeface="Calibri"/>
                <a:cs typeface="Calibri"/>
              </a:rPr>
              <a:t>computer </a:t>
            </a:r>
            <a:r>
              <a:rPr sz="4000" dirty="0">
                <a:latin typeface="Calibri"/>
                <a:cs typeface="Calibri"/>
              </a:rPr>
              <a:t>software</a:t>
            </a:r>
            <a:r>
              <a:rPr sz="4000" spc="-130" dirty="0">
                <a:latin typeface="Calibri"/>
                <a:cs typeface="Calibri"/>
              </a:rPr>
              <a:t> </a:t>
            </a:r>
            <a:r>
              <a:rPr sz="4000" dirty="0">
                <a:latin typeface="Calibri"/>
                <a:cs typeface="Calibri"/>
              </a:rPr>
              <a:t>to</a:t>
            </a:r>
            <a:r>
              <a:rPr sz="4000" spc="-130" dirty="0">
                <a:latin typeface="Calibri"/>
                <a:cs typeface="Calibri"/>
              </a:rPr>
              <a:t> </a:t>
            </a:r>
            <a:r>
              <a:rPr sz="4000" dirty="0">
                <a:latin typeface="Calibri"/>
                <a:cs typeface="Calibri"/>
              </a:rPr>
              <a:t>simplify</a:t>
            </a:r>
            <a:r>
              <a:rPr sz="4000" spc="-130" dirty="0">
                <a:latin typeface="Calibri"/>
                <a:cs typeface="Calibri"/>
              </a:rPr>
              <a:t> </a:t>
            </a:r>
            <a:r>
              <a:rPr sz="4000" dirty="0">
                <a:latin typeface="Calibri"/>
                <a:cs typeface="Calibri"/>
              </a:rPr>
              <a:t>research</a:t>
            </a:r>
            <a:r>
              <a:rPr sz="4000" spc="-130" dirty="0">
                <a:latin typeface="Calibri"/>
                <a:cs typeface="Calibri"/>
              </a:rPr>
              <a:t> </a:t>
            </a:r>
            <a:r>
              <a:rPr sz="4000" spc="-50" dirty="0">
                <a:latin typeface="Calibri"/>
                <a:cs typeface="Calibri"/>
              </a:rPr>
              <a:t>&amp;</a:t>
            </a:r>
            <a:endParaRPr sz="4000">
              <a:latin typeface="Calibri"/>
              <a:cs typeface="Calibri"/>
            </a:endParaRPr>
          </a:p>
          <a:p>
            <a:pPr marL="12700" marR="5080" algn="ctr">
              <a:lnSpc>
                <a:spcPct val="100000"/>
              </a:lnSpc>
              <a:spcBef>
                <a:spcPts val="5"/>
              </a:spcBef>
            </a:pPr>
            <a:r>
              <a:rPr sz="4000" spc="-10" dirty="0">
                <a:latin typeface="Calibri"/>
                <a:cs typeface="Calibri"/>
              </a:rPr>
              <a:t>development</a:t>
            </a:r>
            <a:r>
              <a:rPr sz="4000" spc="-90" dirty="0">
                <a:latin typeface="Calibri"/>
                <a:cs typeface="Calibri"/>
              </a:rPr>
              <a:t> </a:t>
            </a:r>
            <a:r>
              <a:rPr sz="4000" dirty="0">
                <a:latin typeface="Calibri"/>
                <a:cs typeface="Calibri"/>
              </a:rPr>
              <a:t>in</a:t>
            </a:r>
            <a:r>
              <a:rPr sz="4000" spc="-85" dirty="0">
                <a:latin typeface="Calibri"/>
                <a:cs typeface="Calibri"/>
              </a:rPr>
              <a:t> </a:t>
            </a:r>
            <a:r>
              <a:rPr sz="4000" dirty="0">
                <a:latin typeface="Calibri"/>
                <a:cs typeface="Calibri"/>
              </a:rPr>
              <a:t>respective</a:t>
            </a:r>
            <a:r>
              <a:rPr sz="4000" spc="-80" dirty="0">
                <a:latin typeface="Calibri"/>
                <a:cs typeface="Calibri"/>
              </a:rPr>
              <a:t> </a:t>
            </a:r>
            <a:r>
              <a:rPr sz="4000" dirty="0">
                <a:latin typeface="Calibri"/>
                <a:cs typeface="Calibri"/>
              </a:rPr>
              <a:t>fields.</a:t>
            </a:r>
            <a:r>
              <a:rPr sz="4000" spc="-85" dirty="0">
                <a:latin typeface="Calibri"/>
                <a:cs typeface="Calibri"/>
              </a:rPr>
              <a:t> </a:t>
            </a:r>
            <a:r>
              <a:rPr sz="4000" spc="-10" dirty="0">
                <a:latin typeface="Calibri"/>
                <a:cs typeface="Calibri"/>
              </a:rPr>
              <a:t>Let’s </a:t>
            </a:r>
            <a:r>
              <a:rPr sz="4000" dirty="0">
                <a:latin typeface="Calibri"/>
                <a:cs typeface="Calibri"/>
              </a:rPr>
              <a:t>compare</a:t>
            </a:r>
            <a:r>
              <a:rPr sz="4000" spc="-105" dirty="0">
                <a:latin typeface="Calibri"/>
                <a:cs typeface="Calibri"/>
              </a:rPr>
              <a:t> </a:t>
            </a:r>
            <a:r>
              <a:rPr sz="4000" dirty="0">
                <a:latin typeface="Calibri"/>
                <a:cs typeface="Calibri"/>
              </a:rPr>
              <a:t>how</a:t>
            </a:r>
            <a:r>
              <a:rPr sz="4000" spc="-114" dirty="0">
                <a:latin typeface="Calibri"/>
                <a:cs typeface="Calibri"/>
              </a:rPr>
              <a:t> </a:t>
            </a:r>
            <a:r>
              <a:rPr sz="4000" dirty="0">
                <a:latin typeface="Calibri"/>
                <a:cs typeface="Calibri"/>
              </a:rPr>
              <a:t>both</a:t>
            </a:r>
            <a:r>
              <a:rPr sz="4000" spc="-105" dirty="0">
                <a:latin typeface="Calibri"/>
                <a:cs typeface="Calibri"/>
              </a:rPr>
              <a:t> </a:t>
            </a:r>
            <a:r>
              <a:rPr sz="4000" dirty="0">
                <a:latin typeface="Calibri"/>
                <a:cs typeface="Calibri"/>
              </a:rPr>
              <a:t>field</a:t>
            </a:r>
            <a:r>
              <a:rPr sz="4000" spc="-125" dirty="0">
                <a:latin typeface="Calibri"/>
                <a:cs typeface="Calibri"/>
              </a:rPr>
              <a:t> </a:t>
            </a:r>
            <a:r>
              <a:rPr sz="4000" dirty="0">
                <a:latin typeface="Calibri"/>
                <a:cs typeface="Calibri"/>
              </a:rPr>
              <a:t>emerges</a:t>
            </a:r>
            <a:r>
              <a:rPr sz="4000" spc="-95" dirty="0">
                <a:latin typeface="Calibri"/>
                <a:cs typeface="Calibri"/>
              </a:rPr>
              <a:t> </a:t>
            </a:r>
            <a:r>
              <a:rPr sz="4000" spc="-20" dirty="0">
                <a:latin typeface="Calibri"/>
                <a:cs typeface="Calibri"/>
              </a:rPr>
              <a:t>with </a:t>
            </a:r>
            <a:r>
              <a:rPr sz="4000" dirty="0">
                <a:latin typeface="Calibri"/>
                <a:cs typeface="Calibri"/>
              </a:rPr>
              <a:t>use</a:t>
            </a:r>
            <a:r>
              <a:rPr sz="4000" spc="-85" dirty="0">
                <a:latin typeface="Calibri"/>
                <a:cs typeface="Calibri"/>
              </a:rPr>
              <a:t> </a:t>
            </a:r>
            <a:r>
              <a:rPr sz="4000" dirty="0">
                <a:latin typeface="Calibri"/>
                <a:cs typeface="Calibri"/>
              </a:rPr>
              <a:t>of</a:t>
            </a:r>
            <a:r>
              <a:rPr sz="4000" spc="-85" dirty="0">
                <a:latin typeface="Calibri"/>
                <a:cs typeface="Calibri"/>
              </a:rPr>
              <a:t> </a:t>
            </a:r>
            <a:r>
              <a:rPr sz="4000" dirty="0">
                <a:latin typeface="Calibri"/>
                <a:cs typeface="Calibri"/>
              </a:rPr>
              <a:t>computer</a:t>
            </a:r>
            <a:r>
              <a:rPr sz="4000" spc="-85" dirty="0">
                <a:latin typeface="Calibri"/>
                <a:cs typeface="Calibri"/>
              </a:rPr>
              <a:t> </a:t>
            </a:r>
            <a:r>
              <a:rPr sz="4000" spc="-10" dirty="0">
                <a:latin typeface="Calibri"/>
                <a:cs typeface="Calibri"/>
              </a:rPr>
              <a:t>technology</a:t>
            </a:r>
            <a:endParaRPr sz="4000">
              <a:latin typeface="Calibri"/>
              <a:cs typeface="Calibri"/>
            </a:endParaRPr>
          </a:p>
        </p:txBody>
      </p:sp>
    </p:spTree>
    <p:extLst>
      <p:ext uri="{BB962C8B-B14F-4D97-AF65-F5344CB8AC3E}">
        <p14:creationId xmlns:p14="http://schemas.microsoft.com/office/powerpoint/2010/main" val="2239133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pPr algn="just"/>
            <a:r>
              <a:rPr lang="en-US" sz="2400" b="1" dirty="0" smtClean="0">
                <a:latin typeface="Times New Roman" panose="02020603050405020304" pitchFamily="18" charset="0"/>
                <a:cs typeface="Times New Roman" panose="02020603050405020304" pitchFamily="18" charset="0"/>
              </a:rPr>
              <a:t>Cheminformatics</a:t>
            </a:r>
            <a:r>
              <a:rPr lang="en-US" sz="2400" dirty="0" smtClean="0">
                <a:latin typeface="Times New Roman" panose="02020603050405020304" pitchFamily="18" charset="0"/>
                <a:cs typeface="Times New Roman" panose="02020603050405020304" pitchFamily="18" charset="0"/>
              </a:rPr>
              <a:t> is a field at the intersection of chemistry and information science, involving the use of computational and statistical methods to analyze, visualize, and interpret chemical data. It integrates techniques from computer science, data science, and chemistry to store, manipulate, and predict the behavior of chemical compounds, molecules, and materials.</a:t>
            </a:r>
          </a:p>
          <a:p>
            <a:pPr algn="just"/>
            <a:r>
              <a:rPr lang="en-US" sz="2400" dirty="0" smtClean="0">
                <a:latin typeface="Times New Roman" panose="02020603050405020304" pitchFamily="18" charset="0"/>
                <a:cs typeface="Times New Roman" panose="02020603050405020304" pitchFamily="18" charset="0"/>
              </a:rPr>
              <a:t>Cheminformatics plays a crucial role in modern chemical research and industry, enabling scientists to analyze large chemical datasets, model molecular properties, and make predictions about new compounds, materials, and drugs.</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021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b="1" dirty="0" smtClean="0"/>
              <a:t>Key Aspects of Cheminformatics:</a:t>
            </a:r>
            <a:br>
              <a:rPr lang="en-US" b="1" dirty="0" smtClean="0"/>
            </a:br>
            <a:endParaRPr lang="en-IN" dirty="0"/>
          </a:p>
        </p:txBody>
      </p:sp>
      <p:sp>
        <p:nvSpPr>
          <p:cNvPr id="3" name="Content Placeholder 2"/>
          <p:cNvSpPr>
            <a:spLocks noGrp="1"/>
          </p:cNvSpPr>
          <p:nvPr>
            <p:ph idx="1"/>
          </p:nvPr>
        </p:nvSpPr>
        <p:spPr/>
        <p:txBody>
          <a:bodyPr>
            <a:normAutofit fontScale="77500" lnSpcReduction="20000"/>
          </a:bodyPr>
          <a:lstStyle/>
          <a:p>
            <a:r>
              <a:rPr lang="en-US" b="1" dirty="0" smtClean="0">
                <a:latin typeface="Times New Roman" panose="02020603050405020304" pitchFamily="18" charset="0"/>
                <a:cs typeface="Times New Roman" panose="02020603050405020304" pitchFamily="18" charset="0"/>
              </a:rPr>
              <a:t>Data Representation</a:t>
            </a:r>
            <a:r>
              <a:rPr lang="en-US" dirty="0" smtClean="0">
                <a:latin typeface="Times New Roman" panose="02020603050405020304" pitchFamily="18" charset="0"/>
                <a:cs typeface="Times New Roman" panose="02020603050405020304" pitchFamily="18" charset="0"/>
              </a:rPr>
              <a:t>: Converting chemical structures into computer-readable formats (e.g., SMILES, </a:t>
            </a:r>
            <a:r>
              <a:rPr lang="en-US" dirty="0" err="1" smtClean="0">
                <a:latin typeface="Times New Roman" panose="02020603050405020304" pitchFamily="18" charset="0"/>
                <a:cs typeface="Times New Roman" panose="02020603050405020304" pitchFamily="18" charset="0"/>
              </a:rPr>
              <a:t>InChI</a:t>
            </a:r>
            <a:r>
              <a:rPr lang="en-US" dirty="0" smtClean="0">
                <a:latin typeface="Times New Roman" panose="02020603050405020304" pitchFamily="18" charset="0"/>
                <a:cs typeface="Times New Roman" panose="02020603050405020304" pitchFamily="18" charset="0"/>
              </a:rPr>
              <a:t>) and storing them in databases like PubChem or </a:t>
            </a:r>
            <a:r>
              <a:rPr lang="en-US" dirty="0" err="1" smtClean="0">
                <a:latin typeface="Times New Roman" panose="02020603050405020304" pitchFamily="18" charset="0"/>
                <a:cs typeface="Times New Roman" panose="02020603050405020304" pitchFamily="18" charset="0"/>
              </a:rPr>
              <a:t>ChEMBL</a:t>
            </a:r>
            <a:r>
              <a:rPr lang="en-US" dirty="0" smtClean="0">
                <a:latin typeface="Times New Roman" panose="02020603050405020304" pitchFamily="18" charset="0"/>
                <a:cs typeface="Times New Roman" panose="02020603050405020304" pitchFamily="18" charset="0"/>
              </a:rPr>
              <a:t>.</a:t>
            </a:r>
          </a:p>
          <a:p>
            <a:r>
              <a:rPr lang="en-US" b="1" dirty="0" smtClean="0">
                <a:latin typeface="Times New Roman" panose="02020603050405020304" pitchFamily="18" charset="0"/>
                <a:cs typeface="Times New Roman" panose="02020603050405020304" pitchFamily="18" charset="0"/>
              </a:rPr>
              <a:t>Molecular Modeling</a:t>
            </a:r>
            <a:r>
              <a:rPr lang="en-US" dirty="0" smtClean="0">
                <a:latin typeface="Times New Roman" panose="02020603050405020304" pitchFamily="18" charset="0"/>
                <a:cs typeface="Times New Roman" panose="02020603050405020304" pitchFamily="18" charset="0"/>
              </a:rPr>
              <a:t>: Using simulations (e.g., molecular docking, dynamics) to study molecular interactions and predict behavior.</a:t>
            </a:r>
          </a:p>
          <a:p>
            <a:r>
              <a:rPr lang="en-US" b="1" dirty="0" smtClean="0">
                <a:latin typeface="Times New Roman" panose="02020603050405020304" pitchFamily="18" charset="0"/>
                <a:cs typeface="Times New Roman" panose="02020603050405020304" pitchFamily="18" charset="0"/>
              </a:rPr>
              <a:t>QSAR Modeling</a:t>
            </a:r>
            <a:r>
              <a:rPr lang="en-US" dirty="0" smtClean="0">
                <a:latin typeface="Times New Roman" panose="02020603050405020304" pitchFamily="18" charset="0"/>
                <a:cs typeface="Times New Roman" panose="02020603050405020304" pitchFamily="18" charset="0"/>
              </a:rPr>
              <a:t>: Relating chemical structure to biological or physicochemical properties to predict compound activity.</a:t>
            </a:r>
          </a:p>
          <a:p>
            <a:r>
              <a:rPr lang="en-US" b="1" dirty="0" smtClean="0">
                <a:latin typeface="Times New Roman" panose="02020603050405020304" pitchFamily="18" charset="0"/>
                <a:cs typeface="Times New Roman" panose="02020603050405020304" pitchFamily="18" charset="0"/>
              </a:rPr>
              <a:t>Virtual Screening</a:t>
            </a:r>
            <a:r>
              <a:rPr lang="en-US" dirty="0" smtClean="0">
                <a:latin typeface="Times New Roman" panose="02020603050405020304" pitchFamily="18" charset="0"/>
                <a:cs typeface="Times New Roman" panose="02020603050405020304" pitchFamily="18" charset="0"/>
              </a:rPr>
              <a:t>: Computationally searching large compound libraries to identify potential drug candidates.</a:t>
            </a:r>
          </a:p>
          <a:p>
            <a:r>
              <a:rPr lang="en-US" b="1" dirty="0" smtClean="0">
                <a:latin typeface="Times New Roman" panose="02020603050405020304" pitchFamily="18" charset="0"/>
                <a:cs typeface="Times New Roman" panose="02020603050405020304" pitchFamily="18" charset="0"/>
              </a:rPr>
              <a:t>Predictive Toxicology</a:t>
            </a:r>
            <a:r>
              <a:rPr lang="en-US" dirty="0" smtClean="0">
                <a:latin typeface="Times New Roman" panose="02020603050405020304" pitchFamily="18" charset="0"/>
                <a:cs typeface="Times New Roman" panose="02020603050405020304" pitchFamily="18" charset="0"/>
              </a:rPr>
              <a:t>: Using models to predict the toxicity of chemicals and improve drug safety.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09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980728"/>
            <a:ext cx="8229600" cy="4525963"/>
          </a:xfrm>
        </p:spPr>
        <p:txBody>
          <a:bodyPr>
            <a:normAutofit fontScale="55000" lnSpcReduction="20000"/>
          </a:bodyPr>
          <a:lstStyle/>
          <a:p>
            <a:r>
              <a:rPr lang="en-US" sz="4500" b="1" dirty="0" smtClean="0"/>
              <a:t>Applications:</a:t>
            </a:r>
          </a:p>
          <a:p>
            <a:endParaRPr lang="en-US" sz="4500" b="1" dirty="0" smtClean="0"/>
          </a:p>
          <a:p>
            <a:r>
              <a:rPr lang="en-US" b="1" dirty="0" smtClean="0"/>
              <a:t>Drug Discovery</a:t>
            </a:r>
            <a:r>
              <a:rPr lang="en-US" dirty="0" smtClean="0"/>
              <a:t>: Identifying and optimizing new drugs.</a:t>
            </a:r>
          </a:p>
          <a:p>
            <a:r>
              <a:rPr lang="en-US" b="1" dirty="0" smtClean="0"/>
              <a:t>Environmental Chemistry</a:t>
            </a:r>
            <a:r>
              <a:rPr lang="en-US" dirty="0" smtClean="0"/>
              <a:t>: Predicting the impact of chemicals on the environment.</a:t>
            </a:r>
          </a:p>
          <a:p>
            <a:r>
              <a:rPr lang="en-US" b="1" dirty="0" smtClean="0"/>
              <a:t>Agriculture</a:t>
            </a:r>
            <a:r>
              <a:rPr lang="en-US" dirty="0" smtClean="0"/>
              <a:t>: Designing pesticides and fertilizers.</a:t>
            </a:r>
          </a:p>
          <a:p>
            <a:r>
              <a:rPr lang="en-US" b="1" dirty="0" smtClean="0"/>
              <a:t>Materials Science</a:t>
            </a:r>
            <a:r>
              <a:rPr lang="en-US" dirty="0" smtClean="0"/>
              <a:t>: Developing new materials with specific properties.</a:t>
            </a:r>
          </a:p>
          <a:p>
            <a:r>
              <a:rPr lang="en-US" b="1" dirty="0" smtClean="0"/>
              <a:t>Challenges:</a:t>
            </a:r>
          </a:p>
          <a:p>
            <a:r>
              <a:rPr lang="en-US" b="1" dirty="0" smtClean="0"/>
              <a:t>Data Quality</a:t>
            </a:r>
            <a:r>
              <a:rPr lang="en-US" dirty="0" smtClean="0"/>
              <a:t>: Ensuring accurate and reliable chemical data.</a:t>
            </a:r>
          </a:p>
          <a:p>
            <a:r>
              <a:rPr lang="en-US" b="1" dirty="0" smtClean="0"/>
              <a:t>Big Data</a:t>
            </a:r>
            <a:r>
              <a:rPr lang="en-US" dirty="0" smtClean="0"/>
              <a:t>: Managing and analyzing large datasets.</a:t>
            </a:r>
          </a:p>
          <a:p>
            <a:r>
              <a:rPr lang="en-US" b="1" dirty="0" smtClean="0"/>
              <a:t>Model Interpretability</a:t>
            </a:r>
            <a:r>
              <a:rPr lang="en-US" dirty="0" smtClean="0"/>
              <a:t>: Making complex models more understandable and transparent.</a:t>
            </a:r>
          </a:p>
          <a:p>
            <a:endParaRPr lang="en-US" dirty="0" smtClean="0"/>
          </a:p>
          <a:p>
            <a:r>
              <a:rPr lang="en-US" dirty="0" smtClean="0"/>
              <a:t>Cheminformatics plays a vital role in accelerating chemical research and innovation across various industries.</a:t>
            </a:r>
          </a:p>
          <a:p>
            <a:endParaRPr lang="en-IN" dirty="0"/>
          </a:p>
        </p:txBody>
      </p:sp>
    </p:spTree>
    <p:extLst>
      <p:ext uri="{BB962C8B-B14F-4D97-AF65-F5344CB8AC3E}">
        <p14:creationId xmlns:p14="http://schemas.microsoft.com/office/powerpoint/2010/main" val="1535338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b="1" dirty="0" smtClean="0"/>
              <a:t>Bioinformatics</a:t>
            </a:r>
            <a:endParaRPr lang="en-IN" dirty="0"/>
          </a:p>
        </p:txBody>
      </p:sp>
      <p:sp>
        <p:nvSpPr>
          <p:cNvPr id="3" name="Content Placeholder 2"/>
          <p:cNvSpPr>
            <a:spLocks noGrp="1"/>
          </p:cNvSpPr>
          <p:nvPr>
            <p:ph idx="1"/>
          </p:nvPr>
        </p:nvSpPr>
        <p:spPr/>
        <p:txBody>
          <a:bodyPr/>
          <a:lstStyle/>
          <a:p>
            <a:pPr algn="just"/>
            <a:r>
              <a:rPr lang="en-US" b="1" dirty="0" smtClean="0"/>
              <a:t>Bioinformatics</a:t>
            </a:r>
            <a:r>
              <a:rPr lang="en-US" dirty="0" smtClean="0"/>
              <a:t> is an interdisciplinary field that combines biology, computer science, and information technology to analyze, interpret, and manage </a:t>
            </a:r>
            <a:r>
              <a:rPr lang="en-US" sz="2800" dirty="0" smtClean="0"/>
              <a:t>biological</a:t>
            </a:r>
            <a:r>
              <a:rPr lang="en-US" dirty="0" smtClean="0"/>
              <a:t> data, particularly large datasets such as genetic sequences, protein structures, and biological networks. It plays a crucial role in understanding biological processes and advancing fields like genomics, proteomics, and systems biology.</a:t>
            </a:r>
            <a:endParaRPr lang="en-IN" dirty="0"/>
          </a:p>
        </p:txBody>
      </p:sp>
    </p:spTree>
    <p:extLst>
      <p:ext uri="{BB962C8B-B14F-4D97-AF65-F5344CB8AC3E}">
        <p14:creationId xmlns:p14="http://schemas.microsoft.com/office/powerpoint/2010/main" val="166789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b="1" dirty="0" smtClean="0"/>
              <a:t>Key Areas of Bioinformatics:</a:t>
            </a:r>
            <a:br>
              <a:rPr lang="en-US" b="1" dirty="0" smtClean="0"/>
            </a:br>
            <a:endParaRPr lang="en-IN" dirty="0"/>
          </a:p>
        </p:txBody>
      </p:sp>
      <p:sp>
        <p:nvSpPr>
          <p:cNvPr id="3" name="Content Placeholder 2"/>
          <p:cNvSpPr>
            <a:spLocks noGrp="1"/>
          </p:cNvSpPr>
          <p:nvPr>
            <p:ph idx="1"/>
          </p:nvPr>
        </p:nvSpPr>
        <p:spPr/>
        <p:txBody>
          <a:bodyPr>
            <a:normAutofit fontScale="77500" lnSpcReduction="20000"/>
          </a:bodyPr>
          <a:lstStyle/>
          <a:p>
            <a:r>
              <a:rPr lang="en-US" b="1" dirty="0" smtClean="0"/>
              <a:t>Genomics</a:t>
            </a:r>
            <a:r>
              <a:rPr lang="en-US" dirty="0" smtClean="0"/>
              <a:t>: Analyzing and interpreting DNA sequences to understand genes, their functions, and their roles in health and disease.</a:t>
            </a:r>
          </a:p>
          <a:p>
            <a:r>
              <a:rPr lang="en-US" b="1" dirty="0" smtClean="0"/>
              <a:t>Proteomics</a:t>
            </a:r>
            <a:r>
              <a:rPr lang="en-US" dirty="0" smtClean="0"/>
              <a:t>: Studying proteins, their functions, structures, and interactions, to gain insights into cellular processes and disease mechanisms.</a:t>
            </a:r>
          </a:p>
          <a:p>
            <a:r>
              <a:rPr lang="en-US" b="1" dirty="0" smtClean="0"/>
              <a:t>Transcriptomics</a:t>
            </a:r>
            <a:r>
              <a:rPr lang="en-US" dirty="0" smtClean="0"/>
              <a:t>: Analyzing RNA sequences (e.g., mRNA) to understand gene expression and regulation.</a:t>
            </a:r>
          </a:p>
          <a:p>
            <a:r>
              <a:rPr lang="en-US" b="1" dirty="0" smtClean="0"/>
              <a:t>Systems Biology</a:t>
            </a:r>
            <a:r>
              <a:rPr lang="en-US" dirty="0" smtClean="0"/>
              <a:t>: Integrating data from various biological sources (genomics, proteomics, metabolomics) to model complex biological systems and networks.</a:t>
            </a:r>
          </a:p>
          <a:p>
            <a:r>
              <a:rPr lang="en-US" b="1" dirty="0" smtClean="0"/>
              <a:t>Computational Biology</a:t>
            </a:r>
            <a:r>
              <a:rPr lang="en-US" dirty="0" smtClean="0"/>
              <a:t>: Developing algorithms, databases, and tools to process and analyze biological data.</a:t>
            </a:r>
          </a:p>
          <a:p>
            <a:endParaRPr lang="en-IN" dirty="0"/>
          </a:p>
        </p:txBody>
      </p:sp>
    </p:spTree>
    <p:extLst>
      <p:ext uri="{BB962C8B-B14F-4D97-AF65-F5344CB8AC3E}">
        <p14:creationId xmlns:p14="http://schemas.microsoft.com/office/powerpoint/2010/main" val="4279646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US" b="1" dirty="0" smtClean="0"/>
              <a:t>Applications:</a:t>
            </a:r>
          </a:p>
          <a:p>
            <a:r>
              <a:rPr lang="en-US" b="1" dirty="0" smtClean="0"/>
              <a:t>Personalized Medicine</a:t>
            </a:r>
            <a:r>
              <a:rPr lang="en-US" dirty="0" smtClean="0"/>
              <a:t>: Tailoring treatments based on genetic information.</a:t>
            </a:r>
          </a:p>
          <a:p>
            <a:r>
              <a:rPr lang="en-US" b="1" dirty="0" smtClean="0"/>
              <a:t>Drug Discovery</a:t>
            </a:r>
            <a:r>
              <a:rPr lang="en-US" dirty="0" smtClean="0"/>
              <a:t>: Identifying drug targets and designing new drugs.</a:t>
            </a:r>
          </a:p>
          <a:p>
            <a:r>
              <a:rPr lang="en-US" b="1" dirty="0" smtClean="0"/>
              <a:t>Disease Research</a:t>
            </a:r>
            <a:r>
              <a:rPr lang="en-US" dirty="0" smtClean="0"/>
              <a:t>: Understanding genetic causes of diseases.</a:t>
            </a:r>
          </a:p>
          <a:p>
            <a:r>
              <a:rPr lang="en-US" b="1" dirty="0" smtClean="0"/>
              <a:t>Agriculture</a:t>
            </a:r>
            <a:r>
              <a:rPr lang="en-US" dirty="0" smtClean="0"/>
              <a:t>: Improving crops through genetic analysis.</a:t>
            </a:r>
          </a:p>
          <a:p>
            <a:r>
              <a:rPr lang="en-US" dirty="0" smtClean="0"/>
              <a:t>Bioinformatics accelerates biological research and supports advances in healthcare, agriculture, and disease prevention.</a:t>
            </a:r>
          </a:p>
          <a:p>
            <a:endParaRPr lang="en-IN" dirty="0"/>
          </a:p>
        </p:txBody>
      </p:sp>
    </p:spTree>
    <p:extLst>
      <p:ext uri="{BB962C8B-B14F-4D97-AF65-F5344CB8AC3E}">
        <p14:creationId xmlns:p14="http://schemas.microsoft.com/office/powerpoint/2010/main" val="3075419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36912"/>
            <a:ext cx="8229600" cy="1143000"/>
          </a:xfrm>
        </p:spPr>
        <p:txBody>
          <a:bodyPr>
            <a:normAutofit fontScale="90000"/>
          </a:bodyPr>
          <a:lstStyle/>
          <a:p>
            <a:r>
              <a:rPr lang="en-US" b="1" dirty="0" smtClean="0"/>
              <a:t>Distinguish between Cheminformatics and Bioinformatics</a:t>
            </a:r>
            <a:r>
              <a:rPr lang="en-IN" b="1" dirty="0" smtClean="0"/>
              <a:t/>
            </a:r>
            <a:br>
              <a:rPr lang="en-IN" b="1" dirty="0" smtClean="0"/>
            </a:br>
            <a:endParaRPr lang="en-IN" b="1" dirty="0"/>
          </a:p>
        </p:txBody>
      </p:sp>
    </p:spTree>
    <p:extLst>
      <p:ext uri="{BB962C8B-B14F-4D97-AF65-F5344CB8AC3E}">
        <p14:creationId xmlns:p14="http://schemas.microsoft.com/office/powerpoint/2010/main" val="360159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48834" y="3445645"/>
            <a:ext cx="4104640" cy="3383279"/>
          </a:xfrm>
          <a:custGeom>
            <a:avLst/>
            <a:gdLst/>
            <a:ahLst/>
            <a:cxnLst/>
            <a:rect l="l" t="t" r="r" b="b"/>
            <a:pathLst>
              <a:path w="4104640" h="3383279">
                <a:moveTo>
                  <a:pt x="4104513" y="0"/>
                </a:moveTo>
                <a:lnTo>
                  <a:pt x="0" y="0"/>
                </a:lnTo>
                <a:lnTo>
                  <a:pt x="0" y="3383279"/>
                </a:lnTo>
                <a:lnTo>
                  <a:pt x="4104513" y="3383279"/>
                </a:lnTo>
                <a:lnTo>
                  <a:pt x="4104513" y="0"/>
                </a:lnTo>
                <a:close/>
              </a:path>
            </a:pathLst>
          </a:custGeom>
          <a:solidFill>
            <a:srgbClr val="D0D7E8"/>
          </a:solidFill>
        </p:spPr>
        <p:txBody>
          <a:bodyPr wrap="square" lIns="0" tIns="0" rIns="0" bIns="0" rtlCol="0"/>
          <a:lstStyle/>
          <a:p>
            <a:endParaRPr/>
          </a:p>
        </p:txBody>
      </p:sp>
      <p:graphicFrame>
        <p:nvGraphicFramePr>
          <p:cNvPr id="3" name="object 3"/>
          <p:cNvGraphicFramePr>
            <a:graphicFrameLocks noGrp="1"/>
          </p:cNvGraphicFramePr>
          <p:nvPr/>
        </p:nvGraphicFramePr>
        <p:xfrm>
          <a:off x="538073" y="233679"/>
          <a:ext cx="8209280" cy="6588124"/>
        </p:xfrm>
        <a:graphic>
          <a:graphicData uri="http://schemas.openxmlformats.org/drawingml/2006/table">
            <a:tbl>
              <a:tblPr firstRow="1" bandRow="1">
                <a:tableStyleId>{2D5ABB26-0587-4C30-8999-92F81FD0307C}</a:tableStyleId>
              </a:tblPr>
              <a:tblGrid>
                <a:gridCol w="4104640"/>
                <a:gridCol w="4104640"/>
              </a:tblGrid>
              <a:tr h="441325">
                <a:tc>
                  <a:txBody>
                    <a:bodyPr/>
                    <a:lstStyle/>
                    <a:p>
                      <a:pPr marL="1245235">
                        <a:lnSpc>
                          <a:spcPct val="100000"/>
                        </a:lnSpc>
                        <a:spcBef>
                          <a:spcPts val="240"/>
                        </a:spcBef>
                      </a:pPr>
                      <a:r>
                        <a:rPr sz="1800" b="1" spc="-10" dirty="0">
                          <a:solidFill>
                            <a:srgbClr val="FFFFFF"/>
                          </a:solidFill>
                          <a:latin typeface="Calibri"/>
                          <a:cs typeface="Calibri"/>
                        </a:rPr>
                        <a:t>Cheminformatics</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10" dirty="0">
                          <a:solidFill>
                            <a:srgbClr val="FFFFFF"/>
                          </a:solidFill>
                          <a:latin typeface="Calibri"/>
                          <a:cs typeface="Calibri"/>
                        </a:rPr>
                        <a:t>Bioinformatics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r>
              <a:tr h="2041525">
                <a:tc>
                  <a:txBody>
                    <a:bodyPr/>
                    <a:lstStyle/>
                    <a:p>
                      <a:pPr marL="90805" marR="165100">
                        <a:lnSpc>
                          <a:spcPct val="100000"/>
                        </a:lnSpc>
                        <a:spcBef>
                          <a:spcPts val="260"/>
                        </a:spcBef>
                      </a:pPr>
                      <a:r>
                        <a:rPr sz="1600" spc="-10" dirty="0">
                          <a:latin typeface="Calibri"/>
                          <a:cs typeface="Calibri"/>
                        </a:rPr>
                        <a:t>Cheminformatics</a:t>
                      </a:r>
                      <a:r>
                        <a:rPr sz="1600" dirty="0">
                          <a:latin typeface="Calibri"/>
                          <a:cs typeface="Calibri"/>
                        </a:rPr>
                        <a:t> is</a:t>
                      </a:r>
                      <a:r>
                        <a:rPr sz="1600" spc="10" dirty="0">
                          <a:latin typeface="Calibri"/>
                          <a:cs typeface="Calibri"/>
                        </a:rPr>
                        <a:t> </a:t>
                      </a:r>
                      <a:r>
                        <a:rPr sz="1600" dirty="0">
                          <a:latin typeface="Calibri"/>
                          <a:cs typeface="Calibri"/>
                        </a:rPr>
                        <a:t>the</a:t>
                      </a:r>
                      <a:r>
                        <a:rPr sz="1600" spc="15" dirty="0">
                          <a:latin typeface="Calibri"/>
                          <a:cs typeface="Calibri"/>
                        </a:rPr>
                        <a:t> </a:t>
                      </a:r>
                      <a:r>
                        <a:rPr sz="1600" spc="-10" dirty="0">
                          <a:latin typeface="Calibri"/>
                          <a:cs typeface="Calibri"/>
                        </a:rPr>
                        <a:t>combination</a:t>
                      </a:r>
                      <a:r>
                        <a:rPr sz="1600" spc="-5" dirty="0">
                          <a:latin typeface="Calibri"/>
                          <a:cs typeface="Calibri"/>
                        </a:rPr>
                        <a:t> </a:t>
                      </a:r>
                      <a:r>
                        <a:rPr sz="1600" spc="-25" dirty="0">
                          <a:latin typeface="Calibri"/>
                          <a:cs typeface="Calibri"/>
                        </a:rPr>
                        <a:t>of </a:t>
                      </a:r>
                      <a:r>
                        <a:rPr sz="1600" dirty="0">
                          <a:latin typeface="Calibri"/>
                          <a:cs typeface="Calibri"/>
                        </a:rPr>
                        <a:t>chemical</a:t>
                      </a:r>
                      <a:r>
                        <a:rPr sz="1600" spc="-50" dirty="0">
                          <a:latin typeface="Calibri"/>
                          <a:cs typeface="Calibri"/>
                        </a:rPr>
                        <a:t> </a:t>
                      </a:r>
                      <a:r>
                        <a:rPr sz="1600" spc="-10" dirty="0">
                          <a:latin typeface="Calibri"/>
                          <a:cs typeface="Calibri"/>
                        </a:rPr>
                        <a:t>synthesis,</a:t>
                      </a:r>
                      <a:r>
                        <a:rPr sz="1600" spc="-35" dirty="0">
                          <a:latin typeface="Calibri"/>
                          <a:cs typeface="Calibri"/>
                        </a:rPr>
                        <a:t> </a:t>
                      </a:r>
                      <a:r>
                        <a:rPr sz="1600" dirty="0">
                          <a:latin typeface="Calibri"/>
                          <a:cs typeface="Calibri"/>
                        </a:rPr>
                        <a:t>biological</a:t>
                      </a:r>
                      <a:r>
                        <a:rPr sz="1600" spc="-55" dirty="0">
                          <a:latin typeface="Calibri"/>
                          <a:cs typeface="Calibri"/>
                        </a:rPr>
                        <a:t> </a:t>
                      </a:r>
                      <a:r>
                        <a:rPr sz="1600" dirty="0">
                          <a:latin typeface="Calibri"/>
                          <a:cs typeface="Calibri"/>
                        </a:rPr>
                        <a:t>screening</a:t>
                      </a:r>
                      <a:r>
                        <a:rPr sz="1600" spc="-25" dirty="0">
                          <a:latin typeface="Calibri"/>
                          <a:cs typeface="Calibri"/>
                        </a:rPr>
                        <a:t> </a:t>
                      </a:r>
                      <a:r>
                        <a:rPr sz="1600" dirty="0">
                          <a:latin typeface="Calibri"/>
                          <a:cs typeface="Calibri"/>
                        </a:rPr>
                        <a:t>&amp;</a:t>
                      </a:r>
                      <a:r>
                        <a:rPr sz="1600" spc="-40" dirty="0">
                          <a:latin typeface="Calibri"/>
                          <a:cs typeface="Calibri"/>
                        </a:rPr>
                        <a:t> </a:t>
                      </a:r>
                      <a:r>
                        <a:rPr sz="1600" spc="-20" dirty="0">
                          <a:latin typeface="Calibri"/>
                          <a:cs typeface="Calibri"/>
                        </a:rPr>
                        <a:t>data </a:t>
                      </a:r>
                      <a:r>
                        <a:rPr sz="1600" dirty="0">
                          <a:latin typeface="Calibri"/>
                          <a:cs typeface="Calibri"/>
                        </a:rPr>
                        <a:t>mining</a:t>
                      </a:r>
                      <a:r>
                        <a:rPr sz="1600" spc="-45" dirty="0">
                          <a:latin typeface="Calibri"/>
                          <a:cs typeface="Calibri"/>
                        </a:rPr>
                        <a:t> </a:t>
                      </a:r>
                      <a:r>
                        <a:rPr sz="1600" spc="-10" dirty="0">
                          <a:latin typeface="Calibri"/>
                          <a:cs typeface="Calibri"/>
                        </a:rPr>
                        <a:t>approaches</a:t>
                      </a:r>
                      <a:r>
                        <a:rPr sz="1600" spc="-15" dirty="0">
                          <a:latin typeface="Calibri"/>
                          <a:cs typeface="Calibri"/>
                        </a:rPr>
                        <a:t> </a:t>
                      </a:r>
                      <a:r>
                        <a:rPr sz="1600" dirty="0">
                          <a:latin typeface="Calibri"/>
                          <a:cs typeface="Calibri"/>
                        </a:rPr>
                        <a:t>used</a:t>
                      </a:r>
                      <a:r>
                        <a:rPr sz="1600" spc="-15" dirty="0">
                          <a:latin typeface="Calibri"/>
                          <a:cs typeface="Calibri"/>
                        </a:rPr>
                        <a:t> </a:t>
                      </a:r>
                      <a:r>
                        <a:rPr sz="1600" dirty="0">
                          <a:latin typeface="Calibri"/>
                          <a:cs typeface="Calibri"/>
                        </a:rPr>
                        <a:t>to</a:t>
                      </a:r>
                      <a:r>
                        <a:rPr sz="1600" spc="-30" dirty="0">
                          <a:latin typeface="Calibri"/>
                          <a:cs typeface="Calibri"/>
                        </a:rPr>
                        <a:t> </a:t>
                      </a:r>
                      <a:r>
                        <a:rPr sz="1600" dirty="0">
                          <a:latin typeface="Calibri"/>
                          <a:cs typeface="Calibri"/>
                        </a:rPr>
                        <a:t>guide</a:t>
                      </a:r>
                      <a:r>
                        <a:rPr sz="1600" spc="-35" dirty="0">
                          <a:latin typeface="Calibri"/>
                          <a:cs typeface="Calibri"/>
                        </a:rPr>
                        <a:t> </a:t>
                      </a:r>
                      <a:r>
                        <a:rPr sz="1600" spc="-20" dirty="0">
                          <a:latin typeface="Calibri"/>
                          <a:cs typeface="Calibri"/>
                        </a:rPr>
                        <a:t>drug </a:t>
                      </a:r>
                      <a:r>
                        <a:rPr sz="1600" dirty="0">
                          <a:latin typeface="Calibri"/>
                          <a:cs typeface="Calibri"/>
                        </a:rPr>
                        <a:t>discovery</a:t>
                      </a:r>
                      <a:r>
                        <a:rPr sz="1600" spc="-15" dirty="0">
                          <a:latin typeface="Calibri"/>
                          <a:cs typeface="Calibri"/>
                        </a:rPr>
                        <a:t> </a:t>
                      </a:r>
                      <a:r>
                        <a:rPr sz="1600" dirty="0">
                          <a:latin typeface="Calibri"/>
                          <a:cs typeface="Calibri"/>
                        </a:rPr>
                        <a:t>&amp;</a:t>
                      </a:r>
                      <a:r>
                        <a:rPr sz="1600" spc="-30" dirty="0">
                          <a:latin typeface="Calibri"/>
                          <a:cs typeface="Calibri"/>
                        </a:rPr>
                        <a:t> </a:t>
                      </a:r>
                      <a:r>
                        <a:rPr sz="1600" spc="-10" dirty="0">
                          <a:latin typeface="Calibri"/>
                          <a:cs typeface="Calibri"/>
                        </a:rPr>
                        <a:t>development.</a:t>
                      </a:r>
                      <a:r>
                        <a:rPr sz="1600" spc="-20" dirty="0">
                          <a:latin typeface="Calibri"/>
                          <a:cs typeface="Calibri"/>
                        </a:rPr>
                        <a:t> </a:t>
                      </a:r>
                      <a:r>
                        <a:rPr sz="1600" dirty="0">
                          <a:latin typeface="Calibri"/>
                          <a:cs typeface="Calibri"/>
                        </a:rPr>
                        <a:t>It</a:t>
                      </a:r>
                      <a:r>
                        <a:rPr sz="1600" spc="-30" dirty="0">
                          <a:latin typeface="Calibri"/>
                          <a:cs typeface="Calibri"/>
                        </a:rPr>
                        <a:t> </a:t>
                      </a:r>
                      <a:r>
                        <a:rPr sz="1600" dirty="0">
                          <a:latin typeface="Calibri"/>
                          <a:cs typeface="Calibri"/>
                        </a:rPr>
                        <a:t>also</a:t>
                      </a:r>
                      <a:r>
                        <a:rPr sz="1600" spc="-35" dirty="0">
                          <a:latin typeface="Calibri"/>
                          <a:cs typeface="Calibri"/>
                        </a:rPr>
                        <a:t> </a:t>
                      </a:r>
                      <a:r>
                        <a:rPr sz="1600" spc="-20" dirty="0">
                          <a:latin typeface="Calibri"/>
                          <a:cs typeface="Calibri"/>
                        </a:rPr>
                        <a:t>uses </a:t>
                      </a:r>
                      <a:r>
                        <a:rPr sz="1600" dirty="0">
                          <a:latin typeface="Calibri"/>
                          <a:cs typeface="Calibri"/>
                        </a:rPr>
                        <a:t>computer</a:t>
                      </a:r>
                      <a:r>
                        <a:rPr sz="1600" spc="-35" dirty="0">
                          <a:latin typeface="Calibri"/>
                          <a:cs typeface="Calibri"/>
                        </a:rPr>
                        <a:t> </a:t>
                      </a:r>
                      <a:r>
                        <a:rPr sz="1600" dirty="0">
                          <a:latin typeface="Calibri"/>
                          <a:cs typeface="Calibri"/>
                        </a:rPr>
                        <a:t>software</a:t>
                      </a:r>
                      <a:r>
                        <a:rPr sz="1600" spc="-35" dirty="0">
                          <a:latin typeface="Calibri"/>
                          <a:cs typeface="Calibri"/>
                        </a:rPr>
                        <a:t> </a:t>
                      </a:r>
                      <a:r>
                        <a:rPr sz="1600" dirty="0">
                          <a:latin typeface="Calibri"/>
                          <a:cs typeface="Calibri"/>
                        </a:rPr>
                        <a:t>to</a:t>
                      </a:r>
                      <a:r>
                        <a:rPr sz="1600" spc="-40" dirty="0">
                          <a:latin typeface="Calibri"/>
                          <a:cs typeface="Calibri"/>
                        </a:rPr>
                        <a:t> </a:t>
                      </a:r>
                      <a:r>
                        <a:rPr sz="1600" dirty="0">
                          <a:latin typeface="Calibri"/>
                          <a:cs typeface="Calibri"/>
                        </a:rPr>
                        <a:t>assist</a:t>
                      </a:r>
                      <a:r>
                        <a:rPr sz="1600" spc="-65" dirty="0">
                          <a:latin typeface="Calibri"/>
                          <a:cs typeface="Calibri"/>
                        </a:rPr>
                        <a:t> </a:t>
                      </a:r>
                      <a:r>
                        <a:rPr sz="1600" dirty="0">
                          <a:latin typeface="Calibri"/>
                          <a:cs typeface="Calibri"/>
                        </a:rPr>
                        <a:t>in</a:t>
                      </a:r>
                      <a:r>
                        <a:rPr sz="1600" spc="-60" dirty="0">
                          <a:latin typeface="Calibri"/>
                          <a:cs typeface="Calibri"/>
                        </a:rPr>
                        <a:t> </a:t>
                      </a:r>
                      <a:r>
                        <a:rPr sz="1600" spc="-10" dirty="0">
                          <a:latin typeface="Calibri"/>
                          <a:cs typeface="Calibri"/>
                        </a:rPr>
                        <a:t>acquisition, </a:t>
                      </a:r>
                      <a:r>
                        <a:rPr sz="1600" dirty="0">
                          <a:latin typeface="Calibri"/>
                          <a:cs typeface="Calibri"/>
                        </a:rPr>
                        <a:t>analysis</a:t>
                      </a:r>
                      <a:r>
                        <a:rPr sz="1600" spc="-60" dirty="0">
                          <a:latin typeface="Calibri"/>
                          <a:cs typeface="Calibri"/>
                        </a:rPr>
                        <a:t> </a:t>
                      </a:r>
                      <a:r>
                        <a:rPr sz="1600" dirty="0">
                          <a:latin typeface="Calibri"/>
                          <a:cs typeface="Calibri"/>
                        </a:rPr>
                        <a:t>&amp;</a:t>
                      </a:r>
                      <a:r>
                        <a:rPr sz="1600" spc="-30" dirty="0">
                          <a:latin typeface="Calibri"/>
                          <a:cs typeface="Calibri"/>
                        </a:rPr>
                        <a:t> </a:t>
                      </a:r>
                      <a:r>
                        <a:rPr sz="1600" dirty="0">
                          <a:latin typeface="Calibri"/>
                          <a:cs typeface="Calibri"/>
                        </a:rPr>
                        <a:t>management</a:t>
                      </a:r>
                      <a:r>
                        <a:rPr sz="1600" spc="-45"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data</a:t>
                      </a:r>
                      <a:r>
                        <a:rPr sz="1600" spc="-45" dirty="0">
                          <a:latin typeface="Calibri"/>
                          <a:cs typeface="Calibri"/>
                        </a:rPr>
                        <a:t> </a:t>
                      </a:r>
                      <a:r>
                        <a:rPr sz="1600" spc="-10" dirty="0">
                          <a:latin typeface="Calibri"/>
                          <a:cs typeface="Calibri"/>
                        </a:rPr>
                        <a:t>information </a:t>
                      </a:r>
                      <a:r>
                        <a:rPr sz="1600" dirty="0">
                          <a:latin typeface="Calibri"/>
                          <a:cs typeface="Calibri"/>
                        </a:rPr>
                        <a:t>relating</a:t>
                      </a:r>
                      <a:r>
                        <a:rPr sz="1600" spc="-50" dirty="0">
                          <a:latin typeface="Calibri"/>
                          <a:cs typeface="Calibri"/>
                        </a:rPr>
                        <a:t> </a:t>
                      </a:r>
                      <a:r>
                        <a:rPr sz="1600" dirty="0">
                          <a:latin typeface="Calibri"/>
                          <a:cs typeface="Calibri"/>
                        </a:rPr>
                        <a:t>to</a:t>
                      </a:r>
                      <a:r>
                        <a:rPr sz="1600" spc="-4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chemical</a:t>
                      </a:r>
                      <a:r>
                        <a:rPr sz="1600" spc="-45" dirty="0">
                          <a:latin typeface="Calibri"/>
                          <a:cs typeface="Calibri"/>
                        </a:rPr>
                        <a:t> </a:t>
                      </a:r>
                      <a:r>
                        <a:rPr sz="1600" dirty="0">
                          <a:latin typeface="Calibri"/>
                          <a:cs typeface="Calibri"/>
                        </a:rPr>
                        <a:t>compounds</a:t>
                      </a:r>
                      <a:r>
                        <a:rPr sz="1600" spc="-20" dirty="0">
                          <a:latin typeface="Calibri"/>
                          <a:cs typeface="Calibri"/>
                        </a:rPr>
                        <a:t> </a:t>
                      </a:r>
                      <a:r>
                        <a:rPr sz="1600" dirty="0">
                          <a:latin typeface="Calibri"/>
                          <a:cs typeface="Calibri"/>
                        </a:rPr>
                        <a:t>and</a:t>
                      </a:r>
                      <a:r>
                        <a:rPr sz="1600" spc="-50" dirty="0">
                          <a:latin typeface="Calibri"/>
                          <a:cs typeface="Calibri"/>
                        </a:rPr>
                        <a:t> </a:t>
                      </a:r>
                      <a:r>
                        <a:rPr sz="1600" spc="-10" dirty="0">
                          <a:latin typeface="Calibri"/>
                          <a:cs typeface="Calibri"/>
                        </a:rPr>
                        <a:t>their properties.</a:t>
                      </a:r>
                      <a:endParaRPr sz="1600">
                        <a:latin typeface="Calibri"/>
                        <a:cs typeface="Calibri"/>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marR="170815">
                        <a:lnSpc>
                          <a:spcPct val="100000"/>
                        </a:lnSpc>
                        <a:spcBef>
                          <a:spcPts val="260"/>
                        </a:spcBef>
                      </a:pPr>
                      <a:r>
                        <a:rPr sz="1600" spc="-10" dirty="0">
                          <a:latin typeface="Calibri"/>
                          <a:cs typeface="Calibri"/>
                        </a:rPr>
                        <a:t>Bioinformatics</a:t>
                      </a:r>
                      <a:r>
                        <a:rPr sz="1600" spc="-30" dirty="0">
                          <a:latin typeface="Calibri"/>
                          <a:cs typeface="Calibri"/>
                        </a:rPr>
                        <a:t> </a:t>
                      </a:r>
                      <a:r>
                        <a:rPr sz="1600" dirty="0">
                          <a:latin typeface="Calibri"/>
                          <a:cs typeface="Calibri"/>
                        </a:rPr>
                        <a:t>concerned</a:t>
                      </a:r>
                      <a:r>
                        <a:rPr sz="1600" spc="-10" dirty="0">
                          <a:latin typeface="Calibri"/>
                          <a:cs typeface="Calibri"/>
                        </a:rPr>
                        <a:t> </a:t>
                      </a:r>
                      <a:r>
                        <a:rPr sz="1600" dirty="0">
                          <a:latin typeface="Calibri"/>
                          <a:cs typeface="Calibri"/>
                        </a:rPr>
                        <a:t>with</a:t>
                      </a:r>
                      <a:r>
                        <a:rPr sz="1600" spc="-30" dirty="0">
                          <a:latin typeface="Calibri"/>
                          <a:cs typeface="Calibri"/>
                        </a:rPr>
                        <a:t> </a:t>
                      </a:r>
                      <a:r>
                        <a:rPr sz="1600" spc="-25" dirty="0">
                          <a:latin typeface="Calibri"/>
                          <a:cs typeface="Calibri"/>
                        </a:rPr>
                        <a:t>the </a:t>
                      </a:r>
                      <a:r>
                        <a:rPr sz="1600" spc="-10" dirty="0">
                          <a:latin typeface="Calibri"/>
                          <a:cs typeface="Calibri"/>
                        </a:rPr>
                        <a:t>development</a:t>
                      </a:r>
                      <a:r>
                        <a:rPr sz="1600" spc="-15" dirty="0">
                          <a:latin typeface="Calibri"/>
                          <a:cs typeface="Calibri"/>
                        </a:rPr>
                        <a:t> </a:t>
                      </a:r>
                      <a:r>
                        <a:rPr sz="1600" dirty="0">
                          <a:latin typeface="Calibri"/>
                          <a:cs typeface="Calibri"/>
                        </a:rPr>
                        <a:t>&amp;</a:t>
                      </a:r>
                      <a:r>
                        <a:rPr sz="1600" spc="-40" dirty="0">
                          <a:latin typeface="Calibri"/>
                          <a:cs typeface="Calibri"/>
                        </a:rPr>
                        <a:t> </a:t>
                      </a:r>
                      <a:r>
                        <a:rPr sz="1600" dirty="0">
                          <a:latin typeface="Calibri"/>
                          <a:cs typeface="Calibri"/>
                        </a:rPr>
                        <a:t>application</a:t>
                      </a:r>
                      <a:r>
                        <a:rPr sz="1600" spc="-60" dirty="0">
                          <a:latin typeface="Calibri"/>
                          <a:cs typeface="Calibri"/>
                        </a:rPr>
                        <a:t> </a:t>
                      </a:r>
                      <a:r>
                        <a:rPr sz="1600" dirty="0">
                          <a:latin typeface="Calibri"/>
                          <a:cs typeface="Calibri"/>
                        </a:rPr>
                        <a:t>of</a:t>
                      </a:r>
                      <a:r>
                        <a:rPr sz="1600" spc="-35" dirty="0">
                          <a:latin typeface="Calibri"/>
                          <a:cs typeface="Calibri"/>
                        </a:rPr>
                        <a:t> </a:t>
                      </a:r>
                      <a:r>
                        <a:rPr sz="1600" spc="-10" dirty="0">
                          <a:latin typeface="Calibri"/>
                          <a:cs typeface="Calibri"/>
                        </a:rPr>
                        <a:t>computer hardware/software</a:t>
                      </a:r>
                      <a:r>
                        <a:rPr sz="1600" dirty="0">
                          <a:latin typeface="Calibri"/>
                          <a:cs typeface="Calibri"/>
                        </a:rPr>
                        <a:t> to</a:t>
                      </a:r>
                      <a:r>
                        <a:rPr sz="1600" spc="-50" dirty="0">
                          <a:latin typeface="Calibri"/>
                          <a:cs typeface="Calibri"/>
                        </a:rPr>
                        <a:t> </a:t>
                      </a:r>
                      <a:r>
                        <a:rPr sz="1600" dirty="0">
                          <a:latin typeface="Calibri"/>
                          <a:cs typeface="Calibri"/>
                        </a:rPr>
                        <a:t>the</a:t>
                      </a:r>
                      <a:r>
                        <a:rPr sz="1600" spc="-40" dirty="0">
                          <a:latin typeface="Calibri"/>
                          <a:cs typeface="Calibri"/>
                        </a:rPr>
                        <a:t> </a:t>
                      </a:r>
                      <a:r>
                        <a:rPr sz="1600" dirty="0">
                          <a:latin typeface="Calibri"/>
                          <a:cs typeface="Calibri"/>
                        </a:rPr>
                        <a:t>acquisition,</a:t>
                      </a:r>
                      <a:r>
                        <a:rPr sz="1600" spc="-55" dirty="0">
                          <a:latin typeface="Calibri"/>
                          <a:cs typeface="Calibri"/>
                        </a:rPr>
                        <a:t> </a:t>
                      </a:r>
                      <a:r>
                        <a:rPr sz="1600" spc="-10" dirty="0">
                          <a:latin typeface="Calibri"/>
                          <a:cs typeface="Calibri"/>
                        </a:rPr>
                        <a:t>storage, </a:t>
                      </a:r>
                      <a:r>
                        <a:rPr sz="1600" dirty="0">
                          <a:latin typeface="Calibri"/>
                          <a:cs typeface="Calibri"/>
                        </a:rPr>
                        <a:t>analysis</a:t>
                      </a:r>
                      <a:r>
                        <a:rPr sz="1600" spc="-35" dirty="0">
                          <a:latin typeface="Calibri"/>
                          <a:cs typeface="Calibri"/>
                        </a:rPr>
                        <a:t> </a:t>
                      </a:r>
                      <a:r>
                        <a:rPr sz="1600" dirty="0">
                          <a:latin typeface="Calibri"/>
                          <a:cs typeface="Calibri"/>
                        </a:rPr>
                        <a:t>&amp;</a:t>
                      </a:r>
                      <a:r>
                        <a:rPr sz="1600" spc="-5" dirty="0">
                          <a:latin typeface="Calibri"/>
                          <a:cs typeface="Calibri"/>
                        </a:rPr>
                        <a:t> </a:t>
                      </a:r>
                      <a:r>
                        <a:rPr sz="1600" spc="-10" dirty="0">
                          <a:latin typeface="Calibri"/>
                          <a:cs typeface="Calibri"/>
                        </a:rPr>
                        <a:t>visualization</a:t>
                      </a:r>
                      <a:r>
                        <a:rPr sz="1600" spc="-30" dirty="0">
                          <a:latin typeface="Calibri"/>
                          <a:cs typeface="Calibri"/>
                        </a:rPr>
                        <a:t> </a:t>
                      </a:r>
                      <a:r>
                        <a:rPr sz="1600" dirty="0">
                          <a:latin typeface="Calibri"/>
                          <a:cs typeface="Calibri"/>
                        </a:rPr>
                        <a:t>of</a:t>
                      </a:r>
                      <a:r>
                        <a:rPr sz="1600" spc="5" dirty="0">
                          <a:latin typeface="Calibri"/>
                          <a:cs typeface="Calibri"/>
                        </a:rPr>
                        <a:t> </a:t>
                      </a:r>
                      <a:r>
                        <a:rPr sz="1600" spc="-10" dirty="0">
                          <a:latin typeface="Calibri"/>
                          <a:cs typeface="Calibri"/>
                        </a:rPr>
                        <a:t>biological information.</a:t>
                      </a:r>
                      <a:endParaRPr sz="1600">
                        <a:latin typeface="Calibri"/>
                        <a:cs typeface="Calibri"/>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r>
              <a:tr h="721995">
                <a:tc>
                  <a:txBody>
                    <a:bodyPr/>
                    <a:lstStyle/>
                    <a:p>
                      <a:pPr marL="90805" marR="903605">
                        <a:lnSpc>
                          <a:spcPct val="100000"/>
                        </a:lnSpc>
                        <a:spcBef>
                          <a:spcPts val="265"/>
                        </a:spcBef>
                      </a:pPr>
                      <a:r>
                        <a:rPr sz="1600" dirty="0">
                          <a:latin typeface="Calibri"/>
                          <a:cs typeface="Calibri"/>
                        </a:rPr>
                        <a:t>CI</a:t>
                      </a:r>
                      <a:r>
                        <a:rPr sz="1600" spc="-20" dirty="0">
                          <a:latin typeface="Calibri"/>
                          <a:cs typeface="Calibri"/>
                        </a:rPr>
                        <a:t> </a:t>
                      </a:r>
                      <a:r>
                        <a:rPr sz="1600" dirty="0">
                          <a:latin typeface="Calibri"/>
                          <a:cs typeface="Calibri"/>
                        </a:rPr>
                        <a:t>deals</a:t>
                      </a:r>
                      <a:r>
                        <a:rPr sz="1600" spc="-15" dirty="0">
                          <a:latin typeface="Calibri"/>
                          <a:cs typeface="Calibri"/>
                        </a:rPr>
                        <a:t> </a:t>
                      </a:r>
                      <a:r>
                        <a:rPr sz="1600" dirty="0">
                          <a:latin typeface="Calibri"/>
                          <a:cs typeface="Calibri"/>
                        </a:rPr>
                        <a:t>with</a:t>
                      </a:r>
                      <a:r>
                        <a:rPr sz="1600" spc="-10" dirty="0">
                          <a:latin typeface="Calibri"/>
                          <a:cs typeface="Calibri"/>
                        </a:rPr>
                        <a:t> </a:t>
                      </a:r>
                      <a:r>
                        <a:rPr sz="1600" dirty="0">
                          <a:latin typeface="Calibri"/>
                          <a:cs typeface="Calibri"/>
                        </a:rPr>
                        <a:t>small</a:t>
                      </a:r>
                      <a:r>
                        <a:rPr sz="1600" spc="-35" dirty="0">
                          <a:latin typeface="Calibri"/>
                          <a:cs typeface="Calibri"/>
                        </a:rPr>
                        <a:t> </a:t>
                      </a:r>
                      <a:r>
                        <a:rPr sz="1600" spc="-10" dirty="0">
                          <a:latin typeface="Calibri"/>
                          <a:cs typeface="Calibri"/>
                        </a:rPr>
                        <a:t>molecules</a:t>
                      </a:r>
                      <a:r>
                        <a:rPr sz="1600" spc="5" dirty="0">
                          <a:latin typeface="Calibri"/>
                          <a:cs typeface="Calibri"/>
                        </a:rPr>
                        <a:t> </a:t>
                      </a:r>
                      <a:r>
                        <a:rPr sz="1600" dirty="0">
                          <a:latin typeface="Calibri"/>
                          <a:cs typeface="Calibri"/>
                        </a:rPr>
                        <a:t>that</a:t>
                      </a:r>
                      <a:r>
                        <a:rPr sz="1600" spc="-20" dirty="0">
                          <a:latin typeface="Calibri"/>
                          <a:cs typeface="Calibri"/>
                        </a:rPr>
                        <a:t> </a:t>
                      </a:r>
                      <a:r>
                        <a:rPr sz="1600" spc="-25" dirty="0">
                          <a:latin typeface="Calibri"/>
                          <a:cs typeface="Calibri"/>
                        </a:rPr>
                        <a:t>are </a:t>
                      </a:r>
                      <a:r>
                        <a:rPr sz="1600" spc="-10" dirty="0">
                          <a:latin typeface="Calibri"/>
                          <a:cs typeface="Calibri"/>
                        </a:rPr>
                        <a:t>synthesized</a:t>
                      </a:r>
                      <a:r>
                        <a:rPr sz="1600" spc="-45" dirty="0">
                          <a:latin typeface="Calibri"/>
                          <a:cs typeface="Calibri"/>
                        </a:rPr>
                        <a:t> </a:t>
                      </a:r>
                      <a:r>
                        <a:rPr sz="1600" dirty="0">
                          <a:latin typeface="Calibri"/>
                          <a:cs typeface="Calibri"/>
                        </a:rPr>
                        <a:t>in</a:t>
                      </a:r>
                      <a:r>
                        <a:rPr sz="1600" spc="-50" dirty="0">
                          <a:latin typeface="Calibri"/>
                          <a:cs typeface="Calibri"/>
                        </a:rPr>
                        <a:t> </a:t>
                      </a:r>
                      <a:r>
                        <a:rPr sz="1600" dirty="0">
                          <a:latin typeface="Calibri"/>
                          <a:cs typeface="Calibri"/>
                        </a:rPr>
                        <a:t>chemical</a:t>
                      </a:r>
                      <a:r>
                        <a:rPr sz="1600" spc="-45" dirty="0">
                          <a:latin typeface="Calibri"/>
                          <a:cs typeface="Calibri"/>
                        </a:rPr>
                        <a:t> </a:t>
                      </a:r>
                      <a:r>
                        <a:rPr sz="1600" spc="-10" dirty="0">
                          <a:latin typeface="Calibri"/>
                          <a:cs typeface="Calibri"/>
                        </a:rPr>
                        <a:t>processes.</a:t>
                      </a:r>
                      <a:endParaRPr sz="16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marR="95885">
                        <a:lnSpc>
                          <a:spcPct val="100000"/>
                        </a:lnSpc>
                        <a:spcBef>
                          <a:spcPts val="265"/>
                        </a:spcBef>
                      </a:pPr>
                      <a:r>
                        <a:rPr sz="1600" dirty="0">
                          <a:latin typeface="Calibri"/>
                          <a:cs typeface="Calibri"/>
                        </a:rPr>
                        <a:t>BI</a:t>
                      </a:r>
                      <a:r>
                        <a:rPr sz="1600" spc="-50" dirty="0">
                          <a:latin typeface="Calibri"/>
                          <a:cs typeface="Calibri"/>
                        </a:rPr>
                        <a:t> </a:t>
                      </a:r>
                      <a:r>
                        <a:rPr sz="1600" dirty="0">
                          <a:latin typeface="Calibri"/>
                          <a:cs typeface="Calibri"/>
                        </a:rPr>
                        <a:t>deals</a:t>
                      </a:r>
                      <a:r>
                        <a:rPr sz="1600" spc="-45" dirty="0">
                          <a:latin typeface="Calibri"/>
                          <a:cs typeface="Calibri"/>
                        </a:rPr>
                        <a:t> </a:t>
                      </a:r>
                      <a:r>
                        <a:rPr sz="1600" dirty="0">
                          <a:latin typeface="Calibri"/>
                          <a:cs typeface="Calibri"/>
                        </a:rPr>
                        <a:t>with</a:t>
                      </a:r>
                      <a:r>
                        <a:rPr sz="1600" spc="-45" dirty="0">
                          <a:latin typeface="Calibri"/>
                          <a:cs typeface="Calibri"/>
                        </a:rPr>
                        <a:t> </a:t>
                      </a:r>
                      <a:r>
                        <a:rPr sz="1600" dirty="0">
                          <a:latin typeface="Calibri"/>
                          <a:cs typeface="Calibri"/>
                        </a:rPr>
                        <a:t>large</a:t>
                      </a:r>
                      <a:r>
                        <a:rPr sz="1600" spc="-45" dirty="0">
                          <a:latin typeface="Calibri"/>
                          <a:cs typeface="Calibri"/>
                        </a:rPr>
                        <a:t> </a:t>
                      </a:r>
                      <a:r>
                        <a:rPr sz="1600" dirty="0">
                          <a:latin typeface="Calibri"/>
                          <a:cs typeface="Calibri"/>
                        </a:rPr>
                        <a:t>molecules</a:t>
                      </a:r>
                      <a:r>
                        <a:rPr sz="1600" spc="-35" dirty="0">
                          <a:latin typeface="Calibri"/>
                          <a:cs typeface="Calibri"/>
                        </a:rPr>
                        <a:t> </a:t>
                      </a:r>
                      <a:r>
                        <a:rPr sz="1600" dirty="0">
                          <a:latin typeface="Calibri"/>
                          <a:cs typeface="Calibri"/>
                        </a:rPr>
                        <a:t>like</a:t>
                      </a:r>
                      <a:r>
                        <a:rPr sz="1600" spc="-60" dirty="0">
                          <a:latin typeface="Calibri"/>
                          <a:cs typeface="Calibri"/>
                        </a:rPr>
                        <a:t> </a:t>
                      </a:r>
                      <a:r>
                        <a:rPr sz="1600" dirty="0">
                          <a:latin typeface="Calibri"/>
                          <a:cs typeface="Calibri"/>
                        </a:rPr>
                        <a:t>proteins,</a:t>
                      </a:r>
                      <a:r>
                        <a:rPr sz="1600" spc="-30" dirty="0">
                          <a:latin typeface="Calibri"/>
                          <a:cs typeface="Calibri"/>
                        </a:rPr>
                        <a:t> </a:t>
                      </a:r>
                      <a:r>
                        <a:rPr sz="1600" spc="-25" dirty="0">
                          <a:latin typeface="Calibri"/>
                          <a:cs typeface="Calibri"/>
                        </a:rPr>
                        <a:t>DNA </a:t>
                      </a:r>
                      <a:r>
                        <a:rPr sz="1600" dirty="0">
                          <a:latin typeface="Calibri"/>
                          <a:cs typeface="Calibri"/>
                        </a:rPr>
                        <a:t>OR</a:t>
                      </a:r>
                      <a:r>
                        <a:rPr sz="1600" spc="-5" dirty="0">
                          <a:latin typeface="Calibri"/>
                          <a:cs typeface="Calibri"/>
                        </a:rPr>
                        <a:t> </a:t>
                      </a:r>
                      <a:r>
                        <a:rPr sz="1600" spc="-25" dirty="0">
                          <a:latin typeface="Calibri"/>
                          <a:cs typeface="Calibri"/>
                        </a:rPr>
                        <a:t>RNA</a:t>
                      </a:r>
                      <a:endParaRPr sz="16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383279">
                <a:tc>
                  <a:txBody>
                    <a:bodyPr/>
                    <a:lstStyle/>
                    <a:p>
                      <a:pPr>
                        <a:lnSpc>
                          <a:spcPct val="100000"/>
                        </a:lnSpc>
                      </a:pPr>
                      <a:endParaRPr sz="16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r>
            </a:tbl>
          </a:graphicData>
        </a:graphic>
      </p:graphicFrame>
      <p:pic>
        <p:nvPicPr>
          <p:cNvPr id="4" name="object 4"/>
          <p:cNvPicPr/>
          <p:nvPr/>
        </p:nvPicPr>
        <p:blipFill>
          <a:blip r:embed="rId2" cstate="print"/>
          <a:stretch>
            <a:fillRect/>
          </a:stretch>
        </p:blipFill>
        <p:spPr>
          <a:xfrm>
            <a:off x="5076063" y="3630983"/>
            <a:ext cx="3456432" cy="3205988"/>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267200"/>
            <a:ext cx="3581400" cy="1444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0448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61187" y="182245"/>
            <a:ext cx="8437880" cy="6613525"/>
            <a:chOff x="461187" y="182245"/>
            <a:chExt cx="8437880" cy="6613525"/>
          </a:xfrm>
        </p:grpSpPr>
        <p:sp>
          <p:nvSpPr>
            <p:cNvPr id="3" name="object 3"/>
            <p:cNvSpPr/>
            <p:nvPr/>
          </p:nvSpPr>
          <p:spPr>
            <a:xfrm>
              <a:off x="467537" y="188721"/>
              <a:ext cx="8425180" cy="4680585"/>
            </a:xfrm>
            <a:custGeom>
              <a:avLst/>
              <a:gdLst/>
              <a:ahLst/>
              <a:cxnLst/>
              <a:rect l="l" t="t" r="r" b="b"/>
              <a:pathLst>
                <a:path w="8425180" h="4680585">
                  <a:moveTo>
                    <a:pt x="8424875" y="0"/>
                  </a:moveTo>
                  <a:lnTo>
                    <a:pt x="4212463" y="0"/>
                  </a:lnTo>
                  <a:lnTo>
                    <a:pt x="0" y="0"/>
                  </a:lnTo>
                  <a:lnTo>
                    <a:pt x="0" y="4680458"/>
                  </a:lnTo>
                  <a:lnTo>
                    <a:pt x="4212412" y="4680458"/>
                  </a:lnTo>
                  <a:lnTo>
                    <a:pt x="8424875" y="4680458"/>
                  </a:lnTo>
                  <a:lnTo>
                    <a:pt x="8424875" y="0"/>
                  </a:lnTo>
                  <a:close/>
                </a:path>
              </a:pathLst>
            </a:custGeom>
            <a:solidFill>
              <a:srgbClr val="4F81BC"/>
            </a:solidFill>
          </p:spPr>
          <p:txBody>
            <a:bodyPr wrap="square" lIns="0" tIns="0" rIns="0" bIns="0" rtlCol="0"/>
            <a:lstStyle/>
            <a:p>
              <a:endParaRPr/>
            </a:p>
          </p:txBody>
        </p:sp>
        <p:sp>
          <p:nvSpPr>
            <p:cNvPr id="4" name="object 4"/>
            <p:cNvSpPr/>
            <p:nvPr/>
          </p:nvSpPr>
          <p:spPr>
            <a:xfrm>
              <a:off x="467537" y="4869167"/>
              <a:ext cx="8425180" cy="1920239"/>
            </a:xfrm>
            <a:custGeom>
              <a:avLst/>
              <a:gdLst/>
              <a:ahLst/>
              <a:cxnLst/>
              <a:rect l="l" t="t" r="r" b="b"/>
              <a:pathLst>
                <a:path w="8425180" h="1920240">
                  <a:moveTo>
                    <a:pt x="8424875" y="0"/>
                  </a:moveTo>
                  <a:lnTo>
                    <a:pt x="4212463" y="0"/>
                  </a:lnTo>
                  <a:lnTo>
                    <a:pt x="0" y="0"/>
                  </a:lnTo>
                  <a:lnTo>
                    <a:pt x="0" y="1920240"/>
                  </a:lnTo>
                  <a:lnTo>
                    <a:pt x="4212412" y="1920240"/>
                  </a:lnTo>
                  <a:lnTo>
                    <a:pt x="8424875" y="1920240"/>
                  </a:lnTo>
                  <a:lnTo>
                    <a:pt x="8424875" y="0"/>
                  </a:lnTo>
                  <a:close/>
                </a:path>
              </a:pathLst>
            </a:custGeom>
            <a:solidFill>
              <a:srgbClr val="D0D7E8"/>
            </a:solidFill>
          </p:spPr>
          <p:txBody>
            <a:bodyPr wrap="square" lIns="0" tIns="0" rIns="0" bIns="0" rtlCol="0"/>
            <a:lstStyle/>
            <a:p>
              <a:endParaRPr/>
            </a:p>
          </p:txBody>
        </p:sp>
        <p:sp>
          <p:nvSpPr>
            <p:cNvPr id="5" name="object 5"/>
            <p:cNvSpPr/>
            <p:nvPr/>
          </p:nvSpPr>
          <p:spPr>
            <a:xfrm>
              <a:off x="4679950" y="182245"/>
              <a:ext cx="0" cy="6613525"/>
            </a:xfrm>
            <a:custGeom>
              <a:avLst/>
              <a:gdLst/>
              <a:ahLst/>
              <a:cxnLst/>
              <a:rect l="l" t="t" r="r" b="b"/>
              <a:pathLst>
                <a:path h="6613525">
                  <a:moveTo>
                    <a:pt x="0" y="0"/>
                  </a:moveTo>
                  <a:lnTo>
                    <a:pt x="0" y="6613504"/>
                  </a:lnTo>
                </a:path>
              </a:pathLst>
            </a:custGeom>
            <a:ln w="12700">
              <a:solidFill>
                <a:srgbClr val="FFFFFF"/>
              </a:solidFill>
            </a:ln>
          </p:spPr>
          <p:txBody>
            <a:bodyPr wrap="square" lIns="0" tIns="0" rIns="0" bIns="0" rtlCol="0"/>
            <a:lstStyle/>
            <a:p>
              <a:endParaRPr/>
            </a:p>
          </p:txBody>
        </p:sp>
        <p:sp>
          <p:nvSpPr>
            <p:cNvPr id="6" name="object 6"/>
            <p:cNvSpPr/>
            <p:nvPr/>
          </p:nvSpPr>
          <p:spPr>
            <a:xfrm>
              <a:off x="461187" y="4869179"/>
              <a:ext cx="8437880" cy="0"/>
            </a:xfrm>
            <a:custGeom>
              <a:avLst/>
              <a:gdLst/>
              <a:ahLst/>
              <a:cxnLst/>
              <a:rect l="l" t="t" r="r" b="b"/>
              <a:pathLst>
                <a:path w="8437880">
                  <a:moveTo>
                    <a:pt x="0" y="0"/>
                  </a:moveTo>
                  <a:lnTo>
                    <a:pt x="8437702" y="0"/>
                  </a:lnTo>
                </a:path>
              </a:pathLst>
            </a:custGeom>
            <a:ln w="38100">
              <a:solidFill>
                <a:srgbClr val="FFFFFF"/>
              </a:solidFill>
            </a:ln>
          </p:spPr>
          <p:txBody>
            <a:bodyPr wrap="square" lIns="0" tIns="0" rIns="0" bIns="0" rtlCol="0"/>
            <a:lstStyle/>
            <a:p>
              <a:endParaRPr/>
            </a:p>
          </p:txBody>
        </p:sp>
        <p:sp>
          <p:nvSpPr>
            <p:cNvPr id="7" name="object 7"/>
            <p:cNvSpPr/>
            <p:nvPr/>
          </p:nvSpPr>
          <p:spPr>
            <a:xfrm>
              <a:off x="461187" y="182245"/>
              <a:ext cx="8437880" cy="6613525"/>
            </a:xfrm>
            <a:custGeom>
              <a:avLst/>
              <a:gdLst/>
              <a:ahLst/>
              <a:cxnLst/>
              <a:rect l="l" t="t" r="r" b="b"/>
              <a:pathLst>
                <a:path w="8437880" h="6613525">
                  <a:moveTo>
                    <a:pt x="6350" y="0"/>
                  </a:moveTo>
                  <a:lnTo>
                    <a:pt x="6350" y="6613504"/>
                  </a:lnTo>
                </a:path>
                <a:path w="8437880" h="6613525">
                  <a:moveTo>
                    <a:pt x="8431352" y="0"/>
                  </a:moveTo>
                  <a:lnTo>
                    <a:pt x="8431352" y="6613504"/>
                  </a:lnTo>
                </a:path>
                <a:path w="8437880" h="6613525">
                  <a:moveTo>
                    <a:pt x="0" y="6350"/>
                  </a:moveTo>
                  <a:lnTo>
                    <a:pt x="8437702" y="6350"/>
                  </a:lnTo>
                </a:path>
                <a:path w="8437880" h="6613525">
                  <a:moveTo>
                    <a:pt x="0" y="6607154"/>
                  </a:moveTo>
                  <a:lnTo>
                    <a:pt x="8437702" y="6607154"/>
                  </a:lnTo>
                </a:path>
              </a:pathLst>
            </a:custGeom>
            <a:ln w="12700">
              <a:solidFill>
                <a:srgbClr val="FFFFFF"/>
              </a:solidFill>
            </a:ln>
          </p:spPr>
          <p:txBody>
            <a:bodyPr wrap="square" lIns="0" tIns="0" rIns="0" bIns="0" rtlCol="0"/>
            <a:lstStyle/>
            <a:p>
              <a:endParaRPr/>
            </a:p>
          </p:txBody>
        </p:sp>
      </p:grpSp>
      <p:sp>
        <p:nvSpPr>
          <p:cNvPr id="8" name="object 8"/>
          <p:cNvSpPr txBox="1"/>
          <p:nvPr/>
        </p:nvSpPr>
        <p:spPr>
          <a:xfrm>
            <a:off x="546303" y="204977"/>
            <a:ext cx="3543935"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FFFFFF"/>
                </a:solidFill>
                <a:latin typeface="Calibri"/>
                <a:cs typeface="Calibri"/>
              </a:rPr>
              <a:t>Components</a:t>
            </a:r>
            <a:r>
              <a:rPr sz="2000" b="1" spc="-70" dirty="0">
                <a:solidFill>
                  <a:srgbClr val="FFFFFF"/>
                </a:solidFill>
                <a:latin typeface="Calibri"/>
                <a:cs typeface="Calibri"/>
              </a:rPr>
              <a:t> </a:t>
            </a:r>
            <a:r>
              <a:rPr sz="2000" b="1" dirty="0">
                <a:solidFill>
                  <a:srgbClr val="FFFFFF"/>
                </a:solidFill>
                <a:latin typeface="Calibri"/>
                <a:cs typeface="Calibri"/>
              </a:rPr>
              <a:t>of</a:t>
            </a:r>
            <a:r>
              <a:rPr sz="2000" b="1" spc="-40" dirty="0">
                <a:solidFill>
                  <a:srgbClr val="FFFFFF"/>
                </a:solidFill>
                <a:latin typeface="Calibri"/>
                <a:cs typeface="Calibri"/>
              </a:rPr>
              <a:t> </a:t>
            </a:r>
            <a:r>
              <a:rPr sz="2000" b="1" spc="-10" dirty="0">
                <a:solidFill>
                  <a:srgbClr val="FFFFFF"/>
                </a:solidFill>
                <a:latin typeface="Calibri"/>
                <a:cs typeface="Calibri"/>
              </a:rPr>
              <a:t>cheminformatics-</a:t>
            </a:r>
            <a:endParaRPr sz="2000">
              <a:latin typeface="Calibri"/>
              <a:cs typeface="Calibri"/>
            </a:endParaRPr>
          </a:p>
        </p:txBody>
      </p:sp>
      <p:sp>
        <p:nvSpPr>
          <p:cNvPr id="9" name="object 9"/>
          <p:cNvSpPr txBox="1"/>
          <p:nvPr/>
        </p:nvSpPr>
        <p:spPr>
          <a:xfrm>
            <a:off x="546303" y="509777"/>
            <a:ext cx="3881120" cy="3989704"/>
          </a:xfrm>
          <a:prstGeom prst="rect">
            <a:avLst/>
          </a:prstGeom>
        </p:spPr>
        <p:txBody>
          <a:bodyPr vert="horz" wrap="square" lIns="0" tIns="13335" rIns="0" bIns="0" rtlCol="0">
            <a:spAutoFit/>
          </a:bodyPr>
          <a:lstStyle/>
          <a:p>
            <a:pPr marL="355600" marR="5080" indent="-342900">
              <a:lnSpc>
                <a:spcPct val="100000"/>
              </a:lnSpc>
              <a:spcBef>
                <a:spcPts val="105"/>
              </a:spcBef>
              <a:buFont typeface="Wingdings"/>
              <a:buChar char=""/>
              <a:tabLst>
                <a:tab pos="355600" algn="l"/>
              </a:tabLst>
            </a:pPr>
            <a:r>
              <a:rPr sz="2000" b="1" dirty="0">
                <a:solidFill>
                  <a:srgbClr val="FFFFFF"/>
                </a:solidFill>
                <a:latin typeface="Calibri"/>
                <a:cs typeface="Calibri"/>
              </a:rPr>
              <a:t>CI</a:t>
            </a:r>
            <a:r>
              <a:rPr sz="2000" b="1" spc="-20" dirty="0">
                <a:solidFill>
                  <a:srgbClr val="FFFFFF"/>
                </a:solidFill>
                <a:latin typeface="Calibri"/>
                <a:cs typeface="Calibri"/>
              </a:rPr>
              <a:t> </a:t>
            </a:r>
            <a:r>
              <a:rPr sz="2000" b="1" dirty="0">
                <a:solidFill>
                  <a:srgbClr val="FFFFFF"/>
                </a:solidFill>
                <a:latin typeface="Calibri"/>
                <a:cs typeface="Calibri"/>
              </a:rPr>
              <a:t>applies</a:t>
            </a:r>
            <a:r>
              <a:rPr sz="2000" b="1" spc="-35" dirty="0">
                <a:solidFill>
                  <a:srgbClr val="FFFFFF"/>
                </a:solidFill>
                <a:latin typeface="Calibri"/>
                <a:cs typeface="Calibri"/>
              </a:rPr>
              <a:t> </a:t>
            </a:r>
            <a:r>
              <a:rPr sz="2000" b="1" dirty="0">
                <a:solidFill>
                  <a:srgbClr val="FFFFFF"/>
                </a:solidFill>
                <a:latin typeface="Calibri"/>
                <a:cs typeface="Calibri"/>
              </a:rPr>
              <a:t>IT</a:t>
            </a:r>
            <a:r>
              <a:rPr sz="2000" b="1" spc="-25" dirty="0">
                <a:solidFill>
                  <a:srgbClr val="FFFFFF"/>
                </a:solidFill>
                <a:latin typeface="Calibri"/>
                <a:cs typeface="Calibri"/>
              </a:rPr>
              <a:t> </a:t>
            </a:r>
            <a:r>
              <a:rPr sz="2000" b="1" dirty="0">
                <a:solidFill>
                  <a:srgbClr val="FFFFFF"/>
                </a:solidFill>
                <a:latin typeface="Calibri"/>
                <a:cs typeface="Calibri"/>
              </a:rPr>
              <a:t>to</a:t>
            </a:r>
            <a:r>
              <a:rPr sz="2000" b="1" spc="-35" dirty="0">
                <a:solidFill>
                  <a:srgbClr val="FFFFFF"/>
                </a:solidFill>
                <a:latin typeface="Calibri"/>
                <a:cs typeface="Calibri"/>
              </a:rPr>
              <a:t> </a:t>
            </a:r>
            <a:r>
              <a:rPr sz="2000" b="1" dirty="0">
                <a:solidFill>
                  <a:srgbClr val="FFFFFF"/>
                </a:solidFill>
                <a:latin typeface="Calibri"/>
                <a:cs typeface="Calibri"/>
              </a:rPr>
              <a:t>chemical</a:t>
            </a:r>
            <a:r>
              <a:rPr sz="2000" b="1" spc="-45" dirty="0">
                <a:solidFill>
                  <a:srgbClr val="FFFFFF"/>
                </a:solidFill>
                <a:latin typeface="Calibri"/>
                <a:cs typeface="Calibri"/>
              </a:rPr>
              <a:t> </a:t>
            </a:r>
            <a:r>
              <a:rPr sz="2000" b="1" dirty="0">
                <a:solidFill>
                  <a:srgbClr val="FFFFFF"/>
                </a:solidFill>
                <a:latin typeface="Calibri"/>
                <a:cs typeface="Calibri"/>
              </a:rPr>
              <a:t>data</a:t>
            </a:r>
            <a:r>
              <a:rPr sz="2000" b="1" spc="-20" dirty="0">
                <a:solidFill>
                  <a:srgbClr val="FFFFFF"/>
                </a:solidFill>
                <a:latin typeface="Calibri"/>
                <a:cs typeface="Calibri"/>
              </a:rPr>
              <a:t> </a:t>
            </a:r>
            <a:r>
              <a:rPr sz="2000" b="1" spc="-25" dirty="0">
                <a:solidFill>
                  <a:srgbClr val="FFFFFF"/>
                </a:solidFill>
                <a:latin typeface="Calibri"/>
                <a:cs typeface="Calibri"/>
              </a:rPr>
              <a:t>and </a:t>
            </a:r>
            <a:r>
              <a:rPr sz="2000" b="1" dirty="0">
                <a:solidFill>
                  <a:srgbClr val="FFFFFF"/>
                </a:solidFill>
                <a:latin typeface="Calibri"/>
                <a:cs typeface="Calibri"/>
              </a:rPr>
              <a:t>includes</a:t>
            </a:r>
            <a:r>
              <a:rPr sz="2000" b="1" spc="-40" dirty="0">
                <a:solidFill>
                  <a:srgbClr val="FFFFFF"/>
                </a:solidFill>
                <a:latin typeface="Calibri"/>
                <a:cs typeface="Calibri"/>
              </a:rPr>
              <a:t> </a:t>
            </a:r>
            <a:r>
              <a:rPr sz="2000" b="1" dirty="0">
                <a:solidFill>
                  <a:srgbClr val="FFFFFF"/>
                </a:solidFill>
                <a:latin typeface="Calibri"/>
                <a:cs typeface="Calibri"/>
              </a:rPr>
              <a:t>topics</a:t>
            </a:r>
            <a:r>
              <a:rPr sz="2000" b="1" spc="-30" dirty="0">
                <a:solidFill>
                  <a:srgbClr val="FFFFFF"/>
                </a:solidFill>
                <a:latin typeface="Calibri"/>
                <a:cs typeface="Calibri"/>
              </a:rPr>
              <a:t> </a:t>
            </a:r>
            <a:r>
              <a:rPr sz="2000" b="1" dirty="0">
                <a:solidFill>
                  <a:srgbClr val="FFFFFF"/>
                </a:solidFill>
                <a:latin typeface="Calibri"/>
                <a:cs typeface="Calibri"/>
              </a:rPr>
              <a:t>such</a:t>
            </a:r>
            <a:r>
              <a:rPr sz="2000" b="1" spc="-25" dirty="0">
                <a:solidFill>
                  <a:srgbClr val="FFFFFF"/>
                </a:solidFill>
                <a:latin typeface="Calibri"/>
                <a:cs typeface="Calibri"/>
              </a:rPr>
              <a:t> </a:t>
            </a:r>
            <a:r>
              <a:rPr sz="2000" b="1" dirty="0">
                <a:solidFill>
                  <a:srgbClr val="FFFFFF"/>
                </a:solidFill>
                <a:latin typeface="Calibri"/>
                <a:cs typeface="Calibri"/>
              </a:rPr>
              <a:t>as</a:t>
            </a:r>
            <a:r>
              <a:rPr sz="2000" b="1" spc="-10" dirty="0">
                <a:solidFill>
                  <a:srgbClr val="FFFFFF"/>
                </a:solidFill>
                <a:latin typeface="Calibri"/>
                <a:cs typeface="Calibri"/>
              </a:rPr>
              <a:t> chemical </a:t>
            </a:r>
            <a:r>
              <a:rPr sz="2000" b="1" dirty="0">
                <a:solidFill>
                  <a:srgbClr val="FFFFFF"/>
                </a:solidFill>
                <a:latin typeface="Calibri"/>
                <a:cs typeface="Calibri"/>
              </a:rPr>
              <a:t>database,</a:t>
            </a:r>
            <a:r>
              <a:rPr sz="2000" b="1" spc="-75" dirty="0">
                <a:solidFill>
                  <a:srgbClr val="FFFFFF"/>
                </a:solidFill>
                <a:latin typeface="Calibri"/>
                <a:cs typeface="Calibri"/>
              </a:rPr>
              <a:t> </a:t>
            </a:r>
            <a:r>
              <a:rPr sz="2000" b="1" spc="-10" dirty="0">
                <a:solidFill>
                  <a:srgbClr val="FFFFFF"/>
                </a:solidFill>
                <a:latin typeface="Calibri"/>
                <a:cs typeface="Calibri"/>
              </a:rPr>
              <a:t>structure-activity </a:t>
            </a:r>
            <a:r>
              <a:rPr sz="2000" b="1" dirty="0">
                <a:solidFill>
                  <a:srgbClr val="FFFFFF"/>
                </a:solidFill>
                <a:latin typeface="Calibri"/>
                <a:cs typeface="Calibri"/>
              </a:rPr>
              <a:t>relationships</a:t>
            </a:r>
            <a:r>
              <a:rPr sz="2000" b="1" spc="-90" dirty="0">
                <a:solidFill>
                  <a:srgbClr val="FFFFFF"/>
                </a:solidFill>
                <a:latin typeface="Calibri"/>
                <a:cs typeface="Calibri"/>
              </a:rPr>
              <a:t> </a:t>
            </a:r>
            <a:r>
              <a:rPr sz="2000" b="1" dirty="0">
                <a:solidFill>
                  <a:srgbClr val="FFFFFF"/>
                </a:solidFill>
                <a:latin typeface="Calibri"/>
                <a:cs typeface="Calibri"/>
              </a:rPr>
              <a:t>&amp;</a:t>
            </a:r>
            <a:r>
              <a:rPr sz="2000" b="1" spc="-50" dirty="0">
                <a:solidFill>
                  <a:srgbClr val="FFFFFF"/>
                </a:solidFill>
                <a:latin typeface="Calibri"/>
                <a:cs typeface="Calibri"/>
              </a:rPr>
              <a:t> </a:t>
            </a:r>
            <a:r>
              <a:rPr sz="2000" b="1" dirty="0">
                <a:solidFill>
                  <a:srgbClr val="FFFFFF"/>
                </a:solidFill>
                <a:latin typeface="Calibri"/>
                <a:cs typeface="Calibri"/>
              </a:rPr>
              <a:t>structure</a:t>
            </a:r>
            <a:r>
              <a:rPr sz="2000" b="1" spc="-80" dirty="0">
                <a:solidFill>
                  <a:srgbClr val="FFFFFF"/>
                </a:solidFill>
                <a:latin typeface="Calibri"/>
                <a:cs typeface="Calibri"/>
              </a:rPr>
              <a:t> </a:t>
            </a:r>
            <a:r>
              <a:rPr sz="2000" b="1" spc="-10" dirty="0">
                <a:solidFill>
                  <a:srgbClr val="FFFFFF"/>
                </a:solidFill>
                <a:latin typeface="Calibri"/>
                <a:cs typeface="Calibri"/>
              </a:rPr>
              <a:t>based </a:t>
            </a:r>
            <a:r>
              <a:rPr sz="2000" b="1" dirty="0">
                <a:solidFill>
                  <a:srgbClr val="FFFFFF"/>
                </a:solidFill>
                <a:latin typeface="Calibri"/>
                <a:cs typeface="Calibri"/>
              </a:rPr>
              <a:t>drug</a:t>
            </a:r>
            <a:r>
              <a:rPr sz="2000" b="1" spc="-25" dirty="0">
                <a:solidFill>
                  <a:srgbClr val="FFFFFF"/>
                </a:solidFill>
                <a:latin typeface="Calibri"/>
                <a:cs typeface="Calibri"/>
              </a:rPr>
              <a:t> </a:t>
            </a:r>
            <a:r>
              <a:rPr sz="2000" b="1" spc="-10" dirty="0">
                <a:solidFill>
                  <a:srgbClr val="FFFFFF"/>
                </a:solidFill>
                <a:latin typeface="Calibri"/>
                <a:cs typeface="Calibri"/>
              </a:rPr>
              <a:t>design.</a:t>
            </a:r>
            <a:endParaRPr sz="2000">
              <a:latin typeface="Calibri"/>
              <a:cs typeface="Calibri"/>
            </a:endParaRPr>
          </a:p>
          <a:p>
            <a:pPr marL="355600" marR="62865" indent="-342900">
              <a:lnSpc>
                <a:spcPct val="100000"/>
              </a:lnSpc>
              <a:buFont typeface="Wingdings"/>
              <a:buChar char=""/>
              <a:tabLst>
                <a:tab pos="355600" algn="l"/>
              </a:tabLst>
            </a:pPr>
            <a:r>
              <a:rPr sz="2000" b="1" dirty="0">
                <a:solidFill>
                  <a:srgbClr val="FFFFFF"/>
                </a:solidFill>
                <a:latin typeface="Calibri"/>
                <a:cs typeface="Calibri"/>
              </a:rPr>
              <a:t>The</a:t>
            </a:r>
            <a:r>
              <a:rPr sz="2000" b="1" spc="-55" dirty="0">
                <a:solidFill>
                  <a:srgbClr val="FFFFFF"/>
                </a:solidFill>
                <a:latin typeface="Calibri"/>
                <a:cs typeface="Calibri"/>
              </a:rPr>
              <a:t> </a:t>
            </a:r>
            <a:r>
              <a:rPr sz="2000" b="1" dirty="0">
                <a:solidFill>
                  <a:srgbClr val="FFFFFF"/>
                </a:solidFill>
                <a:latin typeface="Calibri"/>
                <a:cs typeface="Calibri"/>
              </a:rPr>
              <a:t>CI</a:t>
            </a:r>
            <a:r>
              <a:rPr sz="2000" b="1" spc="-45" dirty="0">
                <a:solidFill>
                  <a:srgbClr val="FFFFFF"/>
                </a:solidFill>
                <a:latin typeface="Calibri"/>
                <a:cs typeface="Calibri"/>
              </a:rPr>
              <a:t> </a:t>
            </a:r>
            <a:r>
              <a:rPr sz="2000" b="1" spc="-10" dirty="0">
                <a:solidFill>
                  <a:srgbClr val="FFFFFF"/>
                </a:solidFill>
                <a:latin typeface="Calibri"/>
                <a:cs typeface="Calibri"/>
              </a:rPr>
              <a:t>offers</a:t>
            </a:r>
            <a:r>
              <a:rPr sz="2000" b="1" spc="-45" dirty="0">
                <a:solidFill>
                  <a:srgbClr val="FFFFFF"/>
                </a:solidFill>
                <a:latin typeface="Calibri"/>
                <a:cs typeface="Calibri"/>
              </a:rPr>
              <a:t> </a:t>
            </a:r>
            <a:r>
              <a:rPr sz="2000" b="1" dirty="0">
                <a:solidFill>
                  <a:srgbClr val="FFFFFF"/>
                </a:solidFill>
                <a:latin typeface="Calibri"/>
                <a:cs typeface="Calibri"/>
              </a:rPr>
              <a:t>programs</a:t>
            </a:r>
            <a:r>
              <a:rPr sz="2000" b="1" spc="-45" dirty="0">
                <a:solidFill>
                  <a:srgbClr val="FFFFFF"/>
                </a:solidFill>
                <a:latin typeface="Calibri"/>
                <a:cs typeface="Calibri"/>
              </a:rPr>
              <a:t> </a:t>
            </a:r>
            <a:r>
              <a:rPr sz="2000" b="1" spc="-25" dirty="0">
                <a:solidFill>
                  <a:srgbClr val="FFFFFF"/>
                </a:solidFill>
                <a:latin typeface="Calibri"/>
                <a:cs typeface="Calibri"/>
              </a:rPr>
              <a:t>and </a:t>
            </a:r>
            <a:r>
              <a:rPr sz="2000" b="1" dirty="0">
                <a:solidFill>
                  <a:srgbClr val="FFFFFF"/>
                </a:solidFill>
                <a:latin typeface="Calibri"/>
                <a:cs typeface="Calibri"/>
              </a:rPr>
              <a:t>database</a:t>
            </a:r>
            <a:r>
              <a:rPr sz="2000" b="1" spc="-60" dirty="0">
                <a:solidFill>
                  <a:srgbClr val="FFFFFF"/>
                </a:solidFill>
                <a:latin typeface="Calibri"/>
                <a:cs typeface="Calibri"/>
              </a:rPr>
              <a:t> </a:t>
            </a:r>
            <a:r>
              <a:rPr sz="2000" b="1" dirty="0">
                <a:solidFill>
                  <a:srgbClr val="FFFFFF"/>
                </a:solidFill>
                <a:latin typeface="Calibri"/>
                <a:cs typeface="Calibri"/>
              </a:rPr>
              <a:t>(mainly</a:t>
            </a:r>
            <a:r>
              <a:rPr sz="2000" b="1" spc="-80" dirty="0">
                <a:solidFill>
                  <a:srgbClr val="FFFFFF"/>
                </a:solidFill>
                <a:latin typeface="Calibri"/>
                <a:cs typeface="Calibri"/>
              </a:rPr>
              <a:t> </a:t>
            </a:r>
            <a:r>
              <a:rPr sz="2000" b="1" dirty="0">
                <a:solidFill>
                  <a:srgbClr val="FFFFFF"/>
                </a:solidFill>
                <a:latin typeface="Calibri"/>
                <a:cs typeface="Calibri"/>
              </a:rPr>
              <a:t>for</a:t>
            </a:r>
            <a:r>
              <a:rPr sz="2000" b="1" spc="-55" dirty="0">
                <a:solidFill>
                  <a:srgbClr val="FFFFFF"/>
                </a:solidFill>
                <a:latin typeface="Calibri"/>
                <a:cs typeface="Calibri"/>
              </a:rPr>
              <a:t> </a:t>
            </a:r>
            <a:r>
              <a:rPr sz="2000" b="1" dirty="0">
                <a:solidFill>
                  <a:srgbClr val="FFFFFF"/>
                </a:solidFill>
                <a:latin typeface="Calibri"/>
                <a:cs typeface="Calibri"/>
              </a:rPr>
              <a:t>organic</a:t>
            </a:r>
            <a:r>
              <a:rPr sz="2000" b="1" spc="-65" dirty="0">
                <a:solidFill>
                  <a:srgbClr val="FFFFFF"/>
                </a:solidFill>
                <a:latin typeface="Calibri"/>
                <a:cs typeface="Calibri"/>
              </a:rPr>
              <a:t> </a:t>
            </a:r>
            <a:r>
              <a:rPr sz="2000" b="1" spc="-25" dirty="0">
                <a:solidFill>
                  <a:srgbClr val="FFFFFF"/>
                </a:solidFill>
                <a:latin typeface="Calibri"/>
                <a:cs typeface="Calibri"/>
              </a:rPr>
              <a:t>and </a:t>
            </a:r>
            <a:r>
              <a:rPr sz="2000" b="1" dirty="0">
                <a:solidFill>
                  <a:srgbClr val="FFFFFF"/>
                </a:solidFill>
                <a:latin typeface="Calibri"/>
                <a:cs typeface="Calibri"/>
              </a:rPr>
              <a:t>sometimes</a:t>
            </a:r>
            <a:r>
              <a:rPr sz="2000" b="1" spc="-65" dirty="0">
                <a:solidFill>
                  <a:srgbClr val="FFFFFF"/>
                </a:solidFill>
                <a:latin typeface="Calibri"/>
                <a:cs typeface="Calibri"/>
              </a:rPr>
              <a:t> </a:t>
            </a:r>
            <a:r>
              <a:rPr sz="2000" b="1" dirty="0">
                <a:solidFill>
                  <a:srgbClr val="FFFFFF"/>
                </a:solidFill>
                <a:latin typeface="Calibri"/>
                <a:cs typeface="Calibri"/>
              </a:rPr>
              <a:t>for</a:t>
            </a:r>
            <a:r>
              <a:rPr sz="2000" b="1" spc="-40" dirty="0">
                <a:solidFill>
                  <a:srgbClr val="FFFFFF"/>
                </a:solidFill>
                <a:latin typeface="Calibri"/>
                <a:cs typeface="Calibri"/>
              </a:rPr>
              <a:t> </a:t>
            </a:r>
            <a:r>
              <a:rPr sz="2000" b="1" spc="-10" dirty="0">
                <a:solidFill>
                  <a:srgbClr val="FFFFFF"/>
                </a:solidFill>
                <a:latin typeface="Calibri"/>
                <a:cs typeface="Calibri"/>
              </a:rPr>
              <a:t>inorganic </a:t>
            </a:r>
            <a:r>
              <a:rPr sz="2000" b="1" dirty="0">
                <a:solidFill>
                  <a:srgbClr val="FFFFFF"/>
                </a:solidFill>
                <a:latin typeface="Calibri"/>
                <a:cs typeface="Calibri"/>
              </a:rPr>
              <a:t>applications)</a:t>
            </a:r>
            <a:r>
              <a:rPr sz="2000" b="1" spc="-100" dirty="0">
                <a:solidFill>
                  <a:srgbClr val="FFFFFF"/>
                </a:solidFill>
                <a:latin typeface="Calibri"/>
                <a:cs typeface="Calibri"/>
              </a:rPr>
              <a:t> </a:t>
            </a:r>
            <a:r>
              <a:rPr sz="2000" b="1" dirty="0">
                <a:solidFill>
                  <a:srgbClr val="FFFFFF"/>
                </a:solidFill>
                <a:latin typeface="Calibri"/>
                <a:cs typeface="Calibri"/>
              </a:rPr>
              <a:t>related</a:t>
            </a:r>
            <a:r>
              <a:rPr sz="2000" b="1" spc="-65" dirty="0">
                <a:solidFill>
                  <a:srgbClr val="FFFFFF"/>
                </a:solidFill>
                <a:latin typeface="Calibri"/>
                <a:cs typeface="Calibri"/>
              </a:rPr>
              <a:t> </a:t>
            </a:r>
            <a:r>
              <a:rPr sz="2000" b="1" dirty="0">
                <a:solidFill>
                  <a:srgbClr val="FFFFFF"/>
                </a:solidFill>
                <a:latin typeface="Calibri"/>
                <a:cs typeface="Calibri"/>
              </a:rPr>
              <a:t>to</a:t>
            </a:r>
            <a:r>
              <a:rPr sz="2000" b="1" spc="-85" dirty="0">
                <a:solidFill>
                  <a:srgbClr val="FFFFFF"/>
                </a:solidFill>
                <a:latin typeface="Calibri"/>
                <a:cs typeface="Calibri"/>
              </a:rPr>
              <a:t> </a:t>
            </a:r>
            <a:r>
              <a:rPr sz="2000" b="1" spc="-20" dirty="0">
                <a:solidFill>
                  <a:srgbClr val="FFFFFF"/>
                </a:solidFill>
                <a:latin typeface="Calibri"/>
                <a:cs typeface="Calibri"/>
              </a:rPr>
              <a:t>small </a:t>
            </a:r>
            <a:r>
              <a:rPr sz="2000" b="1" dirty="0">
                <a:solidFill>
                  <a:srgbClr val="FFFFFF"/>
                </a:solidFill>
                <a:latin typeface="Calibri"/>
                <a:cs typeface="Calibri"/>
              </a:rPr>
              <a:t>molecules,</a:t>
            </a:r>
            <a:r>
              <a:rPr sz="2000" b="1" spc="-45" dirty="0">
                <a:solidFill>
                  <a:srgbClr val="FFFFFF"/>
                </a:solidFill>
                <a:latin typeface="Calibri"/>
                <a:cs typeface="Calibri"/>
              </a:rPr>
              <a:t> </a:t>
            </a:r>
            <a:r>
              <a:rPr sz="2000" b="1" dirty="0">
                <a:solidFill>
                  <a:srgbClr val="FFFFFF"/>
                </a:solidFill>
                <a:latin typeface="Calibri"/>
                <a:cs typeface="Calibri"/>
              </a:rPr>
              <a:t>complementing</a:t>
            </a:r>
            <a:r>
              <a:rPr sz="2000" b="1" spc="390" dirty="0">
                <a:solidFill>
                  <a:srgbClr val="FFFFFF"/>
                </a:solidFill>
                <a:latin typeface="Calibri"/>
                <a:cs typeface="Calibri"/>
              </a:rPr>
              <a:t> </a:t>
            </a:r>
            <a:r>
              <a:rPr sz="2000" b="1" spc="-25" dirty="0">
                <a:solidFill>
                  <a:srgbClr val="FFFFFF"/>
                </a:solidFill>
                <a:latin typeface="Calibri"/>
                <a:cs typeface="Calibri"/>
              </a:rPr>
              <a:t>the </a:t>
            </a:r>
            <a:r>
              <a:rPr sz="2000" b="1" dirty="0">
                <a:solidFill>
                  <a:srgbClr val="FFFFFF"/>
                </a:solidFill>
                <a:latin typeface="Calibri"/>
                <a:cs typeface="Calibri"/>
              </a:rPr>
              <a:t>activities</a:t>
            </a:r>
            <a:r>
              <a:rPr sz="2000" b="1" spc="-50" dirty="0">
                <a:solidFill>
                  <a:srgbClr val="FFFFFF"/>
                </a:solidFill>
                <a:latin typeface="Calibri"/>
                <a:cs typeface="Calibri"/>
              </a:rPr>
              <a:t> </a:t>
            </a:r>
            <a:r>
              <a:rPr sz="2000" b="1" dirty="0">
                <a:solidFill>
                  <a:srgbClr val="FFFFFF"/>
                </a:solidFill>
                <a:latin typeface="Calibri"/>
                <a:cs typeface="Calibri"/>
              </a:rPr>
              <a:t>of</a:t>
            </a:r>
            <a:r>
              <a:rPr sz="2000" b="1" spc="-15" dirty="0">
                <a:solidFill>
                  <a:srgbClr val="FFFFFF"/>
                </a:solidFill>
                <a:latin typeface="Calibri"/>
                <a:cs typeface="Calibri"/>
              </a:rPr>
              <a:t> </a:t>
            </a:r>
            <a:r>
              <a:rPr sz="2000" b="1" dirty="0">
                <a:solidFill>
                  <a:srgbClr val="FFFFFF"/>
                </a:solidFill>
                <a:latin typeface="Calibri"/>
                <a:cs typeface="Calibri"/>
              </a:rPr>
              <a:t>the</a:t>
            </a:r>
            <a:r>
              <a:rPr sz="2000" b="1" spc="-20" dirty="0">
                <a:solidFill>
                  <a:srgbClr val="FFFFFF"/>
                </a:solidFill>
                <a:latin typeface="Calibri"/>
                <a:cs typeface="Calibri"/>
              </a:rPr>
              <a:t> </a:t>
            </a:r>
            <a:r>
              <a:rPr sz="2000" b="1" spc="-10" dirty="0">
                <a:solidFill>
                  <a:srgbClr val="FFFFFF"/>
                </a:solidFill>
                <a:latin typeface="Calibri"/>
                <a:cs typeface="Calibri"/>
              </a:rPr>
              <a:t>bioinformatics </a:t>
            </a:r>
            <a:r>
              <a:rPr sz="2000" b="1" dirty="0">
                <a:solidFill>
                  <a:srgbClr val="FFFFFF"/>
                </a:solidFill>
                <a:latin typeface="Calibri"/>
                <a:cs typeface="Calibri"/>
              </a:rPr>
              <a:t>group</a:t>
            </a:r>
            <a:r>
              <a:rPr sz="2000" b="1" spc="-35" dirty="0">
                <a:solidFill>
                  <a:srgbClr val="FFFFFF"/>
                </a:solidFill>
                <a:latin typeface="Calibri"/>
                <a:cs typeface="Calibri"/>
              </a:rPr>
              <a:t> </a:t>
            </a:r>
            <a:r>
              <a:rPr sz="2000" b="1" dirty="0">
                <a:solidFill>
                  <a:srgbClr val="FFFFFF"/>
                </a:solidFill>
                <a:latin typeface="Calibri"/>
                <a:cs typeface="Calibri"/>
              </a:rPr>
              <a:t>who</a:t>
            </a:r>
            <a:r>
              <a:rPr sz="2000" b="1" spc="-55" dirty="0">
                <a:solidFill>
                  <a:srgbClr val="FFFFFF"/>
                </a:solidFill>
                <a:latin typeface="Calibri"/>
                <a:cs typeface="Calibri"/>
              </a:rPr>
              <a:t> </a:t>
            </a:r>
            <a:r>
              <a:rPr sz="2000" b="1" spc="-10" dirty="0">
                <a:solidFill>
                  <a:srgbClr val="FFFFFF"/>
                </a:solidFill>
                <a:latin typeface="Calibri"/>
                <a:cs typeface="Calibri"/>
              </a:rPr>
              <a:t>concentrate</a:t>
            </a:r>
            <a:r>
              <a:rPr sz="2000" b="1" spc="-35" dirty="0">
                <a:solidFill>
                  <a:srgbClr val="FFFFFF"/>
                </a:solidFill>
                <a:latin typeface="Calibri"/>
                <a:cs typeface="Calibri"/>
              </a:rPr>
              <a:t> </a:t>
            </a:r>
            <a:r>
              <a:rPr sz="2000" b="1" spc="-25" dirty="0">
                <a:solidFill>
                  <a:srgbClr val="FFFFFF"/>
                </a:solidFill>
                <a:latin typeface="Calibri"/>
                <a:cs typeface="Calibri"/>
              </a:rPr>
              <a:t>on </a:t>
            </a:r>
            <a:r>
              <a:rPr sz="2000" b="1" dirty="0">
                <a:solidFill>
                  <a:srgbClr val="FFFFFF"/>
                </a:solidFill>
                <a:latin typeface="Calibri"/>
                <a:cs typeface="Calibri"/>
              </a:rPr>
              <a:t>biological</a:t>
            </a:r>
            <a:r>
              <a:rPr sz="2000" b="1" spc="-85" dirty="0">
                <a:solidFill>
                  <a:srgbClr val="FFFFFF"/>
                </a:solidFill>
                <a:latin typeface="Calibri"/>
                <a:cs typeface="Calibri"/>
              </a:rPr>
              <a:t> </a:t>
            </a:r>
            <a:r>
              <a:rPr sz="2000" b="1" spc="-10" dirty="0">
                <a:solidFill>
                  <a:srgbClr val="FFFFFF"/>
                </a:solidFill>
                <a:latin typeface="Calibri"/>
                <a:cs typeface="Calibri"/>
              </a:rPr>
              <a:t>macromolecules.</a:t>
            </a:r>
            <a:endParaRPr sz="2000">
              <a:latin typeface="Calibri"/>
              <a:cs typeface="Calibri"/>
            </a:endParaRPr>
          </a:p>
        </p:txBody>
      </p:sp>
      <p:sp>
        <p:nvSpPr>
          <p:cNvPr id="10" name="object 10"/>
          <p:cNvSpPr txBox="1"/>
          <p:nvPr/>
        </p:nvSpPr>
        <p:spPr>
          <a:xfrm>
            <a:off x="4759578" y="204977"/>
            <a:ext cx="3307079"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FFFFFF"/>
                </a:solidFill>
                <a:latin typeface="Calibri"/>
                <a:cs typeface="Calibri"/>
              </a:rPr>
              <a:t>Components</a:t>
            </a:r>
            <a:r>
              <a:rPr sz="2000" b="1" spc="-70" dirty="0">
                <a:solidFill>
                  <a:srgbClr val="FFFFFF"/>
                </a:solidFill>
                <a:latin typeface="Calibri"/>
                <a:cs typeface="Calibri"/>
              </a:rPr>
              <a:t> </a:t>
            </a:r>
            <a:r>
              <a:rPr sz="2000" b="1" dirty="0">
                <a:solidFill>
                  <a:srgbClr val="FFFFFF"/>
                </a:solidFill>
                <a:latin typeface="Calibri"/>
                <a:cs typeface="Calibri"/>
              </a:rPr>
              <a:t>of</a:t>
            </a:r>
            <a:r>
              <a:rPr sz="2000" b="1" spc="-40" dirty="0">
                <a:solidFill>
                  <a:srgbClr val="FFFFFF"/>
                </a:solidFill>
                <a:latin typeface="Calibri"/>
                <a:cs typeface="Calibri"/>
              </a:rPr>
              <a:t> </a:t>
            </a:r>
            <a:r>
              <a:rPr sz="2000" b="1" spc="-10" dirty="0">
                <a:solidFill>
                  <a:srgbClr val="FFFFFF"/>
                </a:solidFill>
                <a:latin typeface="Calibri"/>
                <a:cs typeface="Calibri"/>
              </a:rPr>
              <a:t>Bioinformatics-</a:t>
            </a:r>
            <a:endParaRPr sz="2000">
              <a:latin typeface="Calibri"/>
              <a:cs typeface="Calibri"/>
            </a:endParaRPr>
          </a:p>
        </p:txBody>
      </p:sp>
      <p:sp>
        <p:nvSpPr>
          <p:cNvPr id="11" name="object 11"/>
          <p:cNvSpPr txBox="1"/>
          <p:nvPr/>
        </p:nvSpPr>
        <p:spPr>
          <a:xfrm>
            <a:off x="4759578" y="509777"/>
            <a:ext cx="3935095" cy="4294505"/>
          </a:xfrm>
          <a:prstGeom prst="rect">
            <a:avLst/>
          </a:prstGeom>
        </p:spPr>
        <p:txBody>
          <a:bodyPr vert="horz" wrap="square" lIns="0" tIns="13335" rIns="0" bIns="0" rtlCol="0">
            <a:spAutoFit/>
          </a:bodyPr>
          <a:lstStyle/>
          <a:p>
            <a:pPr marL="355600" marR="83185" indent="-342900">
              <a:lnSpc>
                <a:spcPct val="100000"/>
              </a:lnSpc>
              <a:spcBef>
                <a:spcPts val="105"/>
              </a:spcBef>
              <a:buFont typeface="Wingdings"/>
              <a:buChar char=""/>
              <a:tabLst>
                <a:tab pos="355600" algn="l"/>
              </a:tabLst>
            </a:pPr>
            <a:r>
              <a:rPr sz="2000" b="1" dirty="0">
                <a:solidFill>
                  <a:srgbClr val="FFFFFF"/>
                </a:solidFill>
                <a:latin typeface="Calibri"/>
                <a:cs typeface="Calibri"/>
              </a:rPr>
              <a:t>The</a:t>
            </a:r>
            <a:r>
              <a:rPr sz="2000" b="1" spc="425" dirty="0">
                <a:solidFill>
                  <a:srgbClr val="FFFFFF"/>
                </a:solidFill>
                <a:latin typeface="Calibri"/>
                <a:cs typeface="Calibri"/>
              </a:rPr>
              <a:t> </a:t>
            </a:r>
            <a:r>
              <a:rPr sz="2000" b="1" spc="-10" dirty="0">
                <a:solidFill>
                  <a:srgbClr val="FFFFFF"/>
                </a:solidFill>
                <a:latin typeface="Calibri"/>
                <a:cs typeface="Calibri"/>
              </a:rPr>
              <a:t>development</a:t>
            </a:r>
            <a:r>
              <a:rPr sz="2000" b="1" spc="-25" dirty="0">
                <a:solidFill>
                  <a:srgbClr val="FFFFFF"/>
                </a:solidFill>
                <a:latin typeface="Calibri"/>
                <a:cs typeface="Calibri"/>
              </a:rPr>
              <a:t> </a:t>
            </a:r>
            <a:r>
              <a:rPr sz="2000" b="1" dirty="0">
                <a:solidFill>
                  <a:srgbClr val="FFFFFF"/>
                </a:solidFill>
                <a:latin typeface="Calibri"/>
                <a:cs typeface="Calibri"/>
              </a:rPr>
              <a:t>of</a:t>
            </a:r>
            <a:r>
              <a:rPr sz="2000" b="1" spc="-15" dirty="0">
                <a:solidFill>
                  <a:srgbClr val="FFFFFF"/>
                </a:solidFill>
                <a:latin typeface="Calibri"/>
                <a:cs typeface="Calibri"/>
              </a:rPr>
              <a:t> </a:t>
            </a:r>
            <a:r>
              <a:rPr sz="2000" b="1" spc="-25" dirty="0">
                <a:solidFill>
                  <a:srgbClr val="FFFFFF"/>
                </a:solidFill>
                <a:latin typeface="Calibri"/>
                <a:cs typeface="Calibri"/>
              </a:rPr>
              <a:t>new </a:t>
            </a:r>
            <a:r>
              <a:rPr sz="2000" b="1" dirty="0">
                <a:solidFill>
                  <a:srgbClr val="FFFFFF"/>
                </a:solidFill>
                <a:latin typeface="Calibri"/>
                <a:cs typeface="Calibri"/>
              </a:rPr>
              <a:t>algorithms</a:t>
            </a:r>
            <a:r>
              <a:rPr sz="2000" b="1" spc="-55" dirty="0">
                <a:solidFill>
                  <a:srgbClr val="FFFFFF"/>
                </a:solidFill>
                <a:latin typeface="Calibri"/>
                <a:cs typeface="Calibri"/>
              </a:rPr>
              <a:t> </a:t>
            </a:r>
            <a:r>
              <a:rPr sz="2000" b="1" dirty="0">
                <a:solidFill>
                  <a:srgbClr val="FFFFFF"/>
                </a:solidFill>
                <a:latin typeface="Calibri"/>
                <a:cs typeface="Calibri"/>
              </a:rPr>
              <a:t>and</a:t>
            </a:r>
            <a:r>
              <a:rPr sz="2000" b="1" spc="-20" dirty="0">
                <a:solidFill>
                  <a:srgbClr val="FFFFFF"/>
                </a:solidFill>
                <a:latin typeface="Calibri"/>
                <a:cs typeface="Calibri"/>
              </a:rPr>
              <a:t> </a:t>
            </a:r>
            <a:r>
              <a:rPr sz="2000" b="1" spc="-10" dirty="0">
                <a:solidFill>
                  <a:srgbClr val="FFFFFF"/>
                </a:solidFill>
                <a:latin typeface="Calibri"/>
                <a:cs typeface="Calibri"/>
              </a:rPr>
              <a:t>statistics</a:t>
            </a:r>
            <a:r>
              <a:rPr sz="2000" b="1" spc="-50" dirty="0">
                <a:solidFill>
                  <a:srgbClr val="FFFFFF"/>
                </a:solidFill>
                <a:latin typeface="Calibri"/>
                <a:cs typeface="Calibri"/>
              </a:rPr>
              <a:t> </a:t>
            </a:r>
            <a:r>
              <a:rPr sz="2000" b="1" spc="-25" dirty="0">
                <a:solidFill>
                  <a:srgbClr val="FFFFFF"/>
                </a:solidFill>
                <a:latin typeface="Calibri"/>
                <a:cs typeface="Calibri"/>
              </a:rPr>
              <a:t>for </a:t>
            </a:r>
            <a:r>
              <a:rPr sz="2000" b="1" dirty="0">
                <a:solidFill>
                  <a:srgbClr val="FFFFFF"/>
                </a:solidFill>
                <a:latin typeface="Calibri"/>
                <a:cs typeface="Calibri"/>
              </a:rPr>
              <a:t>assessing</a:t>
            </a:r>
            <a:r>
              <a:rPr sz="2000" b="1" spc="-65" dirty="0">
                <a:solidFill>
                  <a:srgbClr val="FFFFFF"/>
                </a:solidFill>
                <a:latin typeface="Calibri"/>
                <a:cs typeface="Calibri"/>
              </a:rPr>
              <a:t> </a:t>
            </a:r>
            <a:r>
              <a:rPr sz="2000" b="1" dirty="0">
                <a:solidFill>
                  <a:srgbClr val="FFFFFF"/>
                </a:solidFill>
                <a:latin typeface="Calibri"/>
                <a:cs typeface="Calibri"/>
              </a:rPr>
              <a:t>the</a:t>
            </a:r>
            <a:r>
              <a:rPr sz="2000" b="1" spc="-40" dirty="0">
                <a:solidFill>
                  <a:srgbClr val="FFFFFF"/>
                </a:solidFill>
                <a:latin typeface="Calibri"/>
                <a:cs typeface="Calibri"/>
              </a:rPr>
              <a:t> </a:t>
            </a:r>
            <a:r>
              <a:rPr sz="2000" b="1" dirty="0">
                <a:solidFill>
                  <a:srgbClr val="FFFFFF"/>
                </a:solidFill>
                <a:latin typeface="Calibri"/>
                <a:cs typeface="Calibri"/>
              </a:rPr>
              <a:t>relationship</a:t>
            </a:r>
            <a:r>
              <a:rPr sz="2000" b="1" spc="-70" dirty="0">
                <a:solidFill>
                  <a:srgbClr val="FFFFFF"/>
                </a:solidFill>
                <a:latin typeface="Calibri"/>
                <a:cs typeface="Calibri"/>
              </a:rPr>
              <a:t> </a:t>
            </a:r>
            <a:r>
              <a:rPr sz="2000" b="1" spc="-20" dirty="0">
                <a:solidFill>
                  <a:srgbClr val="FFFFFF"/>
                </a:solidFill>
                <a:latin typeface="Calibri"/>
                <a:cs typeface="Calibri"/>
              </a:rPr>
              <a:t>among </a:t>
            </a:r>
            <a:r>
              <a:rPr sz="2000" b="1" dirty="0">
                <a:solidFill>
                  <a:srgbClr val="FFFFFF"/>
                </a:solidFill>
                <a:latin typeface="Calibri"/>
                <a:cs typeface="Calibri"/>
              </a:rPr>
              <a:t>large</a:t>
            </a:r>
            <a:r>
              <a:rPr sz="2000" b="1" spc="-45" dirty="0">
                <a:solidFill>
                  <a:srgbClr val="FFFFFF"/>
                </a:solidFill>
                <a:latin typeface="Calibri"/>
                <a:cs typeface="Calibri"/>
              </a:rPr>
              <a:t> </a:t>
            </a:r>
            <a:r>
              <a:rPr sz="2000" b="1" dirty="0">
                <a:solidFill>
                  <a:srgbClr val="FFFFFF"/>
                </a:solidFill>
                <a:latin typeface="Calibri"/>
                <a:cs typeface="Calibri"/>
              </a:rPr>
              <a:t>set</a:t>
            </a:r>
            <a:r>
              <a:rPr sz="2000" b="1" spc="-70" dirty="0">
                <a:solidFill>
                  <a:srgbClr val="FFFFFF"/>
                </a:solidFill>
                <a:latin typeface="Calibri"/>
                <a:cs typeface="Calibri"/>
              </a:rPr>
              <a:t> </a:t>
            </a:r>
            <a:r>
              <a:rPr sz="2000" b="1" dirty="0">
                <a:solidFill>
                  <a:srgbClr val="FFFFFF"/>
                </a:solidFill>
                <a:latin typeface="Calibri"/>
                <a:cs typeface="Calibri"/>
              </a:rPr>
              <a:t>of</a:t>
            </a:r>
            <a:r>
              <a:rPr sz="2000" b="1" spc="-55" dirty="0">
                <a:solidFill>
                  <a:srgbClr val="FFFFFF"/>
                </a:solidFill>
                <a:latin typeface="Calibri"/>
                <a:cs typeface="Calibri"/>
              </a:rPr>
              <a:t> </a:t>
            </a:r>
            <a:r>
              <a:rPr sz="2000" b="1" dirty="0">
                <a:solidFill>
                  <a:srgbClr val="FFFFFF"/>
                </a:solidFill>
                <a:latin typeface="Calibri"/>
                <a:cs typeface="Calibri"/>
              </a:rPr>
              <a:t>biological</a:t>
            </a:r>
            <a:r>
              <a:rPr sz="2000" b="1" spc="-75" dirty="0">
                <a:solidFill>
                  <a:srgbClr val="FFFFFF"/>
                </a:solidFill>
                <a:latin typeface="Calibri"/>
                <a:cs typeface="Calibri"/>
              </a:rPr>
              <a:t> </a:t>
            </a:r>
            <a:r>
              <a:rPr sz="2000" b="1" dirty="0">
                <a:solidFill>
                  <a:srgbClr val="FFFFFF"/>
                </a:solidFill>
                <a:latin typeface="Calibri"/>
                <a:cs typeface="Calibri"/>
              </a:rPr>
              <a:t>data.</a:t>
            </a:r>
            <a:r>
              <a:rPr sz="2000" b="1" spc="-45" dirty="0">
                <a:solidFill>
                  <a:srgbClr val="FFFFFF"/>
                </a:solidFill>
                <a:latin typeface="Calibri"/>
                <a:cs typeface="Calibri"/>
              </a:rPr>
              <a:t> </a:t>
            </a:r>
            <a:r>
              <a:rPr sz="2000" b="1" spc="-25" dirty="0">
                <a:solidFill>
                  <a:srgbClr val="FFFFFF"/>
                </a:solidFill>
                <a:latin typeface="Calibri"/>
                <a:cs typeface="Calibri"/>
              </a:rPr>
              <a:t>Eg. </a:t>
            </a:r>
            <a:r>
              <a:rPr sz="2000" b="1" dirty="0">
                <a:solidFill>
                  <a:srgbClr val="FFFFFF"/>
                </a:solidFill>
                <a:latin typeface="Calibri"/>
                <a:cs typeface="Calibri"/>
              </a:rPr>
              <a:t>DNA</a:t>
            </a:r>
            <a:r>
              <a:rPr sz="2000" b="1" spc="-15" dirty="0">
                <a:solidFill>
                  <a:srgbClr val="FFFFFF"/>
                </a:solidFill>
                <a:latin typeface="Calibri"/>
                <a:cs typeface="Calibri"/>
              </a:rPr>
              <a:t> </a:t>
            </a:r>
            <a:r>
              <a:rPr sz="2000" b="1" spc="-10" dirty="0">
                <a:solidFill>
                  <a:srgbClr val="FFFFFF"/>
                </a:solidFill>
                <a:latin typeface="Calibri"/>
                <a:cs typeface="Calibri"/>
              </a:rPr>
              <a:t>sequencing</a:t>
            </a:r>
            <a:endParaRPr sz="2000">
              <a:latin typeface="Calibri"/>
              <a:cs typeface="Calibri"/>
            </a:endParaRPr>
          </a:p>
          <a:p>
            <a:pPr marL="355600" marR="467995" indent="-342900">
              <a:lnSpc>
                <a:spcPct val="100000"/>
              </a:lnSpc>
              <a:buFont typeface="Wingdings"/>
              <a:buChar char=""/>
              <a:tabLst>
                <a:tab pos="355600" algn="l"/>
              </a:tabLst>
            </a:pPr>
            <a:r>
              <a:rPr sz="2000" b="1" dirty="0">
                <a:solidFill>
                  <a:srgbClr val="FFFFFF"/>
                </a:solidFill>
                <a:latin typeface="Calibri"/>
                <a:cs typeface="Calibri"/>
              </a:rPr>
              <a:t>Application</a:t>
            </a:r>
            <a:r>
              <a:rPr sz="2000" b="1" spc="-60" dirty="0">
                <a:solidFill>
                  <a:srgbClr val="FFFFFF"/>
                </a:solidFill>
                <a:latin typeface="Calibri"/>
                <a:cs typeface="Calibri"/>
              </a:rPr>
              <a:t> </a:t>
            </a:r>
            <a:r>
              <a:rPr sz="2000" b="1" dirty="0">
                <a:solidFill>
                  <a:srgbClr val="FFFFFF"/>
                </a:solidFill>
                <a:latin typeface="Calibri"/>
                <a:cs typeface="Calibri"/>
              </a:rPr>
              <a:t>of</a:t>
            </a:r>
            <a:r>
              <a:rPr sz="2000" b="1" spc="-40" dirty="0">
                <a:solidFill>
                  <a:srgbClr val="FFFFFF"/>
                </a:solidFill>
                <a:latin typeface="Calibri"/>
                <a:cs typeface="Calibri"/>
              </a:rPr>
              <a:t> </a:t>
            </a:r>
            <a:r>
              <a:rPr sz="2000" b="1" dirty="0">
                <a:solidFill>
                  <a:srgbClr val="FFFFFF"/>
                </a:solidFill>
                <a:latin typeface="Calibri"/>
                <a:cs typeface="Calibri"/>
              </a:rPr>
              <a:t>the</a:t>
            </a:r>
            <a:r>
              <a:rPr sz="2000" b="1" spc="-40" dirty="0">
                <a:solidFill>
                  <a:srgbClr val="FFFFFF"/>
                </a:solidFill>
                <a:latin typeface="Calibri"/>
                <a:cs typeface="Calibri"/>
              </a:rPr>
              <a:t> </a:t>
            </a:r>
            <a:r>
              <a:rPr sz="2000" b="1" dirty="0">
                <a:solidFill>
                  <a:srgbClr val="FFFFFF"/>
                </a:solidFill>
                <a:latin typeface="Calibri"/>
                <a:cs typeface="Calibri"/>
              </a:rPr>
              <a:t>tools()</a:t>
            </a:r>
            <a:r>
              <a:rPr sz="2000" b="1" spc="-65" dirty="0">
                <a:solidFill>
                  <a:srgbClr val="FFFFFF"/>
                </a:solidFill>
                <a:latin typeface="Calibri"/>
                <a:cs typeface="Calibri"/>
              </a:rPr>
              <a:t> </a:t>
            </a:r>
            <a:r>
              <a:rPr sz="2000" b="1" spc="-25" dirty="0">
                <a:solidFill>
                  <a:srgbClr val="FFFFFF"/>
                </a:solidFill>
                <a:latin typeface="Calibri"/>
                <a:cs typeface="Calibri"/>
              </a:rPr>
              <a:t>for </a:t>
            </a:r>
            <a:r>
              <a:rPr sz="2000" b="1" dirty="0">
                <a:solidFill>
                  <a:srgbClr val="FFFFFF"/>
                </a:solidFill>
                <a:latin typeface="Calibri"/>
                <a:cs typeface="Calibri"/>
              </a:rPr>
              <a:t>analysis</a:t>
            </a:r>
            <a:r>
              <a:rPr sz="2000" b="1" spc="-45" dirty="0">
                <a:solidFill>
                  <a:srgbClr val="FFFFFF"/>
                </a:solidFill>
                <a:latin typeface="Calibri"/>
                <a:cs typeface="Calibri"/>
              </a:rPr>
              <a:t> </a:t>
            </a:r>
            <a:r>
              <a:rPr sz="2000" b="1" dirty="0">
                <a:solidFill>
                  <a:srgbClr val="FFFFFF"/>
                </a:solidFill>
                <a:latin typeface="Calibri"/>
                <a:cs typeface="Calibri"/>
              </a:rPr>
              <a:t>and</a:t>
            </a:r>
            <a:r>
              <a:rPr sz="2000" b="1" spc="-25" dirty="0">
                <a:solidFill>
                  <a:srgbClr val="FFFFFF"/>
                </a:solidFill>
                <a:latin typeface="Calibri"/>
                <a:cs typeface="Calibri"/>
              </a:rPr>
              <a:t> </a:t>
            </a:r>
            <a:r>
              <a:rPr sz="2000" b="1" spc="-10" dirty="0">
                <a:solidFill>
                  <a:srgbClr val="FFFFFF"/>
                </a:solidFill>
                <a:latin typeface="Calibri"/>
                <a:cs typeface="Calibri"/>
              </a:rPr>
              <a:t>interpretation</a:t>
            </a:r>
            <a:r>
              <a:rPr sz="2000" b="1" spc="-50" dirty="0">
                <a:solidFill>
                  <a:srgbClr val="FFFFFF"/>
                </a:solidFill>
                <a:latin typeface="Calibri"/>
                <a:cs typeface="Calibri"/>
              </a:rPr>
              <a:t> </a:t>
            </a:r>
            <a:r>
              <a:rPr sz="2000" b="1" spc="-25" dirty="0">
                <a:solidFill>
                  <a:srgbClr val="FFFFFF"/>
                </a:solidFill>
                <a:latin typeface="Calibri"/>
                <a:cs typeface="Calibri"/>
              </a:rPr>
              <a:t>of </a:t>
            </a:r>
            <a:r>
              <a:rPr sz="2000" b="1" dirty="0">
                <a:solidFill>
                  <a:srgbClr val="FFFFFF"/>
                </a:solidFill>
                <a:latin typeface="Calibri"/>
                <a:cs typeface="Calibri"/>
              </a:rPr>
              <a:t>various</a:t>
            </a:r>
            <a:r>
              <a:rPr sz="2000" b="1" spc="-75" dirty="0">
                <a:solidFill>
                  <a:srgbClr val="FFFFFF"/>
                </a:solidFill>
                <a:latin typeface="Calibri"/>
                <a:cs typeface="Calibri"/>
              </a:rPr>
              <a:t> </a:t>
            </a:r>
            <a:r>
              <a:rPr sz="2000" b="1" dirty="0">
                <a:solidFill>
                  <a:srgbClr val="FFFFFF"/>
                </a:solidFill>
                <a:latin typeface="Calibri"/>
                <a:cs typeface="Calibri"/>
              </a:rPr>
              <a:t>biological</a:t>
            </a:r>
            <a:r>
              <a:rPr sz="2000" b="1" spc="-90" dirty="0">
                <a:solidFill>
                  <a:srgbClr val="FFFFFF"/>
                </a:solidFill>
                <a:latin typeface="Calibri"/>
                <a:cs typeface="Calibri"/>
              </a:rPr>
              <a:t> </a:t>
            </a:r>
            <a:r>
              <a:rPr sz="2000" b="1" dirty="0">
                <a:solidFill>
                  <a:srgbClr val="FFFFFF"/>
                </a:solidFill>
                <a:latin typeface="Calibri"/>
                <a:cs typeface="Calibri"/>
              </a:rPr>
              <a:t>data.</a:t>
            </a:r>
            <a:r>
              <a:rPr sz="2000" b="1" spc="-45" dirty="0">
                <a:solidFill>
                  <a:srgbClr val="FFFFFF"/>
                </a:solidFill>
                <a:latin typeface="Calibri"/>
                <a:cs typeface="Calibri"/>
              </a:rPr>
              <a:t> </a:t>
            </a:r>
            <a:r>
              <a:rPr sz="2000" b="1" spc="-25" dirty="0">
                <a:solidFill>
                  <a:srgbClr val="FFFFFF"/>
                </a:solidFill>
                <a:latin typeface="Calibri"/>
                <a:cs typeface="Calibri"/>
              </a:rPr>
              <a:t>Eg. </a:t>
            </a:r>
            <a:r>
              <a:rPr sz="2000" b="1" dirty="0">
                <a:solidFill>
                  <a:srgbClr val="FFFFFF"/>
                </a:solidFill>
                <a:latin typeface="Calibri"/>
                <a:cs typeface="Calibri"/>
              </a:rPr>
              <a:t>Nucleotide</a:t>
            </a:r>
            <a:r>
              <a:rPr sz="2000" b="1" spc="-85" dirty="0">
                <a:solidFill>
                  <a:srgbClr val="FFFFFF"/>
                </a:solidFill>
                <a:latin typeface="Calibri"/>
                <a:cs typeface="Calibri"/>
              </a:rPr>
              <a:t> </a:t>
            </a:r>
            <a:r>
              <a:rPr sz="2000" b="1" dirty="0">
                <a:solidFill>
                  <a:srgbClr val="FFFFFF"/>
                </a:solidFill>
                <a:latin typeface="Calibri"/>
                <a:cs typeface="Calibri"/>
              </a:rPr>
              <a:t>sequences,</a:t>
            </a:r>
            <a:r>
              <a:rPr sz="2000" b="1" spc="-70" dirty="0">
                <a:solidFill>
                  <a:srgbClr val="FFFFFF"/>
                </a:solidFill>
                <a:latin typeface="Calibri"/>
                <a:cs typeface="Calibri"/>
              </a:rPr>
              <a:t> </a:t>
            </a:r>
            <a:r>
              <a:rPr sz="2000" b="1" spc="-10" dirty="0">
                <a:solidFill>
                  <a:srgbClr val="FFFFFF"/>
                </a:solidFill>
                <a:latin typeface="Calibri"/>
                <a:cs typeface="Calibri"/>
              </a:rPr>
              <a:t>amino </a:t>
            </a:r>
            <a:r>
              <a:rPr sz="2000" b="1" dirty="0">
                <a:solidFill>
                  <a:srgbClr val="FFFFFF"/>
                </a:solidFill>
                <a:latin typeface="Calibri"/>
                <a:cs typeface="Calibri"/>
              </a:rPr>
              <a:t>acids</a:t>
            </a:r>
            <a:r>
              <a:rPr sz="2000" b="1" spc="-20" dirty="0">
                <a:solidFill>
                  <a:srgbClr val="FFFFFF"/>
                </a:solidFill>
                <a:latin typeface="Calibri"/>
                <a:cs typeface="Calibri"/>
              </a:rPr>
              <a:t> </a:t>
            </a:r>
            <a:r>
              <a:rPr sz="2000" b="1" spc="-10" dirty="0">
                <a:solidFill>
                  <a:srgbClr val="FFFFFF"/>
                </a:solidFill>
                <a:latin typeface="Calibri"/>
                <a:cs typeface="Calibri"/>
              </a:rPr>
              <a:t>sequences</a:t>
            </a:r>
            <a:endParaRPr sz="2000">
              <a:latin typeface="Calibri"/>
              <a:cs typeface="Calibri"/>
            </a:endParaRPr>
          </a:p>
          <a:p>
            <a:pPr marL="355600" marR="5080" indent="-342900">
              <a:lnSpc>
                <a:spcPct val="100000"/>
              </a:lnSpc>
              <a:buFont typeface="Wingdings"/>
              <a:buChar char=""/>
              <a:tabLst>
                <a:tab pos="355600" algn="l"/>
              </a:tabLst>
            </a:pPr>
            <a:r>
              <a:rPr sz="2000" b="1" dirty="0">
                <a:solidFill>
                  <a:srgbClr val="FFFFFF"/>
                </a:solidFill>
                <a:latin typeface="Calibri"/>
                <a:cs typeface="Calibri"/>
              </a:rPr>
              <a:t>The</a:t>
            </a:r>
            <a:r>
              <a:rPr sz="2000" b="1" spc="-40" dirty="0">
                <a:solidFill>
                  <a:srgbClr val="FFFFFF"/>
                </a:solidFill>
                <a:latin typeface="Calibri"/>
                <a:cs typeface="Calibri"/>
              </a:rPr>
              <a:t> </a:t>
            </a:r>
            <a:r>
              <a:rPr sz="2000" b="1" spc="-10" dirty="0">
                <a:solidFill>
                  <a:srgbClr val="FFFFFF"/>
                </a:solidFill>
                <a:latin typeface="Calibri"/>
                <a:cs typeface="Calibri"/>
              </a:rPr>
              <a:t>development</a:t>
            </a:r>
            <a:r>
              <a:rPr sz="2000" b="1" spc="-50" dirty="0">
                <a:solidFill>
                  <a:srgbClr val="FFFFFF"/>
                </a:solidFill>
                <a:latin typeface="Calibri"/>
                <a:cs typeface="Calibri"/>
              </a:rPr>
              <a:t> </a:t>
            </a:r>
            <a:r>
              <a:rPr sz="2000" b="1" dirty="0">
                <a:solidFill>
                  <a:srgbClr val="FFFFFF"/>
                </a:solidFill>
                <a:latin typeface="Calibri"/>
                <a:cs typeface="Calibri"/>
              </a:rPr>
              <a:t>of</a:t>
            </a:r>
            <a:r>
              <a:rPr sz="2000" b="1" spc="-25" dirty="0">
                <a:solidFill>
                  <a:srgbClr val="FFFFFF"/>
                </a:solidFill>
                <a:latin typeface="Calibri"/>
                <a:cs typeface="Calibri"/>
              </a:rPr>
              <a:t> </a:t>
            </a:r>
            <a:r>
              <a:rPr sz="2000" b="1" dirty="0">
                <a:solidFill>
                  <a:srgbClr val="FFFFFF"/>
                </a:solidFill>
                <a:latin typeface="Calibri"/>
                <a:cs typeface="Calibri"/>
              </a:rPr>
              <a:t>database</a:t>
            </a:r>
            <a:r>
              <a:rPr sz="2000" b="1" spc="-35" dirty="0">
                <a:solidFill>
                  <a:srgbClr val="FFFFFF"/>
                </a:solidFill>
                <a:latin typeface="Calibri"/>
                <a:cs typeface="Calibri"/>
              </a:rPr>
              <a:t> </a:t>
            </a:r>
            <a:r>
              <a:rPr sz="2000" b="1" spc="-25" dirty="0">
                <a:solidFill>
                  <a:srgbClr val="FFFFFF"/>
                </a:solidFill>
                <a:latin typeface="Calibri"/>
                <a:cs typeface="Calibri"/>
              </a:rPr>
              <a:t>for </a:t>
            </a:r>
            <a:r>
              <a:rPr sz="2000" b="1" dirty="0">
                <a:solidFill>
                  <a:srgbClr val="FFFFFF"/>
                </a:solidFill>
                <a:latin typeface="Calibri"/>
                <a:cs typeface="Calibri"/>
              </a:rPr>
              <a:t>an</a:t>
            </a:r>
            <a:r>
              <a:rPr sz="2000" b="1" spc="-35" dirty="0">
                <a:solidFill>
                  <a:srgbClr val="FFFFFF"/>
                </a:solidFill>
                <a:latin typeface="Calibri"/>
                <a:cs typeface="Calibri"/>
              </a:rPr>
              <a:t> </a:t>
            </a:r>
            <a:r>
              <a:rPr sz="2000" b="1" dirty="0">
                <a:solidFill>
                  <a:srgbClr val="FFFFFF"/>
                </a:solidFill>
                <a:latin typeface="Calibri"/>
                <a:cs typeface="Calibri"/>
              </a:rPr>
              <a:t>efficient</a:t>
            </a:r>
            <a:r>
              <a:rPr sz="2000" b="1" spc="-40" dirty="0">
                <a:solidFill>
                  <a:srgbClr val="FFFFFF"/>
                </a:solidFill>
                <a:latin typeface="Calibri"/>
                <a:cs typeface="Calibri"/>
              </a:rPr>
              <a:t> </a:t>
            </a:r>
            <a:r>
              <a:rPr sz="2000" b="1" spc="-10" dirty="0">
                <a:solidFill>
                  <a:srgbClr val="FFFFFF"/>
                </a:solidFill>
                <a:latin typeface="Calibri"/>
                <a:cs typeface="Calibri"/>
              </a:rPr>
              <a:t>storage,</a:t>
            </a:r>
            <a:r>
              <a:rPr sz="2000" b="1" spc="-30" dirty="0">
                <a:solidFill>
                  <a:srgbClr val="FFFFFF"/>
                </a:solidFill>
                <a:latin typeface="Calibri"/>
                <a:cs typeface="Calibri"/>
              </a:rPr>
              <a:t> </a:t>
            </a:r>
            <a:r>
              <a:rPr sz="2000" b="1" dirty="0">
                <a:solidFill>
                  <a:srgbClr val="FFFFFF"/>
                </a:solidFill>
                <a:latin typeface="Calibri"/>
                <a:cs typeface="Calibri"/>
              </a:rPr>
              <a:t>access</a:t>
            </a:r>
            <a:r>
              <a:rPr sz="2000" b="1" spc="-35" dirty="0">
                <a:solidFill>
                  <a:srgbClr val="FFFFFF"/>
                </a:solidFill>
                <a:latin typeface="Calibri"/>
                <a:cs typeface="Calibri"/>
              </a:rPr>
              <a:t> </a:t>
            </a:r>
            <a:r>
              <a:rPr sz="2000" b="1" spc="-25" dirty="0">
                <a:solidFill>
                  <a:srgbClr val="FFFFFF"/>
                </a:solidFill>
                <a:latin typeface="Calibri"/>
                <a:cs typeface="Calibri"/>
              </a:rPr>
              <a:t>and </a:t>
            </a:r>
            <a:r>
              <a:rPr sz="2000" b="1" spc="-10" dirty="0">
                <a:solidFill>
                  <a:srgbClr val="FFFFFF"/>
                </a:solidFill>
                <a:latin typeface="Calibri"/>
                <a:cs typeface="Calibri"/>
              </a:rPr>
              <a:t>management</a:t>
            </a:r>
            <a:r>
              <a:rPr sz="2000" b="1" spc="-45" dirty="0">
                <a:solidFill>
                  <a:srgbClr val="FFFFFF"/>
                </a:solidFill>
                <a:latin typeface="Calibri"/>
                <a:cs typeface="Calibri"/>
              </a:rPr>
              <a:t> </a:t>
            </a:r>
            <a:r>
              <a:rPr sz="2000" b="1" dirty="0">
                <a:solidFill>
                  <a:srgbClr val="FFFFFF"/>
                </a:solidFill>
                <a:latin typeface="Calibri"/>
                <a:cs typeface="Calibri"/>
              </a:rPr>
              <a:t>of</a:t>
            </a:r>
            <a:r>
              <a:rPr sz="2000" b="1" spc="-35" dirty="0">
                <a:solidFill>
                  <a:srgbClr val="FFFFFF"/>
                </a:solidFill>
                <a:latin typeface="Calibri"/>
                <a:cs typeface="Calibri"/>
              </a:rPr>
              <a:t> </a:t>
            </a:r>
            <a:r>
              <a:rPr sz="2000" b="1" dirty="0">
                <a:solidFill>
                  <a:srgbClr val="FFFFFF"/>
                </a:solidFill>
                <a:latin typeface="Calibri"/>
                <a:cs typeface="Calibri"/>
              </a:rPr>
              <a:t>various</a:t>
            </a:r>
            <a:r>
              <a:rPr sz="2000" b="1" spc="-35" dirty="0">
                <a:solidFill>
                  <a:srgbClr val="FFFFFF"/>
                </a:solidFill>
                <a:latin typeface="Calibri"/>
                <a:cs typeface="Calibri"/>
              </a:rPr>
              <a:t> </a:t>
            </a:r>
            <a:r>
              <a:rPr sz="2000" b="1" spc="-10" dirty="0">
                <a:solidFill>
                  <a:srgbClr val="FFFFFF"/>
                </a:solidFill>
                <a:latin typeface="Calibri"/>
                <a:cs typeface="Calibri"/>
              </a:rPr>
              <a:t>biological information's.</a:t>
            </a:r>
            <a:endParaRPr sz="2000">
              <a:latin typeface="Calibri"/>
              <a:cs typeface="Calibri"/>
            </a:endParaRPr>
          </a:p>
        </p:txBody>
      </p:sp>
      <p:sp>
        <p:nvSpPr>
          <p:cNvPr id="12" name="object 12"/>
          <p:cNvSpPr txBox="1"/>
          <p:nvPr/>
        </p:nvSpPr>
        <p:spPr>
          <a:xfrm>
            <a:off x="546303" y="4886325"/>
            <a:ext cx="4052570" cy="330835"/>
          </a:xfrm>
          <a:prstGeom prst="rect">
            <a:avLst/>
          </a:prstGeom>
        </p:spPr>
        <p:txBody>
          <a:bodyPr vert="horz" wrap="square" lIns="0" tIns="12700" rIns="0" bIns="0" rtlCol="0">
            <a:spAutoFit/>
          </a:bodyPr>
          <a:lstStyle/>
          <a:p>
            <a:pPr marL="354965" indent="-342265">
              <a:lnSpc>
                <a:spcPct val="100000"/>
              </a:lnSpc>
              <a:spcBef>
                <a:spcPts val="100"/>
              </a:spcBef>
              <a:buFont typeface="Wingdings"/>
              <a:buChar char=""/>
              <a:tabLst>
                <a:tab pos="354965" algn="l"/>
                <a:tab pos="2456815" algn="l"/>
                <a:tab pos="3848735" algn="l"/>
              </a:tabLst>
            </a:pPr>
            <a:r>
              <a:rPr sz="2000" spc="-10" dirty="0">
                <a:latin typeface="Calibri"/>
                <a:cs typeface="Calibri"/>
              </a:rPr>
              <a:t>Applications:-</a:t>
            </a:r>
            <a:r>
              <a:rPr sz="2000" dirty="0">
                <a:latin typeface="Calibri"/>
                <a:cs typeface="Calibri"/>
              </a:rPr>
              <a:t>	</a:t>
            </a:r>
            <a:r>
              <a:rPr sz="2000" spc="-10" dirty="0">
                <a:latin typeface="Calibri"/>
                <a:cs typeface="Calibri"/>
              </a:rPr>
              <a:t>Mainly</a:t>
            </a:r>
            <a:r>
              <a:rPr sz="2000" dirty="0">
                <a:latin typeface="Calibri"/>
                <a:cs typeface="Calibri"/>
              </a:rPr>
              <a:t>	</a:t>
            </a:r>
            <a:r>
              <a:rPr sz="2000" spc="-25" dirty="0">
                <a:latin typeface="Calibri"/>
                <a:cs typeface="Calibri"/>
              </a:rPr>
              <a:t>in</a:t>
            </a:r>
            <a:endParaRPr sz="2000">
              <a:latin typeface="Calibri"/>
              <a:cs typeface="Calibri"/>
            </a:endParaRPr>
          </a:p>
        </p:txBody>
      </p:sp>
      <p:sp>
        <p:nvSpPr>
          <p:cNvPr id="13" name="object 13"/>
          <p:cNvSpPr txBox="1"/>
          <p:nvPr/>
        </p:nvSpPr>
        <p:spPr>
          <a:xfrm>
            <a:off x="889203" y="5191125"/>
            <a:ext cx="3711575" cy="636270"/>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Calibri"/>
                <a:cs typeface="Calibri"/>
              </a:rPr>
              <a:t>Pharmaceutical</a:t>
            </a:r>
            <a:r>
              <a:rPr sz="2000" spc="440" dirty="0">
                <a:latin typeface="Calibri"/>
                <a:cs typeface="Calibri"/>
              </a:rPr>
              <a:t> </a:t>
            </a:r>
            <a:r>
              <a:rPr sz="2000" dirty="0">
                <a:latin typeface="Calibri"/>
                <a:cs typeface="Calibri"/>
              </a:rPr>
              <a:t>industry</a:t>
            </a:r>
            <a:r>
              <a:rPr sz="2000" spc="440" dirty="0">
                <a:latin typeface="Calibri"/>
                <a:cs typeface="Calibri"/>
              </a:rPr>
              <a:t> </a:t>
            </a:r>
            <a:r>
              <a:rPr sz="2000" dirty="0">
                <a:latin typeface="Calibri"/>
                <a:cs typeface="Calibri"/>
              </a:rPr>
              <a:t>for</a:t>
            </a:r>
            <a:r>
              <a:rPr sz="2000" spc="420" dirty="0">
                <a:latin typeface="Calibri"/>
                <a:cs typeface="Calibri"/>
              </a:rPr>
              <a:t> </a:t>
            </a:r>
            <a:r>
              <a:rPr sz="2000" spc="-20" dirty="0">
                <a:latin typeface="Calibri"/>
                <a:cs typeface="Calibri"/>
              </a:rPr>
              <a:t>QSAR </a:t>
            </a:r>
            <a:r>
              <a:rPr sz="2000" dirty="0">
                <a:latin typeface="Calibri"/>
                <a:cs typeface="Calibri"/>
              </a:rPr>
              <a:t>Studies</a:t>
            </a:r>
            <a:r>
              <a:rPr sz="2000" spc="254" dirty="0">
                <a:latin typeface="Calibri"/>
                <a:cs typeface="Calibri"/>
              </a:rPr>
              <a:t> </a:t>
            </a:r>
            <a:r>
              <a:rPr sz="2000" dirty="0">
                <a:latin typeface="Calibri"/>
                <a:cs typeface="Calibri"/>
              </a:rPr>
              <a:t>&amp;</a:t>
            </a:r>
            <a:r>
              <a:rPr sz="2000" spc="250" dirty="0">
                <a:latin typeface="Calibri"/>
                <a:cs typeface="Calibri"/>
              </a:rPr>
              <a:t> </a:t>
            </a:r>
            <a:r>
              <a:rPr sz="2000" dirty="0">
                <a:latin typeface="Calibri"/>
                <a:cs typeface="Calibri"/>
              </a:rPr>
              <a:t>Drug</a:t>
            </a:r>
            <a:r>
              <a:rPr sz="2000" spc="254" dirty="0">
                <a:latin typeface="Calibri"/>
                <a:cs typeface="Calibri"/>
              </a:rPr>
              <a:t> </a:t>
            </a:r>
            <a:r>
              <a:rPr sz="2000" dirty="0">
                <a:latin typeface="Calibri"/>
                <a:cs typeface="Calibri"/>
              </a:rPr>
              <a:t>development.</a:t>
            </a:r>
            <a:r>
              <a:rPr sz="2000" spc="254" dirty="0">
                <a:latin typeface="Calibri"/>
                <a:cs typeface="Calibri"/>
              </a:rPr>
              <a:t> </a:t>
            </a:r>
            <a:r>
              <a:rPr sz="2000" spc="-20" dirty="0">
                <a:latin typeface="Calibri"/>
                <a:cs typeface="Calibri"/>
              </a:rPr>
              <a:t>Also</a:t>
            </a:r>
            <a:endParaRPr sz="2000">
              <a:latin typeface="Calibri"/>
              <a:cs typeface="Calibri"/>
            </a:endParaRPr>
          </a:p>
        </p:txBody>
      </p:sp>
      <p:sp>
        <p:nvSpPr>
          <p:cNvPr id="14" name="object 14"/>
          <p:cNvSpPr txBox="1"/>
          <p:nvPr/>
        </p:nvSpPr>
        <p:spPr>
          <a:xfrm>
            <a:off x="889203" y="5801055"/>
            <a:ext cx="3712845" cy="330835"/>
          </a:xfrm>
          <a:prstGeom prst="rect">
            <a:avLst/>
          </a:prstGeom>
        </p:spPr>
        <p:txBody>
          <a:bodyPr vert="horz" wrap="square" lIns="0" tIns="12700" rIns="0" bIns="0" rtlCol="0">
            <a:spAutoFit/>
          </a:bodyPr>
          <a:lstStyle/>
          <a:p>
            <a:pPr marL="12700">
              <a:lnSpc>
                <a:spcPct val="100000"/>
              </a:lnSpc>
              <a:spcBef>
                <a:spcPts val="100"/>
              </a:spcBef>
              <a:tabLst>
                <a:tab pos="777875" algn="l"/>
                <a:tab pos="1265555" algn="l"/>
                <a:tab pos="2446655" algn="l"/>
                <a:tab pos="3487420" algn="l"/>
              </a:tabLst>
            </a:pPr>
            <a:r>
              <a:rPr sz="2000" spc="-20" dirty="0">
                <a:latin typeface="Calibri"/>
                <a:cs typeface="Calibri"/>
              </a:rPr>
              <a:t>used</a:t>
            </a:r>
            <a:r>
              <a:rPr sz="2000" dirty="0">
                <a:latin typeface="Calibri"/>
                <a:cs typeface="Calibri"/>
              </a:rPr>
              <a:t>	</a:t>
            </a:r>
            <a:r>
              <a:rPr sz="2000" spc="-25" dirty="0">
                <a:latin typeface="Calibri"/>
                <a:cs typeface="Calibri"/>
              </a:rPr>
              <a:t>to</a:t>
            </a:r>
            <a:r>
              <a:rPr sz="2000" dirty="0">
                <a:latin typeface="Calibri"/>
                <a:cs typeface="Calibri"/>
              </a:rPr>
              <a:t>	</a:t>
            </a:r>
            <a:r>
              <a:rPr sz="2000" spc="-10" dirty="0">
                <a:latin typeface="Calibri"/>
                <a:cs typeface="Calibri"/>
              </a:rPr>
              <a:t>maintain</a:t>
            </a:r>
            <a:r>
              <a:rPr sz="2000" dirty="0">
                <a:latin typeface="Calibri"/>
                <a:cs typeface="Calibri"/>
              </a:rPr>
              <a:t>	</a:t>
            </a:r>
            <a:r>
              <a:rPr sz="2000" spc="-10" dirty="0">
                <a:latin typeface="Calibri"/>
                <a:cs typeface="Calibri"/>
              </a:rPr>
              <a:t>records</a:t>
            </a:r>
            <a:r>
              <a:rPr sz="2000" dirty="0">
                <a:latin typeface="Calibri"/>
                <a:cs typeface="Calibri"/>
              </a:rPr>
              <a:t>	</a:t>
            </a:r>
            <a:r>
              <a:rPr sz="2000" spc="-25" dirty="0">
                <a:latin typeface="Calibri"/>
                <a:cs typeface="Calibri"/>
              </a:rPr>
              <a:t>of</a:t>
            </a:r>
            <a:endParaRPr sz="2000">
              <a:latin typeface="Calibri"/>
              <a:cs typeface="Calibri"/>
            </a:endParaRPr>
          </a:p>
        </p:txBody>
      </p:sp>
      <p:sp>
        <p:nvSpPr>
          <p:cNvPr id="15" name="object 15"/>
          <p:cNvSpPr txBox="1"/>
          <p:nvPr/>
        </p:nvSpPr>
        <p:spPr>
          <a:xfrm>
            <a:off x="889203" y="6105855"/>
            <a:ext cx="3711575" cy="635635"/>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Calibri"/>
                <a:cs typeface="Calibri"/>
              </a:rPr>
              <a:t>chemicals</a:t>
            </a:r>
            <a:r>
              <a:rPr sz="2000" spc="305" dirty="0">
                <a:latin typeface="Calibri"/>
                <a:cs typeface="Calibri"/>
              </a:rPr>
              <a:t> </a:t>
            </a:r>
            <a:r>
              <a:rPr sz="2000" dirty="0">
                <a:latin typeface="Calibri"/>
                <a:cs typeface="Calibri"/>
              </a:rPr>
              <a:t>in</a:t>
            </a:r>
            <a:r>
              <a:rPr sz="2000" spc="310" dirty="0">
                <a:latin typeface="Calibri"/>
                <a:cs typeface="Calibri"/>
              </a:rPr>
              <a:t> </a:t>
            </a:r>
            <a:r>
              <a:rPr sz="2000" dirty="0">
                <a:latin typeface="Calibri"/>
                <a:cs typeface="Calibri"/>
              </a:rPr>
              <a:t>the</a:t>
            </a:r>
            <a:r>
              <a:rPr sz="2000" spc="310" dirty="0">
                <a:latin typeface="Calibri"/>
                <a:cs typeface="Calibri"/>
              </a:rPr>
              <a:t> </a:t>
            </a:r>
            <a:r>
              <a:rPr sz="2000" dirty="0">
                <a:latin typeface="Calibri"/>
                <a:cs typeface="Calibri"/>
              </a:rPr>
              <a:t>form</a:t>
            </a:r>
            <a:r>
              <a:rPr sz="2000" spc="300" dirty="0">
                <a:latin typeface="Calibri"/>
                <a:cs typeface="Calibri"/>
              </a:rPr>
              <a:t> </a:t>
            </a:r>
            <a:r>
              <a:rPr sz="2000" dirty="0">
                <a:latin typeface="Calibri"/>
                <a:cs typeface="Calibri"/>
              </a:rPr>
              <a:t>of</a:t>
            </a:r>
            <a:r>
              <a:rPr sz="2000" spc="300" dirty="0">
                <a:latin typeface="Calibri"/>
                <a:cs typeface="Calibri"/>
              </a:rPr>
              <a:t> </a:t>
            </a:r>
            <a:r>
              <a:rPr sz="2000" spc="-10" dirty="0">
                <a:latin typeface="Calibri"/>
                <a:cs typeface="Calibri"/>
              </a:rPr>
              <a:t>chemical information</a:t>
            </a:r>
            <a:r>
              <a:rPr sz="2000" spc="-60" dirty="0">
                <a:latin typeface="Calibri"/>
                <a:cs typeface="Calibri"/>
              </a:rPr>
              <a:t> </a:t>
            </a:r>
            <a:r>
              <a:rPr sz="2000" spc="-10" dirty="0">
                <a:latin typeface="Calibri"/>
                <a:cs typeface="Calibri"/>
              </a:rPr>
              <a:t>systems</a:t>
            </a:r>
            <a:r>
              <a:rPr sz="2000" spc="-45" dirty="0">
                <a:latin typeface="Calibri"/>
                <a:cs typeface="Calibri"/>
              </a:rPr>
              <a:t> </a:t>
            </a:r>
            <a:r>
              <a:rPr sz="2000" spc="-20" dirty="0">
                <a:latin typeface="Calibri"/>
                <a:cs typeface="Calibri"/>
              </a:rPr>
              <a:t>(CIS)</a:t>
            </a:r>
            <a:endParaRPr sz="2000">
              <a:latin typeface="Calibri"/>
              <a:cs typeface="Calibri"/>
            </a:endParaRPr>
          </a:p>
        </p:txBody>
      </p:sp>
      <p:sp>
        <p:nvSpPr>
          <p:cNvPr id="16" name="object 16"/>
          <p:cNvSpPr txBox="1"/>
          <p:nvPr/>
        </p:nvSpPr>
        <p:spPr>
          <a:xfrm>
            <a:off x="4759578" y="4886325"/>
            <a:ext cx="4003040" cy="1245870"/>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Lst>
            </a:pPr>
            <a:r>
              <a:rPr sz="2000" dirty="0">
                <a:latin typeface="Calibri"/>
                <a:cs typeface="Calibri"/>
              </a:rPr>
              <a:t>Applications:-</a:t>
            </a:r>
            <a:r>
              <a:rPr sz="2000" spc="315" dirty="0">
                <a:latin typeface="Calibri"/>
                <a:cs typeface="Calibri"/>
              </a:rPr>
              <a:t> </a:t>
            </a:r>
            <a:r>
              <a:rPr sz="2000" dirty="0">
                <a:latin typeface="Calibri"/>
                <a:cs typeface="Calibri"/>
              </a:rPr>
              <a:t>In</a:t>
            </a:r>
            <a:r>
              <a:rPr sz="2000" spc="-65" dirty="0">
                <a:latin typeface="Calibri"/>
                <a:cs typeface="Calibri"/>
              </a:rPr>
              <a:t> </a:t>
            </a:r>
            <a:r>
              <a:rPr sz="2000" dirty="0">
                <a:latin typeface="Calibri"/>
                <a:cs typeface="Calibri"/>
              </a:rPr>
              <a:t>development</a:t>
            </a:r>
            <a:r>
              <a:rPr sz="2000" spc="-50" dirty="0">
                <a:latin typeface="Calibri"/>
                <a:cs typeface="Calibri"/>
              </a:rPr>
              <a:t> </a:t>
            </a:r>
            <a:r>
              <a:rPr sz="2000" spc="-25" dirty="0">
                <a:latin typeface="Calibri"/>
                <a:cs typeface="Calibri"/>
              </a:rPr>
              <a:t>of </a:t>
            </a:r>
            <a:r>
              <a:rPr sz="2000" dirty="0">
                <a:latin typeface="Calibri"/>
                <a:cs typeface="Calibri"/>
              </a:rPr>
              <a:t>Molecular</a:t>
            </a:r>
            <a:r>
              <a:rPr sz="2000" spc="-80" dirty="0">
                <a:latin typeface="Calibri"/>
                <a:cs typeface="Calibri"/>
              </a:rPr>
              <a:t> </a:t>
            </a:r>
            <a:r>
              <a:rPr sz="2000" dirty="0">
                <a:latin typeface="Calibri"/>
                <a:cs typeface="Calibri"/>
              </a:rPr>
              <a:t>medicine,</a:t>
            </a:r>
            <a:r>
              <a:rPr sz="2000" spc="-80" dirty="0">
                <a:latin typeface="Calibri"/>
                <a:cs typeface="Calibri"/>
              </a:rPr>
              <a:t> </a:t>
            </a:r>
            <a:r>
              <a:rPr sz="2000" spc="-10" dirty="0">
                <a:latin typeface="Calibri"/>
                <a:cs typeface="Calibri"/>
              </a:rPr>
              <a:t>personalized </a:t>
            </a:r>
            <a:r>
              <a:rPr sz="2000" dirty="0">
                <a:latin typeface="Calibri"/>
                <a:cs typeface="Calibri"/>
              </a:rPr>
              <a:t>medicine,</a:t>
            </a:r>
            <a:r>
              <a:rPr sz="2000" spc="320" dirty="0">
                <a:latin typeface="Calibri"/>
                <a:cs typeface="Calibri"/>
              </a:rPr>
              <a:t> </a:t>
            </a:r>
            <a:r>
              <a:rPr sz="2000" dirty="0">
                <a:latin typeface="Calibri"/>
                <a:cs typeface="Calibri"/>
              </a:rPr>
              <a:t>bioweapon</a:t>
            </a:r>
            <a:r>
              <a:rPr sz="2000" spc="-85" dirty="0">
                <a:latin typeface="Calibri"/>
                <a:cs typeface="Calibri"/>
              </a:rPr>
              <a:t> </a:t>
            </a:r>
            <a:r>
              <a:rPr sz="2000" dirty="0">
                <a:latin typeface="Calibri"/>
                <a:cs typeface="Calibri"/>
              </a:rPr>
              <a:t>creation</a:t>
            </a:r>
            <a:r>
              <a:rPr sz="2000" spc="-55" dirty="0">
                <a:latin typeface="Calibri"/>
                <a:cs typeface="Calibri"/>
              </a:rPr>
              <a:t> </a:t>
            </a:r>
            <a:r>
              <a:rPr sz="2000" spc="-25" dirty="0">
                <a:latin typeface="Calibri"/>
                <a:cs typeface="Calibri"/>
              </a:rPr>
              <a:t>and </a:t>
            </a:r>
            <a:r>
              <a:rPr sz="2000" dirty="0">
                <a:latin typeface="Calibri"/>
                <a:cs typeface="Calibri"/>
              </a:rPr>
              <a:t>antibiotic</a:t>
            </a:r>
            <a:r>
              <a:rPr sz="2000" spc="-70" dirty="0">
                <a:latin typeface="Calibri"/>
                <a:cs typeface="Calibri"/>
              </a:rPr>
              <a:t> </a:t>
            </a:r>
            <a:r>
              <a:rPr sz="2000" spc="-10" dirty="0">
                <a:latin typeface="Calibri"/>
                <a:cs typeface="Calibri"/>
              </a:rPr>
              <a:t>resistance</a:t>
            </a:r>
            <a:r>
              <a:rPr sz="2000" spc="-60" dirty="0">
                <a:latin typeface="Calibri"/>
                <a:cs typeface="Calibri"/>
              </a:rPr>
              <a:t> </a:t>
            </a:r>
            <a:r>
              <a:rPr sz="2000" spc="-10" dirty="0">
                <a:latin typeface="Calibri"/>
                <a:cs typeface="Calibri"/>
              </a:rPr>
              <a:t>studies.</a:t>
            </a:r>
            <a:endParaRPr sz="2000">
              <a:latin typeface="Calibri"/>
              <a:cs typeface="Calibri"/>
            </a:endParaRPr>
          </a:p>
        </p:txBody>
      </p:sp>
    </p:spTree>
    <p:extLst>
      <p:ext uri="{BB962C8B-B14F-4D97-AF65-F5344CB8AC3E}">
        <p14:creationId xmlns:p14="http://schemas.microsoft.com/office/powerpoint/2010/main" val="4290482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813</Words>
  <Application>Microsoft Office PowerPoint</Application>
  <PresentationFormat>On-screen Show (4:3)</PresentationFormat>
  <Paragraphs>58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Approaches in Cheminformatics and Bioinformatics</vt:lpstr>
      <vt:lpstr>PowerPoint Presentation</vt:lpstr>
      <vt:lpstr>PowerPoint Presentation</vt:lpstr>
      <vt:lpstr>Key Aspects of Cheminformatics: </vt:lpstr>
      <vt:lpstr>PowerPoint Presentation</vt:lpstr>
      <vt:lpstr>Bioinformatics</vt:lpstr>
      <vt:lpstr>Key Areas of Bioinformatics: </vt:lpstr>
      <vt:lpstr>PowerPoint Presentation</vt:lpstr>
      <vt:lpstr>Distinguish between Cheminformatics and Bioinformatics </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KJSCE</dc:creator>
  <cp:lastModifiedBy>KJSCE</cp:lastModifiedBy>
  <cp:revision>3</cp:revision>
  <dcterms:created xsi:type="dcterms:W3CDTF">2024-11-28T09:47:22Z</dcterms:created>
  <dcterms:modified xsi:type="dcterms:W3CDTF">2024-11-28T10:10:29Z</dcterms:modified>
</cp:coreProperties>
</file>