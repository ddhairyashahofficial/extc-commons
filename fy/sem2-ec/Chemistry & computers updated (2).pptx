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98" r:id="rId20"/>
  </p:sldIdLst>
  <p:sldSz cx="9144000" cy="6858000" type="screen4x3"/>
  <p:notesSz cx="9144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08225" y="2498217"/>
            <a:ext cx="5527548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68345" y="3797274"/>
            <a:ext cx="3749675" cy="11963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555" y="747902"/>
            <a:ext cx="363143" cy="235076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9819" y="742441"/>
            <a:ext cx="3823588" cy="24587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6155" y="530351"/>
            <a:ext cx="665988" cy="614172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22375" y="530351"/>
            <a:ext cx="548640" cy="614172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41247" y="530351"/>
            <a:ext cx="4305300" cy="614172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4235" y="1208633"/>
            <a:ext cx="7627620" cy="1854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56589" y="2141093"/>
            <a:ext cx="7630820" cy="3962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11/28/2024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Chemistry</a:t>
            </a:r>
            <a:r>
              <a:rPr sz="4400" spc="-15" dirty="0"/>
              <a:t> </a:t>
            </a:r>
            <a:r>
              <a:rPr sz="4400" dirty="0"/>
              <a:t>&amp;</a:t>
            </a:r>
            <a:r>
              <a:rPr sz="4400" spc="-10" dirty="0"/>
              <a:t> Computers</a:t>
            </a:r>
            <a:endParaRPr sz="4400"/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4984" marR="5080" indent="-502920">
              <a:lnSpc>
                <a:spcPct val="120000"/>
              </a:lnSpc>
              <a:spcBef>
                <a:spcPts val="100"/>
              </a:spcBef>
            </a:pPr>
            <a:r>
              <a:rPr sz="3200" dirty="0">
                <a:solidFill>
                  <a:srgbClr val="888888"/>
                </a:solidFill>
                <a:latin typeface="Calibri"/>
                <a:cs typeface="Calibri"/>
              </a:rPr>
              <a:t>By</a:t>
            </a:r>
            <a:r>
              <a:rPr sz="3200" spc="-8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spc="-95" dirty="0">
                <a:solidFill>
                  <a:srgbClr val="888888"/>
                </a:solidFill>
                <a:latin typeface="Calibri"/>
                <a:cs typeface="Calibri"/>
              </a:rPr>
              <a:t>Dr.</a:t>
            </a:r>
            <a:r>
              <a:rPr sz="3200" spc="-7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888888"/>
                </a:solidFill>
                <a:latin typeface="Calibri"/>
                <a:cs typeface="Calibri"/>
              </a:rPr>
              <a:t>Druman</a:t>
            </a:r>
            <a:r>
              <a:rPr sz="3200" spc="-5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888888"/>
                </a:solidFill>
                <a:latin typeface="Calibri"/>
                <a:cs typeface="Calibri"/>
              </a:rPr>
              <a:t>Utekar </a:t>
            </a:r>
            <a:r>
              <a:rPr sz="3200" spc="-95" dirty="0">
                <a:solidFill>
                  <a:srgbClr val="888888"/>
                </a:solidFill>
                <a:latin typeface="Calibri"/>
                <a:cs typeface="Calibri"/>
              </a:rPr>
              <a:t>Dr.</a:t>
            </a:r>
            <a:r>
              <a:rPr sz="3200" spc="-90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888888"/>
                </a:solidFill>
                <a:latin typeface="Calibri"/>
                <a:cs typeface="Calibri"/>
              </a:rPr>
              <a:t>Deepali</a:t>
            </a:r>
            <a:r>
              <a:rPr sz="3200" spc="-85" dirty="0">
                <a:solidFill>
                  <a:srgbClr val="888888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888888"/>
                </a:solidFill>
                <a:latin typeface="Calibri"/>
                <a:cs typeface="Calibri"/>
              </a:rPr>
              <a:t>Kanekar</a:t>
            </a:r>
            <a:endParaRPr sz="3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5464" y="692746"/>
            <a:ext cx="8249026" cy="552193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818" y="548728"/>
            <a:ext cx="8644890" cy="56885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0718" y="1865098"/>
            <a:ext cx="7420104" cy="23522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819" y="848865"/>
            <a:ext cx="8162925" cy="47851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94930" y="1306194"/>
            <a:ext cx="8249043" cy="40325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504" y="620737"/>
            <a:ext cx="8754364" cy="532853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257" y="764755"/>
            <a:ext cx="8803259" cy="54005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37935" y="2043645"/>
            <a:ext cx="6068233" cy="363905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747" y="692759"/>
            <a:ext cx="8730742" cy="54178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04366" y="1738795"/>
            <a:ext cx="7163792" cy="37438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532" y="1268730"/>
            <a:ext cx="7529536" cy="423009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23532" y="847115"/>
            <a:ext cx="8641207" cy="524522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492" y="1281146"/>
            <a:ext cx="7003246" cy="2851129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1555" y="1124711"/>
            <a:ext cx="8012683" cy="421170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11555" y="908773"/>
            <a:ext cx="8072501" cy="488124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3564" y="1268730"/>
            <a:ext cx="8105902" cy="412064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46303" y="195783"/>
            <a:ext cx="8289290" cy="5283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  <a:tab pos="2690495" algn="l"/>
                <a:tab pos="4328795" algn="l"/>
                <a:tab pos="5015230" algn="l"/>
                <a:tab pos="7583170" algn="l"/>
              </a:tabLst>
            </a:pPr>
            <a:r>
              <a:rPr sz="2400" b="1" spc="-10" dirty="0">
                <a:latin typeface="Calibri"/>
                <a:cs typeface="Calibri"/>
              </a:rPr>
              <a:t>Computational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10" dirty="0">
                <a:latin typeface="Calibri"/>
                <a:cs typeface="Calibri"/>
              </a:rPr>
              <a:t>approach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in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10" dirty="0">
                <a:latin typeface="Calibri"/>
                <a:cs typeface="Calibri"/>
              </a:rPr>
              <a:t>cheminformatics</a:t>
            </a:r>
            <a:r>
              <a:rPr sz="2400" b="1" dirty="0">
                <a:latin typeface="Calibri"/>
                <a:cs typeface="Calibri"/>
              </a:rPr>
              <a:t>	</a:t>
            </a:r>
            <a:r>
              <a:rPr sz="2400" b="1" spc="-25" dirty="0">
                <a:latin typeface="Calibri"/>
                <a:cs typeface="Calibri"/>
              </a:rPr>
              <a:t>and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</a:pPr>
            <a:r>
              <a:rPr sz="2400" b="1" spc="-10" dirty="0">
                <a:latin typeface="Calibri"/>
                <a:cs typeface="Calibri"/>
              </a:rPr>
              <a:t>bioinformatics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2400">
              <a:latin typeface="Calibri"/>
              <a:cs typeface="Calibri"/>
            </a:endParaRPr>
          </a:p>
          <a:p>
            <a:pPr marL="571500" marR="173355" lvl="1" indent="-342900">
              <a:lnSpc>
                <a:spcPct val="80000"/>
              </a:lnSpc>
              <a:buFont typeface="Wingdings"/>
              <a:buChar char=""/>
              <a:tabLst>
                <a:tab pos="571500" algn="l"/>
              </a:tabLst>
            </a:pPr>
            <a:r>
              <a:rPr sz="2200" dirty="0">
                <a:latin typeface="Calibri"/>
                <a:cs typeface="Calibri"/>
              </a:rPr>
              <a:t>Computational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Approaches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Cheminformatics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Bioinformatics covers:</a:t>
            </a:r>
            <a:endParaRPr sz="2200">
              <a:latin typeface="Calibri"/>
              <a:cs typeface="Calibri"/>
            </a:endParaRPr>
          </a:p>
          <a:p>
            <a:pPr marL="571500" lvl="1" indent="-342900">
              <a:lnSpc>
                <a:spcPct val="100000"/>
              </a:lnSpc>
              <a:buFont typeface="Wingdings"/>
              <a:buChar char=""/>
              <a:tabLst>
                <a:tab pos="571500" algn="l"/>
              </a:tabLst>
            </a:pPr>
            <a:r>
              <a:rPr sz="2200" dirty="0">
                <a:latin typeface="Calibri"/>
                <a:cs typeface="Calibri"/>
              </a:rPr>
              <a:t>Data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sources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available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modelling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prediction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purposes.</a:t>
            </a:r>
            <a:endParaRPr sz="2200">
              <a:latin typeface="Calibri"/>
              <a:cs typeface="Calibri"/>
            </a:endParaRPr>
          </a:p>
          <a:p>
            <a:pPr marL="571500" marR="730250" lvl="1" indent="-342900">
              <a:lnSpc>
                <a:spcPts val="2110"/>
              </a:lnSpc>
              <a:spcBef>
                <a:spcPts val="509"/>
              </a:spcBef>
              <a:buFont typeface="Wingdings"/>
              <a:buChar char=""/>
              <a:tabLst>
                <a:tab pos="571500" algn="l"/>
              </a:tabLst>
            </a:pPr>
            <a:r>
              <a:rPr sz="2200" spc="-10" dirty="0">
                <a:latin typeface="Calibri"/>
                <a:cs typeface="Calibri"/>
              </a:rPr>
              <a:t>Developments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conventional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Quantitative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Structure-Activity Relationships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(QSAR).</a:t>
            </a:r>
            <a:endParaRPr sz="2200">
              <a:latin typeface="Calibri"/>
              <a:cs typeface="Calibri"/>
            </a:endParaRPr>
          </a:p>
          <a:p>
            <a:pPr marL="571500" lvl="1" indent="-342900">
              <a:lnSpc>
                <a:spcPct val="100000"/>
              </a:lnSpc>
              <a:spcBef>
                <a:spcPts val="25"/>
              </a:spcBef>
              <a:buFont typeface="Wingdings"/>
              <a:buChar char=""/>
              <a:tabLst>
                <a:tab pos="571500" algn="l"/>
              </a:tabLst>
            </a:pPr>
            <a:r>
              <a:rPr sz="2200" spc="-10" dirty="0">
                <a:latin typeface="Calibri"/>
                <a:cs typeface="Calibri"/>
              </a:rPr>
              <a:t>Computational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tools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manipulating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chemical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biological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data.</a:t>
            </a:r>
            <a:endParaRPr sz="2200">
              <a:latin typeface="Calibri"/>
              <a:cs typeface="Calibri"/>
            </a:endParaRPr>
          </a:p>
          <a:p>
            <a:pPr marL="571500" marR="422909" lvl="1" indent="-342900">
              <a:lnSpc>
                <a:spcPts val="2110"/>
              </a:lnSpc>
              <a:spcBef>
                <a:spcPts val="509"/>
              </a:spcBef>
              <a:buFont typeface="Wingdings"/>
              <a:buChar char=""/>
              <a:tabLst>
                <a:tab pos="571500" algn="l"/>
              </a:tabLst>
            </a:pPr>
            <a:r>
              <a:rPr sz="2200" dirty="0">
                <a:latin typeface="Calibri"/>
                <a:cs typeface="Calibri"/>
              </a:rPr>
              <a:t>Novel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ways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probing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interactions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between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small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molecules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proteins.</a:t>
            </a:r>
            <a:endParaRPr sz="2200">
              <a:latin typeface="Calibri"/>
              <a:cs typeface="Calibri"/>
            </a:endParaRPr>
          </a:p>
          <a:p>
            <a:pPr marL="571500" marR="5080" lvl="1" indent="-342900" algn="just">
              <a:lnSpc>
                <a:spcPct val="80000"/>
              </a:lnSpc>
              <a:spcBef>
                <a:spcPts val="550"/>
              </a:spcBef>
              <a:buFont typeface="Wingdings"/>
              <a:buChar char=""/>
              <a:tabLst>
                <a:tab pos="571500" algn="l"/>
              </a:tabLst>
            </a:pPr>
            <a:r>
              <a:rPr sz="2200" dirty="0">
                <a:latin typeface="Calibri"/>
                <a:cs typeface="Calibri"/>
              </a:rPr>
              <a:t>The</a:t>
            </a:r>
            <a:r>
              <a:rPr sz="2200" spc="330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invaluable</a:t>
            </a:r>
            <a:r>
              <a:rPr sz="2200" spc="330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applications</a:t>
            </a:r>
            <a:r>
              <a:rPr sz="2200" spc="335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330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drug</a:t>
            </a:r>
            <a:r>
              <a:rPr sz="2200" spc="320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discovery,</a:t>
            </a:r>
            <a:r>
              <a:rPr sz="2200" spc="335" dirty="0">
                <a:latin typeface="Calibri"/>
                <a:cs typeface="Calibri"/>
              </a:rPr>
              <a:t>  </a:t>
            </a:r>
            <a:r>
              <a:rPr sz="2200" dirty="0">
                <a:latin typeface="Calibri"/>
                <a:cs typeface="Calibri"/>
              </a:rPr>
              <a:t>cellular</a:t>
            </a:r>
            <a:r>
              <a:rPr sz="2200" spc="335" dirty="0">
                <a:latin typeface="Calibri"/>
                <a:cs typeface="Calibri"/>
              </a:rPr>
              <a:t>  </a:t>
            </a:r>
            <a:r>
              <a:rPr sz="2200" spc="-25" dirty="0">
                <a:latin typeface="Calibri"/>
                <a:cs typeface="Calibri"/>
              </a:rPr>
              <a:t>and </a:t>
            </a:r>
            <a:r>
              <a:rPr sz="2200" dirty="0">
                <a:latin typeface="Calibri"/>
                <a:cs typeface="Calibri"/>
              </a:rPr>
              <a:t>molecular</a:t>
            </a:r>
            <a:r>
              <a:rPr sz="2200" spc="455" dirty="0">
                <a:latin typeface="Calibri"/>
                <a:cs typeface="Calibri"/>
              </a:rPr>
              <a:t>   </a:t>
            </a:r>
            <a:r>
              <a:rPr sz="2200" dirty="0">
                <a:latin typeface="Calibri"/>
                <a:cs typeface="Calibri"/>
              </a:rPr>
              <a:t>biology,</a:t>
            </a:r>
            <a:r>
              <a:rPr sz="2200" spc="465" dirty="0">
                <a:latin typeface="Calibri"/>
                <a:cs typeface="Calibri"/>
              </a:rPr>
              <a:t>   </a:t>
            </a:r>
            <a:r>
              <a:rPr sz="2200" dirty="0">
                <a:latin typeface="Calibri"/>
                <a:cs typeface="Calibri"/>
              </a:rPr>
              <a:t>enzymology,</a:t>
            </a:r>
            <a:r>
              <a:rPr sz="2200" spc="465" dirty="0">
                <a:latin typeface="Calibri"/>
                <a:cs typeface="Calibri"/>
              </a:rPr>
              <a:t>  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459" dirty="0">
                <a:latin typeface="Calibri"/>
                <a:cs typeface="Calibri"/>
              </a:rPr>
              <a:t>   </a:t>
            </a:r>
            <a:r>
              <a:rPr sz="2200" dirty="0">
                <a:latin typeface="Calibri"/>
                <a:cs typeface="Calibri"/>
              </a:rPr>
              <a:t>metabolism</a:t>
            </a:r>
            <a:r>
              <a:rPr sz="2200" spc="459" dirty="0">
                <a:latin typeface="Calibri"/>
                <a:cs typeface="Calibri"/>
              </a:rPr>
              <a:t>   </a:t>
            </a:r>
            <a:r>
              <a:rPr sz="2200" spc="-20" dirty="0">
                <a:latin typeface="Calibri"/>
                <a:cs typeface="Calibri"/>
              </a:rPr>
              <a:t>make </a:t>
            </a:r>
            <a:r>
              <a:rPr sz="2200" dirty="0">
                <a:latin typeface="Calibri"/>
                <a:cs typeface="Calibri"/>
              </a:rPr>
              <a:t>computational</a:t>
            </a:r>
            <a:r>
              <a:rPr sz="2200" spc="2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approaches</a:t>
            </a:r>
            <a:r>
              <a:rPr sz="2200" spc="2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254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Cheminformatics</a:t>
            </a:r>
            <a:r>
              <a:rPr sz="2200" spc="2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254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Bioinformatics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3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essential</a:t>
            </a:r>
            <a:r>
              <a:rPr sz="2200" spc="3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guidebook</a:t>
            </a:r>
            <a:r>
              <a:rPr sz="2200" spc="31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3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evolving</a:t>
            </a:r>
            <a:r>
              <a:rPr sz="2200" spc="2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drug</a:t>
            </a:r>
            <a:r>
              <a:rPr sz="2200" spc="30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discovery</a:t>
            </a:r>
            <a:r>
              <a:rPr sz="2200" spc="30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research</a:t>
            </a:r>
            <a:r>
              <a:rPr sz="2200" spc="30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and </a:t>
            </a:r>
            <a:r>
              <a:rPr sz="2200" dirty="0">
                <a:latin typeface="Calibri"/>
                <a:cs typeface="Calibri"/>
              </a:rPr>
              <a:t>alleviating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5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issue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2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chemical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control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manipulation</a:t>
            </a:r>
            <a:r>
              <a:rPr sz="2200" spc="-4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various systems.</a:t>
            </a:r>
            <a:endParaRPr sz="2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150745" y="2653410"/>
            <a:ext cx="4840605" cy="1366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800" b="1" i="1" dirty="0">
                <a:latin typeface="Calibri"/>
                <a:cs typeface="Calibri"/>
              </a:rPr>
              <a:t>Thank</a:t>
            </a:r>
            <a:r>
              <a:rPr sz="8800" b="1" i="1" spc="-220" dirty="0">
                <a:latin typeface="Calibri"/>
                <a:cs typeface="Calibri"/>
              </a:rPr>
              <a:t> </a:t>
            </a:r>
            <a:r>
              <a:rPr sz="8800" b="1" i="1" spc="-25" dirty="0">
                <a:latin typeface="Calibri"/>
                <a:cs typeface="Calibri"/>
              </a:rPr>
              <a:t>you</a:t>
            </a:r>
            <a:endParaRPr sz="8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27</TotalTime>
  <Words>15</Words>
  <Application>Microsoft Office PowerPoint</Application>
  <PresentationFormat>On-screen Show (4:3)</PresentationFormat>
  <Paragraphs>12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Chemistry &amp; Computers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Computational chemistry</dc:title>
  <dc:creator>Admin</dc:creator>
  <cp:lastModifiedBy>KJSCE</cp:lastModifiedBy>
  <cp:revision>2</cp:revision>
  <dcterms:created xsi:type="dcterms:W3CDTF">2024-11-28T06:33:33Z</dcterms:created>
  <dcterms:modified xsi:type="dcterms:W3CDTF">2024-11-28T10:10:50Z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2024-04-29T00:00:00Z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2024-11-28T00:00:00Z</vt:filetime>
  </property>
  <property fmtid="{D5CDD505-2E9C-101B-9397-08002B2CF9AE}" pid="5" name="Producer">
    <vt:lpwstr>Microsoft® PowerPoint® 2010</vt:lpwstr>
  </property>
</Properties>
</file>