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99" r:id="rId2"/>
    <p:sldId id="257" r:id="rId3"/>
    <p:sldId id="284" r:id="rId4"/>
    <p:sldId id="285" r:id="rId5"/>
    <p:sldId id="288" r:id="rId6"/>
    <p:sldId id="286" r:id="rId7"/>
    <p:sldId id="289" r:id="rId8"/>
    <p:sldId id="287" r:id="rId9"/>
    <p:sldId id="291" r:id="rId10"/>
    <p:sldId id="290" r:id="rId11"/>
    <p:sldId id="292" r:id="rId12"/>
    <p:sldId id="293" r:id="rId13"/>
    <p:sldId id="298" r:id="rId14"/>
    <p:sldId id="296" r:id="rId15"/>
    <p:sldId id="297" r:id="rId16"/>
  </p:sldIdLst>
  <p:sldSz cx="14630400" cy="8229600"/>
  <p:notesSz cx="8229600" cy="14630400"/>
  <p:embeddedFontLst>
    <p:embeddedFont>
      <p:font typeface="Fira Sans" charset="0"/>
      <p:regular r:id="rId18"/>
      <p:bold r:id="rId19"/>
      <p:italic r:id="rId20"/>
      <p:boldItalic r:id="rId21"/>
    </p:embeddedFont>
    <p:embeddedFont>
      <p:font typeface="Marcellus" charset="0"/>
      <p:regular r:id="rId22"/>
    </p:embeddedFont>
    <p:embeddedFont>
      <p:font typeface="Calibri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592">
          <p15:clr>
            <a:srgbClr val="000000"/>
          </p15:clr>
        </p15:guide>
        <p15:guide id="2" pos="4608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OlAuBZk3NNJfoCWffkC75E158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ACC2D46-0EAF-4A5A-82B8-2BA14381F86C}">
  <a:tblStyle styleId="{5ACC2D46-0EAF-4A5A-82B8-2BA14381F8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-768" y="-88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48" Type="http://customschemas.google.com/relationships/presentationmetadata" Target="meta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5-07-30T06:54:34.150"/>
    </inkml:context>
    <inkml:brush xml:id="br0">
      <inkml:brushProperty name="width" value="0.05292" units="cm"/>
      <inkml:brushProperty name="height" value="0.05292" units="cm"/>
      <inkml:brushProperty name="color" value="#50632A"/>
    </inkml:brush>
    <inkml:brush xml:id="br1">
      <inkml:brushProperty name="width" value="0.05292" units="cm"/>
      <inkml:brushProperty name="height" value="0.05292" units="cm"/>
      <inkml:brushProperty name="color" value="#C0504D"/>
    </inkml:brush>
  </inkml:definitions>
  <inkml:trace contextRef="#ctx0" brushRef="#br0">24934 10964,'0'43,"-21"20,0-42,21 106,-21 43,-21-64,42-1,-22-20,22 0,0-1,0 1,0 42,0-63,0 20,0-41,0-22,0 21,0 22,0 20,0-20,43-22,-22 0,-21 22,21-22,0-21,-21 22,21-22,1 0,-1-21,-21 21,21 43,0-43,0 0,0-21,22 42,-1 1,0-1,1-42,-22 21,0-21,0 21,0-21,22 22,41-1,-20 0,-43 0,43-21,20 21,-20-21,-22 21,64-21,-43 22,-20-22,-1 0,22 21,-43-21,0 0,0 0,21 0,-20 0,-1 0,42 21,-42-21,43 0,-1 0,22 0,-64 0,0 0,1 0,-1 0,0 0,42 0,-41 0,-1 0,21 0,0 0,43 0,-21 0,-1 0,-42 0,0 0,22 0,-22 0,0 0,21 0,22 0,-22 0,-21 0,22 0,20 0,43-21,-21 21,-1-21,22-22,-42 43,20-21,1 0,-21 0,-1 21,1 0,-43 0,0 0,0 0,0-21,0 21,1-43,-1 22,0 21,-21-21,21 21,0-21,-21 0,21 21,1-22,-1 22,0-21,0 0,0 0,-21 0,21-22,-21 22,43 21,-22-63,0 63,0-21,0-22,1 22,-1-64,0 43,0-64,0-21,0 85,22-43,-22 1,-21 41,0 1,0 21,0-22,21-41,-21 20,0 43,0 0,0 0,0-22,0 1,0 21,0-21,0 20,0 1,0 0,0-21,-42-1,21 22,21 0,-22 0,1 0,0-22,21 1,-42 0,-1-43,22 64,-42-21,42-1,-1 22,22-21,-21 42,0-21,0-1,0 1,-22 0,1 0,21 0,-64-22,43 1,-22 42,22-21,0 21,21 0,-43 0,22-21,21 21,-1 0,1 0,-21 0,0 0,-1 0,22 0,0 0,0 0,0 0,-1 0,-41 0,21 0,20 0,-41 0,-1 0,-20 0,20 0,-42 0,85 0,-106 0,64 0,20 0,1 0,-43 0,-20 0,62 0,-20 0,42 0,-22 0,1 0,-22 0,1 0,-43 0,43 21,-43-21,21 21,0 0,43-21,-64 21,22-21,-1 0,43 0,-22 43,22-43,21 0,-22 21,1-21,0 0,-1 21,-41-21,41 0,-20 21,20-21,-20 0,-1 0,43 0,-42 0,20 0,22 21,0-21,0 0,42 0</inkml:trace>
  <inkml:trace contextRef="#ctx0" brushRef="#br0" timeOffset="4784.109">30163 13483,'0'43,"0"-1,0 64,0-22,0-41,0 20,0 1,0 105,0-63,0 63,0-105,0 63,0 42,0-63,0-21,0-1,0-41,0-22,0 42,0-20,0-1,0 21,0-20,0-1,0-21,0 0,21 85,-21-85,21 22,21-1,-21-21,1 22,20 41,-21-63,21 64,1-64,-1 0,43 64,-43-64,22 22,63 20,-43 22,22-22,-85-42,43-21,-43 22,21-1,22-21,-22 21,0-21,-20 21,-1-21,63 0,-62 0,83 21,-62-21,-1 0,22 0,-22 0,0 0,1 0,253 0,-233 0,-20 0,-22 0,0 0,0 0,0 0,1 0,41 0,-42 0,43-21,-22 21,22-21,-22 0,21 0,-20-22,63-20,-43 20,1 1,-22 21,21 0,-20 0,-1-1,-21-20,127 0,-84-1,-43 1,0 42,0-21,22 0,-22 21,0 0,0-21,22-22,-22 43,0-21,0 0,0 21,22 0,-22-21,-21 0,21 21,0-22,0 22,-21-21,21 0,1 21,-22-21,0 0,0-22,42 43,-21 0,-21-21,42-21,1-22,-1-41,0 20,-20 21,41-20,-63 63,42-149,-42 64,0 1,0 62,0-41,-21 20,21 22,-21-22,-21 22,42 0,0-22,-21 43,21-43,0 22,-22 0,22-1,-21 22,21-21,-21 21,21 0,-21 21,21-22,0 1,-21 21,0-21,-1 0,1 0,-21 0,42-1,-21-41,0 21,-22-1,22 22,0-42,-21 41,20 22,1-21,-21-21,21 21,0 0,-22-1,22 1,-21 21,21-42,-22 42,22-21,0 21,-64-21,1 21,20-22,43 22,-64 0,43 0,0 0,20 0,1 0,-21 0,0 0,-22 0,1 0,-43 0,42 0,43 0,0 0,-43 0,43 0,0 0,0 0,-21 0,-1 0,-20 0,20 0,1 0,21 0,-21 0,-1 0,22 0,0 0,0 0,0 0,-1 0,1 0,0 0,0 0,-21 0,-1 0,1 22,21-22,-22 21,1-21,-21 0,20 0,1 0,0 42,-1-42,-20 0,20 0,1 0,0 0,-1 21,-20-21,21 0,-1 21,1-21,21 0,-43 22,22-22,0 0,-1 21,1-21,-22 0,43 21,-21-21,0 21,20 0,-41-21,21 21,20-21,-20 0,42 43,-21-43,0 0,0 21,-22-21,1 21,21-21,0 0,-1 0,1 0,-21 0</inkml:trace>
  <inkml:trace contextRef="#ctx0" brushRef="#br0" timeOffset="11601.6938">31771 12361,'-21'0,"-42"0,41-21,-20 21,42-21,-42 21,-64-21,64 0,-1 21,-20-21,20 21,1-22,0-20,21 42,-1-21,-83 0,20 0,-21-22,0 43,64 0,-22-21,-20 0,63 21,-43-21,43 21,-43-21,43 21,-21 0,21-43,-43 43,43 0,-21 0,-1 0,22 0,0 0,-42 0,-22 0,43 0,20 0,-20 0,0 0,-22 0,22 0,0 0,-1 0,-20 0,20 0,1 0,0 0,-1 0,1 0,0 0,21 0,-22 0,22 0,-64 0,43 0,21 0,-43 0,22 0,-21 0,20 0,22 0,-42 0,-43 0,42 0,1 0,-22 0,64 0,0 0,0 0,-1 0,-62 0,20 0,22 21,0 1,20-22,-20 21,0 0,21 0,-22 21,1-20,0-22,-1 0,1 0,0 21,42 21,-22-42,22 21,-63 0,21 1,20-1,-20 0,0-21,-1 21,22 0,-21 0,21-21,0 0,21 43,-22-43,22 21,-21-21,-21 21,42 0,0 0,0 1,0-1,21 0,0-21,-21 21,21 21,1-20,20 20,-21-21,-21 0,21 0,-21 22,21-22,-21 0,43 0,-22 43,-21 20,0-20,0-22,0-21,21 22,-21-1,0-21,21 0,-21 1,21-1,-21 0,22-21,-22 21,21-21,0 0,0 21,0-21,0 0,22 43,20-1,-42-42,1 21,20-21,-21 0,21 21,1-21,-22 21,0-21,21 0,22 22,-43-22,43 21,-22 0,-21-21,21 0,-20 0,-1 21,0-21,0 0,0 0,0 0,1 0,20 0,0 21,-21-21,1 0,-1 21,21-21,-21 43,22-43,-1 0,0 21,-21-21,1 0,83 0,-62 0,-1 0,0 0,1 0,20 21,-20-21,-1 0,-21 0,43 0,-22 0,0 0,-21 0,22 0,-22 0,42 0,-41 0,-1 0,21 0,0 0,22 0,-22 0,22 0,-1 0,43-63,-21 41,-64 22,64 0,-22 0,1-21,-1 21,43-21,-64 0,-21 21,22 0,-1 0,0 0,-20 0,-1 0,0-21,42 0,-41 21,20-22,-42 1,21 0,0-21,0 21,1 21,-1 0,-21-22,21 22,0-21,0 0,0 0,1 0,-1 21,0-21,0-1,0 1,22-21,-1 21,-21 0,0-22,43-41,-43 41,85-84,-85 64,0 20,0 1,0 21,1 0,-1 0,0-22,0 1,21-43,-42 22,22-1,-22 1,0 42,0-1,0 1,0 0,0 0,-22 21,-41-21,21 21,20-43,-20 43,0-21,-22 21,43 0,0 0,-21 0,20 0,1 0,0 0,0 0,0 0</inkml:trace>
  <inkml:trace contextRef="#ctx0" brushRef="#br1" timeOffset="24881.0634">30184 11853,'0'43,"0"-22,-21 0,-1 21,-41 22,42-22,0 1,-1-1,-20 21,21-20,0 41,-22-20,1-22,42 1,0 62,-21-83,21 62,0-41,0 41,0-41,0-1,0 64,0-22,0 22,0-42,0-22,0 0,0-20,0 41,0-42,0 22,0-22,0 21,0 22,0-22,0 43,63-1,-41-41,-22 20,21 22,0-43,0-21,0 22,0 41,-21-41,0-1,22 0,-22-21,21 43,-21-22,0-21,42 1,-21-1,0 0,-21 0,22-21,20 42,-42-20,42-22,22 21,-43-21,0 0,0 0,22 21,-22-21,21 0,22 0,-43 0,0 0,21 0,1 0,20 0,-21 0,1 0,-22 0,42 0,-41 0,20 0,0 0,-21 0,43 0,-22 0,-21 0,1 0,-1 0,0 0,0 0,43-21,20-22,-41 1,-1 21,21-21,-20 20,-43 1,21 0,85-85,-64 64,0 0,1 20,-22-41,0-22,0 43,22 0,-43-1,0 22,21-42,-21 41,0 1,21 0,-21 0,0 0,0 0,0-1,0-41,21 42,0-22,-21 1,21-85,-21 21,0-21,0 21,0 43,0-22,0 64,0 0,0 0,0-43,0 22,-21 21,21 0,-21 21,21-22,0 1,-21 0,-21-21,20 21,-20-64,21 43,0 20,21 1,-21 0,-1 0,-20 0,21 0,0-1,0-20,-1 42,1 0,0-21,-21-21,-1 20,1 1,0-21,21 21,-1 0,-41-1,21 1,20 0,1 0,0 21,-21-21,-1-22,1 22,21 21,0-21,-22 21,22-21,0 21,-21 0,21 0,-1 0,1 0,0 0,-21 0,21 0,-1 0,-41 0,42 0,0 0,-1 0,1 0,0 0,0 0,-21 0,20 0,1 0,0 0,0 0,0 0,0 0,-1 0,1 21,0-21,0 0,0 0,0 0,21 21,-22-21,1 0,0 0,0 0,-21 0,42 43</inkml:trace>
  <inkml:trace contextRef="#ctx0" brushRef="#br1" timeOffset="26083.6636">31475 6096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816253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23" name="Google Shape;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body" idx="1"/>
          </p:nvPr>
        </p:nvSpPr>
        <p:spPr>
          <a:xfrm>
            <a:off x="1005840" y="2190750"/>
            <a:ext cx="12618600" cy="52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>
            <a:lvl1pPr marL="457200" marR="0" lvl="0" indent="-3683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ldNum" idx="12"/>
          </p:nvPr>
        </p:nvSpPr>
        <p:spPr>
          <a:xfrm>
            <a:off x="1033272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1033272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300"/>
              <a:buFont typeface="Marcellus"/>
              <a:buNone/>
            </a:pPr>
            <a:r>
              <a:rPr lang="en-US" sz="4600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Digital Logic Design</a:t>
            </a:r>
            <a:endParaRPr sz="4600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6" name="Google Shape;26;p1"/>
          <p:cNvSpPr txBox="1">
            <a:spLocks noGrp="1"/>
          </p:cNvSpPr>
          <p:nvPr>
            <p:ph type="body" idx="1"/>
          </p:nvPr>
        </p:nvSpPr>
        <p:spPr>
          <a:xfrm>
            <a:off x="2150274" y="2394700"/>
            <a:ext cx="10965900" cy="48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35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Semester </a:t>
            </a:r>
            <a:r>
              <a:rPr lang="en-US" sz="35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II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35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FY</a:t>
            </a: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35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Course Code</a:t>
            </a: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3600" b="1" dirty="0" smtClean="0"/>
              <a:t>316U06C203</a:t>
            </a:r>
          </a:p>
          <a:p>
            <a:pPr marL="0" lvl="0" indent="0" algn="ctr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35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Jan – May 2026</a:t>
            </a: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3500" dirty="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27" name="Google Shape;2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6" y="2663"/>
            <a:ext cx="680350" cy="8226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1076" y="0"/>
            <a:ext cx="251613" cy="6528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02287" y="6996985"/>
            <a:ext cx="1042419" cy="776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89" y="6996985"/>
            <a:ext cx="2161240" cy="77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874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 txBox="1">
            <a:spLocks noGrp="1"/>
          </p:cNvSpPr>
          <p:nvPr>
            <p:ph type="title"/>
          </p:nvPr>
        </p:nvSpPr>
        <p:spPr>
          <a:xfrm>
            <a:off x="450949" y="3106688"/>
            <a:ext cx="13674900" cy="1224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lvl="0" algn="ctr"/>
            <a:r>
              <a:rPr lang="en-US" sz="43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3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</a:t>
            </a:r>
            <a:r>
              <a:rPr lang="en-US" sz="43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McCluskey</a:t>
            </a:r>
            <a:r>
              <a:rPr lang="en-US" sz="43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Minimization </a:t>
            </a:r>
            <a:r>
              <a:rPr lang="en-US" sz="43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Techniques </a:t>
            </a:r>
            <a:endParaRPr sz="43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36" name="Google Shape;3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2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8;p2" descr="A close up of a sign&#10;&#10;Description automatically generated"/>
          <p:cNvPicPr preferRelativeResize="0">
            <a:picLocks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94104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44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977623"/>
            <a:ext cx="13410091" cy="422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List all Minterms</a:t>
            </a: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Group Minterms by Number of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1s ( there will be n+1 groups)</a:t>
            </a: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Combine Minterms from adjacent groups by eliminating the variable in which they are differing </a:t>
            </a: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 </a:t>
            </a:r>
            <a:r>
              <a:rPr lang="en-IN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Repeat Grouping and </a:t>
            </a:r>
            <a:r>
              <a:rPr lang="en-IN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Combining till no further combinations are possible</a:t>
            </a: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The uncombined terms are called Prime Implicants (PIs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).</a:t>
            </a: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Create a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Prime Implicant table </a:t>
            </a: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with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:</a:t>
            </a:r>
          </a:p>
          <a:p>
            <a:pPr marL="1439863" lvl="1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Rows </a:t>
            </a: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= Prime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Implicants</a:t>
            </a:r>
          </a:p>
          <a:p>
            <a:pPr marL="1439863" lvl="1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Columns </a:t>
            </a: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= Original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minterms</a:t>
            </a:r>
          </a:p>
          <a:p>
            <a:pPr marL="1439863" lvl="1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Mark </a:t>
            </a: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with X where an implicant covers a minterm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.</a:t>
            </a:r>
          </a:p>
          <a:p>
            <a:pPr marL="1077913" lvl="1" indent="-627063" algn="just">
              <a:buSzPts val="2900"/>
              <a:buFont typeface="+mj-lt"/>
              <a:buAutoNum type="arabicPeriod" startAt="7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A Prime Implicant that covers a minterm no other PI covers is called Essential Prime Implicant (EPI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).</a:t>
            </a: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 Include all EPIs </a:t>
            </a:r>
          </a:p>
          <a:p>
            <a:pPr marL="1077913" lvl="1" indent="-627063" algn="just">
              <a:buSzPts val="2900"/>
              <a:buFont typeface="+mj-lt"/>
              <a:buAutoNum type="arabicPeriod" startAt="7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Cover </a:t>
            </a: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Remaining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Minterms if any.</a:t>
            </a: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915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44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977623"/>
            <a:ext cx="13410091" cy="65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800" dirty="0" smtClean="0">
                <a:latin typeface="Fira Sans" charset="0"/>
              </a:rPr>
              <a:t>F(A,B,C,D</a:t>
            </a:r>
            <a:r>
              <a:rPr lang="en-IN" sz="2800" dirty="0">
                <a:latin typeface="Fira Sans" charset="0"/>
              </a:rPr>
              <a:t>) = ∑m(0,1,4,5,10,11,13,14,15</a:t>
            </a:r>
            <a:r>
              <a:rPr lang="en-IN" sz="2800" dirty="0" smtClean="0">
                <a:latin typeface="Fira Sans" charset="0"/>
              </a:rPr>
              <a:t>)</a:t>
            </a: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Group Minterms by Number of 1s</a:t>
            </a: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87378"/>
              </p:ext>
            </p:extLst>
          </p:nvPr>
        </p:nvGraphicFramePr>
        <p:xfrm>
          <a:off x="1508408" y="1893100"/>
          <a:ext cx="11005093" cy="554736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401938"/>
                <a:gridCol w="1419489"/>
                <a:gridCol w="1629328"/>
                <a:gridCol w="1370116"/>
                <a:gridCol w="1728074"/>
                <a:gridCol w="1728074"/>
                <a:gridCol w="172807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Group No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Minterm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Expression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Combine 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Combine 2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Minterm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expression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Minterm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expression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0,1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000X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0,1,4,5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0X0X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0,4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0X00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strike="sngStrike" baseline="0" dirty="0" smtClean="0">
                          <a:latin typeface="Fira Sans" charset="0"/>
                        </a:rPr>
                        <a:t>0,4,1,5</a:t>
                      </a:r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strike="sngStrike" baseline="0" dirty="0" smtClean="0">
                          <a:latin typeface="Fira Sans" charset="0"/>
                        </a:rPr>
                        <a:t>0X0X</a:t>
                      </a:r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2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1,5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0X01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4,5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010X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5,13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X101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10,11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101X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10,14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1X10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10,11,14,15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1X1X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11,15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1X11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strike="sngStrike" baseline="0" dirty="0" smtClean="0">
                          <a:latin typeface="Fira Sans" charset="0"/>
                        </a:rPr>
                        <a:t>10,14,11,15</a:t>
                      </a:r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strike="sngStrike" baseline="0" dirty="0" smtClean="0">
                          <a:latin typeface="Fira Sans" charset="0"/>
                        </a:rPr>
                        <a:t>1X1X</a:t>
                      </a:r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13,15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11X1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14,15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111X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4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44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908433"/>
            <a:ext cx="13410091" cy="622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800" dirty="0" smtClean="0">
                <a:latin typeface="Fira Sans" charset="0"/>
              </a:rPr>
              <a:t>F(A,B,C,D</a:t>
            </a:r>
            <a:r>
              <a:rPr lang="en-IN" sz="2800" dirty="0">
                <a:latin typeface="Fira Sans" charset="0"/>
              </a:rPr>
              <a:t>) = ∑m(0,1,4,5,10,11,13,14,15</a:t>
            </a:r>
            <a:r>
              <a:rPr lang="en-IN" sz="2800" dirty="0" smtClean="0">
                <a:latin typeface="Fira Sans" charset="0"/>
              </a:rPr>
              <a:t>)</a:t>
            </a: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Prime Implicants  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P1 = 5,13 = X101  , 		P2= 13,15 = 11X1, </a:t>
            </a: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 			        P3 = 0,1,4,5  =0X0X  	P4 = 10,11,14,15= 1X1X</a:t>
            </a: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Therefore P3 and P4 are essential prime Implicants 		</a:t>
            </a: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623000"/>
              </p:ext>
            </p:extLst>
          </p:nvPr>
        </p:nvGraphicFramePr>
        <p:xfrm>
          <a:off x="1470826" y="2630257"/>
          <a:ext cx="10892366" cy="2944034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2411803"/>
                <a:gridCol w="889787"/>
                <a:gridCol w="966585"/>
                <a:gridCol w="946313"/>
                <a:gridCol w="946313"/>
                <a:gridCol w="946313"/>
                <a:gridCol w="946313"/>
                <a:gridCol w="946313"/>
                <a:gridCol w="946313"/>
                <a:gridCol w="94631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PI/ Minterms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536114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P1 = 5,13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P2 = 13,15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P3 = 0,1,4,5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smtClean="0">
                          <a:latin typeface="Fira Sans" charset="0"/>
                        </a:rPr>
                        <a:t>*</a:t>
                      </a:r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smtClean="0">
                          <a:latin typeface="Fira Sans" charset="0"/>
                        </a:rPr>
                        <a:t>*</a:t>
                      </a:r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P4 = 10,11,14,15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latin typeface="Fira Sans" charset="0"/>
                        </a:rPr>
                        <a:t>*</a:t>
                      </a:r>
                      <a:endParaRPr lang="en-IN" sz="28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P1,P3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P1,P2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P2,P4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383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44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977623"/>
            <a:ext cx="13410091" cy="422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With choice of P3 and P4 Minterms covered are 0,1,4,5,10,11,14,15 </a:t>
            </a: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Minterm 13 is covered either by P1 or by P2 </a:t>
            </a: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		F = P1+P3+P4     or F =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P2+P3+P4</a:t>
            </a: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F = BC’D+A’C’+AC</a:t>
            </a: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OR </a:t>
            </a: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 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F = ABD+A’C’+AC</a:t>
            </a: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907378"/>
              </p:ext>
            </p:extLst>
          </p:nvPr>
        </p:nvGraphicFramePr>
        <p:xfrm>
          <a:off x="7701757" y="3469707"/>
          <a:ext cx="4910203" cy="2260950"/>
        </p:xfrm>
        <a:graphic>
          <a:graphicData uri="http://schemas.openxmlformats.org/drawingml/2006/table">
            <a:tbl>
              <a:tblPr firstRow="1" bandRow="1">
                <a:effectLst/>
                <a:tableStyleId>{5ACC2D46-0EAF-4A5A-82B8-2BA14381F86C}</a:tableStyleId>
              </a:tblPr>
              <a:tblGrid>
                <a:gridCol w="1052186"/>
                <a:gridCol w="911896"/>
                <a:gridCol w="901476"/>
                <a:gridCol w="1062604"/>
                <a:gridCol w="982041"/>
              </a:tblGrid>
              <a:tr h="45219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AB/CD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5219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219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219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219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8907840" y="2194560"/>
              <a:ext cx="3406320" cy="37112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98480" y="2185200"/>
                <a:ext cx="3425040" cy="372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14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99590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44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827904"/>
            <a:ext cx="13410091" cy="65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600" dirty="0" smtClean="0">
                <a:latin typeface="Fira Sans" charset="0"/>
              </a:rPr>
              <a:t>F(A,B,C,D</a:t>
            </a:r>
            <a:r>
              <a:rPr lang="en-IN" sz="2600" dirty="0">
                <a:latin typeface="Fira Sans" charset="0"/>
              </a:rPr>
              <a:t>) = </a:t>
            </a:r>
            <a:r>
              <a:rPr lang="el-GR" sz="2600" dirty="0">
                <a:latin typeface="Fira Sans" charset="0"/>
              </a:rPr>
              <a:t> Σ m (0, 1, 3, 8, 9, 13, 14, 15, 16, 17, 19, 24, 25, 27, 31) </a:t>
            </a:r>
            <a:endParaRPr lang="en-US" sz="2600" dirty="0" smtClean="0">
              <a:latin typeface="Fira Sans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613272"/>
              </p:ext>
            </p:extLst>
          </p:nvPr>
        </p:nvGraphicFramePr>
        <p:xfrm>
          <a:off x="583353" y="1289500"/>
          <a:ext cx="11980255" cy="6370166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295551"/>
                <a:gridCol w="1853852"/>
                <a:gridCol w="1490597"/>
                <a:gridCol w="1127343"/>
                <a:gridCol w="914400"/>
                <a:gridCol w="1553227"/>
                <a:gridCol w="826718"/>
                <a:gridCol w="1340285"/>
                <a:gridCol w="1578282"/>
              </a:tblGrid>
              <a:tr h="4265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Group No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Minterm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Expression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2,3</a:t>
                      </a:r>
                      <a:endParaRPr lang="en-IN" sz="2000" b="1" i="0" u="none" strike="noStrike" cap="none" dirty="0" smtClean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3,19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0,8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0X000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9,13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01X01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742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0,16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9,25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X1001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16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1,2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1,3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000X1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17,19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100X1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00011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0X001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17,25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1X001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1,17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24,25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1100X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3,4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13,15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011X1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11000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8,24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X1000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14,15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0111X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01101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16,17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1000X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19,27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1X011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01110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16,24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1X000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25,27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110X1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10011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4,5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15,31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X1111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11001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27,31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11X11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01111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11011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11111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101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44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977623"/>
            <a:ext cx="13410091" cy="422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971550" lvl="0" indent="-514350" algn="just">
              <a:buSzPts val="2900"/>
              <a:buFont typeface="+mj-lt"/>
              <a:buAutoNum type="arabicPeriod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655240"/>
              </p:ext>
            </p:extLst>
          </p:nvPr>
        </p:nvGraphicFramePr>
        <p:xfrm>
          <a:off x="583353" y="1033892"/>
          <a:ext cx="13145174" cy="5973926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741808"/>
                <a:gridCol w="952361"/>
                <a:gridCol w="1213126"/>
                <a:gridCol w="793634"/>
                <a:gridCol w="1031725"/>
                <a:gridCol w="986374"/>
                <a:gridCol w="837456"/>
                <a:gridCol w="1465545"/>
                <a:gridCol w="1177650"/>
                <a:gridCol w="1315165"/>
                <a:gridCol w="1490462"/>
                <a:gridCol w="1139868"/>
              </a:tblGrid>
              <a:tr h="4265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Combine 2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0&amp;1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2&amp;3</a:t>
                      </a:r>
                      <a:endParaRPr lang="en-IN" sz="2000" b="1" i="0" u="none" strike="noStrike" cap="none" dirty="0" smtClean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3,19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0-1-2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0,1,8,9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0X00X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2-3-4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17,19,25,27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1X0X1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0,8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0X000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9,13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01X01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0,8,1,9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17,25,19,27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742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0,16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9,25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X1001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0,1,16,17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3-4-5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-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rowSpan="7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1&amp;2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1,3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000X1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17,19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100X1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0,16,1,17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0X001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17,25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1X001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0,16,8,24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XX000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1,17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24,25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1100X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0,8,16,24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3&amp;4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13,15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011X1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1-2-3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1,3,17,19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X00X1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8,24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X1000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14,15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0111X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1,17,3,19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16,17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1000X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19,27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1X011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1,9,17,25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XX001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16,24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1X000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25,27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110X1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1,17,9,25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rowSpan="4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4&amp;5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15,31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X1111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8,9,24,25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X100X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27,31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11X11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8,24,9,25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strike="noStrike" baseline="0" dirty="0" smtClean="0">
                          <a:latin typeface="Fira Sans" charset="0"/>
                        </a:rPr>
                        <a:t>16,17,24,25</a:t>
                      </a:r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strike="noStrike" baseline="0" dirty="0" smtClean="0">
                          <a:latin typeface="Fira Sans" charset="0"/>
                        </a:rPr>
                        <a:t>1X00X</a:t>
                      </a:r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strike="noStrike" baseline="0" dirty="0" smtClean="0">
                          <a:latin typeface="Fira Sans" charset="0"/>
                        </a:rPr>
                        <a:t>16,24,17,25</a:t>
                      </a:r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4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44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566433"/>
              </p:ext>
            </p:extLst>
          </p:nvPr>
        </p:nvGraphicFramePr>
        <p:xfrm>
          <a:off x="697022" y="1045744"/>
          <a:ext cx="13182753" cy="624840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894721"/>
                <a:gridCol w="1102290"/>
                <a:gridCol w="814192"/>
                <a:gridCol w="1464608"/>
                <a:gridCol w="1027134"/>
                <a:gridCol w="889348"/>
                <a:gridCol w="1440493"/>
                <a:gridCol w="926926"/>
                <a:gridCol w="1077239"/>
                <a:gridCol w="2442575"/>
                <a:gridCol w="1103227"/>
              </a:tblGrid>
              <a:tr h="426566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PI from Combine 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Combine 2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Combine 3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9,13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01X01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0-1-2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0,1,8,9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0X00X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2-3-4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17,19,25,27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1X0X1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0-1-2-3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0,1,8,9, 16,17,24,25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XX00X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13,15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011X1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0,8,1,9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17,25,19,27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0,1,16,17,8,9,24,25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  <a:tr h="37742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14,15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0111X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0,1,16,17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3-4-5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-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0,16,8,24,1,17,9,25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15,31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X1111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0,16,1,17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1-2-3-4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-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27,31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11X11</a:t>
                      </a:r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0,16,8,24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XX000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0,8,16,24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1-2-3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1,3,17,19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C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X00X1</a:t>
                      </a:r>
                      <a:endParaRPr lang="en-IN" sz="2000" b="1" i="0" u="none" strike="noStrike" cap="none" dirty="0">
                        <a:solidFill>
                          <a:srgbClr val="C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1,17,3,19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1,9,17,25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XX001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1,17,9,25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8,9,24,25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X100X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8,24,9,25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strike="noStrike" baseline="0" dirty="0" smtClean="0">
                          <a:latin typeface="Fira Sans" charset="0"/>
                        </a:rPr>
                        <a:t>16,17,24,25</a:t>
                      </a:r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strike="noStrike" baseline="0" dirty="0" smtClean="0">
                          <a:latin typeface="Fira Sans" charset="0"/>
                        </a:rPr>
                        <a:t>1X00X</a:t>
                      </a:r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strike="noStrike" baseline="0" dirty="0" smtClean="0">
                          <a:latin typeface="Fira Sans" charset="0"/>
                        </a:rPr>
                        <a:t>16,24,17,25</a:t>
                      </a:r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noStrike" baseline="0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9115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423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36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36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36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908433"/>
            <a:ext cx="13410091" cy="622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400" dirty="0" smtClean="0">
                <a:latin typeface="Fira Sans" charset="0"/>
              </a:rPr>
              <a:t>F(A,B,C,D</a:t>
            </a:r>
            <a:r>
              <a:rPr lang="en-IN" sz="2400" dirty="0">
                <a:latin typeface="Fira Sans" charset="0"/>
              </a:rPr>
              <a:t>) = </a:t>
            </a:r>
            <a:r>
              <a:rPr lang="el-GR" sz="2400" dirty="0">
                <a:latin typeface="Fira Sans" charset="0"/>
              </a:rPr>
              <a:t> Σ m (0, 1, 3, 8, 9, 13, 14, 15, 16, 17, 19, 24, 25, 27, 31) </a:t>
            </a:r>
            <a:endParaRPr lang="en-US" sz="2400" dirty="0">
              <a:latin typeface="Fira Sans" charset="0"/>
            </a:endParaRPr>
          </a:p>
          <a:p>
            <a:pPr fontAlgn="t"/>
            <a:r>
              <a:rPr lang="en-US" sz="24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Prime Implicants   </a:t>
            </a:r>
            <a:r>
              <a:rPr lang="en-US" sz="24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P1 = </a:t>
            </a:r>
            <a:r>
              <a:rPr lang="en-US" sz="2400" b="1" dirty="0" smtClean="0">
                <a:latin typeface="Fira Sans" charset="0"/>
              </a:rPr>
              <a:t>9,13 = 01X01     P2 = 13,15 = 011X1    P3 =14,15 = 0111X</a:t>
            </a:r>
            <a:endParaRPr lang="en-IN" sz="2400" dirty="0">
              <a:latin typeface="Fira Sans" charset="0"/>
            </a:endParaRPr>
          </a:p>
          <a:p>
            <a:pPr fontAlgn="t"/>
            <a:r>
              <a:rPr lang="en-US" sz="2400" b="1" dirty="0" smtClean="0">
                <a:latin typeface="Fira Sans" charset="0"/>
              </a:rPr>
              <a:t>  P4 = 15,31=X1111  P5 = 27,31 =11X11   P6 = 1,3,17,19 = X00X1</a:t>
            </a:r>
          </a:p>
          <a:p>
            <a:pPr fontAlgn="t"/>
            <a:r>
              <a:rPr lang="en-US" sz="2400" b="1" dirty="0" smtClean="0">
                <a:latin typeface="Fira Sans" charset="0"/>
              </a:rPr>
              <a:t>P7 = 17,19,25,27 = 1X0X1   P8 = </a:t>
            </a:r>
            <a:r>
              <a:rPr lang="en-US" sz="2400" b="1" dirty="0">
                <a:latin typeface="Fira Sans" charset="0"/>
              </a:rPr>
              <a:t>0,1,8,9, </a:t>
            </a:r>
            <a:r>
              <a:rPr lang="en-US" sz="2400" b="1" dirty="0" smtClean="0">
                <a:latin typeface="Fira Sans" charset="0"/>
              </a:rPr>
              <a:t>16,17,24,25 = XX00X</a:t>
            </a:r>
            <a:endParaRPr lang="en-IN" sz="2400" dirty="0">
              <a:latin typeface="Fira Sans" charset="0"/>
            </a:endParaRPr>
          </a:p>
          <a:p>
            <a:pPr fontAlgn="t"/>
            <a:endParaRPr lang="en-IN" sz="2800" dirty="0"/>
          </a:p>
          <a:p>
            <a:pPr fontAlgn="t"/>
            <a:endParaRPr lang="en-IN" sz="2800" dirty="0"/>
          </a:p>
          <a:p>
            <a:pPr fontAlgn="t"/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		</a:t>
            </a: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20938"/>
              </p:ext>
            </p:extLst>
          </p:nvPr>
        </p:nvGraphicFramePr>
        <p:xfrm>
          <a:off x="914407" y="2573802"/>
          <a:ext cx="11974874" cy="4376594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3026498"/>
                <a:gridCol w="487040"/>
                <a:gridCol w="512620"/>
                <a:gridCol w="536853"/>
                <a:gridCol w="555365"/>
                <a:gridCol w="527598"/>
                <a:gridCol w="555365"/>
                <a:gridCol w="555365"/>
                <a:gridCol w="555365"/>
                <a:gridCol w="555365"/>
                <a:gridCol w="575101"/>
                <a:gridCol w="703908"/>
                <a:gridCol w="733297"/>
                <a:gridCol w="698378"/>
                <a:gridCol w="698378"/>
                <a:gridCol w="69837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PI/ Minterms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8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9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16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17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19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31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536114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P1 = 9,13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P2 = 13,15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P3 = 14,15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P4 = 15,31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P5 = 27,31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P6 = 1,3,17,19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P7 = 17,19,25,27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P8 = 0,1,8,9,16,17,24,25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EPI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P6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000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423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36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36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36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682964"/>
            <a:ext cx="13410091" cy="622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400" dirty="0" smtClean="0">
                <a:latin typeface="Fira Sans" charset="0"/>
              </a:rPr>
              <a:t>F(A,B,C,D</a:t>
            </a:r>
            <a:r>
              <a:rPr lang="en-IN" sz="2400" dirty="0">
                <a:latin typeface="Fira Sans" charset="0"/>
              </a:rPr>
              <a:t>) = </a:t>
            </a:r>
            <a:r>
              <a:rPr lang="el-GR" sz="2400" dirty="0">
                <a:latin typeface="Fira Sans" charset="0"/>
              </a:rPr>
              <a:t> Σ m (0, 1, 3, 8, 9, 13, 14, 15, 16, 17, 19, 24, 25, 27, 31</a:t>
            </a:r>
            <a:r>
              <a:rPr lang="el-GR" sz="2400" dirty="0" smtClean="0">
                <a:latin typeface="Fira Sans" charset="0"/>
              </a:rPr>
              <a:t>)</a:t>
            </a:r>
            <a:endParaRPr lang="en-US" sz="2400" dirty="0" smtClean="0">
              <a:latin typeface="Fira Sans" charset="0"/>
            </a:endParaRPr>
          </a:p>
          <a:p>
            <a:pPr marL="457200" lvl="0" algn="just">
              <a:buSzPts val="2900"/>
            </a:pPr>
            <a:r>
              <a:rPr lang="en-US" sz="2400" dirty="0" smtClean="0">
                <a:latin typeface="Fira Sans" charset="0"/>
              </a:rPr>
              <a:t>F  = P3+P6+P8</a:t>
            </a:r>
            <a:r>
              <a:rPr lang="el-GR" sz="2400" dirty="0" smtClean="0">
                <a:latin typeface="Fira Sans" charset="0"/>
              </a:rPr>
              <a:t> </a:t>
            </a:r>
            <a:r>
              <a:rPr lang="en-US" sz="2400" dirty="0" smtClean="0">
                <a:latin typeface="Fira Sans" charset="0"/>
              </a:rPr>
              <a:t> consider P5 for 27 and 31 , P1/P2 for 13 </a:t>
            </a:r>
          </a:p>
          <a:p>
            <a:pPr marL="457200" lvl="0" algn="just">
              <a:buSzPts val="2900"/>
            </a:pPr>
            <a:r>
              <a:rPr lang="en-US" sz="2400" dirty="0" smtClean="0">
                <a:latin typeface="Fira Sans" charset="0"/>
              </a:rPr>
              <a:t>F = P1+P3+P5+P6+P8    or P2+</a:t>
            </a:r>
            <a:r>
              <a:rPr lang="en-US" sz="2400" dirty="0">
                <a:latin typeface="Fira Sans" charset="0"/>
              </a:rPr>
              <a:t>P3+P5+P6+P8</a:t>
            </a:r>
          </a:p>
          <a:p>
            <a:pPr fontAlgn="t"/>
            <a:endParaRPr lang="en-IN" sz="2800" dirty="0"/>
          </a:p>
          <a:p>
            <a:pPr fontAlgn="t"/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		</a:t>
            </a: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945041"/>
              </p:ext>
            </p:extLst>
          </p:nvPr>
        </p:nvGraphicFramePr>
        <p:xfrm>
          <a:off x="977037" y="1962933"/>
          <a:ext cx="11974874" cy="512064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3026498"/>
                <a:gridCol w="487040"/>
                <a:gridCol w="512620"/>
                <a:gridCol w="536853"/>
                <a:gridCol w="555365"/>
                <a:gridCol w="527598"/>
                <a:gridCol w="555365"/>
                <a:gridCol w="555365"/>
                <a:gridCol w="555365"/>
                <a:gridCol w="555365"/>
                <a:gridCol w="575101"/>
                <a:gridCol w="703908"/>
                <a:gridCol w="733297"/>
                <a:gridCol w="698378"/>
                <a:gridCol w="698378"/>
                <a:gridCol w="698378"/>
              </a:tblGrid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PI/ Minterms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8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9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16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17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19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31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P1 = 9,13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P2 = 13,15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P3 = 14,15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P4 = 15,31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P5 = 27,31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P6 = 1,3,17,19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P7 = 17,19,25,27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P8 = 0,1,8,9,16,17,24,25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EPI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P6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Covered Minterms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Remaining Minterms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1003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99590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44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827904"/>
            <a:ext cx="13410091" cy="65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600" dirty="0" smtClean="0">
                <a:latin typeface="Fira Sans" charset="0"/>
              </a:rPr>
              <a:t>F(A,B,C,D</a:t>
            </a:r>
            <a:r>
              <a:rPr lang="en-IN" sz="2600" dirty="0">
                <a:latin typeface="Fira Sans" charset="0"/>
              </a:rPr>
              <a:t>) = </a:t>
            </a:r>
            <a:r>
              <a:rPr lang="el-GR" sz="2600" dirty="0">
                <a:latin typeface="Fira Sans" charset="0"/>
              </a:rPr>
              <a:t> Σ m (</a:t>
            </a:r>
            <a:r>
              <a:rPr lang="el-GR" sz="2600" dirty="0" smtClean="0">
                <a:latin typeface="Fira Sans" charset="0"/>
              </a:rPr>
              <a:t>0,</a:t>
            </a:r>
            <a:r>
              <a:rPr lang="en-US" sz="2600" dirty="0" smtClean="0">
                <a:latin typeface="Fira Sans" charset="0"/>
              </a:rPr>
              <a:t>2,5,7,</a:t>
            </a:r>
            <a:r>
              <a:rPr lang="el-GR" sz="2600" dirty="0" smtClean="0">
                <a:latin typeface="Fira Sans" charset="0"/>
              </a:rPr>
              <a:t>8</a:t>
            </a:r>
            <a:r>
              <a:rPr lang="el-GR" sz="2600" dirty="0">
                <a:latin typeface="Fira Sans" charset="0"/>
              </a:rPr>
              <a:t>, </a:t>
            </a:r>
            <a:r>
              <a:rPr lang="el-GR" sz="2600" dirty="0" smtClean="0">
                <a:latin typeface="Fira Sans" charset="0"/>
              </a:rPr>
              <a:t>9,</a:t>
            </a:r>
            <a:r>
              <a:rPr lang="en-US" sz="2600" dirty="0" smtClean="0">
                <a:latin typeface="Fira Sans" charset="0"/>
              </a:rPr>
              <a:t>10,11,</a:t>
            </a:r>
            <a:r>
              <a:rPr lang="el-GR" sz="2600" dirty="0" smtClean="0">
                <a:latin typeface="Fira Sans" charset="0"/>
              </a:rPr>
              <a:t> 13,15) </a:t>
            </a:r>
            <a:endParaRPr lang="en-US" sz="2600" dirty="0" smtClean="0">
              <a:latin typeface="Fira Sans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576015"/>
              </p:ext>
            </p:extLst>
          </p:nvPr>
        </p:nvGraphicFramePr>
        <p:xfrm>
          <a:off x="1298270" y="1826372"/>
          <a:ext cx="11980255" cy="4388966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295551"/>
                <a:gridCol w="1853852"/>
                <a:gridCol w="1490597"/>
                <a:gridCol w="1127343"/>
                <a:gridCol w="914400"/>
                <a:gridCol w="1553227"/>
                <a:gridCol w="826718"/>
                <a:gridCol w="1340285"/>
                <a:gridCol w="1578282"/>
              </a:tblGrid>
              <a:tr h="4265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Group No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Minterm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Expression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00X0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3,4</a:t>
                      </a:r>
                      <a:endParaRPr lang="en-IN" sz="2000" b="1" i="0" u="none" strike="noStrike" cap="none" dirty="0" smtClean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7,15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X111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0010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0,8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11,15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1X11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742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1,2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2,10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X010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13,15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11X1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1001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8,10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10X0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1010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2,3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5,7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01X1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5,13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X101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9,11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10X1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1101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9,13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1X01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448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4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01111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10,11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101X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6306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99590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44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827904"/>
            <a:ext cx="13410091" cy="65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600" dirty="0" smtClean="0">
                <a:latin typeface="Fira Sans" charset="0"/>
              </a:rPr>
              <a:t>F(A,B,C,D</a:t>
            </a:r>
            <a:r>
              <a:rPr lang="en-IN" sz="2600" dirty="0">
                <a:latin typeface="Fira Sans" charset="0"/>
              </a:rPr>
              <a:t>) = </a:t>
            </a:r>
            <a:r>
              <a:rPr lang="el-GR" sz="2600" dirty="0">
                <a:latin typeface="Fira Sans" charset="0"/>
              </a:rPr>
              <a:t> Σ m (</a:t>
            </a:r>
            <a:r>
              <a:rPr lang="el-GR" sz="2600" dirty="0" smtClean="0">
                <a:latin typeface="Fira Sans" charset="0"/>
              </a:rPr>
              <a:t>0,</a:t>
            </a:r>
            <a:r>
              <a:rPr lang="en-US" sz="2600" dirty="0" smtClean="0">
                <a:latin typeface="Fira Sans" charset="0"/>
              </a:rPr>
              <a:t>2,5,7,</a:t>
            </a:r>
            <a:r>
              <a:rPr lang="el-GR" sz="2600" dirty="0" smtClean="0">
                <a:latin typeface="Fira Sans" charset="0"/>
              </a:rPr>
              <a:t>8</a:t>
            </a:r>
            <a:r>
              <a:rPr lang="el-GR" sz="2600" dirty="0">
                <a:latin typeface="Fira Sans" charset="0"/>
              </a:rPr>
              <a:t>, </a:t>
            </a:r>
            <a:r>
              <a:rPr lang="el-GR" sz="2600" dirty="0" smtClean="0">
                <a:latin typeface="Fira Sans" charset="0"/>
              </a:rPr>
              <a:t>9,</a:t>
            </a:r>
            <a:r>
              <a:rPr lang="en-US" sz="2600" dirty="0" smtClean="0">
                <a:latin typeface="Fira Sans" charset="0"/>
              </a:rPr>
              <a:t>10,11,</a:t>
            </a:r>
            <a:r>
              <a:rPr lang="el-GR" sz="2600" dirty="0" smtClean="0">
                <a:latin typeface="Fira Sans" charset="0"/>
              </a:rPr>
              <a:t> 13,15) </a:t>
            </a:r>
            <a:endParaRPr lang="en-US" sz="2600" dirty="0" smtClean="0">
              <a:latin typeface="Fira Sans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840640"/>
              </p:ext>
            </p:extLst>
          </p:nvPr>
        </p:nvGraphicFramePr>
        <p:xfrm>
          <a:off x="1298268" y="1826372"/>
          <a:ext cx="10826927" cy="4693766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893966"/>
                <a:gridCol w="725106"/>
                <a:gridCol w="1231685"/>
                <a:gridCol w="655575"/>
                <a:gridCol w="1062825"/>
                <a:gridCol w="1251554"/>
                <a:gridCol w="1251554"/>
                <a:gridCol w="1251554"/>
                <a:gridCol w="1251554"/>
                <a:gridCol w="1251554"/>
              </a:tblGrid>
              <a:tr h="42656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Gr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Combine 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00X0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3,4</a:t>
                      </a:r>
                      <a:endParaRPr lang="en-IN" sz="2000" b="1" i="0" u="none" strike="noStrike" cap="none" dirty="0" smtClean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7,15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X111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0-1-2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0,2,8,10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X0X0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0,8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X000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11,15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1X11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0,8,2,10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7420"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1,2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2,10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X010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13,15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11X1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1-2-3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8,9,10,11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10XX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P2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8,9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100X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8,10,9,11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8,10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10X0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2-3-4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5,7,13,15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X1X1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P3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rowSpan="5"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2,3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5,7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01X1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5,13,7,15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5,13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X101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9,13,11,15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1XX1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P4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9,11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10X1</a:t>
                      </a:r>
                      <a:endParaRPr lang="en-IN" sz="20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9,11,13,15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9,13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1X01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4486">
                <a:tc vMerge="1"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10,11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101X</a:t>
                      </a:r>
                      <a:endParaRPr lang="en-IN" sz="20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423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36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36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36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908433"/>
            <a:ext cx="13410091" cy="622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400" dirty="0" smtClean="0">
                <a:latin typeface="Fira Sans" charset="0"/>
              </a:rPr>
              <a:t>F(A,B,C,D</a:t>
            </a:r>
            <a:r>
              <a:rPr lang="en-IN" sz="2400" dirty="0">
                <a:latin typeface="Fira Sans" charset="0"/>
              </a:rPr>
              <a:t>) = </a:t>
            </a:r>
            <a:r>
              <a:rPr lang="el-GR" sz="2400" dirty="0">
                <a:latin typeface="Fira Sans" charset="0"/>
              </a:rPr>
              <a:t> Σ m (0,</a:t>
            </a:r>
            <a:r>
              <a:rPr lang="en-US" sz="2400" dirty="0">
                <a:latin typeface="Fira Sans" charset="0"/>
              </a:rPr>
              <a:t>2,5,7,</a:t>
            </a:r>
            <a:r>
              <a:rPr lang="el-GR" sz="2400" dirty="0">
                <a:latin typeface="Fira Sans" charset="0"/>
              </a:rPr>
              <a:t>8, 9,</a:t>
            </a:r>
            <a:r>
              <a:rPr lang="en-US" sz="2400" dirty="0">
                <a:latin typeface="Fira Sans" charset="0"/>
              </a:rPr>
              <a:t>10,11,</a:t>
            </a:r>
            <a:r>
              <a:rPr lang="el-GR" sz="2400" dirty="0">
                <a:latin typeface="Fira Sans" charset="0"/>
              </a:rPr>
              <a:t> 13,15) </a:t>
            </a:r>
            <a:endParaRPr lang="en-US" sz="2400" dirty="0">
              <a:latin typeface="Fira Sans" charset="0"/>
            </a:endParaRPr>
          </a:p>
          <a:p>
            <a:pPr fontAlgn="t"/>
            <a:r>
              <a:rPr lang="en-US" sz="24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</a:rPr>
              <a:t>Prime Implicants  		 </a:t>
            </a:r>
            <a:r>
              <a:rPr lang="en-US" sz="24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P1 = </a:t>
            </a:r>
            <a:r>
              <a:rPr lang="en-US" sz="2400" b="1" dirty="0" smtClean="0">
                <a:latin typeface="Fira Sans" charset="0"/>
              </a:rPr>
              <a:t>0,2,8,10 = X0X0      P2 =8,9,10,11 = 10XX      </a:t>
            </a:r>
          </a:p>
          <a:p>
            <a:pPr fontAlgn="t"/>
            <a:r>
              <a:rPr lang="en-US" sz="2400" b="1" dirty="0" smtClean="0">
                <a:latin typeface="Fira Sans" charset="0"/>
              </a:rPr>
              <a:t>				P3 =5,7,13,15 = X1X1        P4 = 9,13,11,15 = 1XX1</a:t>
            </a:r>
            <a:endParaRPr lang="en-IN" sz="2400" dirty="0">
              <a:latin typeface="Fira Sans" charset="0"/>
            </a:endParaRPr>
          </a:p>
          <a:p>
            <a:pPr fontAlgn="t"/>
            <a:endParaRPr lang="en-IN" sz="2800" dirty="0"/>
          </a:p>
          <a:p>
            <a:pPr fontAlgn="t"/>
            <a:endParaRPr lang="en-IN" sz="2800" dirty="0"/>
          </a:p>
          <a:p>
            <a:pPr fontAlgn="t"/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err="1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Reamining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 minterms ( 9 and 11) can be covered either by P2 or P4</a:t>
            </a: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		F = P1+P3+P2 = P1+P3+P4</a:t>
            </a: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	</a:t>
            </a: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	   = B’D’+BD+AB’ = B’D’+BD+AD</a:t>
            </a: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		</a:t>
            </a: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316657"/>
              </p:ext>
            </p:extLst>
          </p:nvPr>
        </p:nvGraphicFramePr>
        <p:xfrm>
          <a:off x="889355" y="2259278"/>
          <a:ext cx="10960267" cy="3523154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3929060"/>
                <a:gridCol w="632285"/>
                <a:gridCol w="665493"/>
                <a:gridCol w="696953"/>
                <a:gridCol w="720986"/>
                <a:gridCol w="684938"/>
                <a:gridCol w="720986"/>
                <a:gridCol w="720986"/>
                <a:gridCol w="585248"/>
                <a:gridCol w="856724"/>
                <a:gridCol w="74660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PI/ Minterms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2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7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8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9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15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53611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dk1"/>
                          </a:solidFill>
                          <a:latin typeface="Fira Sans" charset="0"/>
                          <a:ea typeface="Fira Sans"/>
                          <a:cs typeface="Fira Sans"/>
                          <a:sym typeface="Fira Sans"/>
                        </a:rPr>
                        <a:t>P1 = </a:t>
                      </a:r>
                      <a:r>
                        <a:rPr lang="en-US" sz="2000" b="1" dirty="0" smtClean="0">
                          <a:latin typeface="Fira Sans" charset="0"/>
                        </a:rPr>
                        <a:t>0,2,8,10 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P2 =8,9,10,11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P3 =5,7,13,15 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P4 = 9,13,11,15 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EPI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P1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P1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P3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Covered</a:t>
                      </a:r>
                      <a:r>
                        <a:rPr lang="en-US" sz="2200" b="1" baseline="0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 Minterms by EPI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Remaining Minterms 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234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50949" y="423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36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</a:t>
            </a:r>
            <a:r>
              <a:rPr lang="en-US" sz="3600" b="1" dirty="0" err="1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Quine</a:t>
            </a:r>
            <a:r>
              <a:rPr lang="en-US" sz="36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McClusky Metho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83353" y="682964"/>
            <a:ext cx="13410091" cy="622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400" dirty="0" smtClean="0">
                <a:latin typeface="Fira Sans" charset="0"/>
              </a:rPr>
              <a:t>F(A,B,C,D</a:t>
            </a:r>
            <a:r>
              <a:rPr lang="en-IN" sz="2400" dirty="0">
                <a:latin typeface="Fira Sans" charset="0"/>
              </a:rPr>
              <a:t>) = </a:t>
            </a:r>
            <a:r>
              <a:rPr lang="el-GR" sz="2400" dirty="0">
                <a:latin typeface="Fira Sans" charset="0"/>
              </a:rPr>
              <a:t> Σ m (0, 1, 3, 8, 9, 13, 14, 15, 16, 17, 19, 24, 25, 27, 31</a:t>
            </a:r>
            <a:r>
              <a:rPr lang="el-GR" sz="2400" dirty="0" smtClean="0">
                <a:latin typeface="Fira Sans" charset="0"/>
              </a:rPr>
              <a:t>)</a:t>
            </a:r>
            <a:endParaRPr lang="en-US" sz="2400" dirty="0" smtClean="0">
              <a:latin typeface="Fira Sans" charset="0"/>
            </a:endParaRPr>
          </a:p>
          <a:p>
            <a:pPr marL="457200" lvl="0" algn="just">
              <a:buSzPts val="2900"/>
            </a:pPr>
            <a:r>
              <a:rPr lang="en-US" sz="2400" dirty="0" smtClean="0">
                <a:latin typeface="Fira Sans" charset="0"/>
              </a:rPr>
              <a:t>F  = P3+P6+P8</a:t>
            </a:r>
            <a:r>
              <a:rPr lang="el-GR" sz="2400" dirty="0" smtClean="0">
                <a:latin typeface="Fira Sans" charset="0"/>
              </a:rPr>
              <a:t> </a:t>
            </a:r>
            <a:r>
              <a:rPr lang="en-US" sz="2400" dirty="0" smtClean="0">
                <a:latin typeface="Fira Sans" charset="0"/>
              </a:rPr>
              <a:t> consider P5 for 27 and 31 , P1/P2 for 13 </a:t>
            </a:r>
          </a:p>
          <a:p>
            <a:pPr marL="457200" lvl="0" algn="just">
              <a:buSzPts val="2900"/>
            </a:pPr>
            <a:r>
              <a:rPr lang="en-US" sz="2400" dirty="0" smtClean="0">
                <a:latin typeface="Fira Sans" charset="0"/>
              </a:rPr>
              <a:t>F = P1+P3+P5+P6+P8    or P2+</a:t>
            </a:r>
            <a:r>
              <a:rPr lang="en-US" sz="2400" dirty="0">
                <a:latin typeface="Fira Sans" charset="0"/>
              </a:rPr>
              <a:t>P3+P5+P6+P8</a:t>
            </a:r>
          </a:p>
          <a:p>
            <a:pPr fontAlgn="t"/>
            <a:endParaRPr lang="en-IN" sz="2800" dirty="0"/>
          </a:p>
          <a:p>
            <a:pPr fontAlgn="t"/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		</a:t>
            </a:r>
            <a:endParaRPr lang="en-US" sz="2800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249084"/>
              </p:ext>
            </p:extLst>
          </p:nvPr>
        </p:nvGraphicFramePr>
        <p:xfrm>
          <a:off x="977037" y="1962933"/>
          <a:ext cx="11974874" cy="512064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3026498"/>
                <a:gridCol w="487040"/>
                <a:gridCol w="512620"/>
                <a:gridCol w="536853"/>
                <a:gridCol w="555365"/>
                <a:gridCol w="527598"/>
                <a:gridCol w="555365"/>
                <a:gridCol w="555365"/>
                <a:gridCol w="555365"/>
                <a:gridCol w="555365"/>
                <a:gridCol w="575101"/>
                <a:gridCol w="703908"/>
                <a:gridCol w="733297"/>
                <a:gridCol w="698378"/>
                <a:gridCol w="698378"/>
                <a:gridCol w="698378"/>
              </a:tblGrid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PI/ Minterms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8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9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13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14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16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17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19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25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2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31</a:t>
                      </a:r>
                      <a:endParaRPr lang="en-IN" sz="22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P1 = 9,13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P2 = 13,15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P3 = 14,15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strike="sngStrike" baseline="0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P4 = 15,31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P5 = 27,31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P6 = 1,3,17,19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P7 = 17,19,25,27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P8 = 0,1,8,9,16,17,24,25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EPI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P6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Fira Sans" charset="0"/>
                        </a:rPr>
                        <a:t>P3</a:t>
                      </a:r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 smtClean="0">
                          <a:latin typeface="Fira Sans" charset="0"/>
                        </a:rPr>
                        <a:t>P8</a:t>
                      </a: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000" b="1" dirty="0" smtClean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Covered Minterms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0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</a:tr>
              <a:tr h="401345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chemeClr val="tx1"/>
                          </a:solidFill>
                          <a:latin typeface="Fira Sans" charset="0"/>
                        </a:rPr>
                        <a:t>Remaining Minterms</a:t>
                      </a:r>
                      <a:endParaRPr lang="en-IN" sz="2200" b="1" dirty="0">
                        <a:solidFill>
                          <a:schemeClr val="tx1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*</a:t>
                      </a:r>
                      <a:endParaRPr lang="en-IN" sz="2200" b="1" dirty="0" smtClean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10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21724</TotalTime>
  <Words>1329</Words>
  <Application>Microsoft Office PowerPoint</Application>
  <PresentationFormat>Custom</PresentationFormat>
  <Paragraphs>838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Fira Sans</vt:lpstr>
      <vt:lpstr>Marcellus</vt:lpstr>
      <vt:lpstr>Calibri</vt:lpstr>
      <vt:lpstr>Office Theme</vt:lpstr>
      <vt:lpstr>Digital Logic Design</vt:lpstr>
      <vt:lpstr>Quine McCluskey Minimization Techniques 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  <vt:lpstr>Minimization using Quine McClusky Method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Arati Phadke</dc:creator>
  <cp:lastModifiedBy>Admin</cp:lastModifiedBy>
  <cp:revision>79</cp:revision>
  <dcterms:modified xsi:type="dcterms:W3CDTF">2025-11-29T11:50:46Z</dcterms:modified>
</cp:coreProperties>
</file>