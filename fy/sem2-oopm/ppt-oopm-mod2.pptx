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6858000" cx="9144000"/>
  <p:notesSz cx="9144000" cy="6858000"/>
  <p:embeddedFontLst>
    <p:embeddedFont>
      <p:font typeface="Marcellus SC"/>
      <p:regular r:id="rId59"/>
    </p:embeddedFont>
    <p:embeddedFont>
      <p:font typeface="Roboto Mono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4" roundtripDataSignature="AMtx7mhg9Ti+0FMIR5G7mXayYTJ3WZ9R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C61399-3910-4BF2-BE0D-F22CE25B182F}">
  <a:tblStyle styleId="{13C61399-3910-4BF2-BE0D-F22CE25B182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D5361A74-8571-41BB-84BA-7743F52C2E31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RobotoMono-italic.fntdata"/><Relationship Id="rId61" Type="http://schemas.openxmlformats.org/officeDocument/2006/relationships/font" Target="fonts/RobotoMono-bold.fntdata"/><Relationship Id="rId20" Type="http://schemas.openxmlformats.org/officeDocument/2006/relationships/slide" Target="slides/slide15.xml"/><Relationship Id="rId64" Type="http://customschemas.google.com/relationships/presentationmetadata" Target="metadata"/><Relationship Id="rId63" Type="http://schemas.openxmlformats.org/officeDocument/2006/relationships/font" Target="fonts/RobotoMono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obotoMono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MarcellusSC-regular.fntdata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782c6683b_0_4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g3b782c6683b_0_4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g3b782c6683b_0_4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782c6683b_0_24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g3b782c6683b_0_24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b782c6683b_0_24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782c6683b_0_45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g3b782c6683b_0_45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3b782c6683b_0_45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782c6683b_0_34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g3b782c6683b_0_34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b782c6683b_0_34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782c6683b_0_92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g3b782c6683b_0_92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b782c6683b_0_92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782c6683b_0_55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g3b782c6683b_0_55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3b782c6683b_0_55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782c6683b_0_65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g3b782c6683b_0_65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3b782c6683b_0_65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782c6683b_0_82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g3b782c6683b_0_82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Do a right click on .class file and show students how it opens and is in non-readable language- that is bytecode</a:t>
            </a:r>
            <a:endParaRPr/>
          </a:p>
        </p:txBody>
      </p:sp>
      <p:sp>
        <p:nvSpPr>
          <p:cNvPr id="176" name="Google Shape;176;g3b782c6683b_0_82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782c6683b_0_101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g3b782c6683b_0_101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b782c6683b_0_101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55cd37522_1_0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g3b55cd37522_1_0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b55cd37522_1_0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55cd37522_1_12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g3b55cd37522_1_12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b55cd37522_1_12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55cd37522_1_24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g3b55cd37522_1_24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b55cd37522_1_24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55cd37522_1_306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g3b55cd37522_1_306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b55cd37522_1_306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55cd37522_1_322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g3b55cd37522_1_322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first example,, we change value of a property,, or we change the state,, but this doesn’t change the object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2nd example a and b are simply two names, but they refer to the same object,,identity of the object does’t change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b55cd37522_1_322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55cd37522_1_41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g3b55cd37522_1_41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b55cd37522_1_41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55cd37522_1_69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g3b55cd37522_1_69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b55cd37522_1_69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55cd37522_1_355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g3b55cd37522_1_355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g3b55cd37522_1_355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b55cd37522_1_56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g3b55cd37522_1_56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b55cd37522_1_56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b55cd37522_1_81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g3b55cd37522_1_81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b55cd37522_1_81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55cd37522_1_107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g3b55cd37522_1_107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b55cd37522_1_107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b55cd37522_1_362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1" name="Google Shape;361;g3b55cd37522_1_362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g3b55cd37522_1_362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b782c6683b_0_125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g3b782c6683b_0_125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g3b782c6683b_0_125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b55cd37522_1_375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7" name="Google Shape;387;g3b55cd37522_1_375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g3b55cd37522_1_375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55cd37522_1_398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g3b55cd37522_1_398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g3b55cd37522_1_398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55cd37522_1_410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1" name="Google Shape;411;g3b55cd37522_1_410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g3b55cd37522_1_410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b55cd37522_1_422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3" name="Google Shape;423;g3b55cd37522_1_422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g3b55cd37522_1_422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b55cd37522_1_434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5" name="Google Shape;435;g3b55cd37522_1_434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3b55cd37522_1_434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b55cd37522_1_446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7" name="Google Shape;447;g3b55cd37522_1_446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g3b55cd37522_1_446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55cd37522_1_458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9" name="Google Shape;459;g3b55cd37522_1_458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After \u there are four hex values. min value is 0 , max is 65536</a:t>
            </a:r>
            <a:endParaRPr/>
          </a:p>
        </p:txBody>
      </p:sp>
      <p:sp>
        <p:nvSpPr>
          <p:cNvPr id="460" name="Google Shape;460;g3b55cd37522_1_458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b55cd37522_1_470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1" name="Google Shape;471;g3b55cd37522_1_470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65 is ASCII value of A</a:t>
            </a:r>
            <a:endParaRPr/>
          </a:p>
        </p:txBody>
      </p:sp>
      <p:sp>
        <p:nvSpPr>
          <p:cNvPr id="472" name="Google Shape;472;g3b55cd37522_1_470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b782c6683b_0_142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4" name="Google Shape;484;g3b782c6683b_0_142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65 is ASCII value of A</a:t>
            </a:r>
            <a:endParaRPr/>
          </a:p>
        </p:txBody>
      </p:sp>
      <p:sp>
        <p:nvSpPr>
          <p:cNvPr id="485" name="Google Shape;485;g3b782c6683b_0_142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b55cd37522_1_482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6" name="Google Shape;496;g3b55cd37522_1_482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7" name="Google Shape;497;g3b55cd37522_1_482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bae19ec81c_0_0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8" name="Google Shape;508;g3bae19ec81c_0_0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9" name="Google Shape;509;g3bae19ec81c_0_0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bae19ec81c_0_16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5" name="Google Shape;525;g3bae19ec81c_0_16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g3bae19ec81c_0_16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bae19ec81c_0_40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3" name="Google Shape;543;g3bae19ec81c_0_40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4" name="Google Shape;544;g3bae19ec81c_0_40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b782c6683b_0_154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4" name="Google Shape;554;g3b782c6683b_0_154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5" name="Google Shape;555;g3b782c6683b_0_154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8ad9c3b41_1_0:notes"/>
          <p:cNvSpPr/>
          <p:nvPr>
            <p:ph idx="2" type="sldImg"/>
          </p:nvPr>
        </p:nvSpPr>
        <p:spPr>
          <a:xfrm>
            <a:off x="1371600" y="763588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6" name="Google Shape;566;g3b8ad9c3b41_1_0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7" name="Google Shape;567;g3b8ad9c3b41_1_0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b8ad9c3b41_1_6:notes"/>
          <p:cNvSpPr/>
          <p:nvPr>
            <p:ph idx="2" type="sldImg"/>
          </p:nvPr>
        </p:nvSpPr>
        <p:spPr>
          <a:xfrm>
            <a:off x="1371600" y="763588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7" name="Google Shape;577;g3b8ad9c3b41_1_6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8" name="Google Shape;578;g3b8ad9c3b41_1_6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b8ad9c3b41_1_117:notes"/>
          <p:cNvSpPr/>
          <p:nvPr>
            <p:ph idx="2" type="sldImg"/>
          </p:nvPr>
        </p:nvSpPr>
        <p:spPr>
          <a:xfrm>
            <a:off x="1371600" y="763588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0" name="Google Shape;590;g3b8ad9c3b41_1_117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g3b8ad9c3b41_1_117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b8ad9c3b41_1_131:notes"/>
          <p:cNvSpPr/>
          <p:nvPr>
            <p:ph idx="2" type="sldImg"/>
          </p:nvPr>
        </p:nvSpPr>
        <p:spPr>
          <a:xfrm>
            <a:off x="1371600" y="763588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1" name="Google Shape;601;g3b8ad9c3b41_1_131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2" name="Google Shape;602;g3b8ad9c3b41_1_131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baacef02fd_0_2:notes"/>
          <p:cNvSpPr/>
          <p:nvPr>
            <p:ph idx="2" type="sldImg"/>
          </p:nvPr>
        </p:nvSpPr>
        <p:spPr>
          <a:xfrm>
            <a:off x="1371600" y="763588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5" name="Google Shape;615;g3baacef02fd_0_2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6" name="Google Shape;616;g3baacef02fd_0_2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baacef02fd_0_38:notes"/>
          <p:cNvSpPr/>
          <p:nvPr>
            <p:ph idx="2" type="sldImg"/>
          </p:nvPr>
        </p:nvSpPr>
        <p:spPr>
          <a:xfrm>
            <a:off x="1371600" y="763588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5" name="Google Shape;625;g3baacef02fd_0_38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g3baacef02fd_0_38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b8ad9c3b41_1_94:notes"/>
          <p:cNvSpPr/>
          <p:nvPr>
            <p:ph idx="2" type="sldImg"/>
          </p:nvPr>
        </p:nvSpPr>
        <p:spPr>
          <a:xfrm>
            <a:off x="1371600" y="763588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5" name="Google Shape;635;g3b8ad9c3b41_1_94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g3b8ad9c3b41_1_94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baacef02fd_0_66:notes"/>
          <p:cNvSpPr/>
          <p:nvPr>
            <p:ph idx="2" type="sldImg"/>
          </p:nvPr>
        </p:nvSpPr>
        <p:spPr>
          <a:xfrm>
            <a:off x="1371600" y="763588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7" name="Google Shape;647;g3baacef02fd_0_66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8" name="Google Shape;648;g3baacef02fd_0_66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baacef02fd_0_53:notes"/>
          <p:cNvSpPr/>
          <p:nvPr>
            <p:ph idx="2" type="sldImg"/>
          </p:nvPr>
        </p:nvSpPr>
        <p:spPr>
          <a:xfrm>
            <a:off x="1371600" y="763588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8" name="Google Shape;658;g3baacef02fd_0_53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9" name="Google Shape;659;g3baacef02fd_0_53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baacef02fd_0_80:notes"/>
          <p:cNvSpPr/>
          <p:nvPr>
            <p:ph idx="2" type="sldImg"/>
          </p:nvPr>
        </p:nvSpPr>
        <p:spPr>
          <a:xfrm>
            <a:off x="1371600" y="763588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0" name="Google Shape;670;g3baacef02fd_0_80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1" name="Google Shape;671;g3baacef02fd_0_80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baacef02fd_0_92:notes"/>
          <p:cNvSpPr/>
          <p:nvPr>
            <p:ph idx="2" type="sldImg"/>
          </p:nvPr>
        </p:nvSpPr>
        <p:spPr>
          <a:xfrm>
            <a:off x="1371600" y="763588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2" name="Google Shape;682;g3baacef02fd_0_92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3" name="Google Shape;683;g3baacef02fd_0_92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baacef02fd_0_106:notes"/>
          <p:cNvSpPr/>
          <p:nvPr>
            <p:ph idx="2" type="sldImg"/>
          </p:nvPr>
        </p:nvSpPr>
        <p:spPr>
          <a:xfrm>
            <a:off x="1371600" y="763588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4" name="Google Shape;694;g3baacef02fd_0_106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5" name="Google Shape;695;g3baacef02fd_0_106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b55cd37522_1_135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6" name="Google Shape;706;g3b55cd37522_1_135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g3b55cd37522_1_135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b55cd37522_1_149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0" name="Google Shape;720;g3b55cd37522_1_149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g3b55cd37522_1_149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b55cd37522_1_162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3" name="Google Shape;733;g3b55cd37522_1_162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g3b55cd37522_1_162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0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"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 txBox="1"/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2"/>
          <p:cNvSpPr txBox="1"/>
          <p:nvPr>
            <p:ph idx="1"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blank">
  <p:cSld name="BLANK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1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1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1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15"/>
          <p:cNvSpPr txBox="1"/>
          <p:nvPr>
            <p:ph idx="1"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5"/>
          <p:cNvSpPr txBox="1"/>
          <p:nvPr>
            <p:ph idx="2"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1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6"/>
          <p:cNvSpPr txBox="1"/>
          <p:nvPr>
            <p:ph idx="1"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16"/>
          <p:cNvSpPr txBox="1"/>
          <p:nvPr>
            <p:ph idx="2"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16"/>
          <p:cNvSpPr txBox="1"/>
          <p:nvPr>
            <p:ph idx="3"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6"/>
          <p:cNvSpPr txBox="1"/>
          <p:nvPr>
            <p:ph idx="4"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6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6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6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7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7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7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8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8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9"/>
          <p:cNvSpPr txBox="1"/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9"/>
          <p:cNvSpPr txBox="1"/>
          <p:nvPr>
            <p:ph idx="1"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9"/>
          <p:cNvSpPr txBox="1"/>
          <p:nvPr>
            <p:ph idx="2"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9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9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9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/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20"/>
          <p:cNvSpPr txBox="1"/>
          <p:nvPr>
            <p:ph idx="1"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20"/>
          <p:cNvSpPr txBox="1"/>
          <p:nvPr>
            <p:ph idx="2"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6.jp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6.jpg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Relationship Id="rId7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Relationship Id="rId7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Relationship Id="rId7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Relationship Id="rId7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Relationship Id="rId7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Relationship Id="rId7" Type="http://schemas.openxmlformats.org/officeDocument/2006/relationships/image" Target="../media/image18.png"/><Relationship Id="rId8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Relationship Id="rId7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Relationship Id="rId7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Relationship Id="rId7" Type="http://schemas.openxmlformats.org/officeDocument/2006/relationships/image" Target="../media/image19.png"/><Relationship Id="rId8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Relationship Id="rId7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Relationship Id="rId7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Relationship Id="rId7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Relationship Id="rId7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Relationship Id="rId7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Relationship Id="rId7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Relationship Id="rId7" Type="http://schemas.openxmlformats.org/officeDocument/2006/relationships/image" Target="../media/image3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Relationship Id="rId7" Type="http://schemas.openxmlformats.org/officeDocument/2006/relationships/image" Target="../media/image3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Relationship Id="rId7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Relationship Id="rId7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png"/><Relationship Id="rId4" Type="http://schemas.openxmlformats.org/officeDocument/2006/relationships/image" Target="../media/image34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jpg"/><Relationship Id="rId8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6.jpg"/><Relationship Id="rId7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onlinegdb.com/wafsNt-ZyA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6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6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6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6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6.jpg"/><Relationship Id="rId7" Type="http://schemas.openxmlformats.org/officeDocument/2006/relationships/hyperlink" Target="https://onlinegdb.com/7EPl2n6li" TargetMode="External"/><Relationship Id="rId8" Type="http://schemas.openxmlformats.org/officeDocument/2006/relationships/hyperlink" Target="https://onlinegdb.com/WoPvXFJow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0.png"/><Relationship Id="rId4" Type="http://schemas.openxmlformats.org/officeDocument/2006/relationships/image" Target="../media/image5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6.jpg"/><Relationship Id="rId7" Type="http://schemas.openxmlformats.org/officeDocument/2006/relationships/image" Target="../media/image4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6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6.jpg"/><Relationship Id="rId7" Type="http://schemas.openxmlformats.org/officeDocument/2006/relationships/image" Target="../media/image43.png"/><Relationship Id="rId8" Type="http://schemas.openxmlformats.org/officeDocument/2006/relationships/image" Target="../media/image4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6.jpg"/><Relationship Id="rId7" Type="http://schemas.openxmlformats.org/officeDocument/2006/relationships/image" Target="../media/image42.png"/><Relationship Id="rId8" Type="http://schemas.openxmlformats.org/officeDocument/2006/relationships/image" Target="../media/image4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6.jpg"/><Relationship Id="rId7" Type="http://schemas.openxmlformats.org/officeDocument/2006/relationships/image" Target="../media/image45.png"/><Relationship Id="rId8" Type="http://schemas.openxmlformats.org/officeDocument/2006/relationships/image" Target="../media/image4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6.jpg"/><Relationship Id="rId7" Type="http://schemas.openxmlformats.org/officeDocument/2006/relationships/image" Target="../media/image46.png"/><Relationship Id="rId8" Type="http://schemas.openxmlformats.org/officeDocument/2006/relationships/image" Target="../media/image5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Relationship Id="rId7" Type="http://schemas.openxmlformats.org/officeDocument/2006/relationships/image" Target="../media/image5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3.png"/><Relationship Id="rId7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/>
          <p:nvPr>
            <p:ph type="title"/>
          </p:nvPr>
        </p:nvSpPr>
        <p:spPr>
          <a:xfrm>
            <a:off x="1048680" y="2629800"/>
            <a:ext cx="7625400" cy="1244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3300">
            <a:spAutoFit/>
          </a:bodyPr>
          <a:lstStyle/>
          <a:p>
            <a:pPr indent="0" lvl="0" marL="1259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Marcellus SC"/>
              <a:buNone/>
            </a:pPr>
            <a:r>
              <a:rPr b="0" lang="en-US" sz="4000" u="none" strike="noStrike">
                <a:solidFill>
                  <a:srgbClr val="FF0000"/>
                </a:solidFill>
                <a:latin typeface="Marcellus SC"/>
                <a:ea typeface="Marcellus SC"/>
                <a:cs typeface="Marcellus SC"/>
                <a:sym typeface="Marcellus SC"/>
              </a:rPr>
              <a:t>Module </a:t>
            </a:r>
            <a:r>
              <a:rPr lang="en-US" sz="4000">
                <a:solidFill>
                  <a:srgbClr val="FF0000"/>
                </a:solidFill>
                <a:latin typeface="Marcellus SC"/>
                <a:ea typeface="Marcellus SC"/>
                <a:cs typeface="Marcellus SC"/>
                <a:sym typeface="Marcellus SC"/>
              </a:rPr>
              <a:t>2</a:t>
            </a:r>
            <a:r>
              <a:rPr b="0" lang="en-US" sz="4000" u="none" strike="noStrike">
                <a:solidFill>
                  <a:srgbClr val="FF0000"/>
                </a:solidFill>
                <a:latin typeface="Marcellus SC"/>
                <a:ea typeface="Marcellus SC"/>
                <a:cs typeface="Marcellus SC"/>
                <a:sym typeface="Marcellus SC"/>
              </a:rPr>
              <a:t>: </a:t>
            </a:r>
            <a:r>
              <a:rPr lang="en-US" sz="4000">
                <a:solidFill>
                  <a:srgbClr val="FF0000"/>
                </a:solidFill>
                <a:latin typeface="Marcellus SC"/>
                <a:ea typeface="Marcellus SC"/>
                <a:cs typeface="Marcellus SC"/>
                <a:sym typeface="Marcellus SC"/>
              </a:rPr>
              <a:t>Classes and Objects, methods and constructors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320" y="1440"/>
            <a:ext cx="568080" cy="685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0"/>
            <a:ext cx="209160" cy="54399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520" y="5929560"/>
            <a:ext cx="3246120" cy="810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87" name="Google Shape;8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98760" y="5932800"/>
            <a:ext cx="968040" cy="72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8505000" y="6426720"/>
            <a:ext cx="1026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sp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97" name="Google Shape;9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98" name="Google Shape;9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495600" y="1241375"/>
            <a:ext cx="8152800" cy="4334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7462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AutoNum type="arabicPeriod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Java Program - structure explained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2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AutoNum type="arabicPeriod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Object Model, Elements of the Object Model (Features)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2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AutoNum type="arabicPeriod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Class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2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AutoNum type="arabicPeriod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Classes and Objects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2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AutoNum type="arabicPeriod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Types in Java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2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AutoNum type="arabicPeriod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Typecasting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2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AutoNum type="arabicPeriod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Abstractions and Mechanisms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3b782c6683b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3638" y="163250"/>
            <a:ext cx="7782900" cy="61691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7" name="Google Shape;107;g3b782c6683b_0_4"/>
          <p:cNvSpPr txBox="1"/>
          <p:nvPr/>
        </p:nvSpPr>
        <p:spPr>
          <a:xfrm>
            <a:off x="2265175" y="27107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AutoNum type="arabicPeriod"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First Java Program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g3b782c6683b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b782c6683b_0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10" name="Google Shape;110;g3b782c6683b_0_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11" name="Google Shape;111;g3b782c6683b_0_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782c6683b_0_24"/>
          <p:cNvSpPr txBox="1"/>
          <p:nvPr/>
        </p:nvSpPr>
        <p:spPr>
          <a:xfrm>
            <a:off x="383150" y="1280175"/>
            <a:ext cx="8528400" cy="4520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Hello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Every Java program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be inside a class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Hello is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name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File name should be: Hello.java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Java is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class-based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so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code exists outside a class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{ } — Class body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Curly braces define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scope of the class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Everything related to the class is written inside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public static void main(String[] args)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entry point of a Java program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b782c6683b_0_24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First Java Program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g3b782c6683b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b782c6683b_0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21" name="Google Shape;121;g3b782c6683b_0_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22" name="Google Shape;122;g3b782c6683b_0_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782c6683b_0_45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First Java Program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g3b782c6683b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b782c6683b_0_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31" name="Google Shape;131;g3b782c6683b_0_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32" name="Google Shape;132;g3b782c6683b_0_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b782c6683b_0_45"/>
          <p:cNvSpPr txBox="1"/>
          <p:nvPr/>
        </p:nvSpPr>
        <p:spPr>
          <a:xfrm>
            <a:off x="307788" y="1824525"/>
            <a:ext cx="8528400" cy="20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System.out.println("Hello World");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Prints output on the screen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→ predefined class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 → output stream object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println() → method to print text and move to next line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782c6683b_0_34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First Java Program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g3b782c6683b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b782c6683b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42" name="Google Shape;142;g3b782c6683b_0_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43" name="Google Shape;143;g3b782c6683b_0_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4" name="Google Shape;144;g3b782c6683b_0_34"/>
          <p:cNvGraphicFramePr/>
          <p:nvPr/>
        </p:nvGraphicFramePr>
        <p:xfrm>
          <a:off x="1103375" y="178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{13C61399-3910-4BF2-BE0D-F22CE25B182F}</a:tableStyleId>
              </a:tblPr>
              <a:tblGrid>
                <a:gridCol w="2026575"/>
                <a:gridCol w="54124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Keyword</a:t>
                      </a:r>
                      <a:endParaRPr b="1" sz="2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Meaning</a:t>
                      </a:r>
                      <a:endParaRPr b="1" sz="2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public</a:t>
                      </a:r>
                      <a:endParaRPr sz="2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JVM can access it from anywhere</a:t>
                      </a:r>
                      <a:endParaRPr sz="2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static</a:t>
                      </a:r>
                      <a:endParaRPr sz="2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No object is required to call main fxn</a:t>
                      </a:r>
                      <a:endParaRPr sz="2100" u="none" cap="none" strike="noStrike">
                        <a:solidFill>
                          <a:srgbClr val="188038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void</a:t>
                      </a:r>
                      <a:endParaRPr sz="2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Returns nothing</a:t>
                      </a:r>
                      <a:endParaRPr sz="2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main</a:t>
                      </a:r>
                      <a:endParaRPr sz="2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JVM looks for this method (entry point)</a:t>
                      </a:r>
                      <a:endParaRPr sz="2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String[] args</a:t>
                      </a:r>
                      <a:endParaRPr sz="2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Command-line arguments</a:t>
                      </a:r>
                      <a:endParaRPr sz="2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782c6683b_0_92"/>
          <p:cNvSpPr txBox="1"/>
          <p:nvPr/>
        </p:nvSpPr>
        <p:spPr>
          <a:xfrm>
            <a:off x="1205350" y="2244100"/>
            <a:ext cx="6359100" cy="178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1" lang="en-US" sz="2600" u="none" cap="none" strike="noStrike">
                <a:solidFill>
                  <a:srgbClr val="FF0000"/>
                </a:solidFill>
                <a:highlight>
                  <a:srgbClr val="FAFBFC"/>
                </a:highlight>
                <a:latin typeface="Arial"/>
                <a:ea typeface="Arial"/>
                <a:cs typeface="Arial"/>
                <a:sym typeface="Arial"/>
              </a:rPr>
              <a:t>The computer does not understand our human languages and it only understands codes that are in binary or coded form that means 0 or 1.</a:t>
            </a:r>
            <a:endParaRPr b="1" i="1" sz="2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782c6683b_0_55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How Java Program runs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g3b782c6683b_0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b782c6683b_0_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59" name="Google Shape;159;g3b782c6683b_0_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60" name="Google Shape;160;g3b782c6683b_0_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b782c6683b_0_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5938" y="1112275"/>
            <a:ext cx="7802824" cy="487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g3b782c6683b_0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b782c6683b_0_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69" name="Google Shape;169;g3b782c6683b_0_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70" name="Google Shape;170;g3b782c6683b_0_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b782c6683b_0_6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0001" y="633975"/>
            <a:ext cx="8067049" cy="54218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2" name="Google Shape;172;g3b782c6683b_0_65"/>
          <p:cNvSpPr txBox="1"/>
          <p:nvPr/>
        </p:nvSpPr>
        <p:spPr>
          <a:xfrm>
            <a:off x="2221950" y="8527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How Java Program runs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782c6683b_0_82"/>
          <p:cNvSpPr txBox="1"/>
          <p:nvPr/>
        </p:nvSpPr>
        <p:spPr>
          <a:xfrm>
            <a:off x="383150" y="1280175"/>
            <a:ext cx="8528400" cy="3638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 compiles the source code which in turn gives out the </a:t>
            </a:r>
            <a:r>
              <a:rPr b="1" i="0" lang="en-US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bytecode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that needs to have a </a:t>
            </a:r>
            <a:r>
              <a:rPr b="1" i="0" lang="en-US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program.class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extension. 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bytecode can be run anywhere irrespective of the machine on which it has been built -</a:t>
            </a:r>
            <a:r>
              <a:rPr b="1" i="0" lang="en-US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Platform Independence</a:t>
            </a:r>
            <a:endParaRPr b="1" i="0" sz="2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1" i="0" lang="en-US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Virtual Machine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which is an </a:t>
            </a:r>
            <a:r>
              <a:rPr b="1" i="0" lang="en-US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interpreter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reads all the statements thoroughly step by step from the java bytecode, and converts it into  </a:t>
            </a:r>
            <a:r>
              <a:rPr b="1" i="0" lang="en-US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machine-level language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 that the machine can execute the code.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b782c6683b_0_82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First Java Program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g3b782c6683b_0_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b782c6683b_0_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82" name="Google Shape;182;g3b782c6683b_0_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83" name="Google Shape;183;g3b782c6683b_0_8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782c6683b_0_101"/>
          <p:cNvSpPr txBox="1"/>
          <p:nvPr/>
        </p:nvSpPr>
        <p:spPr>
          <a:xfrm>
            <a:off x="383150" y="1280175"/>
            <a:ext cx="8528400" cy="501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AutoNum type="arabicPeriod"/>
            </a:pPr>
            <a:r>
              <a:rPr b="1" i="0" lang="en-US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Initial Phase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When a Java program starts, the</a:t>
            </a:r>
            <a:r>
              <a:rPr b="1" i="0" lang="en-US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interpreter 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initially </a:t>
            </a:r>
            <a:r>
              <a:rPr b="1" i="0" lang="en-US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executes the bytecode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line by line. This allows for a quick application startup time.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AutoNum type="arabicPeriod"/>
            </a:pPr>
            <a:r>
              <a:rPr b="1" i="0" lang="en-US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Optimization Phase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As the program runs, the JVM monitors the code for </a:t>
            </a:r>
            <a:r>
              <a:rPr b="1" i="0" lang="en-US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frequently used methods or loops (hot code)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AutoNum type="arabicPeriod"/>
            </a:pPr>
            <a:r>
              <a:rPr b="1" i="0" lang="en-US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JIT Compilation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The JIT compiler then compiles these </a:t>
            </a:r>
            <a:r>
              <a:rPr b="1" i="0" lang="en-US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"hot spots" into optimized native machine code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Subsequent calls to these sections bypass the interpreter and run the much faster native code. 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AutoNum type="arabicPeriod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native code is stored in memory/cache for faster execution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b782c6683b_0_101"/>
          <p:cNvSpPr txBox="1"/>
          <p:nvPr/>
        </p:nvSpPr>
        <p:spPr>
          <a:xfrm>
            <a:off x="1823588" y="344425"/>
            <a:ext cx="54630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is JIT (Just In Time Compiler)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g3b782c6683b_0_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3b782c6683b_0_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93" name="Google Shape;193;g3b782c6683b_0_1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94" name="Google Shape;194;g3b782c6683b_0_1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55cd37522_1_0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g3b55cd37522_1_0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g3b55cd37522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b55cd37522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b55cd37522_1_0"/>
          <p:cNvSpPr/>
          <p:nvPr/>
        </p:nvSpPr>
        <p:spPr>
          <a:xfrm>
            <a:off x="628050" y="1268188"/>
            <a:ext cx="7979700" cy="4773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Why Objects ?</a:t>
            </a:r>
            <a:endParaRPr b="1" i="1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Algorithms + Data structures =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Programs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Traditional system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development methodology focuses on the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“Functions”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Object oriented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development focuses on the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“Object”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which combines “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 and Functionality”.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an object-oriented system,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everything is an object: numbers, arrays, records, fields, files, forms, an invoice, etc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Object is anything, real or abstract,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about which we store data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those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methods that manipulate the data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205" name="Google Shape;205;g3b55cd37522_1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06" name="Google Shape;206;g3b55cd37522_1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b55cd37522_1_0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2. The Object Model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55cd37522_1_12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g3b55cd37522_1_12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g3b55cd37522_1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b55cd37522_1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b55cd37522_1_12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2. The Object Model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b55cd37522_1_12"/>
          <p:cNvSpPr/>
          <p:nvPr/>
        </p:nvSpPr>
        <p:spPr>
          <a:xfrm>
            <a:off x="573200" y="1499261"/>
            <a:ext cx="3675600" cy="4020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is an Object ?</a:t>
            </a:r>
            <a:endParaRPr b="1" i="1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Object: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 is a real-world entity that has properties and methods. E.g., Car.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Properties (or Attributes)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It describes the</a:t>
            </a:r>
            <a:r>
              <a:rPr b="1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state (or data) 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an object. E.g., Color, manufacturer, cost, model and owner etc.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219" name="Google Shape;219;g3b55cd37522_1_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20" name="Google Shape;220;g3b55cd37522_1_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3b55cd37522_1_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74350" y="1987155"/>
            <a:ext cx="4535550" cy="27304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55cd37522_1_24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g3b55cd37522_1_24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g3b55cd37522_1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3b55cd37522_1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b55cd37522_1_24"/>
          <p:cNvSpPr/>
          <p:nvPr/>
        </p:nvSpPr>
        <p:spPr>
          <a:xfrm>
            <a:off x="591450" y="1699675"/>
            <a:ext cx="4389000" cy="3149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is an Object ?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i="1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Methods (or Procedures):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Methods defines behavior (or operations) of objects. E.g., Go, stop, turn left, turn right and etc.…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232" name="Google Shape;232;g3b55cd37522_1_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33" name="Google Shape;233;g3b55cd37522_1_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b55cd37522_1_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05625" y="1699667"/>
            <a:ext cx="3810000" cy="361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5" name="Google Shape;235;g3b55cd37522_1_24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2. The Object Model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55cd37522_1_306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g3b55cd37522_1_306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g3b55cd37522_1_3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3b55cd37522_1_3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245" name="Google Shape;245;g3b55cd37522_1_3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46" name="Google Shape;246;g3b55cd37522_1_30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b55cd37522_1_30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1799" y="1103250"/>
            <a:ext cx="7735799" cy="50151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b55cd37522_1_306"/>
          <p:cNvSpPr txBox="1"/>
          <p:nvPr/>
        </p:nvSpPr>
        <p:spPr>
          <a:xfrm>
            <a:off x="664475" y="5608325"/>
            <a:ext cx="7735800" cy="36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b55cd37522_1_306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2. The Object Model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55cd37522_1_322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g3b55cd37522_1_322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g3b55cd37522_1_3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3b55cd37522_1_3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259" name="Google Shape;259;g3b55cd37522_1_3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60" name="Google Shape;260;g3b55cd37522_1_3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3b55cd37522_1_322"/>
          <p:cNvSpPr txBox="1"/>
          <p:nvPr/>
        </p:nvSpPr>
        <p:spPr>
          <a:xfrm>
            <a:off x="664475" y="5608325"/>
            <a:ext cx="7735800" cy="36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b55cd37522_1_322"/>
          <p:cNvSpPr txBox="1"/>
          <p:nvPr/>
        </p:nvSpPr>
        <p:spPr>
          <a:xfrm>
            <a:off x="760075" y="1609325"/>
            <a:ext cx="8026200" cy="160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1" lang="en-US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“The identity of object never changes even if all the properties of the object change; it is independent of the object’s state. The identity does not depend on the object’s name, or its key, or its location.”</a:t>
            </a:r>
            <a:endParaRPr b="1" i="1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g3b55cd37522_1_3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5725" y="3474550"/>
            <a:ext cx="4401588" cy="1809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g3b55cd37522_1_3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27326" y="3581975"/>
            <a:ext cx="4401600" cy="1421864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3b55cd37522_1_322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2. The Object Model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55cd37522_1_4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g3b55cd37522_1_41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g3b55cd37522_1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g3b55cd37522_1_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b55cd37522_1_41"/>
          <p:cNvSpPr/>
          <p:nvPr/>
        </p:nvSpPr>
        <p:spPr>
          <a:xfrm>
            <a:off x="615150" y="1685121"/>
            <a:ext cx="7913700" cy="3155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are Classes</a:t>
            </a:r>
            <a:endParaRPr b="1" i="1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Objects are grouped into classes.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Classes are used to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distinguish one type of objects from another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class is a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set of objects that share a common structure and a common behavior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276" name="Google Shape;276;g3b55cd37522_1_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77" name="Google Shape;277;g3b55cd37522_1_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b55cd37522_1_41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3. Classes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b55cd37522_1_69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g3b55cd37522_1_69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g3b55cd37522_1_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g3b55cd37522_1_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3b55cd37522_1_69"/>
          <p:cNvSpPr/>
          <p:nvPr/>
        </p:nvSpPr>
        <p:spPr>
          <a:xfrm>
            <a:off x="772675" y="1412625"/>
            <a:ext cx="7913700" cy="4177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are Classes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class is a specification of,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Structure (instance variable)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Structure of a class describes what data an object of that class will contain.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Java terms: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Structure = instance variables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(also called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fields / data members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○"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Behaviour (methods):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describes the actions an object can perform.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289" name="Google Shape;289;g3b55cd37522_1_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90" name="Google Shape;290;g3b55cd37522_1_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b55cd37522_1_69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3. Classes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b55cd37522_1_355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g3b55cd37522_1_355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299" name="Google Shape;299;g3b55cd37522_1_3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676" y="91800"/>
            <a:ext cx="8698651" cy="62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3b55cd37522_1_355"/>
          <p:cNvSpPr/>
          <p:nvPr/>
        </p:nvSpPr>
        <p:spPr>
          <a:xfrm>
            <a:off x="2940000" y="818575"/>
            <a:ext cx="678600" cy="257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b55cd37522_1_355"/>
          <p:cNvSpPr txBox="1"/>
          <p:nvPr/>
        </p:nvSpPr>
        <p:spPr>
          <a:xfrm>
            <a:off x="3691825" y="745700"/>
            <a:ext cx="3997500" cy="6717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instance variable/ field/  data member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b55cd37522_1_355"/>
          <p:cNvSpPr/>
          <p:nvPr/>
        </p:nvSpPr>
        <p:spPr>
          <a:xfrm>
            <a:off x="2652300" y="4014875"/>
            <a:ext cx="678600" cy="257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b55cd37522_1_355"/>
          <p:cNvSpPr txBox="1"/>
          <p:nvPr/>
        </p:nvSpPr>
        <p:spPr>
          <a:xfrm>
            <a:off x="3404125" y="3942000"/>
            <a:ext cx="966300" cy="4161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b55cd37522_1_56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g3b55cd37522_1_56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g3b55cd37522_1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b55cd37522_1_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b55cd37522_1_56"/>
          <p:cNvSpPr/>
          <p:nvPr/>
        </p:nvSpPr>
        <p:spPr>
          <a:xfrm>
            <a:off x="615150" y="1401513"/>
            <a:ext cx="7913700" cy="4508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Classes:</a:t>
            </a:r>
            <a:endParaRPr b="1" i="1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314" name="Google Shape;314;g3b55cd37522_1_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15" name="Google Shape;315;g3b55cd37522_1_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g3b55cd37522_1_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4917" y="2370660"/>
            <a:ext cx="7734157" cy="330364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3b55cd37522_1_56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3. Classes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b55cd37522_1_8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g3b55cd37522_1_81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g3b55cd37522_1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g3b55cd37522_1_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27" name="Google Shape;327;g3b55cd37522_1_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28" name="Google Shape;328;g3b55cd37522_1_8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3b55cd37522_1_81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4. Classes and Objects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0" name="Google Shape;330;g3b55cd37522_1_81"/>
          <p:cNvGraphicFramePr/>
          <p:nvPr/>
        </p:nvGraphicFramePr>
        <p:xfrm>
          <a:off x="2177825" y="168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{D5361A74-8571-41BB-84BA-7743F52C2E31}</a:tableStyleId>
              </a:tblPr>
              <a:tblGrid>
                <a:gridCol w="2026925"/>
              </a:tblGrid>
              <a:tr h="486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Car</a:t>
                      </a:r>
                      <a:endParaRPr b="1"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27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Cost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Color 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Make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Model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0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Drive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Break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Maintenance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31" name="Google Shape;331;g3b55cd37522_1_81"/>
          <p:cNvSpPr/>
          <p:nvPr/>
        </p:nvSpPr>
        <p:spPr>
          <a:xfrm>
            <a:off x="4413525" y="1859275"/>
            <a:ext cx="384000" cy="196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b55cd37522_1_81"/>
          <p:cNvSpPr/>
          <p:nvPr/>
        </p:nvSpPr>
        <p:spPr>
          <a:xfrm>
            <a:off x="4376950" y="2225050"/>
            <a:ext cx="219600" cy="1228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b55cd37522_1_81"/>
          <p:cNvSpPr/>
          <p:nvPr/>
        </p:nvSpPr>
        <p:spPr>
          <a:xfrm>
            <a:off x="4376950" y="3696994"/>
            <a:ext cx="219600" cy="686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b55cd37522_1_81"/>
          <p:cNvSpPr txBox="1"/>
          <p:nvPr/>
        </p:nvSpPr>
        <p:spPr>
          <a:xfrm>
            <a:off x="4907300" y="1676725"/>
            <a:ext cx="951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b55cd37522_1_81"/>
          <p:cNvSpPr txBox="1"/>
          <p:nvPr/>
        </p:nvSpPr>
        <p:spPr>
          <a:xfrm>
            <a:off x="4768750" y="2403400"/>
            <a:ext cx="25788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Properties/ Field/ Data Members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b55cd37522_1_81"/>
          <p:cNvSpPr txBox="1"/>
          <p:nvPr/>
        </p:nvSpPr>
        <p:spPr>
          <a:xfrm>
            <a:off x="4596550" y="3622225"/>
            <a:ext cx="25788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Functions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b55cd37522_1_107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g3b55cd37522_1_107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4" name="Google Shape;344;g3b55cd37522_1_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g3b55cd37522_1_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46" name="Google Shape;346;g3b55cd37522_1_1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47" name="Google Shape;347;g3b55cd37522_1_10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8" name="Google Shape;348;g3b55cd37522_1_107"/>
          <p:cNvGraphicFramePr/>
          <p:nvPr/>
        </p:nvGraphicFramePr>
        <p:xfrm>
          <a:off x="3714000" y="2212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{D5361A74-8571-41BB-84BA-7743F52C2E31}</a:tableStyleId>
              </a:tblPr>
              <a:tblGrid>
                <a:gridCol w="2026925"/>
              </a:tblGrid>
              <a:tr h="486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Car2</a:t>
                      </a:r>
                      <a:endParaRPr b="1"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27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Cost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Color 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Make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Model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0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Drive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Break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Maintenance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9" name="Google Shape;349;g3b55cd37522_1_107"/>
          <p:cNvSpPr/>
          <p:nvPr/>
        </p:nvSpPr>
        <p:spPr>
          <a:xfrm>
            <a:off x="5949700" y="2384588"/>
            <a:ext cx="384000" cy="196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b55cd37522_1_107"/>
          <p:cNvSpPr/>
          <p:nvPr/>
        </p:nvSpPr>
        <p:spPr>
          <a:xfrm>
            <a:off x="5913125" y="2750363"/>
            <a:ext cx="219600" cy="1228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b55cd37522_1_107"/>
          <p:cNvSpPr/>
          <p:nvPr/>
        </p:nvSpPr>
        <p:spPr>
          <a:xfrm>
            <a:off x="5913125" y="4222307"/>
            <a:ext cx="219600" cy="686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b55cd37522_1_107"/>
          <p:cNvSpPr txBox="1"/>
          <p:nvPr/>
        </p:nvSpPr>
        <p:spPr>
          <a:xfrm>
            <a:off x="6443475" y="2202038"/>
            <a:ext cx="951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b55cd37522_1_107"/>
          <p:cNvSpPr txBox="1"/>
          <p:nvPr/>
        </p:nvSpPr>
        <p:spPr>
          <a:xfrm>
            <a:off x="6304925" y="2928713"/>
            <a:ext cx="25788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Properties/ Field/ Data Members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b55cd37522_1_107"/>
          <p:cNvSpPr txBox="1"/>
          <p:nvPr/>
        </p:nvSpPr>
        <p:spPr>
          <a:xfrm>
            <a:off x="6132725" y="4147538"/>
            <a:ext cx="25788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Functions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b55cd37522_1_107"/>
          <p:cNvSpPr/>
          <p:nvPr/>
        </p:nvSpPr>
        <p:spPr>
          <a:xfrm rot="-5400000">
            <a:off x="3298193" y="463563"/>
            <a:ext cx="335400" cy="2994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b55cd37522_1_107"/>
          <p:cNvSpPr txBox="1"/>
          <p:nvPr/>
        </p:nvSpPr>
        <p:spPr>
          <a:xfrm>
            <a:off x="2727600" y="1327725"/>
            <a:ext cx="22356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Class- Vehicle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7" name="Google Shape;357;g3b55cd37522_1_107"/>
          <p:cNvGraphicFramePr/>
          <p:nvPr/>
        </p:nvGraphicFramePr>
        <p:xfrm>
          <a:off x="1295275" y="2212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{D5361A74-8571-41BB-84BA-7743F52C2E31}</a:tableStyleId>
              </a:tblPr>
              <a:tblGrid>
                <a:gridCol w="2026925"/>
              </a:tblGrid>
              <a:tr h="486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Car1</a:t>
                      </a:r>
                      <a:endParaRPr b="1"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27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Cost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Color 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Make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Model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0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Drive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Break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Maintenance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8" name="Google Shape;358;g3b55cd37522_1_107"/>
          <p:cNvSpPr/>
          <p:nvPr/>
        </p:nvSpPr>
        <p:spPr>
          <a:xfrm>
            <a:off x="844425" y="621467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4. Classes and Objects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b55cd37522_1_362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5. 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5" name="Google Shape;365;g3b55cd37522_1_3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g3b55cd37522_1_3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67" name="Google Shape;367;g3b55cd37522_1_3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68" name="Google Shape;368;g3b55cd37522_1_3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g3b55cd37522_1_362"/>
          <p:cNvSpPr txBox="1"/>
          <p:nvPr/>
        </p:nvSpPr>
        <p:spPr>
          <a:xfrm>
            <a:off x="310900" y="1188725"/>
            <a:ext cx="8436900" cy="2006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1. boolean type</a:t>
            </a:r>
            <a:endParaRPr b="1" i="0" sz="19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66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19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boolean</a:t>
            </a:r>
            <a:r>
              <a:rPr b="0" i="0" lang="en-US" sz="1900" u="none" cap="none" strike="noStrike">
                <a:solidFill>
                  <a:schemeClr val="dk1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 data type has </a:t>
            </a:r>
            <a:r>
              <a:rPr b="1" i="0" lang="en-US" sz="19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two possible values, either true or false</a:t>
            </a:r>
            <a:r>
              <a:rPr b="0" i="0" lang="en-US" sz="1900" u="none" cap="none" strike="noStrike">
                <a:solidFill>
                  <a:schemeClr val="dk1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9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Default value: </a:t>
            </a:r>
            <a:r>
              <a:rPr b="0" i="0" lang="en-US" sz="19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b="0" i="0" lang="en-US" sz="1900" u="none" cap="none" strike="noStrike">
                <a:solidFill>
                  <a:schemeClr val="dk1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9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They are usually used for true/false conditions.</a:t>
            </a:r>
            <a:endParaRPr b="0" i="0" sz="19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0" name="Google Shape;370;g3b55cd37522_1_36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30125" y="3181580"/>
            <a:ext cx="6998750" cy="2808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b782c6683b_0_125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5. 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7" name="Google Shape;377;g3b782c6683b_0_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g3b782c6683b_0_1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79" name="Google Shape;379;g3b782c6683b_0_1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80" name="Google Shape;380;g3b782c6683b_0_1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g3b782c6683b_0_125"/>
          <p:cNvSpPr txBox="1"/>
          <p:nvPr/>
        </p:nvSpPr>
        <p:spPr>
          <a:xfrm>
            <a:off x="310900" y="1188725"/>
            <a:ext cx="8436900" cy="1031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1. boolean type</a:t>
            </a:r>
            <a:endParaRPr b="1" i="0" sz="19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6666"/>
              </a:lnSpc>
              <a:spcBef>
                <a:spcPts val="900"/>
              </a:spcBef>
              <a:spcAft>
                <a:spcPts val="27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g3b782c6683b_0_1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8075" y="1902800"/>
            <a:ext cx="7212525" cy="2035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g3b782c6683b_0_125"/>
          <p:cNvSpPr txBox="1"/>
          <p:nvPr/>
        </p:nvSpPr>
        <p:spPr>
          <a:xfrm>
            <a:off x="1965900" y="4037763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 automatically does: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4" name="Google Shape;384;g3b782c6683b_0_1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48725" y="4614675"/>
            <a:ext cx="2415450" cy="64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55cd37522_1_375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1" name="Google Shape;391;g3b55cd37522_1_3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g3b55cd37522_1_3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93" name="Google Shape;393;g3b55cd37522_1_3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94" name="Google Shape;394;g3b55cd37522_1_3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g3b55cd37522_1_375"/>
          <p:cNvSpPr txBox="1"/>
          <p:nvPr/>
        </p:nvSpPr>
        <p:spPr>
          <a:xfrm>
            <a:off x="310900" y="1188725"/>
            <a:ext cx="8436900" cy="247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2. byte type</a:t>
            </a:r>
            <a:endParaRPr b="1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The byte data type can have values from </a:t>
            </a: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-128 to 127</a:t>
            </a: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If it's certain that the value of a variable will be within -128 to 127, then it is used instead of </a:t>
            </a: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int </a:t>
            </a: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to save memory.</a:t>
            </a:r>
            <a:endParaRPr b="0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65E"/>
              </a:buClr>
              <a:buSzPts val="2100"/>
              <a:buFont typeface="Arial"/>
              <a:buChar char="●"/>
            </a:pP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8 bits are </a:t>
            </a: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used to store byte type value in menory</a:t>
            </a:r>
            <a:endParaRPr b="0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Char char="●"/>
            </a:pP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Default value: 0</a:t>
            </a:r>
            <a:endParaRPr b="0" i="0" sz="21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6" name="Google Shape;396;g3b55cd37522_1_37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04450" y="3659225"/>
            <a:ext cx="6285802" cy="269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b55cd37522_1_398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3" name="Google Shape;403;g3b55cd37522_1_3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g3b55cd37522_1_3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405" name="Google Shape;405;g3b55cd37522_1_3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06" name="Google Shape;406;g3b55cd37522_1_3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g3b55cd37522_1_398"/>
          <p:cNvSpPr txBox="1"/>
          <p:nvPr/>
        </p:nvSpPr>
        <p:spPr>
          <a:xfrm>
            <a:off x="310900" y="1188725"/>
            <a:ext cx="8436900" cy="2924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3. short type</a:t>
            </a:r>
            <a:endParaRPr b="1" i="0" sz="19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The short data type in Java can have values from </a:t>
            </a:r>
            <a:r>
              <a:rPr b="1" i="0" lang="en-US" sz="19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-32768 to 32767 (16-bit signed two's complement integer).</a:t>
            </a:r>
            <a:endParaRPr b="1" i="0" sz="1900" u="none" cap="none" strike="noStrike">
              <a:solidFill>
                <a:srgbClr val="FF0000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If it's certain that the value of a variable will be within -32768 and 32767, then it is used instead of other integer data types (int, long).</a:t>
            </a:r>
            <a:endParaRPr b="0" i="0" sz="19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Arial"/>
              <a:buChar char="●"/>
            </a:pPr>
            <a:r>
              <a:rPr b="1" i="0" lang="en-US" sz="19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Default value: 0</a:t>
            </a:r>
            <a:endParaRPr b="1" i="0" sz="1900" u="none" cap="none" strike="noStrike">
              <a:solidFill>
                <a:srgbClr val="FF0000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6666"/>
              </a:lnSpc>
              <a:spcBef>
                <a:spcPts val="2700"/>
              </a:spcBef>
              <a:spcAft>
                <a:spcPts val="27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8" name="Google Shape;408;g3b55cd37522_1_39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95975" y="3578350"/>
            <a:ext cx="6745000" cy="25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b55cd37522_1_410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5" name="Google Shape;415;g3b55cd37522_1_4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g3b55cd37522_1_4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417" name="Google Shape;417;g3b55cd37522_1_4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18" name="Google Shape;418;g3b55cd37522_1_4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g3b55cd37522_1_410"/>
          <p:cNvSpPr txBox="1"/>
          <p:nvPr/>
        </p:nvSpPr>
        <p:spPr>
          <a:xfrm>
            <a:off x="310900" y="1188725"/>
            <a:ext cx="8436900" cy="182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4. int type</a:t>
            </a:r>
            <a:endParaRPr b="1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The int data type can have values from </a:t>
            </a: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-2</a:t>
            </a:r>
            <a:r>
              <a:rPr b="1" baseline="30000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31</a:t>
            </a: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 to 2</a:t>
            </a:r>
            <a:r>
              <a:rPr b="1" baseline="30000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31</a:t>
            </a: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-1</a:t>
            </a:r>
            <a:endParaRPr b="1" i="0" sz="2100" u="none" cap="none" strike="noStrike">
              <a:solidFill>
                <a:srgbClr val="FF0000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Default value: 0</a:t>
            </a:r>
            <a:endParaRPr b="0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65E"/>
              </a:buClr>
              <a:buSzPts val="2100"/>
              <a:buFont typeface="Arial"/>
              <a:buChar char="●"/>
            </a:pP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4 bytes (32 bits)</a:t>
            </a: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 used to store int type value in memory</a:t>
            </a:r>
            <a:endParaRPr b="0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0" name="Google Shape;420;g3b55cd37522_1_4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7369" y="3503051"/>
            <a:ext cx="7141506" cy="267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b55cd37522_1_422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7" name="Google Shape;427;g3b55cd37522_1_4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g3b55cd37522_1_4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429" name="Google Shape;429;g3b55cd37522_1_4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30" name="Google Shape;430;g3b55cd37522_1_4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g3b55cd37522_1_422"/>
          <p:cNvSpPr txBox="1"/>
          <p:nvPr/>
        </p:nvSpPr>
        <p:spPr>
          <a:xfrm>
            <a:off x="310900" y="1188725"/>
            <a:ext cx="8436900" cy="2839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5. long  type</a:t>
            </a:r>
            <a:endParaRPr b="1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The long data type can have values from</a:t>
            </a: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 -263 to 263-1 (64-bit signed two's complement integer).</a:t>
            </a:r>
            <a:endParaRPr b="1" i="0" sz="2100" u="none" cap="none" strike="noStrike">
              <a:solidFill>
                <a:srgbClr val="FF0000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6666"/>
              </a:lnSpc>
              <a:spcBef>
                <a:spcPts val="2700"/>
              </a:spcBef>
              <a:spcAft>
                <a:spcPts val="27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g3b55cd37522_1_4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3550" y="2827650"/>
            <a:ext cx="8436901" cy="2743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b55cd37522_1_434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9" name="Google Shape;439;g3b55cd37522_1_4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g3b55cd37522_1_4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441" name="Google Shape;441;g3b55cd37522_1_4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42" name="Google Shape;442;g3b55cd37522_1_4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g3b55cd37522_1_434"/>
          <p:cNvSpPr txBox="1"/>
          <p:nvPr/>
        </p:nvSpPr>
        <p:spPr>
          <a:xfrm>
            <a:off x="310900" y="1188725"/>
            <a:ext cx="8436900" cy="1500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6. double  type</a:t>
            </a:r>
            <a:endParaRPr b="1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The double data type is a </a:t>
            </a: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double-precision 64-bit floating-point.</a:t>
            </a:r>
            <a:endParaRPr b="0" i="0" sz="21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4" name="Google Shape;444;g3b55cd37522_1_4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7625" y="2891176"/>
            <a:ext cx="8108749" cy="3115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b55cd37522_1_446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1" name="Google Shape;451;g3b55cd37522_1_4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g3b55cd37522_1_4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453" name="Google Shape;453;g3b55cd37522_1_4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54" name="Google Shape;454;g3b55cd37522_1_4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g3b55cd37522_1_446"/>
          <p:cNvSpPr txBox="1"/>
          <p:nvPr/>
        </p:nvSpPr>
        <p:spPr>
          <a:xfrm>
            <a:off x="310900" y="1188725"/>
            <a:ext cx="8436900" cy="1500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7. float  type</a:t>
            </a:r>
            <a:endParaRPr b="1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The float data type is a </a:t>
            </a: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single-precision 32-bit floating-point</a:t>
            </a: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. It should never be used for precise values such as currency.</a:t>
            </a:r>
            <a:endParaRPr b="0" i="0" sz="21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6" name="Google Shape;456;g3b55cd37522_1_4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7625" y="3005695"/>
            <a:ext cx="8099425" cy="2886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b55cd37522_1_458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3" name="Google Shape;463;g3b55cd37522_1_4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g3b55cd37522_1_4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465" name="Google Shape;465;g3b55cd37522_1_4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66" name="Google Shape;466;g3b55cd37522_1_4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g3b55cd37522_1_458"/>
          <p:cNvSpPr txBox="1"/>
          <p:nvPr/>
        </p:nvSpPr>
        <p:spPr>
          <a:xfrm>
            <a:off x="310900" y="1188725"/>
            <a:ext cx="8436900" cy="214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8. char type</a:t>
            </a:r>
            <a:endParaRPr b="1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It's a </a:t>
            </a: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16-bit Unicode character</a:t>
            </a: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The minimum value of the char data type is</a:t>
            </a: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 '\u0000' (0)</a:t>
            </a: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 and the maximum value of the is </a:t>
            </a: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'\uffff'</a:t>
            </a: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Default value: '\u0000'</a:t>
            </a:r>
            <a:endParaRPr b="0" i="0" sz="21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8" name="Google Shape;468;g3b55cd37522_1_45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47975" y="3444427"/>
            <a:ext cx="6998750" cy="2590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b55cd37522_1_470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5" name="Google Shape;475;g3b55cd37522_1_4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g3b55cd37522_1_4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477" name="Google Shape;477;g3b55cd37522_1_4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78" name="Google Shape;478;g3b55cd37522_1_4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g3b55cd37522_1_470"/>
          <p:cNvSpPr txBox="1"/>
          <p:nvPr/>
        </p:nvSpPr>
        <p:spPr>
          <a:xfrm>
            <a:off x="225725" y="944625"/>
            <a:ext cx="8436900" cy="507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7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8. char type</a:t>
            </a:r>
            <a:endParaRPr b="0" i="0" sz="21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0" name="Google Shape;480;g3b55cd37522_1_47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7478" y="1558025"/>
            <a:ext cx="8013500" cy="410947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g3b55cd37522_1_470"/>
          <p:cNvSpPr txBox="1"/>
          <p:nvPr/>
        </p:nvSpPr>
        <p:spPr>
          <a:xfrm>
            <a:off x="225725" y="5722900"/>
            <a:ext cx="88641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In ASCII (American Standard Code for Information Interchange), </a:t>
            </a:r>
            <a:r>
              <a:rPr lang="en-US" sz="1200">
                <a:solidFill>
                  <a:srgbClr val="001D35"/>
                </a:solidFill>
              </a:rPr>
              <a:t>the decimal number 65 corresponds to the uppercase letter 'A'</a:t>
            </a:r>
            <a:r>
              <a:rPr lang="en-US" sz="1200">
                <a:solidFill>
                  <a:srgbClr val="0A0A0A"/>
                </a:solidFill>
                <a:highlight>
                  <a:srgbClr val="FFFFFF"/>
                </a:highlight>
              </a:rPr>
              <a:t>.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b782c6683b_0_142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8" name="Google Shape;488;g3b782c6683b_0_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g3b782c6683b_0_1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490" name="Google Shape;490;g3b782c6683b_0_1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91" name="Google Shape;491;g3b782c6683b_0_1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g3b782c6683b_0_142"/>
          <p:cNvSpPr txBox="1"/>
          <p:nvPr/>
        </p:nvSpPr>
        <p:spPr>
          <a:xfrm>
            <a:off x="310900" y="1188725"/>
            <a:ext cx="8436900" cy="507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7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8. char type</a:t>
            </a:r>
            <a:endParaRPr b="0" i="0" sz="21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3" name="Google Shape;493;g3b782c6683b_0_1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96477" y="1960725"/>
            <a:ext cx="6317224" cy="424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b55cd37522_1_482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Google Shape;500;g3b55cd37522_1_4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g3b55cd37522_1_4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502" name="Google Shape;502;g3b55cd37522_1_4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03" name="Google Shape;503;g3b55cd37522_1_48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g3b55cd37522_1_482"/>
          <p:cNvSpPr txBox="1"/>
          <p:nvPr/>
        </p:nvSpPr>
        <p:spPr>
          <a:xfrm>
            <a:off x="310900" y="1188725"/>
            <a:ext cx="8436900" cy="182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9. String</a:t>
            </a:r>
            <a:endParaRPr b="1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700"/>
              </a:spcBef>
              <a:spcAft>
                <a:spcPts val="27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Java also provides support for character strings via java.lang.String class. Strings in Java are not primitive types. Instead, they are objects. For example,</a:t>
            </a:r>
            <a:endParaRPr b="0" i="0" sz="21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5" name="Google Shape;505;g3b55cd37522_1_48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2300" y="3682325"/>
            <a:ext cx="8214100" cy="8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g3bae19ec81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463" y="893950"/>
            <a:ext cx="3144475" cy="11996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2" name="Google Shape;512;g3bae19ec81c_0_0"/>
          <p:cNvSpPr txBox="1"/>
          <p:nvPr/>
        </p:nvSpPr>
        <p:spPr>
          <a:xfrm>
            <a:off x="426700" y="3053700"/>
            <a:ext cx="3000000" cy="3154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</a:t>
            </a:r>
            <a:r>
              <a:rPr b="1" i="0" lang="en-US" sz="17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"Java"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object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created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Both </a:t>
            </a:r>
            <a:r>
              <a:rPr b="0" i="0" lang="en-US" sz="17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0" lang="en-US" sz="17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s2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point to the 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memory location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saves memory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stores strings in a special memory area called the String Constant Pool (SCP).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3" name="Google Shape;513;g3bae19ec81c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4225" y="975350"/>
            <a:ext cx="4839150" cy="8641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4" name="Google Shape;514;g3bae19ec81c_0_0"/>
          <p:cNvSpPr txBox="1"/>
          <p:nvPr/>
        </p:nvSpPr>
        <p:spPr>
          <a:xfrm>
            <a:off x="5368825" y="3387925"/>
            <a:ext cx="3000000" cy="1647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Stored in </a:t>
            </a: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Heap memory*</a:t>
            </a:r>
            <a:b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Creates a </a:t>
            </a: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object</a:t>
            </a: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every time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3bae19ec81c_0_0"/>
          <p:cNvSpPr/>
          <p:nvPr/>
        </p:nvSpPr>
        <p:spPr>
          <a:xfrm>
            <a:off x="1704700" y="2230750"/>
            <a:ext cx="352800" cy="695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bae19ec81c_0_0"/>
          <p:cNvSpPr/>
          <p:nvPr/>
        </p:nvSpPr>
        <p:spPr>
          <a:xfrm>
            <a:off x="6417400" y="2013850"/>
            <a:ext cx="352800" cy="1199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7" name="Google Shape;517;g3bae19ec81c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g3bae19ec81c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519" name="Google Shape;519;g3bae19ec81c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20" name="Google Shape;520;g3bae19ec81c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g3bae19ec81c_0_0"/>
          <p:cNvSpPr txBox="1"/>
          <p:nvPr/>
        </p:nvSpPr>
        <p:spPr>
          <a:xfrm>
            <a:off x="2221950" y="25227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3bae19ec81c_0_0"/>
          <p:cNvSpPr txBox="1"/>
          <p:nvPr/>
        </p:nvSpPr>
        <p:spPr>
          <a:xfrm>
            <a:off x="4926175" y="5221963"/>
            <a:ext cx="4087200" cy="923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A0A0A"/>
                </a:solidFill>
                <a:highlight>
                  <a:srgbClr val="FFFFFF"/>
                </a:highlight>
              </a:rPr>
              <a:t>* </a:t>
            </a:r>
            <a:r>
              <a:rPr b="1" lang="en-US" sz="1200">
                <a:solidFill>
                  <a:srgbClr val="0A0A0A"/>
                </a:solidFill>
                <a:highlight>
                  <a:srgbClr val="FFFFFF"/>
                </a:highlight>
              </a:rPr>
              <a:t>Heap memory</a:t>
            </a:r>
            <a:r>
              <a:rPr lang="en-US" sz="1200">
                <a:solidFill>
                  <a:srgbClr val="0A0A0A"/>
                </a:solidFill>
                <a:highlight>
                  <a:srgbClr val="FFFFFF"/>
                </a:highlight>
              </a:rPr>
              <a:t> is </a:t>
            </a:r>
            <a:r>
              <a:rPr lang="en-US" sz="1200">
                <a:solidFill>
                  <a:srgbClr val="001D35"/>
                </a:solidFill>
              </a:rPr>
              <a:t>a large pool of RAM used for </a:t>
            </a:r>
            <a:r>
              <a:rPr b="1" lang="en-US" sz="1200">
                <a:solidFill>
                  <a:srgbClr val="001D35"/>
                </a:solidFill>
              </a:rPr>
              <a:t>dynamic memory allocation</a:t>
            </a:r>
            <a:r>
              <a:rPr lang="en-US" sz="1200">
                <a:solidFill>
                  <a:srgbClr val="0A0A0A"/>
                </a:solidFill>
                <a:highlight>
                  <a:srgbClr val="FFFFFF"/>
                </a:highlight>
              </a:rPr>
              <a:t>, allowing programs to request and release memory blocks at runtime for objects whose size isn't known beforehand.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g3bae19ec81c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4200" y="852475"/>
            <a:ext cx="6781800" cy="515302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g3bae19ec81c_0_16"/>
          <p:cNvSpPr txBox="1"/>
          <p:nvPr/>
        </p:nvSpPr>
        <p:spPr>
          <a:xfrm>
            <a:off x="646600" y="1567550"/>
            <a:ext cx="156900" cy="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g3bae19ec81c_0_16"/>
          <p:cNvSpPr txBox="1"/>
          <p:nvPr/>
        </p:nvSpPr>
        <p:spPr>
          <a:xfrm>
            <a:off x="352700" y="1979025"/>
            <a:ext cx="1861500" cy="99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 created without  ‘new’ keyword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g3bae19ec81c_0_16"/>
          <p:cNvSpPr txBox="1"/>
          <p:nvPr/>
        </p:nvSpPr>
        <p:spPr>
          <a:xfrm>
            <a:off x="352700" y="3620575"/>
            <a:ext cx="1861500" cy="99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 created with  ‘new’ keyword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g3bae19ec81c_0_16"/>
          <p:cNvSpPr/>
          <p:nvPr/>
        </p:nvSpPr>
        <p:spPr>
          <a:xfrm rot="-5400000">
            <a:off x="2799500" y="1859125"/>
            <a:ext cx="181200" cy="1351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3bae19ec81c_0_16"/>
          <p:cNvSpPr/>
          <p:nvPr/>
        </p:nvSpPr>
        <p:spPr>
          <a:xfrm rot="-5400000">
            <a:off x="2823050" y="3371850"/>
            <a:ext cx="134100" cy="1351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g3bae19ec81c_0_16"/>
          <p:cNvSpPr/>
          <p:nvPr/>
        </p:nvSpPr>
        <p:spPr>
          <a:xfrm>
            <a:off x="3605200" y="2370900"/>
            <a:ext cx="156900" cy="764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g3bae19ec81c_0_16"/>
          <p:cNvSpPr/>
          <p:nvPr/>
        </p:nvSpPr>
        <p:spPr>
          <a:xfrm>
            <a:off x="3605200" y="3495775"/>
            <a:ext cx="156900" cy="764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6" name="Google Shape;536;g3bae19ec81c_0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g3bae19ec81c_0_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538" name="Google Shape;538;g3bae19ec81c_0_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39" name="Google Shape;539;g3bae19ec81c_0_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g3bae19ec81c_0_16"/>
          <p:cNvSpPr txBox="1"/>
          <p:nvPr/>
        </p:nvSpPr>
        <p:spPr>
          <a:xfrm>
            <a:off x="2221950" y="25227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6" name="Google Shape;546;g3bae19ec81c_0_40"/>
          <p:cNvGraphicFramePr/>
          <p:nvPr/>
        </p:nvGraphicFramePr>
        <p:xfrm>
          <a:off x="1592825" y="145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{13C61399-3910-4BF2-BE0D-F22CE25B182F}</a:tableStyleId>
              </a:tblPr>
              <a:tblGrid>
                <a:gridCol w="1819725"/>
                <a:gridCol w="1397275"/>
                <a:gridCol w="28920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0000"/>
                          </a:solidFill>
                        </a:rPr>
                        <a:t>Access Modifier</a:t>
                      </a:r>
                      <a:endParaRPr b="1" sz="2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0000"/>
                          </a:solidFill>
                        </a:rPr>
                        <a:t>Keyword</a:t>
                      </a:r>
                      <a:endParaRPr b="1" sz="2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0000"/>
                          </a:solidFill>
                        </a:rPr>
                        <a:t>Accessible from</a:t>
                      </a:r>
                      <a:endParaRPr b="1" sz="2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dk1"/>
                          </a:solidFill>
                        </a:rPr>
                        <a:t>Public</a:t>
                      </a:r>
                      <a:endParaRPr sz="2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dk1"/>
                          </a:solidFill>
                        </a:rPr>
                        <a:t>public</a:t>
                      </a:r>
                      <a:endParaRPr sz="2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dk1"/>
                          </a:solidFill>
                        </a:rPr>
                        <a:t>Everywhere</a:t>
                      </a:r>
                      <a:endParaRPr sz="2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dk1"/>
                          </a:solidFill>
                        </a:rPr>
                        <a:t>Protected</a:t>
                      </a:r>
                      <a:endParaRPr sz="2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dk1"/>
                          </a:solidFill>
                        </a:rPr>
                        <a:t>protected</a:t>
                      </a:r>
                      <a:endParaRPr sz="2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dk1"/>
                          </a:solidFill>
                        </a:rPr>
                        <a:t>Same package + subclasses</a:t>
                      </a:r>
                      <a:endParaRPr sz="2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chemeClr val="dk1"/>
                          </a:solidFill>
                        </a:rPr>
                        <a:t>Default</a:t>
                      </a:r>
                      <a:endParaRPr b="1" sz="2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i="1" lang="en-US" sz="2100" u="none" cap="none" strike="noStrike">
                          <a:solidFill>
                            <a:schemeClr val="dk1"/>
                          </a:solidFill>
                        </a:rPr>
                        <a:t>(no keyword)</a:t>
                      </a:r>
                      <a:endParaRPr i="1" sz="2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chemeClr val="dk1"/>
                          </a:solidFill>
                        </a:rPr>
                        <a:t>Same package only</a:t>
                      </a:r>
                      <a:endParaRPr b="1" sz="2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dk1"/>
                          </a:solidFill>
                        </a:rPr>
                        <a:t>Private</a:t>
                      </a:r>
                      <a:endParaRPr sz="2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dk1"/>
                          </a:solidFill>
                        </a:rPr>
                        <a:t>private</a:t>
                      </a:r>
                      <a:endParaRPr sz="2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dk1"/>
                          </a:solidFill>
                        </a:rPr>
                        <a:t>Same class only</a:t>
                      </a:r>
                      <a:endParaRPr sz="2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47" name="Google Shape;547;g3bae19ec81c_0_40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6. Java Access Modifiers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8" name="Google Shape;548;g3bae19ec81c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g3bae19ec81c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550" name="Google Shape;550;g3bae19ec81c_0_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51" name="Google Shape;551;g3bae19ec81c_0_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b782c6683b_0_154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3b782c6683b_0_154"/>
          <p:cNvSpPr txBox="1"/>
          <p:nvPr/>
        </p:nvSpPr>
        <p:spPr>
          <a:xfrm>
            <a:off x="593325" y="1216350"/>
            <a:ext cx="8436900" cy="4425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Create a Java program to model a Car. The program should:</a:t>
            </a:r>
            <a:endParaRPr b="1" i="0" sz="23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25265E"/>
              </a:buClr>
              <a:buSzPts val="2300"/>
              <a:buFont typeface="Arial"/>
              <a:buAutoNum type="arabicPeriod"/>
            </a:pPr>
            <a:r>
              <a:rPr b="1" i="0" lang="en-US" sz="23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Represent the car’s attributes (members) such as color and speed.</a:t>
            </a:r>
            <a:endParaRPr b="1" i="0" sz="23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65E"/>
              </a:buClr>
              <a:buSzPts val="2300"/>
              <a:buFont typeface="Arial"/>
              <a:buAutoNum type="arabicPeriod"/>
            </a:pPr>
            <a:r>
              <a:rPr b="1" i="0" lang="en-US" sz="23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Provide behaviors (methods) like accelerate() to increase speed and displayState() to show the car’s current color and speed.</a:t>
            </a:r>
            <a:endParaRPr b="1" i="0" sz="23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65E"/>
              </a:buClr>
              <a:buSzPts val="2300"/>
              <a:buFont typeface="Arial"/>
              <a:buAutoNum type="arabicPeriod"/>
            </a:pPr>
            <a:r>
              <a:rPr b="1" i="0" lang="en-US" sz="23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Demonstrate the state of the car by storing and updating its color and speed.</a:t>
            </a:r>
            <a:endParaRPr b="1" i="0" sz="23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65E"/>
              </a:buClr>
              <a:buSzPts val="2300"/>
              <a:buFont typeface="Arial"/>
              <a:buAutoNum type="arabicPeriod"/>
            </a:pPr>
            <a:r>
              <a:rPr b="1" i="0" lang="en-US" sz="23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Show how a Car object is created in memory and accessed through a reference variable.</a:t>
            </a:r>
            <a:endParaRPr b="1" i="0" sz="23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3b782c6683b_0_154"/>
          <p:cNvSpPr txBox="1"/>
          <p:nvPr/>
        </p:nvSpPr>
        <p:spPr>
          <a:xfrm>
            <a:off x="1924925" y="5641650"/>
            <a:ext cx="6458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https://onlinegdb.com/wafsNt-ZyA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0" name="Google Shape;560;g3b782c6683b_0_1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g3b782c6683b_0_1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62" name="Google Shape;562;g3b782c6683b_0_1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563" name="Google Shape;563;g3b782c6683b_0_1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b8ad9c3b41_1_0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7. Java Typecasting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g3b8ad9c3b41_1_0"/>
          <p:cNvSpPr txBox="1"/>
          <p:nvPr/>
        </p:nvSpPr>
        <p:spPr>
          <a:xfrm>
            <a:off x="428900" y="1254829"/>
            <a:ext cx="8436900" cy="3879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 casting means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converting one data type into another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For example, turning an int into a double.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Java, there are two main types of casting: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Widening Casting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(automatic) - converting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smaller type to a larger type size</a:t>
            </a:r>
            <a:b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 -&gt; short -&gt; char -&gt; int -&gt; long -&gt; float -&gt; double</a:t>
            </a:r>
            <a:b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Narrowing Casting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(manual) - converting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larger type to a smaller type size</a:t>
            </a:r>
            <a:b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double -&gt; float -&gt; long -&gt; int -&gt; char -&gt; short -&gt; byte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1" name="Google Shape;571;g3b8ad9c3b41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g3b8ad9c3b41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73" name="Google Shape;573;g3b8ad9c3b41_1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574" name="Google Shape;574;g3b8ad9c3b41_1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b8ad9c3b41_1_6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Typecasting Examples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1" name="Google Shape;581;g3b8ad9c3b41_1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874" y="1005043"/>
            <a:ext cx="8568953" cy="197148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582" name="Google Shape;582;g3b8ad9c3b41_1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875" y="3210125"/>
            <a:ext cx="8568950" cy="2090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583" name="Google Shape;583;g3b8ad9c3b41_1_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g3b8ad9c3b41_1_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85" name="Google Shape;585;g3b8ad9c3b41_1_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586" name="Google Shape;586;g3b8ad9c3b41_1_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g3b8ad9c3b41_1_6"/>
          <p:cNvSpPr txBox="1"/>
          <p:nvPr/>
        </p:nvSpPr>
        <p:spPr>
          <a:xfrm>
            <a:off x="375875" y="5446075"/>
            <a:ext cx="8376900" cy="646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200">
                <a:solidFill>
                  <a:srgbClr val="0A0A0A"/>
                </a:solidFill>
                <a:highlight>
                  <a:srgbClr val="FFFFFF"/>
                </a:highlight>
              </a:rPr>
              <a:t>When you "manually cast" a </a:t>
            </a:r>
            <a:r>
              <a:rPr lang="en-US" sz="1050">
                <a:solidFill>
                  <a:srgbClr val="0A0A0A"/>
                </a:solidFill>
                <a:highlight>
                  <a:srgbClr val="F3F5F6"/>
                </a:highlight>
                <a:latin typeface="Roboto Mono"/>
                <a:ea typeface="Roboto Mono"/>
                <a:cs typeface="Roboto Mono"/>
                <a:sym typeface="Roboto Mono"/>
              </a:rPr>
              <a:t>double</a:t>
            </a:r>
            <a:r>
              <a:rPr lang="en-US" sz="1200">
                <a:solidFill>
                  <a:srgbClr val="0A0A0A"/>
                </a:solidFill>
                <a:highlight>
                  <a:srgbClr val="FFFFFF"/>
                </a:highlight>
              </a:rPr>
              <a:t> to an </a:t>
            </a:r>
            <a:r>
              <a:rPr lang="en-US" sz="1050">
                <a:solidFill>
                  <a:srgbClr val="0A0A0A"/>
                </a:solidFill>
                <a:highlight>
                  <a:srgbClr val="F3F5F6"/>
                </a:highlight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200">
                <a:solidFill>
                  <a:srgbClr val="0A0A0A"/>
                </a:solidFill>
                <a:highlight>
                  <a:srgbClr val="FFFFFF"/>
                </a:highlight>
              </a:rPr>
              <a:t> in Java, </a:t>
            </a:r>
            <a:r>
              <a:rPr lang="en-US" sz="1200">
                <a:solidFill>
                  <a:srgbClr val="001D35"/>
                </a:solidFill>
                <a:highlight>
                  <a:srgbClr val="FFFFFF"/>
                </a:highlight>
              </a:rPr>
              <a:t>the number is not rounded</a:t>
            </a:r>
            <a:r>
              <a:rPr lang="en-US" sz="1200">
                <a:solidFill>
                  <a:srgbClr val="0A0A0A"/>
                </a:solidFill>
                <a:highlight>
                  <a:srgbClr val="FFFFFF"/>
                </a:highlight>
              </a:rPr>
              <a:t> in the mathematical sense; instead, it is truncated (the decimal portion is simply discarded, or rounded towards zero).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b8ad9c3b41_1_117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8. Java Method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4" name="Google Shape;594;g3b8ad9c3b41_1_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g3b8ad9c3b41_1_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96" name="Google Shape;596;g3b8ad9c3b41_1_1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597" name="Google Shape;597;g3b8ad9c3b41_1_1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g3b8ad9c3b41_1_117"/>
          <p:cNvSpPr txBox="1"/>
          <p:nvPr/>
        </p:nvSpPr>
        <p:spPr>
          <a:xfrm>
            <a:off x="477750" y="1124850"/>
            <a:ext cx="8091600" cy="418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8775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●"/>
            </a:pPr>
            <a:r>
              <a:rPr b="0" i="0" lang="en-US" sz="2050" u="none" cap="none" strike="noStrike">
                <a:solidFill>
                  <a:schemeClr val="dk1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A method is a block of code that </a:t>
            </a:r>
            <a:r>
              <a:rPr b="1" i="0" lang="en-US" sz="2050" u="none" cap="none" strike="noStrike">
                <a:solidFill>
                  <a:schemeClr val="dk1"/>
                </a:solidFill>
                <a:highlight>
                  <a:srgbClr val="F9FAFC"/>
                </a:highlight>
              </a:rPr>
              <a:t>performs a specific task.</a:t>
            </a:r>
            <a:endParaRPr b="1" i="0" sz="2050" u="none" cap="none" strike="noStrike">
              <a:solidFill>
                <a:schemeClr val="dk1"/>
              </a:solidFill>
              <a:highlight>
                <a:srgbClr val="F9FAFC"/>
              </a:highlight>
            </a:endParaRPr>
          </a:p>
          <a:p>
            <a:pPr indent="-358775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●"/>
            </a:pPr>
            <a:r>
              <a:rPr b="0" i="0" lang="en-US" sz="2050" u="none" cap="none" strike="noStrike">
                <a:solidFill>
                  <a:schemeClr val="dk1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Dividing a complex problem into smaller chunks makes your program easy to understand and reusable.</a:t>
            </a:r>
            <a:endParaRPr b="0" i="0" sz="205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●"/>
            </a:pPr>
            <a:r>
              <a:rPr b="0" i="0" lang="en-US" sz="2050" u="none" cap="none" strike="noStrike">
                <a:solidFill>
                  <a:schemeClr val="dk1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In Java, there are two types of methods:</a:t>
            </a:r>
            <a:endParaRPr b="0" i="0" sz="205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8775" lvl="0" marL="13716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●"/>
            </a:pPr>
            <a:r>
              <a:rPr b="1" i="0" lang="en-US" sz="205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User-defined Methods:</a:t>
            </a:r>
            <a:r>
              <a:rPr b="0" i="0" lang="en-US" sz="2050" u="none" cap="none" strike="noStrike">
                <a:solidFill>
                  <a:schemeClr val="dk1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 We can create our own method based on our requirements.</a:t>
            </a:r>
            <a:endParaRPr b="0" i="0" sz="205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8775" lvl="0" marL="13716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●"/>
            </a:pPr>
            <a:r>
              <a:rPr b="1" i="0" lang="en-US" sz="205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Standard Library Methods:</a:t>
            </a:r>
            <a:r>
              <a:rPr b="0" i="0" lang="en-US" sz="2050" u="none" cap="none" strike="noStrike">
                <a:solidFill>
                  <a:schemeClr val="dk1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 These are built-in methods in Java that are available to use.</a:t>
            </a:r>
            <a:endParaRPr b="0" i="0" sz="205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b8ad9c3b41_1_131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Method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5" name="Google Shape;605;g3b8ad9c3b41_1_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g3b8ad9c3b41_1_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07" name="Google Shape;607;g3b8ad9c3b41_1_1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608" name="Google Shape;608;g3b8ad9c3b41_1_1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g3b8ad9c3b41_1_131"/>
          <p:cNvSpPr txBox="1"/>
          <p:nvPr/>
        </p:nvSpPr>
        <p:spPr>
          <a:xfrm>
            <a:off x="2440913" y="1218526"/>
            <a:ext cx="4700100" cy="492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https://onlinegdb.com/7EPl2n6li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g3b8ad9c3b41_1_131"/>
          <p:cNvSpPr txBox="1"/>
          <p:nvPr/>
        </p:nvSpPr>
        <p:spPr>
          <a:xfrm>
            <a:off x="2486975" y="2376700"/>
            <a:ext cx="4608000" cy="492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https://onlinegdb.com/WoPvXFJow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g3b8ad9c3b41_1_131"/>
          <p:cNvSpPr txBox="1"/>
          <p:nvPr/>
        </p:nvSpPr>
        <p:spPr>
          <a:xfrm>
            <a:off x="225725" y="1191375"/>
            <a:ext cx="2071500" cy="798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3575" lIns="113575" spcFirstLastPara="1" rIns="113575" wrap="square" tIns="113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1"/>
              <a:buFont typeface="Arial"/>
              <a:buNone/>
            </a:pPr>
            <a:r>
              <a:rPr b="0" i="0" lang="en-US" sz="21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 SumMain.java</a:t>
            </a:r>
            <a:endParaRPr b="0" i="0" sz="21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g3b8ad9c3b41_1_131"/>
          <p:cNvSpPr txBox="1"/>
          <p:nvPr/>
        </p:nvSpPr>
        <p:spPr>
          <a:xfrm>
            <a:off x="225725" y="2376701"/>
            <a:ext cx="2071500" cy="798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3575" lIns="113575" spcFirstLastPara="1" rIns="113575" wrap="square" tIns="113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1"/>
              <a:buFont typeface="Arial"/>
              <a:buNone/>
            </a:pPr>
            <a:r>
              <a:rPr b="0" i="0" lang="en-US" sz="21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 SumMain2java</a:t>
            </a:r>
            <a:endParaRPr b="0" i="0" sz="21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Google Shape;618;g3baacef02fd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713" y="591975"/>
            <a:ext cx="8058132" cy="501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g3baacef02fd_0_2"/>
          <p:cNvSpPr txBox="1"/>
          <p:nvPr/>
        </p:nvSpPr>
        <p:spPr>
          <a:xfrm>
            <a:off x="6157375" y="43275"/>
            <a:ext cx="2071500" cy="548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3575" lIns="113575" spcFirstLastPara="1" rIns="113575" wrap="square" tIns="113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1"/>
              <a:buFont typeface="Arial"/>
              <a:buNone/>
            </a:pPr>
            <a:r>
              <a:rPr b="0" i="0" lang="en-US" sz="21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SumMain.java</a:t>
            </a:r>
            <a:endParaRPr b="0" i="0" sz="21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g3baacef02fd_0_2"/>
          <p:cNvSpPr txBox="1"/>
          <p:nvPr/>
        </p:nvSpPr>
        <p:spPr>
          <a:xfrm>
            <a:off x="441475" y="5994100"/>
            <a:ext cx="2109900" cy="51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3575" lIns="113575" spcFirstLastPara="1" rIns="113575" wrap="square" tIns="113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1"/>
              <a:buFont typeface="Arial"/>
              <a:buNone/>
            </a:pPr>
            <a:r>
              <a:rPr b="0" i="0" lang="en-US" sz="21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21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1" name="Google Shape;621;g3baacef02fd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0363" y="5994091"/>
            <a:ext cx="3343275" cy="7564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g3baacef02fd_0_2"/>
          <p:cNvSpPr txBox="1"/>
          <p:nvPr/>
        </p:nvSpPr>
        <p:spPr>
          <a:xfrm>
            <a:off x="1136150" y="4327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Method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baacef02fd_0_38"/>
          <p:cNvSpPr txBox="1"/>
          <p:nvPr/>
        </p:nvSpPr>
        <p:spPr>
          <a:xfrm>
            <a:off x="6157375" y="43275"/>
            <a:ext cx="2611800" cy="548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3575" lIns="113575" spcFirstLastPara="1" rIns="113575" wrap="square" tIns="113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1"/>
              <a:buFont typeface="Arial"/>
              <a:buNone/>
            </a:pPr>
            <a:r>
              <a:rPr b="0" i="0" lang="en-US" sz="21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SumMain2.java</a:t>
            </a:r>
            <a:endParaRPr b="0" i="0" sz="21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g3baacef02fd_0_38"/>
          <p:cNvSpPr txBox="1"/>
          <p:nvPr/>
        </p:nvSpPr>
        <p:spPr>
          <a:xfrm>
            <a:off x="1081725" y="4327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Method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0" name="Google Shape;630;g3baacef02fd_0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863" y="812788"/>
            <a:ext cx="6287825" cy="5232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g3baacef02fd_0_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2025" y="4657713"/>
            <a:ext cx="4591050" cy="22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g3baacef02fd_0_38"/>
          <p:cNvSpPr txBox="1"/>
          <p:nvPr/>
        </p:nvSpPr>
        <p:spPr>
          <a:xfrm>
            <a:off x="7426675" y="4109025"/>
            <a:ext cx="1342500" cy="548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3575" lIns="113575" spcFirstLastPara="1" rIns="113575" wrap="square" tIns="113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1"/>
              <a:buFont typeface="Arial"/>
              <a:buNone/>
            </a:pPr>
            <a:r>
              <a:rPr b="0" i="0" lang="en-US" sz="21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21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b8ad9c3b41_1_94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8. Constructor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9" name="Google Shape;639;g3b8ad9c3b41_1_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g3b8ad9c3b41_1_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41" name="Google Shape;641;g3b8ad9c3b41_1_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642" name="Google Shape;642;g3b8ad9c3b41_1_9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g3b8ad9c3b41_1_94"/>
          <p:cNvSpPr txBox="1"/>
          <p:nvPr/>
        </p:nvSpPr>
        <p:spPr>
          <a:xfrm>
            <a:off x="428900" y="1254829"/>
            <a:ext cx="8436900" cy="1723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constructor in Java is similar to a method that is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invoked when an object of the class is created.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Unlike Java methods, a constructor has the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same name as that of the class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does not have any return type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4" name="Google Shape;644;g3b8ad9c3b41_1_9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97300" y="3221749"/>
            <a:ext cx="4700100" cy="2407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baacef02fd_0_66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Types of Constructor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1" name="Google Shape;651;g3baacef02fd_0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g3baacef02fd_0_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53" name="Google Shape;653;g3baacef02fd_0_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654" name="Google Shape;654;g3baacef02fd_0_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g3baacef02fd_0_66"/>
          <p:cNvSpPr txBox="1"/>
          <p:nvPr/>
        </p:nvSpPr>
        <p:spPr>
          <a:xfrm>
            <a:off x="428900" y="1254829"/>
            <a:ext cx="8436900" cy="212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Constructors can be divided into three types: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No-Arg Constructor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Parameterized Constructor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Default Constructor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baacef02fd_0_53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8. Constructor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2" name="Google Shape;662;g3baacef02fd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g3baacef02fd_0_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64" name="Google Shape;664;g3baacef02fd_0_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665" name="Google Shape;665;g3baacef02fd_0_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g3baacef02fd_0_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2400" y="1045525"/>
            <a:ext cx="6380126" cy="501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g3baacef02fd_0_5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3375" y="2736263"/>
            <a:ext cx="3181350" cy="16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baacef02fd_0_80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Constructor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4" name="Google Shape;674;g3baacef02fd_0_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g3baacef02fd_0_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76" name="Google Shape;676;g3baacef02fd_0_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677" name="Google Shape;677;g3baacef02fd_0_8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g3baacef02fd_0_8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4023" y="1234450"/>
            <a:ext cx="5689902" cy="4756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g3baacef02fd_0_8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78675" y="2660075"/>
            <a:ext cx="2305050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baacef02fd_0_92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Constructor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6" name="Google Shape;686;g3baacef02fd_0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g3baacef02fd_0_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88" name="Google Shape;688;g3baacef02fd_0_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689" name="Google Shape;689;g3baacef02fd_0_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g3baacef02fd_0_9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2400" y="1045525"/>
            <a:ext cx="7281247" cy="50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g3baacef02fd_0_9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10900" y="4438175"/>
            <a:ext cx="2794550" cy="146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baacef02fd_0_106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Constructor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8" name="Google Shape;698;g3baacef02fd_0_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g3baacef02fd_0_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700" name="Google Shape;700;g3baacef02fd_0_1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701" name="Google Shape;701;g3baacef02fd_0_10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g3baacef02fd_0_10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2400" y="1045525"/>
            <a:ext cx="6566497" cy="501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g3baacef02fd_0_10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32688" y="2210938"/>
            <a:ext cx="3248025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b55cd37522_1_135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0" name="Google Shape;710;g3b55cd37522_1_135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1" name="Google Shape;711;g3b55cd37522_1_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g3b55cd37522_1_1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g3b55cd37522_1_135"/>
          <p:cNvSpPr/>
          <p:nvPr/>
        </p:nvSpPr>
        <p:spPr>
          <a:xfrm>
            <a:off x="1105375" y="4583700"/>
            <a:ext cx="7123500" cy="102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hiding is the principle of hiding internal data and procedures of an object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714" name="Google Shape;714;g3b55cd37522_1_1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715" name="Google Shape;715;g3b55cd37522_1_1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g3b55cd37522_1_135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4.  Encapsulation and information hiding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7" name="Google Shape;717;g3b55cd37522_1_1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03050" y="1660607"/>
            <a:ext cx="5324225" cy="2683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b55cd37522_1_149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4" name="Google Shape;724;g3b55cd37522_1_149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5" name="Google Shape;725;g3b55cd37522_1_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g3b55cd37522_1_1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g3b55cd37522_1_149"/>
          <p:cNvSpPr/>
          <p:nvPr/>
        </p:nvSpPr>
        <p:spPr>
          <a:xfrm>
            <a:off x="666250" y="1618200"/>
            <a:ext cx="7806900" cy="38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Encapsulation protects the data from corruption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provides an interface to each object in such a way as to reveal as little as possible about inner workings.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provides protection mechanism by using access specifiers such as public, protected and private.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are abstracted when they are shielded or hided by a full set of methods and only those methods can access the data portion of an object. E.g., A car engine.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728" name="Google Shape;728;g3b55cd37522_1_1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729" name="Google Shape;729;g3b55cd37522_1_1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g3b55cd37522_1_149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4.  Encapsulation and information hiding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b55cd37522_1_162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7" name="Google Shape;737;g3b55cd37522_1_162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8" name="Google Shape;738;g3b55cd37522_1_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g3b55cd37522_1_1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740" name="Google Shape;740;g3b55cd37522_1_1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741" name="Google Shape;741;g3b55cd37522_1_1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g3b55cd37522_1_162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4.  Encapsulation and information hiding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g3b55cd37522_1_162"/>
          <p:cNvSpPr txBox="1"/>
          <p:nvPr/>
        </p:nvSpPr>
        <p:spPr>
          <a:xfrm>
            <a:off x="329200" y="1408175"/>
            <a:ext cx="4450200" cy="1385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Account {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private double balance;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4" name="Google Shape;744;g3b55cd37522_1_16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59400" y="3035562"/>
            <a:ext cx="695325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